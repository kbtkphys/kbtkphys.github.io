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8"/>
  </p:notesMasterIdLst>
  <p:sldIdLst>
    <p:sldId id="1522" r:id="rId2"/>
    <p:sldId id="1725" r:id="rId3"/>
    <p:sldId id="1727" r:id="rId4"/>
    <p:sldId id="1726" r:id="rId5"/>
    <p:sldId id="1730" r:id="rId6"/>
    <p:sldId id="1731" r:id="rId7"/>
    <p:sldId id="1732" r:id="rId8"/>
    <p:sldId id="1747" r:id="rId9"/>
    <p:sldId id="1751" r:id="rId10"/>
    <p:sldId id="1766" r:id="rId11"/>
    <p:sldId id="1763" r:id="rId12"/>
    <p:sldId id="1765" r:id="rId13"/>
    <p:sldId id="1749" r:id="rId14"/>
    <p:sldId id="1752" r:id="rId15"/>
    <p:sldId id="1753" r:id="rId16"/>
    <p:sldId id="1750" r:id="rId17"/>
    <p:sldId id="1754" r:id="rId18"/>
    <p:sldId id="1764" r:id="rId19"/>
    <p:sldId id="1767" r:id="rId20"/>
    <p:sldId id="1526" r:id="rId21"/>
    <p:sldId id="1432" r:id="rId22"/>
    <p:sldId id="1472" r:id="rId23"/>
    <p:sldId id="1456" r:id="rId24"/>
    <p:sldId id="1434" r:id="rId25"/>
    <p:sldId id="1437" r:id="rId26"/>
    <p:sldId id="1527" r:id="rId27"/>
    <p:sldId id="1528" r:id="rId28"/>
    <p:sldId id="1574" r:id="rId29"/>
    <p:sldId id="1515" r:id="rId30"/>
    <p:sldId id="1273" r:id="rId31"/>
    <p:sldId id="293" r:id="rId32"/>
    <p:sldId id="299" r:id="rId33"/>
    <p:sldId id="1742" r:id="rId34"/>
    <p:sldId id="1287" r:id="rId35"/>
    <p:sldId id="1289" r:id="rId36"/>
    <p:sldId id="1471" r:id="rId37"/>
    <p:sldId id="1311" r:id="rId38"/>
    <p:sldId id="1291" r:id="rId39"/>
    <p:sldId id="1292" r:id="rId40"/>
    <p:sldId id="1477" r:id="rId41"/>
    <p:sldId id="1293" r:id="rId42"/>
    <p:sldId id="1398" r:id="rId43"/>
    <p:sldId id="1399" r:id="rId44"/>
    <p:sldId id="1485" r:id="rId45"/>
    <p:sldId id="1298" r:id="rId46"/>
    <p:sldId id="1475" r:id="rId47"/>
    <p:sldId id="1761" r:id="rId48"/>
    <p:sldId id="1760" r:id="rId49"/>
    <p:sldId id="1696" r:id="rId50"/>
    <p:sldId id="1445" r:id="rId51"/>
    <p:sldId id="1647" r:id="rId52"/>
    <p:sldId id="1719" r:id="rId53"/>
    <p:sldId id="1718" r:id="rId54"/>
    <p:sldId id="1703" r:id="rId55"/>
    <p:sldId id="1712" r:id="rId56"/>
    <p:sldId id="1714" r:id="rId57"/>
    <p:sldId id="1713" r:id="rId58"/>
    <p:sldId id="1777" r:id="rId59"/>
    <p:sldId id="1768" r:id="rId60"/>
    <p:sldId id="1790" r:id="rId61"/>
    <p:sldId id="1779" r:id="rId62"/>
    <p:sldId id="1780" r:id="rId63"/>
    <p:sldId id="1781" r:id="rId64"/>
    <p:sldId id="1782" r:id="rId65"/>
    <p:sldId id="1539" r:id="rId66"/>
    <p:sldId id="1623" r:id="rId67"/>
    <p:sldId id="1618" r:id="rId68"/>
    <p:sldId id="1617" r:id="rId69"/>
    <p:sldId id="1638" r:id="rId70"/>
    <p:sldId id="1551" r:id="rId71"/>
    <p:sldId id="1555" r:id="rId72"/>
    <p:sldId id="1543" r:id="rId73"/>
    <p:sldId id="1636" r:id="rId74"/>
    <p:sldId id="1547" r:id="rId75"/>
    <p:sldId id="1553" r:id="rId76"/>
    <p:sldId id="1552" r:id="rId77"/>
    <p:sldId id="1546" r:id="rId78"/>
    <p:sldId id="1548" r:id="rId79"/>
    <p:sldId id="1549" r:id="rId80"/>
    <p:sldId id="1786" r:id="rId81"/>
    <p:sldId id="1683" r:id="rId82"/>
    <p:sldId id="1679" r:id="rId83"/>
    <p:sldId id="1557" r:id="rId84"/>
    <p:sldId id="1560" r:id="rId85"/>
    <p:sldId id="1559" r:id="rId86"/>
    <p:sldId id="1563" r:id="rId87"/>
    <p:sldId id="1566" r:id="rId88"/>
    <p:sldId id="1680" r:id="rId89"/>
    <p:sldId id="327" r:id="rId90"/>
    <p:sldId id="1682" r:id="rId91"/>
    <p:sldId id="328" r:id="rId92"/>
    <p:sldId id="1720" r:id="rId93"/>
    <p:sldId id="1684" r:id="rId94"/>
    <p:sldId id="1685" r:id="rId95"/>
    <p:sldId id="1686" r:id="rId96"/>
    <p:sldId id="1687" r:id="rId97"/>
    <p:sldId id="285" r:id="rId98"/>
    <p:sldId id="1695" r:id="rId99"/>
    <p:sldId id="1694" r:id="rId100"/>
    <p:sldId id="1693" r:id="rId101"/>
    <p:sldId id="1692" r:id="rId102"/>
    <p:sldId id="1691" r:id="rId103"/>
    <p:sldId id="1690" r:id="rId104"/>
    <p:sldId id="1689" r:id="rId105"/>
    <p:sldId id="286" r:id="rId106"/>
    <p:sldId id="1702" r:id="rId107"/>
    <p:sldId id="1701" r:id="rId108"/>
    <p:sldId id="339" r:id="rId109"/>
    <p:sldId id="354" r:id="rId110"/>
    <p:sldId id="353" r:id="rId111"/>
    <p:sldId id="352" r:id="rId112"/>
    <p:sldId id="325" r:id="rId113"/>
    <p:sldId id="355" r:id="rId114"/>
    <p:sldId id="1710" r:id="rId115"/>
    <p:sldId id="356" r:id="rId116"/>
    <p:sldId id="1681" r:id="rId117"/>
    <p:sldId id="1708" r:id="rId118"/>
    <p:sldId id="1707" r:id="rId119"/>
    <p:sldId id="1700" r:id="rId120"/>
    <p:sldId id="1619" r:id="rId121"/>
    <p:sldId id="1580" r:id="rId122"/>
    <p:sldId id="1581" r:id="rId123"/>
    <p:sldId id="1582" r:id="rId124"/>
    <p:sldId id="1583" r:id="rId125"/>
    <p:sldId id="1584" r:id="rId126"/>
    <p:sldId id="1585" r:id="rId127"/>
    <p:sldId id="1586" r:id="rId128"/>
    <p:sldId id="1587" r:id="rId129"/>
    <p:sldId id="1588" r:id="rId130"/>
    <p:sldId id="1589" r:id="rId131"/>
    <p:sldId id="1590" r:id="rId132"/>
    <p:sldId id="1591" r:id="rId133"/>
    <p:sldId id="1592" r:id="rId134"/>
    <p:sldId id="1593" r:id="rId135"/>
    <p:sldId id="1594" r:id="rId136"/>
    <p:sldId id="405" r:id="rId137"/>
    <p:sldId id="406" r:id="rId138"/>
    <p:sldId id="407" r:id="rId139"/>
    <p:sldId id="403" r:id="rId140"/>
    <p:sldId id="418" r:id="rId141"/>
    <p:sldId id="408" r:id="rId142"/>
    <p:sldId id="404" r:id="rId143"/>
    <p:sldId id="319" r:id="rId144"/>
    <p:sldId id="415" r:id="rId145"/>
    <p:sldId id="402" r:id="rId146"/>
    <p:sldId id="416" r:id="rId147"/>
    <p:sldId id="414" r:id="rId148"/>
    <p:sldId id="420" r:id="rId149"/>
    <p:sldId id="1789" r:id="rId150"/>
    <p:sldId id="1784" r:id="rId151"/>
    <p:sldId id="1612" r:id="rId152"/>
    <p:sldId id="277" r:id="rId153"/>
    <p:sldId id="334" r:id="rId154"/>
    <p:sldId id="333" r:id="rId155"/>
    <p:sldId id="336" r:id="rId156"/>
    <p:sldId id="337" r:id="rId157"/>
    <p:sldId id="284" r:id="rId158"/>
    <p:sldId id="1793" r:id="rId159"/>
    <p:sldId id="1755" r:id="rId160"/>
    <p:sldId id="1794" r:id="rId161"/>
    <p:sldId id="1664" r:id="rId162"/>
    <p:sldId id="1663" r:id="rId163"/>
    <p:sldId id="1662" r:id="rId164"/>
    <p:sldId id="1709" r:id="rId165"/>
    <p:sldId id="1795" r:id="rId166"/>
    <p:sldId id="1717" r:id="rId1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1E3CFF"/>
    <a:srgbClr val="00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0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F78E4-90DC-4BF7-8322-3A90331008D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F76BB-4A21-4B38-B9C5-D8A0B62FE1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09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2BF56-E050-E5DC-0AE8-5268FFF9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2176226-A632-2407-F240-4D5A2630E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50F0F73-8DFA-D4F6-284E-18CB02007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5289AF-8D70-3590-8DB5-939512003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F76BB-4A21-4B38-B9C5-D8A0B62FE1BB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832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4014-42E6-BCB6-8689-ACE0E7E3F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EDB3A93-C614-3562-9F24-C46F15130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D60392B-0F97-EC35-AA98-12468EB78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BB5E80-442F-7A86-3C42-6E01D6C83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F76BB-4A21-4B38-B9C5-D8A0B62FE1B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344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DF2-EDDF-10CC-9C1D-A16092FBC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5A4060-EBAF-BF1A-58B4-0252D276A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517152-AACF-C084-8CA9-1F7DE6023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1DEE9C-023F-633D-D1EF-8EB4CCC39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F76BB-4A21-4B38-B9C5-D8A0B62FE1B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64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1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3966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98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936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60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750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55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46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577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98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495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1601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11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6818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422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5185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58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01942-B14C-47CE-B660-BC06E3635EC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593A1-611C-40A4-826E-96A8E66E2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630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hyperlink" Target="http://jacow.org/ipac2014/papers/wepri022.pdf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hyperlink" Target="http://jacow.org/ipac2014/papers/wepri022.pdf" TargetMode="External"/><Relationship Id="rId4" Type="http://schemas.openxmlformats.org/officeDocument/2006/relationships/image" Target="../media/image19.png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hyperlink" Target="http://jacow.org/ipac2014/papers/wepri022.pdf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72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8.png"/><Relationship Id="rId15" Type="http://schemas.openxmlformats.org/officeDocument/2006/relationships/image" Target="../media/image22.png"/><Relationship Id="rId10" Type="http://schemas.openxmlformats.org/officeDocument/2006/relationships/image" Target="../media/image203.png"/><Relationship Id="rId4" Type="http://schemas.openxmlformats.org/officeDocument/2006/relationships/image" Target="../media/image15.png"/><Relationship Id="rId9" Type="http://schemas.openxmlformats.org/officeDocument/2006/relationships/image" Target="../media/image192.png"/><Relationship Id="rId1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hyperlink" Target="http://jacow.org/ipac2014/papers/wepri022.pdf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72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8.png"/><Relationship Id="rId15" Type="http://schemas.openxmlformats.org/officeDocument/2006/relationships/image" Target="../media/image22.png"/><Relationship Id="rId10" Type="http://schemas.openxmlformats.org/officeDocument/2006/relationships/image" Target="../media/image203.png"/><Relationship Id="rId4" Type="http://schemas.openxmlformats.org/officeDocument/2006/relationships/image" Target="../media/image15.png"/><Relationship Id="rId9" Type="http://schemas.openxmlformats.org/officeDocument/2006/relationships/image" Target="../media/image192.png"/><Relationship Id="rId1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hyperlink" Target="http://jacow.org/ipac2014/papers/wepri022.pdf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72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8.png"/><Relationship Id="rId15" Type="http://schemas.openxmlformats.org/officeDocument/2006/relationships/image" Target="../media/image22.png"/><Relationship Id="rId10" Type="http://schemas.openxmlformats.org/officeDocument/2006/relationships/image" Target="../media/image203.png"/><Relationship Id="rId4" Type="http://schemas.openxmlformats.org/officeDocument/2006/relationships/image" Target="../media/image15.png"/><Relationship Id="rId9" Type="http://schemas.openxmlformats.org/officeDocument/2006/relationships/image" Target="../media/image192.png"/><Relationship Id="rId1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182.png"/><Relationship Id="rId12" Type="http://schemas.openxmlformats.org/officeDocument/2006/relationships/hyperlink" Target="http://jacow.org/ipac2014/papers/wepri022.pdf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5.png"/><Relationship Id="rId10" Type="http://schemas.openxmlformats.org/officeDocument/2006/relationships/image" Target="../media/image18.png"/><Relationship Id="rId9" Type="http://schemas.openxmlformats.org/officeDocument/2006/relationships/image" Target="../media/image203.png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hyperlink" Target="http://jacow.org/ipac2014/papers/wepri022.pdf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192.png"/><Relationship Id="rId12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11" Type="http://schemas.openxmlformats.org/officeDocument/2006/relationships/image" Target="../media/image18.png"/><Relationship Id="rId5" Type="http://schemas.openxmlformats.org/officeDocument/2006/relationships/image" Target="../media/image172.png"/><Relationship Id="rId10" Type="http://schemas.openxmlformats.org/officeDocument/2006/relationships/image" Target="../media/image24.png"/><Relationship Id="rId9" Type="http://schemas.openxmlformats.org/officeDocument/2006/relationships/image" Target="../media/image220.png"/><Relationship Id="rId1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21.png"/><Relationship Id="rId10" Type="http://schemas.openxmlformats.org/officeDocument/2006/relationships/hyperlink" Target="http://jacow.org/ipac2014/papers/wepri022.pdf" TargetMode="External"/><Relationship Id="rId4" Type="http://schemas.openxmlformats.org/officeDocument/2006/relationships/image" Target="../media/image211.png"/><Relationship Id="rId9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6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image" Target="../media/image25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41.png"/><Relationship Id="rId5" Type="http://schemas.openxmlformats.org/officeDocument/2006/relationships/image" Target="../media/image221.png"/><Relationship Id="rId10" Type="http://schemas.openxmlformats.org/officeDocument/2006/relationships/image" Target="../media/image25.png"/><Relationship Id="rId4" Type="http://schemas.openxmlformats.org/officeDocument/2006/relationships/image" Target="../media/image211.png"/><Relationship Id="rId9" Type="http://schemas.openxmlformats.org/officeDocument/2006/relationships/image" Target="../media/image14.png"/><Relationship Id="rId14" Type="http://schemas.openxmlformats.org/officeDocument/2006/relationships/hyperlink" Target="http://jacow.org/ipac2014/papers/wepri022.pdf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7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150.png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7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5" Type="http://schemas.openxmlformats.org/officeDocument/2006/relationships/image" Target="../media/image28.png"/><Relationship Id="rId4" Type="http://schemas.openxmlformats.org/officeDocument/2006/relationships/image" Target="../media/image150.pn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4.png"/><Relationship Id="rId7" Type="http://schemas.openxmlformats.org/officeDocument/2006/relationships/image" Target="../media/image6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0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7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34.gif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jacow.org/ipac2014/papers/wepri022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63/1.4953087" TargetMode="Externa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hyperlink" Target="https://doi.org/10.1103/PhysRevAccelBeams.22.022002" TargetMode="External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microsoft.com/office/2007/relationships/hdphoto" Target="../media/hdphoto2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microsoft.com/office/2007/relationships/hdphoto" Target="../media/hdphoto2.wd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7" Type="http://schemas.openxmlformats.org/officeDocument/2006/relationships/hyperlink" Target="http://jacow.org/ipac2014/papers/wepri022.pdf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64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hyperlink" Target="https://doi.org/10.1093/ptep/ptab056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3/PhysRevApplied.13.014024" TargetMode="External"/><Relationship Id="rId5" Type="http://schemas.openxmlformats.org/officeDocument/2006/relationships/hyperlink" Target="http://jacow.org/ipac2014/papers/wepri022.pdf" TargetMode="External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93/ptep/ptab056" TargetMode="External"/><Relationship Id="rId3" Type="http://schemas.openxmlformats.org/officeDocument/2006/relationships/image" Target="../media/image66.png"/><Relationship Id="rId7" Type="http://schemas.openxmlformats.org/officeDocument/2006/relationships/hyperlink" Target="https://doi.org/10.1103/PhysRevApplied.13.014024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hyperlink" Target="http://jacow.org/ipac2014/papers/wepri022.pdf" TargetMode="External"/><Relationship Id="rId4" Type="http://schemas.openxmlformats.org/officeDocument/2006/relationships/image" Target="../media/image1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38/s41586-025-08899-y" TargetMode="Externa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880.png"/><Relationship Id="rId7" Type="http://schemas.openxmlformats.org/officeDocument/2006/relationships/image" Target="../media/image920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00.png"/><Relationship Id="rId5" Type="http://schemas.openxmlformats.org/officeDocument/2006/relationships/image" Target="../media/image900.png"/><Relationship Id="rId4" Type="http://schemas.openxmlformats.org/officeDocument/2006/relationships/image" Target="../media/image890.png"/><Relationship Id="rId9" Type="http://schemas.openxmlformats.org/officeDocument/2006/relationships/hyperlink" Target="https://doi.org/10.1038/s41586-025-08899-y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38/s41586-025-08899-y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5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38/s41586-025-08899-y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38/s41586-025-08899-y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38/s41586-025-08899-y" TargetMode="External"/><Relationship Id="rId4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jacow.org/ipac2014/papers/wepri022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5.png"/><Relationship Id="rId4" Type="http://schemas.openxmlformats.org/officeDocument/2006/relationships/image" Target="../media/image7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://jacow.org/ipac2014/papers/wepri022.pdf" TargetMode="External"/><Relationship Id="rId7" Type="http://schemas.openxmlformats.org/officeDocument/2006/relationships/image" Target="../media/image7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7.png"/><Relationship Id="rId4" Type="http://schemas.openxmlformats.org/officeDocument/2006/relationships/image" Target="../media/image7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hyperlink" Target="http://jacow.org/ipac2014/papers/wepri022.pdf" TargetMode="External"/><Relationship Id="rId7" Type="http://schemas.openxmlformats.org/officeDocument/2006/relationships/image" Target="../media/image7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3/PhysRevLett.119.264801" TargetMode="External"/><Relationship Id="rId5" Type="http://schemas.openxmlformats.org/officeDocument/2006/relationships/image" Target="../media/image80.png"/><Relationship Id="rId10" Type="http://schemas.openxmlformats.org/officeDocument/2006/relationships/image" Target="../media/image76.png"/><Relationship Id="rId4" Type="http://schemas.openxmlformats.org/officeDocument/2006/relationships/image" Target="../media/image79.png"/><Relationship Id="rId9" Type="http://schemas.openxmlformats.org/officeDocument/2006/relationships/image" Target="../media/image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48550/arXiv.2510.01819" TargetMode="External"/><Relationship Id="rId3" Type="http://schemas.openxmlformats.org/officeDocument/2006/relationships/hyperlink" Target="http://jacow.org/ipac2014/papers/wepri022.pdf" TargetMode="External"/><Relationship Id="rId7" Type="http://schemas.openxmlformats.org/officeDocument/2006/relationships/image" Target="../media/image8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0.png"/><Relationship Id="rId10" Type="http://schemas.openxmlformats.org/officeDocument/2006/relationships/image" Target="../media/image76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://jacow.org/ipac2014/papers/wepri022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3/PhysRevLett.121.224801" TargetMode="External"/><Relationship Id="rId3" Type="http://schemas.openxmlformats.org/officeDocument/2006/relationships/hyperlink" Target="http://jacow.org/ipac2014/papers/wepri022.pdf" TargetMode="External"/><Relationship Id="rId7" Type="http://schemas.openxmlformats.org/officeDocument/2006/relationships/image" Target="../media/image8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6.png"/><Relationship Id="rId10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image" Target="../media/image83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1.png"/><Relationship Id="rId4" Type="http://schemas.openxmlformats.org/officeDocument/2006/relationships/image" Target="../media/image22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1.png"/><Relationship Id="rId5" Type="http://schemas.openxmlformats.org/officeDocument/2006/relationships/image" Target="../media/image382.png"/><Relationship Id="rId4" Type="http://schemas.openxmlformats.org/officeDocument/2006/relationships/image" Target="../media/image37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1.png"/><Relationship Id="rId7" Type="http://schemas.openxmlformats.org/officeDocument/2006/relationships/image" Target="../media/image4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1.png"/><Relationship Id="rId5" Type="http://schemas.openxmlformats.org/officeDocument/2006/relationships/image" Target="../media/image382.png"/><Relationship Id="rId4" Type="http://schemas.openxmlformats.org/officeDocument/2006/relationships/image" Target="../media/image37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360.png"/><Relationship Id="rId7" Type="http://schemas.openxmlformats.org/officeDocument/2006/relationships/image" Target="../media/image9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2.png"/><Relationship Id="rId4" Type="http://schemas.openxmlformats.org/officeDocument/2006/relationships/image" Target="../media/image13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3/8fh8-nknj" TargetMode="External"/><Relationship Id="rId3" Type="http://schemas.openxmlformats.org/officeDocument/2006/relationships/image" Target="../media/image821.png"/><Relationship Id="rId7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5.png"/><Relationship Id="rId4" Type="http://schemas.openxmlformats.org/officeDocument/2006/relationships/image" Target="../media/image95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821.png"/><Relationship Id="rId7" Type="http://schemas.openxmlformats.org/officeDocument/2006/relationships/image" Target="../media/image5.png"/><Relationship Id="rId2" Type="http://schemas.openxmlformats.org/officeDocument/2006/relationships/image" Target="../media/image8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hyperlink" Target="https://doi.org/10.1103/8fh8-nknj" TargetMode="External"/><Relationship Id="rId5" Type="http://schemas.openxmlformats.org/officeDocument/2006/relationships/image" Target="../media/image98.png"/><Relationship Id="rId10" Type="http://schemas.openxmlformats.org/officeDocument/2006/relationships/image" Target="../media/image882.png"/><Relationship Id="rId4" Type="http://schemas.openxmlformats.org/officeDocument/2006/relationships/image" Target="../media/image95.png"/><Relationship Id="rId9" Type="http://schemas.openxmlformats.org/officeDocument/2006/relationships/image" Target="../media/image97.png"/></Relationships>
</file>

<file path=ppt/slides/_rels/slide9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61.png"/><Relationship Id="rId14" Type="http://schemas.openxmlformats.org/officeDocument/2006/relationships/image" Target="../media/image212.png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61.png"/><Relationship Id="rId14" Type="http://schemas.openxmlformats.org/officeDocument/2006/relationships/image" Target="../media/image212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61.png"/></Relationships>
</file>

<file path=ppt/slides/_rels/slide94.xml.rels><?xml version="1.0" encoding="UTF-8" standalone="yes"?>
<Relationships xmlns="http://schemas.openxmlformats.org/package/2006/relationships"><Relationship Id="rId12" Type="http://schemas.openxmlformats.org/officeDocument/2006/relationships/image" Target="../media/image97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6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12" Type="http://schemas.openxmlformats.org/officeDocument/2006/relationships/image" Target="../media/image97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61.png"/><Relationship Id="rId4" Type="http://schemas.openxmlformats.org/officeDocument/2006/relationships/image" Target="../media/image100.png"/><Relationship Id="rId9" Type="http://schemas.openxmlformats.org/officeDocument/2006/relationships/image" Target="../media/image94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97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1.png"/><Relationship Id="rId5" Type="http://schemas.openxmlformats.org/officeDocument/2006/relationships/image" Target="../media/image941.png"/><Relationship Id="rId10" Type="http://schemas.openxmlformats.org/officeDocument/2006/relationships/image" Target="../media/image1022.png"/><Relationship Id="rId4" Type="http://schemas.openxmlformats.org/officeDocument/2006/relationships/image" Target="../media/image100.png"/><Relationship Id="rId9" Type="http://schemas.openxmlformats.org/officeDocument/2006/relationships/image" Target="../media/image1012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1.png"/><Relationship Id="rId4" Type="http://schemas.openxmlformats.org/officeDocument/2006/relationships/image" Target="../media/image271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60.png"/><Relationship Id="rId7" Type="http://schemas.openxmlformats.org/officeDocument/2006/relationships/image" Target="../media/image89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1.png"/><Relationship Id="rId5" Type="http://schemas.openxmlformats.org/officeDocument/2006/relationships/image" Target="../media/image281.png"/><Relationship Id="rId4" Type="http://schemas.openxmlformats.org/officeDocument/2006/relationships/image" Target="../media/image271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60.png"/><Relationship Id="rId7" Type="http://schemas.openxmlformats.org/officeDocument/2006/relationships/image" Target="../media/image89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1.png"/><Relationship Id="rId5" Type="http://schemas.openxmlformats.org/officeDocument/2006/relationships/image" Target="../media/image281.png"/><Relationship Id="rId10" Type="http://schemas.openxmlformats.org/officeDocument/2006/relationships/image" Target="../media/image3.png"/><Relationship Id="rId4" Type="http://schemas.openxmlformats.org/officeDocument/2006/relationships/image" Target="../media/image271.png"/><Relationship Id="rId9" Type="http://schemas.openxmlformats.org/officeDocument/2006/relationships/image" Target="../media/image10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3/8fh8-nknj" TargetMode="Externa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hyperlink" Target="https://doi.org/10.1103/8fh8-nknj" TargetMode="Externa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8.png"/><Relationship Id="rId4" Type="http://schemas.openxmlformats.org/officeDocument/2006/relationships/image" Target="../media/image106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05.png"/><Relationship Id="rId7" Type="http://schemas.openxmlformats.org/officeDocument/2006/relationships/image" Target="../media/image110.png"/><Relationship Id="rId12" Type="http://schemas.openxmlformats.org/officeDocument/2006/relationships/hyperlink" Target="https://doi.org/10.1103/8fh8-nknj" TargetMode="Externa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00.png"/><Relationship Id="rId5" Type="http://schemas.openxmlformats.org/officeDocument/2006/relationships/image" Target="../media/image108.png"/><Relationship Id="rId10" Type="http://schemas.openxmlformats.org/officeDocument/2006/relationships/image" Target="../media/image10900.png"/><Relationship Id="rId4" Type="http://schemas.openxmlformats.org/officeDocument/2006/relationships/image" Target="../media/image106.png"/><Relationship Id="rId9" Type="http://schemas.openxmlformats.org/officeDocument/2006/relationships/image" Target="../media/image10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3/8fh8-nknj" TargetMode="Externa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3/8fh8-nknj" TargetMode="Externa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103/8fh8-nknj" TargetMode="Externa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3/8fh8-nknj" TargetMode="External"/><Relationship Id="rId5" Type="http://schemas.openxmlformats.org/officeDocument/2006/relationships/image" Target="../media/image101.png"/><Relationship Id="rId4" Type="http://schemas.openxmlformats.org/officeDocument/2006/relationships/image" Target="../media/image11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0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103/8fh8-nknj" TargetMode="External"/><Relationship Id="rId4" Type="http://schemas.openxmlformats.org/officeDocument/2006/relationships/image" Target="../media/image1161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3/8fh8-nknj" TargetMode="External"/><Relationship Id="rId3" Type="http://schemas.openxmlformats.org/officeDocument/2006/relationships/image" Target="../media/image1150.png"/><Relationship Id="rId7" Type="http://schemas.openxmlformats.org/officeDocument/2006/relationships/image" Target="../media/image1160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3/PhysRevLett.121.224801" TargetMode="External"/><Relationship Id="rId5" Type="http://schemas.openxmlformats.org/officeDocument/2006/relationships/image" Target="../media/image48.png"/><Relationship Id="rId4" Type="http://schemas.openxmlformats.org/officeDocument/2006/relationships/image" Target="../media/image83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3/8fh8-nknj" TargetMode="External"/><Relationship Id="rId3" Type="http://schemas.openxmlformats.org/officeDocument/2006/relationships/image" Target="../media/image1150.png"/><Relationship Id="rId7" Type="http://schemas.openxmlformats.org/officeDocument/2006/relationships/image" Target="../media/image4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0.png"/><Relationship Id="rId5" Type="http://schemas.openxmlformats.org/officeDocument/2006/relationships/hyperlink" Target="https://doi.org/10.1103/PhysRevLett.121.224801" TargetMode="External"/><Relationship Id="rId4" Type="http://schemas.openxmlformats.org/officeDocument/2006/relationships/image" Target="../media/image83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3/PhysRevLett.121.224801" TargetMode="Externa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103/8fh8-nknj" TargetMode="Externa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103/8fh8-nknj" TargetMode="Externa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103/PhysRevApplied.22.044042" TargetMode="Externa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103/PhysRevApplied.22.044042" TargetMode="External"/><Relationship Id="rId4" Type="http://schemas.openxmlformats.org/officeDocument/2006/relationships/image" Target="../media/image11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3/PhysRevApplied.22.044042" TargetMode="Externa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3/PhysRevApplied.22.044042" TargetMode="External"/><Relationship Id="rId5" Type="http://schemas.openxmlformats.org/officeDocument/2006/relationships/image" Target="../media/image1601.png"/><Relationship Id="rId4" Type="http://schemas.openxmlformats.org/officeDocument/2006/relationships/image" Target="../media/image123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3/PhysRevApplied.22.044042" TargetMode="External"/><Relationship Id="rId3" Type="http://schemas.openxmlformats.org/officeDocument/2006/relationships/image" Target="../media/image122.png"/><Relationship Id="rId7" Type="http://schemas.openxmlformats.org/officeDocument/2006/relationships/image" Target="../media/image160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230.png"/><Relationship Id="rId4" Type="http://schemas.openxmlformats.org/officeDocument/2006/relationships/image" Target="../media/image123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103/PhysRevApplied.22.044042" TargetMode="Externa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103/PhysRevApplied.22.044042" TargetMode="Externa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103/PhysRevApplied.22.044042" TargetMode="External"/><Relationship Id="rId4" Type="http://schemas.openxmlformats.org/officeDocument/2006/relationships/image" Target="../media/image100.png"/></Relationships>
</file>

<file path=ppt/slides/_rels/slide1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2.png"/><Relationship Id="rId3" Type="http://schemas.openxmlformats.org/officeDocument/2006/relationships/image" Target="../media/image280.png"/><Relationship Id="rId17" Type="http://schemas.openxmlformats.org/officeDocument/2006/relationships/hyperlink" Target="https://doi.org/10.1103/PhysRevApplied.22.044042" TargetMode="External"/><Relationship Id="rId2" Type="http://schemas.openxmlformats.org/officeDocument/2006/relationships/image" Target="../media/image771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126.png"/><Relationship Id="rId14" Type="http://schemas.openxmlformats.org/officeDocument/2006/relationships/image" Target="../media/image125.png"/></Relationships>
</file>

<file path=ppt/slides/_rels/slide1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2.png"/><Relationship Id="rId18" Type="http://schemas.openxmlformats.org/officeDocument/2006/relationships/image" Target="../media/image126.png"/><Relationship Id="rId3" Type="http://schemas.openxmlformats.org/officeDocument/2006/relationships/image" Target="../media/image771.png"/><Relationship Id="rId17" Type="http://schemas.openxmlformats.org/officeDocument/2006/relationships/image" Target="../media/image404.png"/><Relationship Id="rId2" Type="http://schemas.openxmlformats.org/officeDocument/2006/relationships/image" Target="../media/image125.png"/><Relationship Id="rId16" Type="http://schemas.openxmlformats.org/officeDocument/2006/relationships/image" Target="../media/image392.png"/><Relationship Id="rId20" Type="http://schemas.openxmlformats.org/officeDocument/2006/relationships/hyperlink" Target="https://doi.org/10.1103/PhysRevApplied.22.044042" TargetMode="External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384.png"/><Relationship Id="rId19" Type="http://schemas.openxmlformats.org/officeDocument/2006/relationships/image" Target="../media/image100.png"/><Relationship Id="rId4" Type="http://schemas.openxmlformats.org/officeDocument/2006/relationships/image" Target="../media/image280.png"/></Relationships>
</file>

<file path=ppt/slides/_rels/slide13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25.png"/><Relationship Id="rId3" Type="http://schemas.openxmlformats.org/officeDocument/2006/relationships/image" Target="../media/image100.png"/><Relationship Id="rId7" Type="http://schemas.openxmlformats.org/officeDocument/2006/relationships/image" Target="../media/image280.png"/><Relationship Id="rId17" Type="http://schemas.openxmlformats.org/officeDocument/2006/relationships/image" Target="../media/image372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1.png"/><Relationship Id="rId5" Type="http://schemas.openxmlformats.org/officeDocument/2006/relationships/image" Target="../media/image126.png"/><Relationship Id="rId19" Type="http://schemas.openxmlformats.org/officeDocument/2006/relationships/hyperlink" Target="https://doi.org/10.1103/PhysRevApplied.22.044042" TargetMode="External"/><Relationship Id="rId4" Type="http://schemas.openxmlformats.org/officeDocument/2006/relationships/image" Target="../media/image127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331.png"/><Relationship Id="rId7" Type="http://schemas.openxmlformats.org/officeDocument/2006/relationships/image" Target="../media/image132.png"/><Relationship Id="rId2" Type="http://schemas.openxmlformats.org/officeDocument/2006/relationships/image" Target="../media/image128.png"/><Relationship Id="rId16" Type="http://schemas.openxmlformats.org/officeDocument/2006/relationships/image" Target="../media/image4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15" Type="http://schemas.openxmlformats.org/officeDocument/2006/relationships/image" Target="../media/image452.png"/><Relationship Id="rId4" Type="http://schemas.openxmlformats.org/officeDocument/2006/relationships/image" Target="../media/image340.png"/><Relationship Id="rId9" Type="http://schemas.openxmlformats.org/officeDocument/2006/relationships/image" Target="../media/image134.png"/><Relationship Id="rId14" Type="http://schemas.openxmlformats.org/officeDocument/2006/relationships/image" Target="../media/image442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431.png"/><Relationship Id="rId3" Type="http://schemas.openxmlformats.org/officeDocument/2006/relationships/image" Target="../media/image331.png"/><Relationship Id="rId7" Type="http://schemas.openxmlformats.org/officeDocument/2006/relationships/image" Target="../media/image132.png"/><Relationship Id="rId12" Type="http://schemas.openxmlformats.org/officeDocument/2006/relationships/image" Target="../media/image421.png"/><Relationship Id="rId2" Type="http://schemas.openxmlformats.org/officeDocument/2006/relationships/image" Target="../media/image128.png"/><Relationship Id="rId16" Type="http://schemas.openxmlformats.org/officeDocument/2006/relationships/image" Target="../media/image4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412.png"/><Relationship Id="rId5" Type="http://schemas.openxmlformats.org/officeDocument/2006/relationships/image" Target="../media/image129.png"/><Relationship Id="rId15" Type="http://schemas.openxmlformats.org/officeDocument/2006/relationships/image" Target="../media/image452.png"/><Relationship Id="rId10" Type="http://schemas.openxmlformats.org/officeDocument/2006/relationships/image" Target="../media/image135.png"/><Relationship Id="rId4" Type="http://schemas.openxmlformats.org/officeDocument/2006/relationships/image" Target="../media/image340.png"/><Relationship Id="rId9" Type="http://schemas.openxmlformats.org/officeDocument/2006/relationships/image" Target="../media/image134.png"/><Relationship Id="rId14" Type="http://schemas.openxmlformats.org/officeDocument/2006/relationships/image" Target="../media/image442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2.png"/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5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2.png"/><Relationship Id="rId3" Type="http://schemas.openxmlformats.org/officeDocument/2006/relationships/image" Target="../media/image136.png"/><Relationship Id="rId7" Type="http://schemas.openxmlformats.org/officeDocument/2006/relationships/image" Target="../media/image135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37.png"/><Relationship Id="rId4" Type="http://schemas.openxmlformats.org/officeDocument/2006/relationships/image" Target="../media/image139.png"/><Relationship Id="rId9" Type="http://schemas.openxmlformats.org/officeDocument/2006/relationships/image" Target="../media/image61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3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3.png"/><Relationship Id="rId5" Type="http://schemas.openxmlformats.org/officeDocument/2006/relationships/image" Target="../media/image770.png"/><Relationship Id="rId4" Type="http://schemas.openxmlformats.org/officeDocument/2006/relationships/image" Target="../media/image760.pn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3" Type="http://schemas.openxmlformats.org/officeDocument/2006/relationships/image" Target="../media/image753.png"/><Relationship Id="rId7" Type="http://schemas.openxmlformats.org/officeDocument/2006/relationships/image" Target="../media/image140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3.png"/><Relationship Id="rId5" Type="http://schemas.openxmlformats.org/officeDocument/2006/relationships/image" Target="../media/image770.png"/><Relationship Id="rId4" Type="http://schemas.openxmlformats.org/officeDocument/2006/relationships/image" Target="../media/image760.png"/><Relationship Id="rId9" Type="http://schemas.openxmlformats.org/officeDocument/2006/relationships/image" Target="../media/image812.pn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1.png"/><Relationship Id="rId13" Type="http://schemas.openxmlformats.org/officeDocument/2006/relationships/image" Target="../media/image140.png"/><Relationship Id="rId3" Type="http://schemas.openxmlformats.org/officeDocument/2006/relationships/image" Target="../media/image820.png"/><Relationship Id="rId7" Type="http://schemas.openxmlformats.org/officeDocument/2006/relationships/image" Target="../media/image851.png"/><Relationship Id="rId12" Type="http://schemas.openxmlformats.org/officeDocument/2006/relationships/image" Target="../media/image783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0.png"/><Relationship Id="rId11" Type="http://schemas.openxmlformats.org/officeDocument/2006/relationships/image" Target="../media/image770.png"/><Relationship Id="rId5" Type="http://schemas.openxmlformats.org/officeDocument/2006/relationships/image" Target="../media/image830.png"/><Relationship Id="rId15" Type="http://schemas.openxmlformats.org/officeDocument/2006/relationships/image" Target="../media/image812.png"/><Relationship Id="rId10" Type="http://schemas.openxmlformats.org/officeDocument/2006/relationships/image" Target="../media/image760.png"/><Relationship Id="rId4" Type="http://schemas.openxmlformats.org/officeDocument/2006/relationships/image" Target="../media/image128.png"/><Relationship Id="rId9" Type="http://schemas.openxmlformats.org/officeDocument/2006/relationships/image" Target="../media/image753.png"/><Relationship Id="rId14" Type="http://schemas.openxmlformats.org/officeDocument/2006/relationships/image" Target="../media/image800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1.png"/><Relationship Id="rId13" Type="http://schemas.openxmlformats.org/officeDocument/2006/relationships/image" Target="../media/image140.png"/><Relationship Id="rId3" Type="http://schemas.openxmlformats.org/officeDocument/2006/relationships/image" Target="../media/image820.png"/><Relationship Id="rId7" Type="http://schemas.openxmlformats.org/officeDocument/2006/relationships/image" Target="../media/image851.png"/><Relationship Id="rId12" Type="http://schemas.openxmlformats.org/officeDocument/2006/relationships/image" Target="../media/image783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0.png"/><Relationship Id="rId11" Type="http://schemas.openxmlformats.org/officeDocument/2006/relationships/image" Target="../media/image770.png"/><Relationship Id="rId5" Type="http://schemas.openxmlformats.org/officeDocument/2006/relationships/image" Target="../media/image830.png"/><Relationship Id="rId15" Type="http://schemas.openxmlformats.org/officeDocument/2006/relationships/image" Target="../media/image812.png"/><Relationship Id="rId10" Type="http://schemas.openxmlformats.org/officeDocument/2006/relationships/image" Target="../media/image760.png"/><Relationship Id="rId4" Type="http://schemas.openxmlformats.org/officeDocument/2006/relationships/image" Target="../media/image128.png"/><Relationship Id="rId9" Type="http://schemas.openxmlformats.org/officeDocument/2006/relationships/image" Target="../media/image753.png"/><Relationship Id="rId14" Type="http://schemas.openxmlformats.org/officeDocument/2006/relationships/image" Target="../media/image800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1.png"/><Relationship Id="rId13" Type="http://schemas.openxmlformats.org/officeDocument/2006/relationships/image" Target="../media/image140.png"/><Relationship Id="rId3" Type="http://schemas.openxmlformats.org/officeDocument/2006/relationships/image" Target="../media/image820.png"/><Relationship Id="rId7" Type="http://schemas.openxmlformats.org/officeDocument/2006/relationships/image" Target="../media/image851.png"/><Relationship Id="rId12" Type="http://schemas.openxmlformats.org/officeDocument/2006/relationships/image" Target="../media/image783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0.png"/><Relationship Id="rId11" Type="http://schemas.openxmlformats.org/officeDocument/2006/relationships/image" Target="../media/image770.png"/><Relationship Id="rId5" Type="http://schemas.openxmlformats.org/officeDocument/2006/relationships/image" Target="../media/image830.png"/><Relationship Id="rId15" Type="http://schemas.openxmlformats.org/officeDocument/2006/relationships/image" Target="../media/image812.png"/><Relationship Id="rId10" Type="http://schemas.openxmlformats.org/officeDocument/2006/relationships/image" Target="../media/image760.png"/><Relationship Id="rId4" Type="http://schemas.openxmlformats.org/officeDocument/2006/relationships/image" Target="../media/image128.png"/><Relationship Id="rId9" Type="http://schemas.openxmlformats.org/officeDocument/2006/relationships/image" Target="../media/image753.png"/><Relationship Id="rId14" Type="http://schemas.openxmlformats.org/officeDocument/2006/relationships/image" Target="../media/image800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1.png"/><Relationship Id="rId13" Type="http://schemas.openxmlformats.org/officeDocument/2006/relationships/image" Target="../media/image140.png"/><Relationship Id="rId3" Type="http://schemas.openxmlformats.org/officeDocument/2006/relationships/image" Target="../media/image820.png"/><Relationship Id="rId7" Type="http://schemas.openxmlformats.org/officeDocument/2006/relationships/image" Target="../media/image851.png"/><Relationship Id="rId12" Type="http://schemas.openxmlformats.org/officeDocument/2006/relationships/image" Target="../media/image783.png"/><Relationship Id="rId17" Type="http://schemas.openxmlformats.org/officeDocument/2006/relationships/image" Target="../media/image881.png"/><Relationship Id="rId2" Type="http://schemas.openxmlformats.org/officeDocument/2006/relationships/image" Target="../media/image740.png"/><Relationship Id="rId16" Type="http://schemas.openxmlformats.org/officeDocument/2006/relationships/image" Target="../media/image8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0.png"/><Relationship Id="rId11" Type="http://schemas.openxmlformats.org/officeDocument/2006/relationships/image" Target="../media/image770.png"/><Relationship Id="rId5" Type="http://schemas.openxmlformats.org/officeDocument/2006/relationships/image" Target="../media/image830.png"/><Relationship Id="rId15" Type="http://schemas.openxmlformats.org/officeDocument/2006/relationships/image" Target="../media/image812.png"/><Relationship Id="rId10" Type="http://schemas.openxmlformats.org/officeDocument/2006/relationships/image" Target="../media/image760.png"/><Relationship Id="rId4" Type="http://schemas.openxmlformats.org/officeDocument/2006/relationships/image" Target="../media/image128.png"/><Relationship Id="rId9" Type="http://schemas.openxmlformats.org/officeDocument/2006/relationships/image" Target="../media/image753.png"/><Relationship Id="rId14" Type="http://schemas.openxmlformats.org/officeDocument/2006/relationships/image" Target="../media/image800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1.png"/><Relationship Id="rId13" Type="http://schemas.openxmlformats.org/officeDocument/2006/relationships/image" Target="../media/image140.png"/><Relationship Id="rId18" Type="http://schemas.openxmlformats.org/officeDocument/2006/relationships/image" Target="../media/image881.png"/><Relationship Id="rId3" Type="http://schemas.openxmlformats.org/officeDocument/2006/relationships/image" Target="../media/image820.png"/><Relationship Id="rId7" Type="http://schemas.openxmlformats.org/officeDocument/2006/relationships/image" Target="../media/image851.png"/><Relationship Id="rId12" Type="http://schemas.openxmlformats.org/officeDocument/2006/relationships/image" Target="../media/image783.png"/><Relationship Id="rId17" Type="http://schemas.openxmlformats.org/officeDocument/2006/relationships/image" Target="../media/image891.png"/><Relationship Id="rId2" Type="http://schemas.openxmlformats.org/officeDocument/2006/relationships/image" Target="../media/image740.png"/><Relationship Id="rId16" Type="http://schemas.openxmlformats.org/officeDocument/2006/relationships/image" Target="../media/image8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0.png"/><Relationship Id="rId11" Type="http://schemas.openxmlformats.org/officeDocument/2006/relationships/image" Target="../media/image770.png"/><Relationship Id="rId5" Type="http://schemas.openxmlformats.org/officeDocument/2006/relationships/image" Target="../media/image830.png"/><Relationship Id="rId15" Type="http://schemas.openxmlformats.org/officeDocument/2006/relationships/image" Target="../media/image812.png"/><Relationship Id="rId10" Type="http://schemas.openxmlformats.org/officeDocument/2006/relationships/image" Target="../media/image760.png"/><Relationship Id="rId19" Type="http://schemas.openxmlformats.org/officeDocument/2006/relationships/image" Target="../media/image901.png"/><Relationship Id="rId4" Type="http://schemas.openxmlformats.org/officeDocument/2006/relationships/image" Target="../media/image128.png"/><Relationship Id="rId9" Type="http://schemas.openxmlformats.org/officeDocument/2006/relationships/image" Target="../media/image753.png"/><Relationship Id="rId14" Type="http://schemas.openxmlformats.org/officeDocument/2006/relationships/image" Target="../media/image800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730.png"/><Relationship Id="rId7" Type="http://schemas.openxmlformats.org/officeDocument/2006/relationships/image" Target="../media/image93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1.png"/><Relationship Id="rId11" Type="http://schemas.openxmlformats.org/officeDocument/2006/relationships/hyperlink" Target="https://doi.org/10.1103/PhysRevApplied.22.044042" TargetMode="External"/><Relationship Id="rId5" Type="http://schemas.openxmlformats.org/officeDocument/2006/relationships/image" Target="../media/image912.png"/><Relationship Id="rId10" Type="http://schemas.openxmlformats.org/officeDocument/2006/relationships/image" Target="../media/image960.png"/><Relationship Id="rId4" Type="http://schemas.openxmlformats.org/officeDocument/2006/relationships/image" Target="../media/image793.png"/><Relationship Id="rId9" Type="http://schemas.openxmlformats.org/officeDocument/2006/relationships/image" Target="../media/image143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1.png"/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0.png"/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0.png"/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0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990.png"/><Relationship Id="rId7" Type="http://schemas.openxmlformats.org/officeDocument/2006/relationships/image" Target="../media/image142.png"/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0.png"/><Relationship Id="rId5" Type="http://schemas.openxmlformats.org/officeDocument/2006/relationships/image" Target="../media/image1011.png"/><Relationship Id="rId4" Type="http://schemas.openxmlformats.org/officeDocument/2006/relationships/image" Target="../media/image1000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5.png"/><Relationship Id="rId7" Type="http://schemas.openxmlformats.org/officeDocument/2006/relationships/image" Target="../media/image148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0" Type="http://schemas.openxmlformats.org/officeDocument/2006/relationships/image" Target="../media/image151.png"/><Relationship Id="rId4" Type="http://schemas.openxmlformats.org/officeDocument/2006/relationships/image" Target="../media/image128.png"/><Relationship Id="rId9" Type="http://schemas.openxmlformats.org/officeDocument/2006/relationships/image" Target="../media/image14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590.png"/><Relationship Id="rId7" Type="http://schemas.openxmlformats.org/officeDocument/2006/relationships/image" Target="../media/image650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0.png"/><Relationship Id="rId5" Type="http://schemas.openxmlformats.org/officeDocument/2006/relationships/image" Target="../media/image630.png"/><Relationship Id="rId4" Type="http://schemas.openxmlformats.org/officeDocument/2006/relationships/image" Target="../media/image620.png"/><Relationship Id="rId9" Type="http://schemas.openxmlformats.org/officeDocument/2006/relationships/image" Target="../media/image910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3" Type="http://schemas.openxmlformats.org/officeDocument/2006/relationships/image" Target="../media/image590.png"/><Relationship Id="rId7" Type="http://schemas.openxmlformats.org/officeDocument/2006/relationships/image" Target="../media/image650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0.png"/><Relationship Id="rId5" Type="http://schemas.openxmlformats.org/officeDocument/2006/relationships/image" Target="../media/image630.png"/><Relationship Id="rId4" Type="http://schemas.openxmlformats.org/officeDocument/2006/relationships/image" Target="../media/image620.png"/><Relationship Id="rId9" Type="http://schemas.openxmlformats.org/officeDocument/2006/relationships/image" Target="../media/image128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3" Type="http://schemas.openxmlformats.org/officeDocument/2006/relationships/image" Target="../media/image590.png"/><Relationship Id="rId7" Type="http://schemas.openxmlformats.org/officeDocument/2006/relationships/image" Target="../media/image650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0.png"/><Relationship Id="rId11" Type="http://schemas.openxmlformats.org/officeDocument/2006/relationships/image" Target="../media/image132.png"/><Relationship Id="rId5" Type="http://schemas.openxmlformats.org/officeDocument/2006/relationships/image" Target="../media/image630.png"/><Relationship Id="rId10" Type="http://schemas.openxmlformats.org/officeDocument/2006/relationships/image" Target="../media/image128.png"/><Relationship Id="rId4" Type="http://schemas.openxmlformats.org/officeDocument/2006/relationships/image" Target="../media/image620.png"/><Relationship Id="rId9" Type="http://schemas.openxmlformats.org/officeDocument/2006/relationships/image" Target="../media/image670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13" Type="http://schemas.openxmlformats.org/officeDocument/2006/relationships/image" Target="../media/image128.png"/><Relationship Id="rId3" Type="http://schemas.openxmlformats.org/officeDocument/2006/relationships/image" Target="../media/image590.png"/><Relationship Id="rId7" Type="http://schemas.openxmlformats.org/officeDocument/2006/relationships/image" Target="../media/image650.png"/><Relationship Id="rId12" Type="http://schemas.openxmlformats.org/officeDocument/2006/relationships/image" Target="../media/image700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0.png"/><Relationship Id="rId5" Type="http://schemas.openxmlformats.org/officeDocument/2006/relationships/image" Target="../media/image630.png"/><Relationship Id="rId15" Type="http://schemas.openxmlformats.org/officeDocument/2006/relationships/image" Target="../media/image133.png"/><Relationship Id="rId10" Type="http://schemas.openxmlformats.org/officeDocument/2006/relationships/image" Target="../media/image550.png"/><Relationship Id="rId4" Type="http://schemas.openxmlformats.org/officeDocument/2006/relationships/image" Target="../media/image620.png"/><Relationship Id="rId9" Type="http://schemas.openxmlformats.org/officeDocument/2006/relationships/image" Target="../media/image670.png"/><Relationship Id="rId14" Type="http://schemas.openxmlformats.org/officeDocument/2006/relationships/image" Target="../media/image132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13" Type="http://schemas.openxmlformats.org/officeDocument/2006/relationships/image" Target="../media/image128.png"/><Relationship Id="rId3" Type="http://schemas.openxmlformats.org/officeDocument/2006/relationships/image" Target="../media/image590.png"/><Relationship Id="rId7" Type="http://schemas.openxmlformats.org/officeDocument/2006/relationships/image" Target="../media/image650.png"/><Relationship Id="rId12" Type="http://schemas.openxmlformats.org/officeDocument/2006/relationships/image" Target="../media/image700.png"/><Relationship Id="rId2" Type="http://schemas.openxmlformats.org/officeDocument/2006/relationships/image" Target="../media/image153.png"/><Relationship Id="rId16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0.png"/><Relationship Id="rId11" Type="http://schemas.openxmlformats.org/officeDocument/2006/relationships/image" Target="../media/image690.png"/><Relationship Id="rId5" Type="http://schemas.openxmlformats.org/officeDocument/2006/relationships/image" Target="../media/image630.png"/><Relationship Id="rId15" Type="http://schemas.openxmlformats.org/officeDocument/2006/relationships/image" Target="../media/image133.png"/><Relationship Id="rId10" Type="http://schemas.openxmlformats.org/officeDocument/2006/relationships/image" Target="../media/image550.png"/><Relationship Id="rId4" Type="http://schemas.openxmlformats.org/officeDocument/2006/relationships/image" Target="../media/image620.png"/><Relationship Id="rId9" Type="http://schemas.openxmlformats.org/officeDocument/2006/relationships/image" Target="../media/image670.png"/><Relationship Id="rId14" Type="http://schemas.openxmlformats.org/officeDocument/2006/relationships/image" Target="../media/image132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810.png"/><Relationship Id="rId3" Type="http://schemas.openxmlformats.org/officeDocument/2006/relationships/image" Target="../media/image710.png"/><Relationship Id="rId7" Type="http://schemas.openxmlformats.org/officeDocument/2006/relationships/image" Target="../media/image750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1.png"/><Relationship Id="rId11" Type="http://schemas.openxmlformats.org/officeDocument/2006/relationships/image" Target="../media/image931.png"/><Relationship Id="rId5" Type="http://schemas.openxmlformats.org/officeDocument/2006/relationships/image" Target="../media/image731.png"/><Relationship Id="rId15" Type="http://schemas.openxmlformats.org/officeDocument/2006/relationships/image" Target="../media/image125.png"/><Relationship Id="rId10" Type="http://schemas.openxmlformats.org/officeDocument/2006/relationships/image" Target="../media/image790.png"/><Relationship Id="rId4" Type="http://schemas.openxmlformats.org/officeDocument/2006/relationships/image" Target="../media/image720.png"/><Relationship Id="rId9" Type="http://schemas.openxmlformats.org/officeDocument/2006/relationships/image" Target="../media/image780.png"/><Relationship Id="rId14" Type="http://schemas.openxmlformats.org/officeDocument/2006/relationships/image" Target="../media/image155.png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1.png"/><Relationship Id="rId18" Type="http://schemas.openxmlformats.org/officeDocument/2006/relationships/image" Target="../media/image802.png"/><Relationship Id="rId21" Type="http://schemas.openxmlformats.org/officeDocument/2006/relationships/image" Target="../media/image742.png"/><Relationship Id="rId7" Type="http://schemas.openxmlformats.org/officeDocument/2006/relationships/image" Target="../media/image792.png"/><Relationship Id="rId12" Type="http://schemas.openxmlformats.org/officeDocument/2006/relationships/image" Target="../media/image7301.png"/><Relationship Id="rId25" Type="http://schemas.openxmlformats.org/officeDocument/2006/relationships/image" Target="../media/image752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722.png"/><Relationship Id="rId24" Type="http://schemas.openxmlformats.org/officeDocument/2006/relationships/image" Target="../media/image761.png"/><Relationship Id="rId23" Type="http://schemas.openxmlformats.org/officeDocument/2006/relationships/image" Target="../media/image782.png"/><Relationship Id="rId10" Type="http://schemas.openxmlformats.org/officeDocument/2006/relationships/image" Target="../media/image270.png"/><Relationship Id="rId19" Type="http://schemas.openxmlformats.org/officeDocument/2006/relationships/image" Target="../media/image240.png"/><Relationship Id="rId9" Type="http://schemas.openxmlformats.org/officeDocument/2006/relationships/image" Target="../media/image1611.png"/><Relationship Id="rId14" Type="http://schemas.openxmlformats.org/officeDocument/2006/relationships/image" Target="../media/image320.png"/><Relationship Id="rId22" Type="http://schemas.openxmlformats.org/officeDocument/2006/relationships/image" Target="../media/image772.png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00.png"/><Relationship Id="rId4" Type="http://schemas.openxmlformats.org/officeDocument/2006/relationships/image" Target="../media/image732.png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1.png"/><Relationship Id="rId3" Type="http://schemas.openxmlformats.org/officeDocument/2006/relationships/image" Target="../media/image161.png"/><Relationship Id="rId7" Type="http://schemas.openxmlformats.org/officeDocument/2006/relationships/image" Target="../media/image13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1.png"/><Relationship Id="rId11" Type="http://schemas.openxmlformats.org/officeDocument/2006/relationships/image" Target="../media/image69.png"/><Relationship Id="rId5" Type="http://schemas.openxmlformats.org/officeDocument/2006/relationships/image" Target="../media/image18.png"/><Relationship Id="rId10" Type="http://schemas.openxmlformats.org/officeDocument/2006/relationships/image" Target="../media/image651.png"/><Relationship Id="rId4" Type="http://schemas.openxmlformats.org/officeDocument/2006/relationships/image" Target="../media/image27.png"/><Relationship Id="rId9" Type="http://schemas.openxmlformats.org/officeDocument/2006/relationships/image" Target="../media/image6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 descr="C:\Users\kubotaka\Desktop\Kenkyu\LG_and_seamless\131213\DSC04896.JPG">
            <a:extLst>
              <a:ext uri="{FF2B5EF4-FFF2-40B4-BE49-F238E27FC236}">
                <a16:creationId xmlns:a16="http://schemas.microsoft.com/office/drawing/2014/main" id="{A52ABFE1-37EC-BBA8-8B5E-B80B9B2606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6271" y="2325093"/>
            <a:ext cx="1636845" cy="291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B75B3100-90FE-280C-3A6D-A6CDA714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668" y="4018590"/>
            <a:ext cx="2590385" cy="129519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0D5D14-9914-4F29-BBB2-45A6F283FD7F}"/>
              </a:ext>
            </a:extLst>
          </p:cNvPr>
          <p:cNvSpPr txBox="1"/>
          <p:nvPr/>
        </p:nvSpPr>
        <p:spPr>
          <a:xfrm>
            <a:off x="17111" y="3144"/>
            <a:ext cx="12174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/>
              <a:t>International Workshop on Intrinsic Josephson Junctions and Nanostructured Superconducting Physics (Dec. 6, 2025)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8BE380A-3A54-C34E-7ABA-A861923641A8}"/>
              </a:ext>
            </a:extLst>
          </p:cNvPr>
          <p:cNvSpPr txBox="1"/>
          <p:nvPr/>
        </p:nvSpPr>
        <p:spPr>
          <a:xfrm>
            <a:off x="17111" y="347030"/>
            <a:ext cx="12174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/>
              <a:t>Superconducting Resonators</a:t>
            </a:r>
            <a:r>
              <a:rPr kumimoji="1" lang="en-US" altLang="ja-JP" sz="3600" dirty="0"/>
              <a:t>: a Crossroads of </a:t>
            </a:r>
          </a:p>
          <a:p>
            <a:pPr algn="ctr"/>
            <a:r>
              <a:rPr kumimoji="1" lang="en-US" altLang="ja-JP" sz="3600" dirty="0"/>
              <a:t>High-Energy Accelerators, Astrophysical Detectors, </a:t>
            </a:r>
          </a:p>
          <a:p>
            <a:pPr algn="ctr"/>
            <a:r>
              <a:rPr kumimoji="1" lang="en-US" altLang="ja-JP" sz="3600" dirty="0"/>
              <a:t>Condensed Matter Theory, and Quantum Computing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A707D7F-00F9-15D5-FBE1-E0297F2FD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440" y="2468546"/>
            <a:ext cx="3615119" cy="283531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61408FC-D0C4-3125-5A43-B30ACDC4A9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2228031" y="2328288"/>
            <a:ext cx="2108075" cy="169030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3C7FDBF-1BDA-D7AB-AC5F-30F978867F30}"/>
              </a:ext>
            </a:extLst>
          </p:cNvPr>
          <p:cNvSpPr txBox="1"/>
          <p:nvPr/>
        </p:nvSpPr>
        <p:spPr>
          <a:xfrm>
            <a:off x="0" y="5387867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>
                <a:cs typeface="MV Boli" panose="02000500030200090000" pitchFamily="2" charset="0"/>
              </a:rPr>
              <a:t>High energy Accelerator Research Organization (</a:t>
            </a:r>
            <a:r>
              <a:rPr kumimoji="1" lang="en-US" altLang="ja-JP" sz="2400" b="1" dirty="0">
                <a:cs typeface="MV Boli" panose="02000500030200090000" pitchFamily="2" charset="0"/>
              </a:rPr>
              <a:t>KEK</a:t>
            </a:r>
            <a:r>
              <a:rPr kumimoji="1" lang="en-US" altLang="ja-JP" sz="2000" b="1" dirty="0">
                <a:cs typeface="MV Boli" panose="02000500030200090000" pitchFamily="2" charset="0"/>
              </a:rPr>
              <a:t>)</a:t>
            </a:r>
          </a:p>
          <a:p>
            <a:pPr algn="ctr"/>
            <a:r>
              <a:rPr kumimoji="1" lang="en-US" altLang="ja-JP" sz="2000" b="1" dirty="0">
                <a:cs typeface="MV Boli" panose="02000500030200090000" pitchFamily="2" charset="0"/>
              </a:rPr>
              <a:t>Innovation Center for Applied Superconducting Accelerators (</a:t>
            </a:r>
            <a:r>
              <a:rPr kumimoji="1" lang="en-US" altLang="ja-JP" sz="2000" b="1" dirty="0" err="1">
                <a:cs typeface="MV Boli" panose="02000500030200090000" pitchFamily="2" charset="0"/>
              </a:rPr>
              <a:t>iCASA</a:t>
            </a:r>
            <a:r>
              <a:rPr kumimoji="1" lang="en-US" altLang="ja-JP" sz="2000" b="1" dirty="0">
                <a:cs typeface="MV Boli" panose="02000500030200090000" pitchFamily="2" charset="0"/>
              </a:rPr>
              <a:t>)</a:t>
            </a:r>
          </a:p>
          <a:p>
            <a:pPr algn="ctr"/>
            <a:r>
              <a:rPr kumimoji="1" lang="en-US" altLang="ja-JP" sz="4400" b="1" dirty="0">
                <a:cs typeface="MV Boli" panose="02000500030200090000" pitchFamily="2" charset="0"/>
              </a:rPr>
              <a:t>Takayuki Kubo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D77EEA52-6F69-9EEA-93B4-890F7E2AC89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918"/>
          <a:stretch>
            <a:fillRect/>
          </a:stretch>
        </p:blipFill>
        <p:spPr>
          <a:xfrm>
            <a:off x="8228076" y="2458038"/>
            <a:ext cx="2103044" cy="285344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E27DBEB-5EE8-5EC1-1EDE-15E9BC29E67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08094" y="3643009"/>
            <a:ext cx="1602096" cy="88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8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E50B-001C-3939-2013-A0C19307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213AC08-5D76-A9C6-BBFC-B11ADE683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94" y="0"/>
            <a:ext cx="9630283" cy="685429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39AB69-6F54-62A9-0B01-B86958F78D4A}"/>
              </a:ext>
            </a:extLst>
          </p:cNvPr>
          <p:cNvSpPr txBox="1"/>
          <p:nvPr/>
        </p:nvSpPr>
        <p:spPr>
          <a:xfrm>
            <a:off x="11667" y="6592687"/>
            <a:ext cx="436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https://linearcollider.org/conditions-for-material-usage/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057724-6B8B-A0B2-47E3-0AB6B31B0B1E}"/>
              </a:ext>
            </a:extLst>
          </p:cNvPr>
          <p:cNvSpPr txBox="1"/>
          <p:nvPr/>
        </p:nvSpPr>
        <p:spPr>
          <a:xfrm>
            <a:off x="1404594" y="5311710"/>
            <a:ext cx="963028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/>
              <a:t>Here we use the International Linear Collider (ILC), an electron–positron Higgs factory, </a:t>
            </a:r>
            <a:r>
              <a:rPr lang="en-US" altLang="ja-JP" sz="2400" b="1" u="sng" dirty="0"/>
              <a:t>as an example</a:t>
            </a:r>
            <a:r>
              <a:rPr lang="en-US" altLang="ja-JP" dirty="0"/>
              <a:t>, but the European X-ray Free-Electron Laser (European XFEL) in Germany and the Linac Coherent Light Source II (LCLS-II) at SLAC in California are also based on similar superconducting RF linac technology.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894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7AEF-0EEA-2538-A850-5FB78AFC5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CC57F63-BA0B-806C-E450-3CF9E8659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94" y="0"/>
            <a:ext cx="9630283" cy="685429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BAE7E74-7AE5-AF77-4B84-AE6388F77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24" y="4056079"/>
            <a:ext cx="3808302" cy="271053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D113FDE-8F2E-4975-7FF4-28D8C36F821B}"/>
              </a:ext>
            </a:extLst>
          </p:cNvPr>
          <p:cNvSpPr/>
          <p:nvPr/>
        </p:nvSpPr>
        <p:spPr>
          <a:xfrm>
            <a:off x="6096000" y="3553905"/>
            <a:ext cx="628278" cy="6033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7B0274-38B4-78FA-6E19-E72D0428A439}"/>
              </a:ext>
            </a:extLst>
          </p:cNvPr>
          <p:cNvSpPr txBox="1"/>
          <p:nvPr/>
        </p:nvSpPr>
        <p:spPr>
          <a:xfrm>
            <a:off x="11667" y="6592687"/>
            <a:ext cx="436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https://linearcollider.org/conditions-for-material-usage/</a:t>
            </a:r>
          </a:p>
        </p:txBody>
      </p:sp>
    </p:spTree>
    <p:extLst>
      <p:ext uri="{BB962C8B-B14F-4D97-AF65-F5344CB8AC3E}">
        <p14:creationId xmlns:p14="http://schemas.microsoft.com/office/powerpoint/2010/main" val="258771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EF9AE-12AA-90A4-02B8-8190C745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7C0D690-65C6-BB9D-B306-53755F961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94" y="0"/>
            <a:ext cx="9630283" cy="685429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6DF9805-06EA-AA95-7FDE-66EC553FF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24" y="4056079"/>
            <a:ext cx="3808302" cy="271053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98854F7-AF69-1DF8-4470-27AF6BC431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9" y="75578"/>
            <a:ext cx="5067624" cy="3594060"/>
          </a:xfrm>
          <a:prstGeom prst="rect">
            <a:avLst/>
          </a:prstGeom>
          <a:ln w="50800">
            <a:solidFill>
              <a:srgbClr val="FFC000"/>
            </a:solidFill>
          </a:ln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398C3B-A399-6BF5-793D-4CEAA3971FB5}"/>
              </a:ext>
            </a:extLst>
          </p:cNvPr>
          <p:cNvSpPr/>
          <p:nvPr/>
        </p:nvSpPr>
        <p:spPr>
          <a:xfrm>
            <a:off x="6096000" y="3553905"/>
            <a:ext cx="628278" cy="6033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F3B5F52-16F7-D2EA-7A33-3FF5BA91570C}"/>
              </a:ext>
            </a:extLst>
          </p:cNvPr>
          <p:cNvSpPr/>
          <p:nvPr/>
        </p:nvSpPr>
        <p:spPr>
          <a:xfrm rot="21094216">
            <a:off x="2263788" y="4039891"/>
            <a:ext cx="2693993" cy="603316"/>
          </a:xfrm>
          <a:prstGeom prst="rect">
            <a:avLst/>
          </a:prstGeom>
          <a:noFill/>
          <a:ln w="539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AF7C1C-A0E6-D0D9-3817-5CE0A1653206}"/>
              </a:ext>
            </a:extLst>
          </p:cNvPr>
          <p:cNvSpPr txBox="1"/>
          <p:nvPr/>
        </p:nvSpPr>
        <p:spPr>
          <a:xfrm>
            <a:off x="11667" y="6592687"/>
            <a:ext cx="436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https://linearcollider.org/conditions-for-material-usage/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D1D3CC-C670-35D2-AD8B-AE5DA14CCB58}"/>
              </a:ext>
            </a:extLst>
          </p:cNvPr>
          <p:cNvSpPr/>
          <p:nvPr/>
        </p:nvSpPr>
        <p:spPr>
          <a:xfrm rot="21094216">
            <a:off x="7899820" y="3125490"/>
            <a:ext cx="2693993" cy="603316"/>
          </a:xfrm>
          <a:prstGeom prst="rect">
            <a:avLst/>
          </a:prstGeom>
          <a:noFill/>
          <a:ln w="539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959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19A6E-A4B4-3CAA-9F86-3A9CFF23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FF24B09-EEF0-46AA-2B97-06B4D0D64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9" y="75578"/>
            <a:ext cx="5067624" cy="3594060"/>
          </a:xfrm>
          <a:prstGeom prst="rect">
            <a:avLst/>
          </a:prstGeom>
          <a:ln w="50800">
            <a:noFill/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4183C0-41E8-DBD2-EAC9-3CE42C3737CC}"/>
              </a:ext>
            </a:extLst>
          </p:cNvPr>
          <p:cNvSpPr txBox="1"/>
          <p:nvPr/>
        </p:nvSpPr>
        <p:spPr>
          <a:xfrm>
            <a:off x="8582645" y="6592687"/>
            <a:ext cx="36093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https://linearcollider.org/conditions-for-material-usage/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B0F455A-1B6D-90D0-9703-D43A52504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966" y="109021"/>
            <a:ext cx="6176966" cy="4365346"/>
          </a:xfrm>
          <a:prstGeom prst="rect">
            <a:avLst/>
          </a:prstGeom>
          <a:ln w="50800">
            <a:solidFill>
              <a:srgbClr val="FFFF00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3140B2C-DCE5-7BEF-F9F7-5E2E1FB26F0F}"/>
              </a:ext>
            </a:extLst>
          </p:cNvPr>
          <p:cNvSpPr/>
          <p:nvPr/>
        </p:nvSpPr>
        <p:spPr>
          <a:xfrm>
            <a:off x="3171217" y="1527243"/>
            <a:ext cx="1517515" cy="2237361"/>
          </a:xfrm>
          <a:prstGeom prst="rect">
            <a:avLst/>
          </a:prstGeom>
          <a:noFill/>
          <a:ln w="508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0371638-C965-8350-379F-C2F962CEFB29}"/>
              </a:ext>
            </a:extLst>
          </p:cNvPr>
          <p:cNvSpPr txBox="1"/>
          <p:nvPr/>
        </p:nvSpPr>
        <p:spPr>
          <a:xfrm>
            <a:off x="5608421" y="87550"/>
            <a:ext cx="2160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C000"/>
                </a:solidFill>
              </a:rPr>
              <a:t>Cryomodule</a:t>
            </a:r>
            <a:endParaRPr kumimoji="1" lang="ja-JP" altLang="en-US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091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37EF3-FF8B-4F52-6C41-E0165B61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D449850-DA3B-19DA-8D1F-DD02FBB47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9" y="75578"/>
            <a:ext cx="5067624" cy="3594060"/>
          </a:xfrm>
          <a:prstGeom prst="rect">
            <a:avLst/>
          </a:prstGeom>
          <a:ln w="50800">
            <a:noFill/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03DE1A-8AA0-16DB-DF60-5FFD42219E73}"/>
              </a:ext>
            </a:extLst>
          </p:cNvPr>
          <p:cNvSpPr txBox="1"/>
          <p:nvPr/>
        </p:nvSpPr>
        <p:spPr>
          <a:xfrm>
            <a:off x="8582645" y="6592687"/>
            <a:ext cx="36093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https://linearcollider.org/conditions-for-material-usage/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AB62879-C65E-0E0A-0376-43F3FE608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966" y="109021"/>
            <a:ext cx="6176966" cy="4365346"/>
          </a:xfrm>
          <a:prstGeom prst="rect">
            <a:avLst/>
          </a:prstGeom>
          <a:ln w="50800">
            <a:solidFill>
              <a:srgbClr val="FFFF00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D72784-342D-74F8-84CD-B99D3831F4A0}"/>
              </a:ext>
            </a:extLst>
          </p:cNvPr>
          <p:cNvSpPr/>
          <p:nvPr/>
        </p:nvSpPr>
        <p:spPr>
          <a:xfrm>
            <a:off x="3171217" y="1527243"/>
            <a:ext cx="1517515" cy="2237361"/>
          </a:xfrm>
          <a:prstGeom prst="rect">
            <a:avLst/>
          </a:prstGeom>
          <a:noFill/>
          <a:ln w="508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AB7DB29-4530-EAE8-DDC4-F17E08F47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697" y="3108073"/>
            <a:ext cx="5077871" cy="3607724"/>
          </a:xfrm>
          <a:prstGeom prst="rect">
            <a:avLst/>
          </a:prstGeom>
          <a:ln w="50800">
            <a:solidFill>
              <a:srgbClr val="00B0F0"/>
            </a:solidFill>
          </a:ln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C7E93C-9EEE-9C01-DC29-B7FFE44EF22D}"/>
              </a:ext>
            </a:extLst>
          </p:cNvPr>
          <p:cNvSpPr/>
          <p:nvPr/>
        </p:nvSpPr>
        <p:spPr>
          <a:xfrm rot="525678">
            <a:off x="5725808" y="1543874"/>
            <a:ext cx="2603847" cy="1127481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21824D-EECE-E30D-2DBC-1026F164E0A1}"/>
              </a:ext>
            </a:extLst>
          </p:cNvPr>
          <p:cNvSpPr txBox="1"/>
          <p:nvPr/>
        </p:nvSpPr>
        <p:spPr>
          <a:xfrm>
            <a:off x="5674615" y="3103286"/>
            <a:ext cx="28504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b="1" dirty="0">
                <a:solidFill>
                  <a:srgbClr val="00B0F0"/>
                </a:solidFill>
              </a:rPr>
              <a:t>9-cell Nb Accelerator</a:t>
            </a:r>
          </a:p>
          <a:p>
            <a:pPr algn="r"/>
            <a:r>
              <a:rPr kumimoji="1" lang="en-US" altLang="ja-JP" sz="2000" b="1" dirty="0">
                <a:solidFill>
                  <a:srgbClr val="00B0F0"/>
                </a:solidFill>
              </a:rPr>
              <a:t>Cavity (1.3 GHz)</a:t>
            </a:r>
            <a:endParaRPr kumimoji="1" lang="ja-JP" altLang="en-US" sz="2000" b="1" dirty="0">
              <a:solidFill>
                <a:srgbClr val="00B0F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250B12-E581-2549-563C-0BFF58E874B8}"/>
              </a:ext>
            </a:extLst>
          </p:cNvPr>
          <p:cNvSpPr txBox="1"/>
          <p:nvPr/>
        </p:nvSpPr>
        <p:spPr>
          <a:xfrm>
            <a:off x="5608421" y="87550"/>
            <a:ext cx="2160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C000"/>
                </a:solidFill>
              </a:rPr>
              <a:t>Cryomodule</a:t>
            </a:r>
            <a:endParaRPr kumimoji="1" lang="ja-JP" altLang="en-US" sz="24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4D2C879-3CC8-39D7-F18D-26A24BE402B6}"/>
                  </a:ext>
                </a:extLst>
              </p:cNvPr>
              <p:cNvSpPr txBox="1"/>
              <p:nvPr/>
            </p:nvSpPr>
            <p:spPr>
              <a:xfrm rot="520811">
                <a:off x="5802101" y="2577828"/>
                <a:ext cx="7991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ja-JP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4D2C879-3CC8-39D7-F18D-26A24BE40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20811">
                <a:off x="5802101" y="2577828"/>
                <a:ext cx="799130" cy="276999"/>
              </a:xfrm>
              <a:prstGeom prst="rect">
                <a:avLst/>
              </a:prstGeom>
              <a:blipFill>
                <a:blip r:embed="rId5"/>
                <a:stretch>
                  <a:fillRect l="-6569" r="-4380"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17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0982A1A-F213-413D-FD05-5A535BF3F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697" y="3108073"/>
            <a:ext cx="5077871" cy="3607724"/>
          </a:xfrm>
          <a:prstGeom prst="rect">
            <a:avLst/>
          </a:prstGeom>
          <a:ln w="50800">
            <a:solidFill>
              <a:srgbClr val="00B0F0"/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51BEA75-0C15-45D6-BEB0-EDCD890CB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 flipH="1">
            <a:off x="4202331" y="31814"/>
            <a:ext cx="3734584" cy="299447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6F08D2-C3DA-D55A-B6A8-8A09673530CC}"/>
              </a:ext>
            </a:extLst>
          </p:cNvPr>
          <p:cNvSpPr txBox="1"/>
          <p:nvPr/>
        </p:nvSpPr>
        <p:spPr>
          <a:xfrm>
            <a:off x="5674615" y="3103286"/>
            <a:ext cx="28504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b="1" dirty="0">
                <a:solidFill>
                  <a:srgbClr val="00B0F0"/>
                </a:solidFill>
              </a:rPr>
              <a:t>9-cell Nb Accelerator</a:t>
            </a:r>
          </a:p>
          <a:p>
            <a:pPr algn="r"/>
            <a:r>
              <a:rPr kumimoji="1" lang="en-US" altLang="ja-JP" sz="2000" b="1" dirty="0">
                <a:solidFill>
                  <a:srgbClr val="00B0F0"/>
                </a:solidFill>
              </a:rPr>
              <a:t>Cavity (1.3 GHz)</a:t>
            </a:r>
            <a:endParaRPr kumimoji="1" lang="ja-JP" altLang="en-US" sz="2000" b="1" dirty="0">
              <a:solidFill>
                <a:srgbClr val="00B0F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060580-6DE8-D9A0-CC80-E546E9C93C28}"/>
              </a:ext>
            </a:extLst>
          </p:cNvPr>
          <p:cNvSpPr txBox="1"/>
          <p:nvPr/>
        </p:nvSpPr>
        <p:spPr>
          <a:xfrm>
            <a:off x="3480752" y="2557035"/>
            <a:ext cx="530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Single-cell Nb accelerator cavity (1.3 GHz)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91068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9DA1-BDFC-560D-759C-0034EAA0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6E15840-1A84-6C4E-1A2F-A7656EDC3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4202331" y="31814"/>
            <a:ext cx="3734584" cy="2994472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3246ED7-1947-7443-0F58-F9F6039EF2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147141-9638-E44F-50C5-61032ED4A256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2CE81EF-C25C-FC96-54A5-4F71ED9AC8F9}"/>
              </a:ext>
            </a:extLst>
          </p:cNvPr>
          <p:cNvSpPr txBox="1"/>
          <p:nvPr/>
        </p:nvSpPr>
        <p:spPr>
          <a:xfrm>
            <a:off x="3480752" y="2557035"/>
            <a:ext cx="530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Single-cell Nb accelerator cavity (1.3 GHz)</a:t>
            </a:r>
            <a:endParaRPr kumimoji="1" lang="ja-JP" altLang="en-US" b="1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BB092FCE-15F0-F060-C8DF-26E974E354EB}"/>
              </a:ext>
            </a:extLst>
          </p:cNvPr>
          <p:cNvCxnSpPr/>
          <p:nvPr/>
        </p:nvCxnSpPr>
        <p:spPr>
          <a:xfrm flipV="1">
            <a:off x="681925" y="1115878"/>
            <a:ext cx="2798827" cy="387458"/>
          </a:xfrm>
          <a:prstGeom prst="straightConnector1">
            <a:avLst/>
          </a:prstGeom>
          <a:ln w="603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63A6751-CBD8-FCD8-EAEC-95157AC90520}"/>
                  </a:ext>
                </a:extLst>
              </p:cNvPr>
              <p:cNvSpPr txBox="1"/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63A6751-CBD8-FCD8-EAEC-95157AC90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0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02AC-3F24-3CED-305C-364424E18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D32141F-19EA-3CEC-D2C5-59509C037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4202331" y="31814"/>
            <a:ext cx="3734584" cy="2994472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A55AB04-E8F5-1FD9-EEFB-0D4D94620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0A5A4F52-E16B-D9B4-9141-DA106B9CA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D757A7-608A-EF6A-6CD1-00F311D81103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1D168E-4677-F727-A743-DD18E3ED4CC6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C852C04-1AE9-86D0-713B-E1A8F9FA1D6C}"/>
              </a:ext>
            </a:extLst>
          </p:cNvPr>
          <p:cNvSpPr txBox="1"/>
          <p:nvPr/>
        </p:nvSpPr>
        <p:spPr>
          <a:xfrm>
            <a:off x="3480752" y="2557035"/>
            <a:ext cx="530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Single-cell Nb accelerator cavity (1.3 GHz)</a:t>
            </a:r>
            <a:endParaRPr kumimoji="1" lang="ja-JP" altLang="en-US" b="1" dirty="0"/>
          </a:p>
        </p:txBody>
      </p:sp>
      <p:sp>
        <p:nvSpPr>
          <p:cNvPr id="5" name="円弧 4">
            <a:extLst>
              <a:ext uri="{FF2B5EF4-FFF2-40B4-BE49-F238E27FC236}">
                <a16:creationId xmlns:a16="http://schemas.microsoft.com/office/drawing/2014/main" id="{3C2993F6-2812-FB86-9701-81EF36DE630B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57BF63CF-9A30-3B5B-E124-31575A9E4D5E}"/>
              </a:ext>
            </a:extLst>
          </p:cNvPr>
          <p:cNvCxnSpPr/>
          <p:nvPr/>
        </p:nvCxnSpPr>
        <p:spPr>
          <a:xfrm flipV="1">
            <a:off x="681925" y="1115878"/>
            <a:ext cx="2798827" cy="387458"/>
          </a:xfrm>
          <a:prstGeom prst="straightConnector1">
            <a:avLst/>
          </a:prstGeom>
          <a:ln w="603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BD161524-1E9F-B3B2-9D0A-EF716B422F7A}"/>
                  </a:ext>
                </a:extLst>
              </p:cNvPr>
              <p:cNvSpPr txBox="1"/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BD161524-1E9F-B3B2-9D0A-EF716B422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049D8A2-E3DF-6F8D-9E5B-39D40FC2204E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049D8A2-E3DF-6F8D-9E5B-39D40FC22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70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AA02-9072-A767-D949-BEAC543D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BA45A63-8A21-15AB-6D8B-01CEDF0D2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4202331" y="31814"/>
            <a:ext cx="3734584" cy="2994472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0E739E1C-CC0A-4C94-FC71-A5A24F9C27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0CC704CF-6618-FC35-C438-77FC5C664C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108DE9-2D67-DC8A-EBFC-7D8AA5FA6FBB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E4BA4C-4C0F-E5D7-F547-8E97F70578F8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4770FB-27C9-EBB6-5AC1-1359EB1FD06E}"/>
              </a:ext>
            </a:extLst>
          </p:cNvPr>
          <p:cNvSpPr txBox="1"/>
          <p:nvPr/>
        </p:nvSpPr>
        <p:spPr>
          <a:xfrm>
            <a:off x="3480752" y="2557035"/>
            <a:ext cx="530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Single-cell Nb accelerator cavity (1.3 GHz)</a:t>
            </a:r>
            <a:endParaRPr kumimoji="1" lang="ja-JP" altLang="en-US" b="1" dirty="0"/>
          </a:p>
        </p:txBody>
      </p:sp>
      <p:sp>
        <p:nvSpPr>
          <p:cNvPr id="5" name="円弧 4">
            <a:extLst>
              <a:ext uri="{FF2B5EF4-FFF2-40B4-BE49-F238E27FC236}">
                <a16:creationId xmlns:a16="http://schemas.microsoft.com/office/drawing/2014/main" id="{50259C94-937B-45B5-8D2F-76C77EB7AAE3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C0D6DCB-B0A7-E1D0-8D82-57D79E25765F}"/>
              </a:ext>
            </a:extLst>
          </p:cNvPr>
          <p:cNvCxnSpPr/>
          <p:nvPr/>
        </p:nvCxnSpPr>
        <p:spPr>
          <a:xfrm flipV="1">
            <a:off x="681925" y="1115878"/>
            <a:ext cx="2798827" cy="387458"/>
          </a:xfrm>
          <a:prstGeom prst="straightConnector1">
            <a:avLst/>
          </a:prstGeom>
          <a:ln w="603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767E3EE-9FD5-8224-9E30-71BADCBC1BD9}"/>
                  </a:ext>
                </a:extLst>
              </p:cNvPr>
              <p:cNvSpPr txBox="1"/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767E3EE-9FD5-8224-9E30-71BADCBC1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3EA0021-858D-BE5B-5FDD-2A84F096FD71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3EA0021-858D-BE5B-5FDD-2A84F096F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421C84-675D-55A8-9618-3ECC9B69EC94}"/>
              </a:ext>
            </a:extLst>
          </p:cNvPr>
          <p:cNvSpPr txBox="1"/>
          <p:nvPr/>
        </p:nvSpPr>
        <p:spPr>
          <a:xfrm>
            <a:off x="2400665" y="3639758"/>
            <a:ext cx="7609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There are two key performance metrics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3000D49-F263-7218-8CFB-54EC69BA5949}"/>
                  </a:ext>
                </a:extLst>
              </p:cNvPr>
              <p:cNvSpPr txBox="1"/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kumimoji="1" lang="en-US" altLang="ja-JP" sz="4000" dirty="0">
                    <a:solidFill>
                      <a:schemeClr val="tx1"/>
                    </a:solidFill>
                  </a:rPr>
                  <a:t> Accelerating electric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</m:oMath>
                </a14:m>
                <a:endParaRPr kumimoji="1" lang="en-US" altLang="ja-JP" sz="4000" dirty="0">
                  <a:solidFill>
                    <a:schemeClr val="tx1"/>
                  </a:solidFill>
                </a:endParaRPr>
              </a:p>
              <a:p>
                <a:pPr marL="342900" indent="-342900">
                  <a:buAutoNum type="arabicParenBoth"/>
                </a:pPr>
                <a:r>
                  <a:rPr kumimoji="1" lang="en-US" altLang="ja-JP" sz="4000" dirty="0">
                    <a:solidFill>
                      <a:schemeClr val="tx1"/>
                    </a:solidFill>
                  </a:rPr>
                  <a:t> Quality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4000" dirty="0">
                    <a:solidFill>
                      <a:schemeClr val="tx1"/>
                    </a:solidFill>
                  </a:rPr>
                  <a:t> (smallness of dissipation)</a:t>
                </a:r>
                <a:endParaRPr kumimoji="1" lang="ja-JP" alt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3000D49-F263-7218-8CFB-54EC69BA5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blipFill>
                <a:blip r:embed="rId7"/>
                <a:stretch>
                  <a:fillRect l="-1920" t="-8295" b="-188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819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919A-429E-D283-90C7-1F4ECEB4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3374D518-CB2C-D6CB-7CF2-BE0966D772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54273C8-B09D-C85D-76DE-B3D101FA44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10D86E-2535-1CFE-FA1C-6097CFC6BA07}"/>
              </a:ext>
            </a:extLst>
          </p:cNvPr>
          <p:cNvSpPr txBox="1"/>
          <p:nvPr/>
        </p:nvSpPr>
        <p:spPr>
          <a:xfrm>
            <a:off x="2400665" y="3639758"/>
            <a:ext cx="7609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There are two key performance metrics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428FD1-93E7-8E37-7C54-BE3C8F7F6FBD}"/>
                  </a:ext>
                </a:extLst>
              </p:cNvPr>
              <p:cNvSpPr txBox="1"/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kumimoji="1" lang="en-US" altLang="ja-JP" sz="4000" dirty="0">
                    <a:solidFill>
                      <a:schemeClr val="tx1"/>
                    </a:solidFill>
                  </a:rPr>
                  <a:t> Accelerating electric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</m:oMath>
                </a14:m>
                <a:endParaRPr kumimoji="1" lang="en-US" altLang="ja-JP" sz="4000" dirty="0">
                  <a:solidFill>
                    <a:schemeClr val="tx1"/>
                  </a:solidFill>
                </a:endParaRPr>
              </a:p>
              <a:p>
                <a:pPr marL="342900" indent="-342900">
                  <a:buAutoNum type="arabicParenBoth"/>
                </a:pPr>
                <a:r>
                  <a:rPr kumimoji="1" lang="en-US" altLang="ja-JP" sz="4000" dirty="0">
                    <a:solidFill>
                      <a:schemeClr val="tx1"/>
                    </a:solidFill>
                  </a:rPr>
                  <a:t> Quality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kumimoji="1"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4000" dirty="0">
                    <a:solidFill>
                      <a:schemeClr val="tx1"/>
                    </a:solidFill>
                  </a:rPr>
                  <a:t> (smallness of dissipation)</a:t>
                </a:r>
                <a:endParaRPr kumimoji="1" lang="ja-JP" alt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428FD1-93E7-8E37-7C54-BE3C8F7F6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blipFill>
                <a:blip r:embed="rId4"/>
                <a:stretch>
                  <a:fillRect l="-1920" t="-8295" b="-188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038C65-9295-6161-E38C-E544E4A9C2B0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B607C99-83A2-91E9-397F-1A6371382ABB}"/>
              </a:ext>
            </a:extLst>
          </p:cNvPr>
          <p:cNvCxnSpPr/>
          <p:nvPr/>
        </p:nvCxnSpPr>
        <p:spPr>
          <a:xfrm flipV="1">
            <a:off x="681925" y="1115878"/>
            <a:ext cx="2798827" cy="387458"/>
          </a:xfrm>
          <a:prstGeom prst="straightConnector1">
            <a:avLst/>
          </a:prstGeom>
          <a:ln w="603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076EA02-E2C4-ED57-5D87-E408FC3AFE21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FBA1F196-40EC-8265-8CAF-3E7357E9D91C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11F9E03-C4C0-A990-D791-8B852CE5917C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11F9E03-C4C0-A990-D791-8B852CE59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F5C3A08-9BAC-4BE8-61E8-7CF11D4701D8}"/>
                  </a:ext>
                </a:extLst>
              </p:cNvPr>
              <p:cNvSpPr txBox="1"/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F5C3A08-9BAC-4BE8-61E8-7CF11D470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図 27">
            <a:extLst>
              <a:ext uri="{FF2B5EF4-FFF2-40B4-BE49-F238E27FC236}">
                <a16:creationId xmlns:a16="http://schemas.microsoft.com/office/drawing/2014/main" id="{18250952-3086-0ACD-1D0E-E78CBD1C94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4202331" y="31814"/>
            <a:ext cx="3734584" cy="2994472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681A9CD-99C4-EC32-A265-52201EE6C0BA}"/>
              </a:ext>
            </a:extLst>
          </p:cNvPr>
          <p:cNvSpPr txBox="1"/>
          <p:nvPr/>
        </p:nvSpPr>
        <p:spPr>
          <a:xfrm>
            <a:off x="3480752" y="2557035"/>
            <a:ext cx="530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Single-cell Nb accelerator cavity (1.3 GHz)</a:t>
            </a:r>
            <a:endParaRPr kumimoji="1" lang="ja-JP" altLang="en-US" b="1" dirty="0"/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8007A768-F092-E51E-DE43-1225D888C5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9214F5B-6934-2583-1241-F3EE5BC78CC9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71E541CC-1BF3-D333-0BEC-EB06B88179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AFB19DC-0DC9-DCCB-D517-E20CDBDA1448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07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20B9C-3A82-D7F2-A4EE-D20AE619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58A72919-5D6F-37D7-672E-BF1C3EB327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E7A7E7DD-74CA-F590-2ABC-40ECF2BC7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8FB54F-FBF7-F36C-4D8F-E839E7262D46}"/>
              </a:ext>
            </a:extLst>
          </p:cNvPr>
          <p:cNvSpPr txBox="1"/>
          <p:nvPr/>
        </p:nvSpPr>
        <p:spPr>
          <a:xfrm>
            <a:off x="2400665" y="3639758"/>
            <a:ext cx="7609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There are two key performance metrics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BB03175E-401F-BE3A-6231-8EDABF73F7FD}"/>
                  </a:ext>
                </a:extLst>
              </p:cNvPr>
              <p:cNvSpPr txBox="1"/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kumimoji="1" lang="en-US" altLang="ja-JP" sz="4000" dirty="0"/>
                  <a:t> </a:t>
                </a:r>
                <a:r>
                  <a:rPr kumimoji="1" lang="en-US" altLang="ja-JP" sz="4000" dirty="0">
                    <a:solidFill>
                      <a:srgbClr val="FFC000"/>
                    </a:solidFill>
                  </a:rPr>
                  <a:t>Accelerating electric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ja-JP" sz="4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</m:oMath>
                </a14:m>
                <a:endParaRPr kumimoji="1" lang="en-US" altLang="ja-JP" sz="4000" dirty="0"/>
              </a:p>
              <a:p>
                <a:pPr marL="342900" indent="-342900">
                  <a:buAutoNum type="arabicParenBoth"/>
                </a:pPr>
                <a:r>
                  <a:rPr kumimoji="1" lang="en-US" altLang="ja-JP" sz="4000" dirty="0"/>
                  <a:t> Quality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4000" dirty="0"/>
                  <a:t> (smallness of dissipation)</a:t>
                </a:r>
                <a:endParaRPr kumimoji="1" lang="ja-JP" altLang="en-US" sz="40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BB03175E-401F-BE3A-6231-8EDABF73F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blipFill>
                <a:blip r:embed="rId4"/>
                <a:stretch>
                  <a:fillRect l="-1920" t="-8295" b="-188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0D2919B-E94E-994D-CA11-6AAE6C228502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EF79591-480B-3B97-F9BD-B86E5EDDE266}"/>
              </a:ext>
            </a:extLst>
          </p:cNvPr>
          <p:cNvCxnSpPr/>
          <p:nvPr/>
        </p:nvCxnSpPr>
        <p:spPr>
          <a:xfrm flipV="1">
            <a:off x="681925" y="1115878"/>
            <a:ext cx="2798827" cy="387458"/>
          </a:xfrm>
          <a:prstGeom prst="straightConnector1">
            <a:avLst/>
          </a:prstGeom>
          <a:ln w="603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9A0A972-10B1-6578-48AE-E2C469E80B8A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82CA46FF-F01B-AD1A-559F-FCDE7C3BC6EE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2088CEE-96EF-7D37-29AA-8DCCB9328605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2088CEE-96EF-7D37-29AA-8DCCB9328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3">
            <a:extLst>
              <a:ext uri="{FF2B5EF4-FFF2-40B4-BE49-F238E27FC236}">
                <a16:creationId xmlns:a16="http://schemas.microsoft.com/office/drawing/2014/main" id="{A31E7450-5342-05AA-93D6-1511C3D914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1B0A71B-0B9B-7651-5ADC-BD2F649D94E1}"/>
              </a:ext>
            </a:extLst>
          </p:cNvPr>
          <p:cNvSpPr/>
          <p:nvPr/>
        </p:nvSpPr>
        <p:spPr>
          <a:xfrm>
            <a:off x="4067201" y="3035143"/>
            <a:ext cx="5096677" cy="604616"/>
          </a:xfrm>
          <a:prstGeom prst="rect">
            <a:avLst/>
          </a:prstGeom>
          <a:noFill/>
          <a:ln w="1016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E7DDBAC-FD35-8B7F-C600-4A83ADC084EA}"/>
                  </a:ext>
                </a:extLst>
              </p:cNvPr>
              <p:cNvSpPr txBox="1"/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E7DDBAC-FD35-8B7F-C600-4A83ADC08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A9E7134-E966-0AC3-2E1A-79203E68E463}"/>
              </a:ext>
            </a:extLst>
          </p:cNvPr>
          <p:cNvCxnSpPr>
            <a:cxnSpLocks/>
          </p:cNvCxnSpPr>
          <p:nvPr/>
        </p:nvCxnSpPr>
        <p:spPr>
          <a:xfrm>
            <a:off x="8196743" y="3389563"/>
            <a:ext cx="837928" cy="974504"/>
          </a:xfrm>
          <a:prstGeom prst="straightConnector1">
            <a:avLst/>
          </a:prstGeom>
          <a:ln w="825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楕円 22">
            <a:extLst>
              <a:ext uri="{FF2B5EF4-FFF2-40B4-BE49-F238E27FC236}">
                <a16:creationId xmlns:a16="http://schemas.microsoft.com/office/drawing/2014/main" id="{01ABDE6B-BC95-381B-BF3C-FAA22033ED62}"/>
              </a:ext>
            </a:extLst>
          </p:cNvPr>
          <p:cNvSpPr/>
          <p:nvPr/>
        </p:nvSpPr>
        <p:spPr>
          <a:xfrm>
            <a:off x="7752522" y="2882348"/>
            <a:ext cx="540693" cy="566530"/>
          </a:xfrm>
          <a:prstGeom prst="ellipse">
            <a:avLst/>
          </a:prstGeom>
          <a:noFill/>
          <a:ln w="857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B1902757-5F8E-8F0C-71BF-DFA9A569447F}"/>
                  </a:ext>
                </a:extLst>
              </p:cNvPr>
              <p:cNvSpPr txBox="1"/>
              <p:nvPr/>
            </p:nvSpPr>
            <p:spPr>
              <a:xfrm>
                <a:off x="9121165" y="4224533"/>
                <a:ext cx="3060453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2000" b="0" dirty="0">
                    <a:solidFill>
                      <a:schemeClr val="accent2"/>
                    </a:solidFill>
                  </a:rPr>
                  <a:t>At 40MV/m,</a:t>
                </a:r>
              </a:p>
              <a:p>
                <a:r>
                  <a:rPr kumimoji="1" lang="en-US" altLang="ja-JP" sz="2000" b="0" dirty="0">
                    <a:solidFill>
                      <a:schemeClr val="accent2"/>
                    </a:solidFill>
                  </a:rPr>
                  <a:t> microwave B field </a:t>
                </a:r>
              </a:p>
              <a:p>
                <a:r>
                  <a:rPr kumimoji="1" lang="en-US" altLang="ja-JP" sz="2000" dirty="0">
                    <a:solidFill>
                      <a:schemeClr val="accent2"/>
                    </a:solidFill>
                  </a:rPr>
                  <a:t>r</a:t>
                </a:r>
                <a:r>
                  <a:rPr kumimoji="1" lang="en-US" altLang="ja-JP" sz="2000" b="0" dirty="0">
                    <a:solidFill>
                      <a:schemeClr val="accent2"/>
                    </a:solidFill>
                  </a:rPr>
                  <a:t>eaches</a:t>
                </a:r>
                <a:r>
                  <a:rPr kumimoji="1" lang="en-US" altLang="ja-JP" sz="2000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kumimoji="1" lang="en-US" altLang="ja-JP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ja-JP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ja-JP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ja-JP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a:rPr kumimoji="1" lang="en-US" altLang="ja-JP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ja-JP" sz="20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mT</m:t>
                    </m:r>
                  </m:oMath>
                </a14:m>
                <a:endParaRPr kumimoji="1" lang="ja-JP" alt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B1902757-5F8E-8F0C-71BF-DFA9A5694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165" y="4224533"/>
                <a:ext cx="3060453" cy="923330"/>
              </a:xfrm>
              <a:prstGeom prst="rect">
                <a:avLst/>
              </a:prstGeom>
              <a:blipFill>
                <a:blip r:embed="rId8"/>
                <a:stretch>
                  <a:fillRect l="-4980" t="-8609" r="-1992" b="-158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CA27490-5A2C-E582-0C70-7CDD014167F2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9FBE7CE-DBC2-234C-7DB0-341653D19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81F40D-0825-7361-3582-392CE025E6C7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73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F6C8C-3B78-6FBF-3EC4-9AF27953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12F84D73-3648-188E-D95C-03D63FD348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4EE33F10-607F-8EA6-7AEA-0C15E106DD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A085BE3-7FA2-D499-2994-F710D3720573}"/>
              </a:ext>
            </a:extLst>
          </p:cNvPr>
          <p:cNvSpPr/>
          <p:nvPr/>
        </p:nvSpPr>
        <p:spPr>
          <a:xfrm>
            <a:off x="10754483" y="1002733"/>
            <a:ext cx="670669" cy="67066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B8D015C-0A45-9E19-56F3-36B8EA4219DE}"/>
              </a:ext>
            </a:extLst>
          </p:cNvPr>
          <p:cNvCxnSpPr>
            <a:cxnSpLocks/>
          </p:cNvCxnSpPr>
          <p:nvPr/>
        </p:nvCxnSpPr>
        <p:spPr>
          <a:xfrm flipH="1">
            <a:off x="11047177" y="1688900"/>
            <a:ext cx="16681" cy="1252965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3D6F920-3AB2-16A2-5C8A-AD334CD9DA1D}"/>
              </a:ext>
            </a:extLst>
          </p:cNvPr>
          <p:cNvSpPr txBox="1"/>
          <p:nvPr/>
        </p:nvSpPr>
        <p:spPr>
          <a:xfrm>
            <a:off x="929899" y="6212414"/>
            <a:ext cx="2561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(⌐■_■) good</a:t>
            </a:r>
            <a:endParaRPr kumimoji="1" lang="ja-JP" altLang="en-US" sz="28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44DA4F7-D2C2-2368-85FF-2A279211AAEB}"/>
              </a:ext>
            </a:extLst>
          </p:cNvPr>
          <p:cNvCxnSpPr/>
          <p:nvPr/>
        </p:nvCxnSpPr>
        <p:spPr>
          <a:xfrm>
            <a:off x="682330" y="5064987"/>
            <a:ext cx="557508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B04F46D-6E20-65CF-AC11-82D1DDDDFABE}"/>
              </a:ext>
            </a:extLst>
          </p:cNvPr>
          <p:cNvSpPr txBox="1"/>
          <p:nvPr/>
        </p:nvSpPr>
        <p:spPr>
          <a:xfrm>
            <a:off x="3955371" y="5097813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170mT</a:t>
            </a:r>
            <a:endParaRPr lang="ja-JP" altLang="en-US" sz="16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4F4F026-7A91-E2E9-21E1-65F7229789F5}"/>
              </a:ext>
            </a:extLst>
          </p:cNvPr>
          <p:cNvCxnSpPr/>
          <p:nvPr/>
        </p:nvCxnSpPr>
        <p:spPr>
          <a:xfrm>
            <a:off x="432711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58A9099-4108-2499-49EA-A46F0ACBC9B9}"/>
              </a:ext>
            </a:extLst>
          </p:cNvPr>
          <p:cNvCxnSpPr/>
          <p:nvPr/>
        </p:nvCxnSpPr>
        <p:spPr>
          <a:xfrm>
            <a:off x="2544187" y="4874407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2366A9C-21A1-987B-CC3D-2AD73078D6C9}"/>
              </a:ext>
            </a:extLst>
          </p:cNvPr>
          <p:cNvSpPr txBox="1"/>
          <p:nvPr/>
        </p:nvSpPr>
        <p:spPr>
          <a:xfrm>
            <a:off x="544573" y="5095071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0mT</a:t>
            </a:r>
            <a:endParaRPr lang="ja-JP" altLang="en-US" sz="1600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F259995-74BA-B6DF-7460-3C88D4507B42}"/>
              </a:ext>
            </a:extLst>
          </p:cNvPr>
          <p:cNvCxnSpPr/>
          <p:nvPr/>
        </p:nvCxnSpPr>
        <p:spPr>
          <a:xfrm>
            <a:off x="784377" y="4875882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09609A4-A28A-555F-0F89-8B8677F29F86}"/>
              </a:ext>
            </a:extLst>
          </p:cNvPr>
          <p:cNvSpPr txBox="1"/>
          <p:nvPr/>
        </p:nvSpPr>
        <p:spPr>
          <a:xfrm>
            <a:off x="2245066" y="5095071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85mT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F2E45DC7-EAF1-0ECA-0CB0-0AABA1B9BEC0}"/>
                  </a:ext>
                </a:extLst>
              </p:cNvPr>
              <p:cNvSpPr txBox="1"/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dirty="0"/>
                  <a:t> </a:t>
                </a:r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0E61A61-6B3D-7687-FF6D-3FDFCDD86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blipFill>
                <a:blip r:embed="rId7"/>
                <a:stretch>
                  <a:fillRect l="-3020" t="-28261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4CADDB9-F6C3-F578-1A20-A621DC213684}"/>
              </a:ext>
            </a:extLst>
          </p:cNvPr>
          <p:cNvCxnSpPr/>
          <p:nvPr/>
        </p:nvCxnSpPr>
        <p:spPr>
          <a:xfrm>
            <a:off x="5713516" y="485665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80D62747-5B99-61A9-35C3-6F9AAAEE384E}"/>
                  </a:ext>
                </a:extLst>
              </p:cNvPr>
              <p:cNvSpPr/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  <a:p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7264B907-5D90-358B-F7F3-513CCA2255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  <a:blipFill>
                <a:blip r:embed="rId8"/>
                <a:stretch>
                  <a:fillRect l="-6081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AD6E08B-0303-D0FD-A171-FAF8A6ADDBCB}"/>
              </a:ext>
            </a:extLst>
          </p:cNvPr>
          <p:cNvCxnSpPr/>
          <p:nvPr/>
        </p:nvCxnSpPr>
        <p:spPr>
          <a:xfrm>
            <a:off x="520748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94DF8E1-B148-032F-5FDA-01D0B8ECDF91}"/>
              </a:ext>
            </a:extLst>
          </p:cNvPr>
          <p:cNvSpPr txBox="1"/>
          <p:nvPr/>
        </p:nvSpPr>
        <p:spPr>
          <a:xfrm>
            <a:off x="4866993" y="5117165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210mT</a:t>
            </a:r>
            <a:endParaRPr lang="ja-JP" altLang="en-US" sz="1400" dirty="0"/>
          </a:p>
        </p:txBody>
      </p:sp>
      <p:sp>
        <p:nvSpPr>
          <p:cNvPr id="28" name="矢印: 下 27">
            <a:extLst>
              <a:ext uri="{FF2B5EF4-FFF2-40B4-BE49-F238E27FC236}">
                <a16:creationId xmlns:a16="http://schemas.microsoft.com/office/drawing/2014/main" id="{A2B9B79B-B6B8-E4E1-9831-91C692968290}"/>
              </a:ext>
            </a:extLst>
          </p:cNvPr>
          <p:cNvSpPr/>
          <p:nvPr/>
        </p:nvSpPr>
        <p:spPr>
          <a:xfrm rot="10800000">
            <a:off x="899373" y="5725058"/>
            <a:ext cx="499705" cy="4218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895C683-D3F0-8539-3149-DE53D848D0DE}"/>
              </a:ext>
            </a:extLst>
          </p:cNvPr>
          <p:cNvSpPr txBox="1"/>
          <p:nvPr/>
        </p:nvSpPr>
        <p:spPr>
          <a:xfrm>
            <a:off x="557489" y="4550044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 MV/m</a:t>
            </a:r>
            <a:endParaRPr lang="ja-JP" altLang="en-US" sz="16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AACC45E-7BD8-BE6B-B5CC-F04CD37403B6}"/>
              </a:ext>
            </a:extLst>
          </p:cNvPr>
          <p:cNvSpPr txBox="1"/>
          <p:nvPr/>
        </p:nvSpPr>
        <p:spPr>
          <a:xfrm>
            <a:off x="2074344" y="4578082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20 MV/m</a:t>
            </a:r>
            <a:endParaRPr lang="ja-JP" altLang="en-US" sz="16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B4F84CC-1124-DC8C-CDA6-76515FC7A91A}"/>
              </a:ext>
            </a:extLst>
          </p:cNvPr>
          <p:cNvSpPr txBox="1"/>
          <p:nvPr/>
        </p:nvSpPr>
        <p:spPr>
          <a:xfrm>
            <a:off x="3937451" y="43718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40 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FE45042-8C30-37E2-39F2-F59FF062BBA4}"/>
              </a:ext>
            </a:extLst>
          </p:cNvPr>
          <p:cNvSpPr txBox="1"/>
          <p:nvPr/>
        </p:nvSpPr>
        <p:spPr>
          <a:xfrm>
            <a:off x="4881422" y="43692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50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2C5D39A1-E528-FD9A-D4A5-7A50B143C662}"/>
                  </a:ext>
                </a:extLst>
              </p:cNvPr>
              <p:cNvSpPr txBox="1"/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863C7130-C87B-388B-0532-24BF5A502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blipFill>
                <a:blip r:embed="rId9"/>
                <a:stretch>
                  <a:fillRect l="-10127" b="-108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75203E6C-5041-BECE-3450-5E024E4F87C0}"/>
                  </a:ext>
                </a:extLst>
              </p:cNvPr>
              <p:cNvSpPr txBox="1"/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𝑟𝑓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F36F844A-16AD-7BB1-FF9C-26B3DA604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blipFill>
                <a:blip r:embed="rId10"/>
                <a:stretch>
                  <a:fillRect l="-11940" r="-5970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3">
            <a:extLst>
              <a:ext uri="{FF2B5EF4-FFF2-40B4-BE49-F238E27FC236}">
                <a16:creationId xmlns:a16="http://schemas.microsoft.com/office/drawing/2014/main" id="{E07F8A4C-04BF-A37C-6AB7-97400D6209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5BCDCC-41BE-6BF6-9797-5815B57C9065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4471E36F-682C-0A6C-D910-E1B623E607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B9F3C6C-4462-031F-B28D-1CC6B315F704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A9ACEADB-D233-7106-1736-09F22854B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345" y="3145589"/>
            <a:ext cx="4202094" cy="362249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09C43B-8249-B1B8-698A-B523578EC9A8}"/>
              </a:ext>
            </a:extLst>
          </p:cNvPr>
          <p:cNvSpPr txBox="1"/>
          <p:nvPr/>
        </p:nvSpPr>
        <p:spPr>
          <a:xfrm>
            <a:off x="8344470" y="3140014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Low field (Meissner</a:t>
            </a:r>
            <a:r>
              <a:rPr lang="ja-JP" altLang="en-US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state</a:t>
            </a:r>
            <a:r>
              <a:rPr kumimoji="1"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)</a:t>
            </a:r>
            <a:endParaRPr kumimoji="1" lang="ja-JP" altLang="en-US" sz="2000" b="1" dirty="0">
              <a:solidFill>
                <a:srgbClr val="00B0F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CC07591-E7F9-8AC7-B5E0-6803103BF0FF}"/>
              </a:ext>
            </a:extLst>
          </p:cNvPr>
          <p:cNvSpPr txBox="1"/>
          <p:nvPr/>
        </p:nvSpPr>
        <p:spPr>
          <a:xfrm>
            <a:off x="180653" y="3903738"/>
            <a:ext cx="6566739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u="sng" dirty="0"/>
              <a:t>Note</a:t>
            </a:r>
            <a:r>
              <a:rPr kumimoji="1" lang="en-US" altLang="ja-JP" dirty="0"/>
              <a:t>: Cavities are operated under the </a:t>
            </a:r>
            <a:r>
              <a:rPr kumimoji="1" lang="en-US" altLang="ja-JP" sz="2000" b="1" dirty="0">
                <a:solidFill>
                  <a:schemeClr val="tx2"/>
                </a:solidFill>
              </a:rPr>
              <a:t>Meissner state</a:t>
            </a:r>
            <a:endParaRPr kumimoji="1" lang="ja-JP" altLang="en-US" b="1" dirty="0">
              <a:solidFill>
                <a:schemeClr val="tx2"/>
              </a:solidFill>
            </a:endParaRPr>
          </a:p>
        </p:txBody>
      </p:sp>
      <p:sp>
        <p:nvSpPr>
          <p:cNvPr id="38" name="円弧 37">
            <a:extLst>
              <a:ext uri="{FF2B5EF4-FFF2-40B4-BE49-F238E27FC236}">
                <a16:creationId xmlns:a16="http://schemas.microsoft.com/office/drawing/2014/main" id="{DD8D37B8-A2E7-A88C-3F69-A6948BA7489E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10D92793-A7E4-C827-0239-D8AB17C0BBAE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10D92793-A7E4-C827-0239-D8AB17C0B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A0163A5-E60E-0705-440D-BE31956A332C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CAD988A-D2EA-377F-1A99-A2FCA725319D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</p:spTree>
    <p:extLst>
      <p:ext uri="{BB962C8B-B14F-4D97-AF65-F5344CB8AC3E}">
        <p14:creationId xmlns:p14="http://schemas.microsoft.com/office/powerpoint/2010/main" val="44213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CD659-B20F-A2F9-A891-B26438F9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716DDC95-CB04-5239-048F-6D54E57402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E65A0D4-968E-D3C5-5D38-49F33AAC15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5447B6-3B69-A25C-1C89-51862A3AE567}"/>
              </a:ext>
            </a:extLst>
          </p:cNvPr>
          <p:cNvSpPr/>
          <p:nvPr/>
        </p:nvSpPr>
        <p:spPr>
          <a:xfrm>
            <a:off x="10754483" y="1002733"/>
            <a:ext cx="670669" cy="67066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D5E2D43C-54BC-DD84-F6A9-CD0454850E56}"/>
              </a:ext>
            </a:extLst>
          </p:cNvPr>
          <p:cNvCxnSpPr>
            <a:cxnSpLocks/>
          </p:cNvCxnSpPr>
          <p:nvPr/>
        </p:nvCxnSpPr>
        <p:spPr>
          <a:xfrm flipH="1">
            <a:off x="11047177" y="1688900"/>
            <a:ext cx="16681" cy="1252965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AF9CD5B-0C46-3AFA-FCDB-5BBF55C138CC}"/>
              </a:ext>
            </a:extLst>
          </p:cNvPr>
          <p:cNvCxnSpPr/>
          <p:nvPr/>
        </p:nvCxnSpPr>
        <p:spPr>
          <a:xfrm>
            <a:off x="682330" y="5064987"/>
            <a:ext cx="557508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053CD68-4C11-609E-54C8-016E2101BDA1}"/>
              </a:ext>
            </a:extLst>
          </p:cNvPr>
          <p:cNvSpPr txBox="1"/>
          <p:nvPr/>
        </p:nvSpPr>
        <p:spPr>
          <a:xfrm>
            <a:off x="3955371" y="5097813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170mT</a:t>
            </a:r>
            <a:endParaRPr lang="ja-JP" altLang="en-US" sz="16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E49FEA1-96CC-1C1F-4C95-B709599FD343}"/>
              </a:ext>
            </a:extLst>
          </p:cNvPr>
          <p:cNvCxnSpPr/>
          <p:nvPr/>
        </p:nvCxnSpPr>
        <p:spPr>
          <a:xfrm>
            <a:off x="432711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18F8DA3-4FAC-1A43-9D76-9C94078916A6}"/>
              </a:ext>
            </a:extLst>
          </p:cNvPr>
          <p:cNvCxnSpPr/>
          <p:nvPr/>
        </p:nvCxnSpPr>
        <p:spPr>
          <a:xfrm>
            <a:off x="2544187" y="4874407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61F1579-1D19-60B4-4FD4-22CD1C28DAF8}"/>
              </a:ext>
            </a:extLst>
          </p:cNvPr>
          <p:cNvSpPr txBox="1"/>
          <p:nvPr/>
        </p:nvSpPr>
        <p:spPr>
          <a:xfrm>
            <a:off x="544573" y="5095071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0mT</a:t>
            </a:r>
            <a:endParaRPr lang="ja-JP" altLang="en-US" sz="1600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F12D3D7-B90C-1AF0-D23C-1392C25E45C3}"/>
              </a:ext>
            </a:extLst>
          </p:cNvPr>
          <p:cNvCxnSpPr/>
          <p:nvPr/>
        </p:nvCxnSpPr>
        <p:spPr>
          <a:xfrm>
            <a:off x="784377" y="4875882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B131C23-D807-F76E-A798-C9FD5D7D400D}"/>
              </a:ext>
            </a:extLst>
          </p:cNvPr>
          <p:cNvSpPr txBox="1"/>
          <p:nvPr/>
        </p:nvSpPr>
        <p:spPr>
          <a:xfrm>
            <a:off x="2245066" y="5095071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85mT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183D8A4-6811-4128-F866-325EE3675CEE}"/>
                  </a:ext>
                </a:extLst>
              </p:cNvPr>
              <p:cNvSpPr txBox="1"/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dirty="0"/>
                  <a:t> </a:t>
                </a:r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0F7549B3-5E66-5A55-1796-558FC709A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blipFill>
                <a:blip r:embed="rId7"/>
                <a:stretch>
                  <a:fillRect l="-3020" t="-28261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BDC86CF3-D8CB-271F-8661-44936722AB8A}"/>
              </a:ext>
            </a:extLst>
          </p:cNvPr>
          <p:cNvCxnSpPr/>
          <p:nvPr/>
        </p:nvCxnSpPr>
        <p:spPr>
          <a:xfrm>
            <a:off x="5713516" y="485665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618AFB51-E12C-370E-D4D7-8E6582FB0878}"/>
                  </a:ext>
                </a:extLst>
              </p:cNvPr>
              <p:cNvSpPr/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  <a:p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00BE9EB4-8963-A113-21EF-EB475C8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  <a:blipFill>
                <a:blip r:embed="rId8"/>
                <a:stretch>
                  <a:fillRect l="-6081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66AC4CC-58C2-B234-4AF3-8EF748068C79}"/>
              </a:ext>
            </a:extLst>
          </p:cNvPr>
          <p:cNvCxnSpPr/>
          <p:nvPr/>
        </p:nvCxnSpPr>
        <p:spPr>
          <a:xfrm>
            <a:off x="520748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1FB86FB-A14C-FDCB-D89D-EA9CC0D1A336}"/>
              </a:ext>
            </a:extLst>
          </p:cNvPr>
          <p:cNvSpPr txBox="1"/>
          <p:nvPr/>
        </p:nvSpPr>
        <p:spPr>
          <a:xfrm>
            <a:off x="4866993" y="5117165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210mT</a:t>
            </a:r>
            <a:endParaRPr lang="ja-JP" altLang="en-US" sz="1400" dirty="0"/>
          </a:p>
        </p:txBody>
      </p:sp>
      <p:sp>
        <p:nvSpPr>
          <p:cNvPr id="28" name="矢印: 下 27">
            <a:extLst>
              <a:ext uri="{FF2B5EF4-FFF2-40B4-BE49-F238E27FC236}">
                <a16:creationId xmlns:a16="http://schemas.microsoft.com/office/drawing/2014/main" id="{051169BE-8F7D-A06F-60F6-6397BD456521}"/>
              </a:ext>
            </a:extLst>
          </p:cNvPr>
          <p:cNvSpPr/>
          <p:nvPr/>
        </p:nvSpPr>
        <p:spPr>
          <a:xfrm rot="10800000">
            <a:off x="2263224" y="5725058"/>
            <a:ext cx="499705" cy="4218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8F8AE81-5D5D-C438-B2AD-D8F4A5F0F51C}"/>
              </a:ext>
            </a:extLst>
          </p:cNvPr>
          <p:cNvSpPr txBox="1"/>
          <p:nvPr/>
        </p:nvSpPr>
        <p:spPr>
          <a:xfrm>
            <a:off x="557489" y="4550044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 MV/m</a:t>
            </a:r>
            <a:endParaRPr lang="ja-JP" altLang="en-US" sz="16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51B55DE-5E7E-ACB6-0FD8-DCBE531A6BFF}"/>
              </a:ext>
            </a:extLst>
          </p:cNvPr>
          <p:cNvSpPr txBox="1"/>
          <p:nvPr/>
        </p:nvSpPr>
        <p:spPr>
          <a:xfrm>
            <a:off x="2074344" y="4578082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20 MV/m</a:t>
            </a:r>
            <a:endParaRPr lang="ja-JP" altLang="en-US" sz="16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8204FFC-749C-EF51-ABE9-01D86CE28A3A}"/>
              </a:ext>
            </a:extLst>
          </p:cNvPr>
          <p:cNvSpPr txBox="1"/>
          <p:nvPr/>
        </p:nvSpPr>
        <p:spPr>
          <a:xfrm>
            <a:off x="3937451" y="43718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40 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EC1F73D-C02F-B442-E72B-E6750478FBFC}"/>
              </a:ext>
            </a:extLst>
          </p:cNvPr>
          <p:cNvSpPr txBox="1"/>
          <p:nvPr/>
        </p:nvSpPr>
        <p:spPr>
          <a:xfrm>
            <a:off x="4881422" y="43692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50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732D9FA-DFBB-A31A-376B-A3C3E413E9EB}"/>
                  </a:ext>
                </a:extLst>
              </p:cNvPr>
              <p:cNvSpPr txBox="1"/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3D69A2A-4DDA-96CA-EF8A-7FB721D51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blipFill>
                <a:blip r:embed="rId9"/>
                <a:stretch>
                  <a:fillRect l="-10127" b="-108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84401256-FB2E-B633-E071-60D19E9AC5FF}"/>
                  </a:ext>
                </a:extLst>
              </p:cNvPr>
              <p:cNvSpPr txBox="1"/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𝑟𝑓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E0CEDEAF-0E16-217F-8B6E-FC55ECFA2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blipFill>
                <a:blip r:embed="rId10"/>
                <a:stretch>
                  <a:fillRect l="-11940" r="-5970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0C4140C-0D62-4B64-E614-972214AA686D}"/>
              </a:ext>
            </a:extLst>
          </p:cNvPr>
          <p:cNvSpPr txBox="1"/>
          <p:nvPr/>
        </p:nvSpPr>
        <p:spPr>
          <a:xfrm>
            <a:off x="2340244" y="6212414"/>
            <a:ext cx="2561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(⌐■_■) good</a:t>
            </a:r>
            <a:endParaRPr kumimoji="1" lang="ja-JP" altLang="en-US" sz="2800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ED8C4E3B-54B4-E9BA-4680-307DC9704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4E68C12-6025-9773-3AEE-9CCBD52C838B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3CD3CC2A-FAB5-17D9-4C17-162AB7106D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CE095AC-CC6F-7FE2-AFB2-8D91267F6F10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F9F9773-7233-C0E2-DC7C-50E10C6F0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345" y="3145589"/>
            <a:ext cx="4202094" cy="362249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2B31461-84D0-0A4A-30E0-3AE50B44CFEC}"/>
              </a:ext>
            </a:extLst>
          </p:cNvPr>
          <p:cNvSpPr txBox="1"/>
          <p:nvPr/>
        </p:nvSpPr>
        <p:spPr>
          <a:xfrm>
            <a:off x="8344470" y="3140014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Low field (Meissner</a:t>
            </a:r>
            <a:r>
              <a:rPr lang="ja-JP" altLang="en-US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state</a:t>
            </a:r>
            <a:r>
              <a:rPr kumimoji="1"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)</a:t>
            </a:r>
            <a:endParaRPr kumimoji="1" lang="ja-JP" altLang="en-US" sz="2000" b="1" dirty="0">
              <a:solidFill>
                <a:srgbClr val="00B0F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E464435-DE4A-E371-B846-79BEE347331A}"/>
              </a:ext>
            </a:extLst>
          </p:cNvPr>
          <p:cNvSpPr txBox="1"/>
          <p:nvPr/>
        </p:nvSpPr>
        <p:spPr>
          <a:xfrm>
            <a:off x="180653" y="3903738"/>
            <a:ext cx="6566739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u="sng" dirty="0"/>
              <a:t>Note</a:t>
            </a:r>
            <a:r>
              <a:rPr kumimoji="1" lang="en-US" altLang="ja-JP" dirty="0"/>
              <a:t>: Cavities are operated under the </a:t>
            </a:r>
            <a:r>
              <a:rPr kumimoji="1" lang="en-US" altLang="ja-JP" sz="2000" b="1" dirty="0">
                <a:solidFill>
                  <a:schemeClr val="tx2"/>
                </a:solidFill>
              </a:rPr>
              <a:t>Meissner state</a:t>
            </a:r>
            <a:endParaRPr kumimoji="1" lang="ja-JP" altLang="en-US" b="1" dirty="0">
              <a:solidFill>
                <a:schemeClr val="tx2"/>
              </a:solidFill>
            </a:endParaRPr>
          </a:p>
        </p:txBody>
      </p:sp>
      <p:sp>
        <p:nvSpPr>
          <p:cNvPr id="38" name="円弧 37">
            <a:extLst>
              <a:ext uri="{FF2B5EF4-FFF2-40B4-BE49-F238E27FC236}">
                <a16:creationId xmlns:a16="http://schemas.microsoft.com/office/drawing/2014/main" id="{9F1E8B1C-AD68-4911-0570-B928628C20FF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64DD6216-E94F-CCC9-5B50-525977C04584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64DD6216-E94F-CCC9-5B50-525977C04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D6D043F-C162-38F2-13E4-26C83C9E2CB0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6AF859A-DCBA-F775-1D11-2D220ACC6C05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</p:spTree>
    <p:extLst>
      <p:ext uri="{BB962C8B-B14F-4D97-AF65-F5344CB8AC3E}">
        <p14:creationId xmlns:p14="http://schemas.microsoft.com/office/powerpoint/2010/main" val="3810902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0E1F-1AC3-91D6-7964-11E088A4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25C7FAB0-355A-C234-5FD8-7959071DA4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4672958D-DB88-C8F5-AF21-52FF7E498B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DB5610-4334-BA03-3F4D-C374F596CF9A}"/>
              </a:ext>
            </a:extLst>
          </p:cNvPr>
          <p:cNvSpPr/>
          <p:nvPr/>
        </p:nvSpPr>
        <p:spPr>
          <a:xfrm>
            <a:off x="10754483" y="1002733"/>
            <a:ext cx="670669" cy="67066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9833123-1BF3-DBBA-688D-E3E4797B0538}"/>
              </a:ext>
            </a:extLst>
          </p:cNvPr>
          <p:cNvCxnSpPr>
            <a:cxnSpLocks/>
          </p:cNvCxnSpPr>
          <p:nvPr/>
        </p:nvCxnSpPr>
        <p:spPr>
          <a:xfrm flipH="1">
            <a:off x="11047177" y="1688900"/>
            <a:ext cx="16681" cy="1252965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7E52CB0-7EFD-4432-7A54-25F1772491CA}"/>
              </a:ext>
            </a:extLst>
          </p:cNvPr>
          <p:cNvCxnSpPr/>
          <p:nvPr/>
        </p:nvCxnSpPr>
        <p:spPr>
          <a:xfrm>
            <a:off x="682330" y="5064987"/>
            <a:ext cx="557508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1273978-AFB5-2683-CE30-60B5C744CC60}"/>
              </a:ext>
            </a:extLst>
          </p:cNvPr>
          <p:cNvSpPr txBox="1"/>
          <p:nvPr/>
        </p:nvSpPr>
        <p:spPr>
          <a:xfrm>
            <a:off x="3955371" y="5097813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170mT</a:t>
            </a:r>
            <a:endParaRPr lang="ja-JP" altLang="en-US" sz="16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43A07D0-3ADF-AC64-3B34-213E0FC49751}"/>
              </a:ext>
            </a:extLst>
          </p:cNvPr>
          <p:cNvCxnSpPr/>
          <p:nvPr/>
        </p:nvCxnSpPr>
        <p:spPr>
          <a:xfrm>
            <a:off x="432711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B925A5A-8760-6E59-DA96-1B2F2B7E72EC}"/>
              </a:ext>
            </a:extLst>
          </p:cNvPr>
          <p:cNvCxnSpPr/>
          <p:nvPr/>
        </p:nvCxnSpPr>
        <p:spPr>
          <a:xfrm>
            <a:off x="2544187" y="4874407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7B7C11C-816E-9BEE-F22D-47995662D157}"/>
              </a:ext>
            </a:extLst>
          </p:cNvPr>
          <p:cNvSpPr txBox="1"/>
          <p:nvPr/>
        </p:nvSpPr>
        <p:spPr>
          <a:xfrm>
            <a:off x="544573" y="5095071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0mT</a:t>
            </a:r>
            <a:endParaRPr lang="ja-JP" altLang="en-US" sz="1600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636DC76-CB3E-AA37-29D7-7550B4947FBD}"/>
              </a:ext>
            </a:extLst>
          </p:cNvPr>
          <p:cNvCxnSpPr/>
          <p:nvPr/>
        </p:nvCxnSpPr>
        <p:spPr>
          <a:xfrm>
            <a:off x="784377" y="4875882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4C57BDE-57A0-0E74-D507-639606A7B0F5}"/>
              </a:ext>
            </a:extLst>
          </p:cNvPr>
          <p:cNvSpPr txBox="1"/>
          <p:nvPr/>
        </p:nvSpPr>
        <p:spPr>
          <a:xfrm>
            <a:off x="2245066" y="5095071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85mT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F90E589-F721-738F-5229-541FE33BDA64}"/>
                  </a:ext>
                </a:extLst>
              </p:cNvPr>
              <p:cNvSpPr txBox="1"/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dirty="0"/>
                  <a:t> </a:t>
                </a:r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3325B1C1-292B-4929-E289-AA3F5CDDA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blipFill>
                <a:blip r:embed="rId7"/>
                <a:stretch>
                  <a:fillRect l="-3020" t="-28261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7ADBA60-EC1D-C0A9-C2A9-210C0A853465}"/>
              </a:ext>
            </a:extLst>
          </p:cNvPr>
          <p:cNvCxnSpPr/>
          <p:nvPr/>
        </p:nvCxnSpPr>
        <p:spPr>
          <a:xfrm>
            <a:off x="5713516" y="485665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A2B3C8D1-7A46-98DF-ACEF-D54C63803DCF}"/>
                  </a:ext>
                </a:extLst>
              </p:cNvPr>
              <p:cNvSpPr/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  <a:p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119FF2B5-2C9D-DBBA-C12E-78F45A8A5D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  <a:blipFill>
                <a:blip r:embed="rId8"/>
                <a:stretch>
                  <a:fillRect l="-6081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9639BA8-481D-1B78-5DAB-DE06D44B0FCC}"/>
              </a:ext>
            </a:extLst>
          </p:cNvPr>
          <p:cNvCxnSpPr/>
          <p:nvPr/>
        </p:nvCxnSpPr>
        <p:spPr>
          <a:xfrm>
            <a:off x="520748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1180082-37C4-ACF4-22F7-9D176498F745}"/>
              </a:ext>
            </a:extLst>
          </p:cNvPr>
          <p:cNvSpPr txBox="1"/>
          <p:nvPr/>
        </p:nvSpPr>
        <p:spPr>
          <a:xfrm>
            <a:off x="4866993" y="5117165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210mT</a:t>
            </a:r>
            <a:endParaRPr lang="ja-JP" altLang="en-US" sz="1400" dirty="0"/>
          </a:p>
        </p:txBody>
      </p:sp>
      <p:sp>
        <p:nvSpPr>
          <p:cNvPr id="28" name="矢印: 下 27">
            <a:extLst>
              <a:ext uri="{FF2B5EF4-FFF2-40B4-BE49-F238E27FC236}">
                <a16:creationId xmlns:a16="http://schemas.microsoft.com/office/drawing/2014/main" id="{3DB39F8F-E392-678A-97AD-C3EFD6E47AC9}"/>
              </a:ext>
            </a:extLst>
          </p:cNvPr>
          <p:cNvSpPr/>
          <p:nvPr/>
        </p:nvSpPr>
        <p:spPr>
          <a:xfrm rot="10800000">
            <a:off x="3983534" y="5725058"/>
            <a:ext cx="499705" cy="4218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84EA470-2CC2-7030-2113-B6E8ED6E8571}"/>
              </a:ext>
            </a:extLst>
          </p:cNvPr>
          <p:cNvSpPr txBox="1"/>
          <p:nvPr/>
        </p:nvSpPr>
        <p:spPr>
          <a:xfrm>
            <a:off x="557489" y="4550044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 MV/m</a:t>
            </a:r>
            <a:endParaRPr lang="ja-JP" altLang="en-US" sz="16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B669FB2-E12A-2408-8C6D-6F73BA5A1642}"/>
              </a:ext>
            </a:extLst>
          </p:cNvPr>
          <p:cNvSpPr txBox="1"/>
          <p:nvPr/>
        </p:nvSpPr>
        <p:spPr>
          <a:xfrm>
            <a:off x="2074344" y="4578082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20 MV/m</a:t>
            </a:r>
            <a:endParaRPr lang="ja-JP" altLang="en-US" sz="16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8D7B753-F946-E5C2-AF77-DC01CF05F6CB}"/>
              </a:ext>
            </a:extLst>
          </p:cNvPr>
          <p:cNvSpPr txBox="1"/>
          <p:nvPr/>
        </p:nvSpPr>
        <p:spPr>
          <a:xfrm>
            <a:off x="3937451" y="43718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40 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79E2031-C7D5-D1C4-669F-E90E6AF3AF1A}"/>
              </a:ext>
            </a:extLst>
          </p:cNvPr>
          <p:cNvSpPr txBox="1"/>
          <p:nvPr/>
        </p:nvSpPr>
        <p:spPr>
          <a:xfrm>
            <a:off x="4881422" y="43692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50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B495ED0E-2ED4-823D-EEB9-1173CDAA5A5F}"/>
                  </a:ext>
                </a:extLst>
              </p:cNvPr>
              <p:cNvSpPr txBox="1"/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AEBCAE0-C34A-5F00-4C99-3235277D4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blipFill>
                <a:blip r:embed="rId9"/>
                <a:stretch>
                  <a:fillRect l="-10127" b="-108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75C82B9-14A1-0776-E421-843AE4BF037D}"/>
                  </a:ext>
                </a:extLst>
              </p:cNvPr>
              <p:cNvSpPr txBox="1"/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𝑟𝑓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702F848-8F41-EB53-9D0F-35AAC0BAA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blipFill>
                <a:blip r:embed="rId10"/>
                <a:stretch>
                  <a:fillRect l="-11940" r="-5970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32D8349-8F94-E794-2718-C0C2F2B38B9A}"/>
              </a:ext>
            </a:extLst>
          </p:cNvPr>
          <p:cNvSpPr txBox="1"/>
          <p:nvPr/>
        </p:nvSpPr>
        <p:spPr>
          <a:xfrm>
            <a:off x="4138048" y="6212414"/>
            <a:ext cx="2561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(⌐■_■) good</a:t>
            </a:r>
            <a:endParaRPr kumimoji="1" lang="ja-JP" altLang="en-US" sz="2800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87BBF8FC-473C-17A0-AA6C-254E9F7897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C35F15D-786C-E36B-28F4-DDF5677BB637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FB53979E-9EAC-9B88-836C-7722CAFE06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D87E105-1A92-D86B-36B9-D8DC11F72B5D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6D73760-0F38-1F09-2D3B-FF0BC7F72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345" y="3145589"/>
            <a:ext cx="4202094" cy="362249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B919C79-09E2-2364-488D-A9F79353EB67}"/>
              </a:ext>
            </a:extLst>
          </p:cNvPr>
          <p:cNvSpPr txBox="1"/>
          <p:nvPr/>
        </p:nvSpPr>
        <p:spPr>
          <a:xfrm>
            <a:off x="8344470" y="3140014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Low field (Meissner</a:t>
            </a:r>
            <a:r>
              <a:rPr lang="ja-JP" altLang="en-US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state</a:t>
            </a:r>
            <a:r>
              <a:rPr kumimoji="1" lang="en-US" altLang="ja-JP" sz="2000" b="1" dirty="0">
                <a:solidFill>
                  <a:srgbClr val="00B0F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)</a:t>
            </a:r>
            <a:endParaRPr kumimoji="1" lang="ja-JP" altLang="en-US" sz="2000" b="1" dirty="0">
              <a:solidFill>
                <a:srgbClr val="00B0F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2CCA019-B419-5356-E77E-671CC3910CFD}"/>
              </a:ext>
            </a:extLst>
          </p:cNvPr>
          <p:cNvSpPr txBox="1"/>
          <p:nvPr/>
        </p:nvSpPr>
        <p:spPr>
          <a:xfrm>
            <a:off x="180653" y="3903738"/>
            <a:ext cx="6566739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u="sng" dirty="0"/>
              <a:t>Note</a:t>
            </a:r>
            <a:r>
              <a:rPr kumimoji="1" lang="en-US" altLang="ja-JP" dirty="0"/>
              <a:t>: Cavities are operated under the </a:t>
            </a:r>
            <a:r>
              <a:rPr kumimoji="1" lang="en-US" altLang="ja-JP" sz="2000" b="1" dirty="0">
                <a:solidFill>
                  <a:schemeClr val="tx2"/>
                </a:solidFill>
              </a:rPr>
              <a:t>Meissner state</a:t>
            </a:r>
            <a:endParaRPr kumimoji="1" lang="ja-JP" altLang="en-US" b="1" dirty="0">
              <a:solidFill>
                <a:schemeClr val="tx2"/>
              </a:solidFill>
            </a:endParaRPr>
          </a:p>
        </p:txBody>
      </p:sp>
      <p:sp>
        <p:nvSpPr>
          <p:cNvPr id="38" name="円弧 37">
            <a:extLst>
              <a:ext uri="{FF2B5EF4-FFF2-40B4-BE49-F238E27FC236}">
                <a16:creationId xmlns:a16="http://schemas.microsoft.com/office/drawing/2014/main" id="{80E499E1-35B6-58DC-3BE7-C3566A1A080F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055ACDC4-45E4-5517-9461-E2F88FAD0765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055ACDC4-45E4-5517-9461-E2F88FAD0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182D38B-414D-0DB7-2DD1-5C36722D8390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0AE4A8B-AEFA-F85A-D060-A55E72695D07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</p:spTree>
    <p:extLst>
      <p:ext uri="{BB962C8B-B14F-4D97-AF65-F5344CB8AC3E}">
        <p14:creationId xmlns:p14="http://schemas.microsoft.com/office/powerpoint/2010/main" val="281057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7BCD-6ABD-8935-4590-9B1C9889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A89211B8-DBA9-83C3-F661-97AD5FF93B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B64BBD8A-CBE4-0522-6D78-8B70DDBD1B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F21F71F-F046-6FE6-D3EC-9408039B63F9}"/>
              </a:ext>
            </a:extLst>
          </p:cNvPr>
          <p:cNvSpPr/>
          <p:nvPr/>
        </p:nvSpPr>
        <p:spPr>
          <a:xfrm>
            <a:off x="10754483" y="1002733"/>
            <a:ext cx="670669" cy="67066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7DE40BB-1744-57B8-3C56-2B2553E56639}"/>
              </a:ext>
            </a:extLst>
          </p:cNvPr>
          <p:cNvCxnSpPr>
            <a:cxnSpLocks/>
          </p:cNvCxnSpPr>
          <p:nvPr/>
        </p:nvCxnSpPr>
        <p:spPr>
          <a:xfrm flipH="1">
            <a:off x="11047177" y="1688900"/>
            <a:ext cx="16681" cy="1252965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スライド番号プレースホルダー 1">
            <a:extLst>
              <a:ext uri="{FF2B5EF4-FFF2-40B4-BE49-F238E27FC236}">
                <a16:creationId xmlns:a16="http://schemas.microsoft.com/office/drawing/2014/main" id="{F24F5539-A1E8-45AE-90AF-93032738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43075" y="5834729"/>
            <a:ext cx="2057400" cy="365125"/>
          </a:xfrm>
        </p:spPr>
        <p:txBody>
          <a:bodyPr/>
          <a:lstStyle/>
          <a:p>
            <a:fld id="{D2D8002D-B5B0-4BAC-B1F6-782DDCCE6D9C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269ADA5-134A-1E41-3385-125F4D3673DB}"/>
              </a:ext>
            </a:extLst>
          </p:cNvPr>
          <p:cNvSpPr txBox="1"/>
          <p:nvPr/>
        </p:nvSpPr>
        <p:spPr>
          <a:xfrm>
            <a:off x="5136561" y="6044048"/>
            <a:ext cx="28280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＼</a:t>
            </a:r>
            <a:r>
              <a:rPr kumimoji="1" lang="en-US" altLang="ja-JP" sz="2800" dirty="0"/>
              <a:t>(^o^)</a:t>
            </a:r>
            <a:r>
              <a:rPr kumimoji="1" lang="ja-JP" altLang="en-US" sz="2800" dirty="0"/>
              <a:t>／ｵﾜﾀ</a:t>
            </a:r>
            <a:endParaRPr kumimoji="1" lang="en-US" altLang="ja-JP" sz="2800" dirty="0"/>
          </a:p>
          <a:p>
            <a:r>
              <a:rPr kumimoji="1" lang="en-US" altLang="ja-JP" sz="2000" dirty="0"/>
              <a:t>                   I’m doomed</a:t>
            </a:r>
            <a:endParaRPr kumimoji="1" lang="ja-JP" altLang="en-US" sz="2800" dirty="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CEB5CF2F-35D3-4980-56FE-B8E4B97483A3}"/>
              </a:ext>
            </a:extLst>
          </p:cNvPr>
          <p:cNvCxnSpPr/>
          <p:nvPr/>
        </p:nvCxnSpPr>
        <p:spPr>
          <a:xfrm>
            <a:off x="682330" y="5064987"/>
            <a:ext cx="557508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B7BA9FC-95EB-5261-A3EA-33BBBD618272}"/>
              </a:ext>
            </a:extLst>
          </p:cNvPr>
          <p:cNvSpPr txBox="1"/>
          <p:nvPr/>
        </p:nvSpPr>
        <p:spPr>
          <a:xfrm>
            <a:off x="3955371" y="5097813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170mT</a:t>
            </a:r>
            <a:endParaRPr lang="ja-JP" altLang="en-US" sz="1600" dirty="0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4C6E259-BF92-295A-8564-F10B14C99ECA}"/>
              </a:ext>
            </a:extLst>
          </p:cNvPr>
          <p:cNvCxnSpPr/>
          <p:nvPr/>
        </p:nvCxnSpPr>
        <p:spPr>
          <a:xfrm>
            <a:off x="432711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0CA175A-CE5B-8EC2-E354-6A21FA36140E}"/>
              </a:ext>
            </a:extLst>
          </p:cNvPr>
          <p:cNvCxnSpPr/>
          <p:nvPr/>
        </p:nvCxnSpPr>
        <p:spPr>
          <a:xfrm>
            <a:off x="2544187" y="4874407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F48748A-2A9D-1222-4DAD-E312F4D2122B}"/>
              </a:ext>
            </a:extLst>
          </p:cNvPr>
          <p:cNvSpPr txBox="1"/>
          <p:nvPr/>
        </p:nvSpPr>
        <p:spPr>
          <a:xfrm>
            <a:off x="544573" y="5095071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0mT</a:t>
            </a:r>
            <a:endParaRPr lang="ja-JP" altLang="en-US" sz="1600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C637BB4C-4F0F-E4D0-C512-E5C733EE00F6}"/>
              </a:ext>
            </a:extLst>
          </p:cNvPr>
          <p:cNvCxnSpPr/>
          <p:nvPr/>
        </p:nvCxnSpPr>
        <p:spPr>
          <a:xfrm>
            <a:off x="784377" y="4875882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937772E-1AD8-D287-C1A7-9E7C8E986B5C}"/>
              </a:ext>
            </a:extLst>
          </p:cNvPr>
          <p:cNvSpPr txBox="1"/>
          <p:nvPr/>
        </p:nvSpPr>
        <p:spPr>
          <a:xfrm>
            <a:off x="2245066" y="5095071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85mT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ADD79ED6-6769-3A4F-AC1A-34462C20AF77}"/>
                  </a:ext>
                </a:extLst>
              </p:cNvPr>
              <p:cNvSpPr txBox="1"/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dirty="0"/>
                  <a:t> </a:t>
                </a:r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9D5629C-FD33-9997-4F28-F2ACBED06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blipFill>
                <a:blip r:embed="rId6"/>
                <a:stretch>
                  <a:fillRect l="-3020" t="-28261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D4F5AA5F-9C9A-B875-1368-211AA0F13702}"/>
              </a:ext>
            </a:extLst>
          </p:cNvPr>
          <p:cNvCxnSpPr/>
          <p:nvPr/>
        </p:nvCxnSpPr>
        <p:spPr>
          <a:xfrm>
            <a:off x="5713516" y="485665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10B8B006-0D3B-E2B0-BDF7-73FA336AD17A}"/>
                  </a:ext>
                </a:extLst>
              </p:cNvPr>
              <p:cNvSpPr/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  <a:p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824A7A65-BC0A-9A3E-992B-43ED67692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  <a:blipFill>
                <a:blip r:embed="rId7"/>
                <a:stretch>
                  <a:fillRect l="-6081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2F76C9D-9EF1-248A-6AAF-BFC4048023B2}"/>
              </a:ext>
            </a:extLst>
          </p:cNvPr>
          <p:cNvCxnSpPr/>
          <p:nvPr/>
        </p:nvCxnSpPr>
        <p:spPr>
          <a:xfrm>
            <a:off x="520748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0E9CC52-C2E9-1F16-6642-6A399A3CFBFA}"/>
              </a:ext>
            </a:extLst>
          </p:cNvPr>
          <p:cNvSpPr txBox="1"/>
          <p:nvPr/>
        </p:nvSpPr>
        <p:spPr>
          <a:xfrm>
            <a:off x="4866993" y="5117165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210mT</a:t>
            </a:r>
            <a:endParaRPr lang="ja-JP" altLang="en-US" sz="1400" dirty="0"/>
          </a:p>
        </p:txBody>
      </p:sp>
      <p:sp>
        <p:nvSpPr>
          <p:cNvPr id="34" name="矢印: 下 33">
            <a:extLst>
              <a:ext uri="{FF2B5EF4-FFF2-40B4-BE49-F238E27FC236}">
                <a16:creationId xmlns:a16="http://schemas.microsoft.com/office/drawing/2014/main" id="{794786CF-73BE-A13C-B761-FC66CCEBAD81}"/>
              </a:ext>
            </a:extLst>
          </p:cNvPr>
          <p:cNvSpPr/>
          <p:nvPr/>
        </p:nvSpPr>
        <p:spPr>
          <a:xfrm rot="10800000">
            <a:off x="4957636" y="5678973"/>
            <a:ext cx="499705" cy="4218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87E5DBD-39A6-FCC1-48F4-59A465A8DE42}"/>
              </a:ext>
            </a:extLst>
          </p:cNvPr>
          <p:cNvSpPr txBox="1"/>
          <p:nvPr/>
        </p:nvSpPr>
        <p:spPr>
          <a:xfrm>
            <a:off x="557489" y="4550044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 MV/m</a:t>
            </a:r>
            <a:endParaRPr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DDA9287-6778-FA90-A987-8FD37DCBB761}"/>
              </a:ext>
            </a:extLst>
          </p:cNvPr>
          <p:cNvSpPr txBox="1"/>
          <p:nvPr/>
        </p:nvSpPr>
        <p:spPr>
          <a:xfrm>
            <a:off x="2074344" y="4578082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20 MV/m</a:t>
            </a:r>
            <a:endParaRPr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2F050F1-A704-1930-3950-8506C4282736}"/>
              </a:ext>
            </a:extLst>
          </p:cNvPr>
          <p:cNvSpPr txBox="1"/>
          <p:nvPr/>
        </p:nvSpPr>
        <p:spPr>
          <a:xfrm>
            <a:off x="3937451" y="43718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40 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AF149C3-0BBB-B91B-0685-3B280290CB73}"/>
              </a:ext>
            </a:extLst>
          </p:cNvPr>
          <p:cNvSpPr txBox="1"/>
          <p:nvPr/>
        </p:nvSpPr>
        <p:spPr>
          <a:xfrm>
            <a:off x="4881422" y="43692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50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F6193D56-5ED2-661F-C9D1-C9EE2DBBB17E}"/>
                  </a:ext>
                </a:extLst>
              </p:cNvPr>
              <p:cNvSpPr txBox="1"/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9753F2FC-C16C-08C3-06E3-0CC2C2FC1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blipFill>
                <a:blip r:embed="rId8"/>
                <a:stretch>
                  <a:fillRect l="-10127" b="-108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7BBDA5A2-EF28-1685-1F38-A5DFE99A4191}"/>
                  </a:ext>
                </a:extLst>
              </p:cNvPr>
              <p:cNvSpPr txBox="1"/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𝑟𝑓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3F02C7C-F8E6-6D6C-08D0-282C0DCD1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blipFill>
                <a:blip r:embed="rId9"/>
                <a:stretch>
                  <a:fillRect l="-11940" r="-5970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>
            <a:extLst>
              <a:ext uri="{FF2B5EF4-FFF2-40B4-BE49-F238E27FC236}">
                <a16:creationId xmlns:a16="http://schemas.microsoft.com/office/drawing/2014/main" id="{F7F0FCF5-F195-0069-0CD1-F4BE5EA394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DB10E3A-0465-6936-B50D-0CBB0B2E56D9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77D1DAC2-CAE5-D218-E20C-9CB0249982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EC9E855-18E0-34F3-E42D-5EDF91FECFBE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C5D706E4-1772-AD3F-5B79-94CFA8115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37"/>
          <a:stretch>
            <a:fillRect/>
          </a:stretch>
        </p:blipFill>
        <p:spPr bwMode="auto">
          <a:xfrm>
            <a:off x="7977101" y="3131497"/>
            <a:ext cx="4129116" cy="3622495"/>
          </a:xfrm>
          <a:prstGeom prst="rect">
            <a:avLst/>
          </a:prstGeom>
          <a:noFill/>
          <a:ln w="635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04A1E2-B074-7943-EAB7-159F282A3DFD}"/>
              </a:ext>
            </a:extLst>
          </p:cNvPr>
          <p:cNvSpPr txBox="1"/>
          <p:nvPr/>
        </p:nvSpPr>
        <p:spPr>
          <a:xfrm>
            <a:off x="8164921" y="3100376"/>
            <a:ext cx="3781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High</a:t>
            </a:r>
            <a:r>
              <a:rPr kumimoji="1" lang="en-US" altLang="ja-JP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field (vortex</a:t>
            </a:r>
            <a:r>
              <a:rPr lang="ja-JP" altLang="en-US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state</a:t>
            </a:r>
            <a:r>
              <a:rPr kumimoji="1" lang="en-US" altLang="ja-JP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)</a:t>
            </a:r>
            <a:endParaRPr kumimoji="1" lang="ja-JP" altLang="en-US" sz="2400" b="1" dirty="0">
              <a:solidFill>
                <a:srgbClr val="FF0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EC9798D-F8BC-47BE-9302-53235FA0CA06}"/>
              </a:ext>
            </a:extLst>
          </p:cNvPr>
          <p:cNvSpPr txBox="1"/>
          <p:nvPr/>
        </p:nvSpPr>
        <p:spPr>
          <a:xfrm>
            <a:off x="180653" y="3903738"/>
            <a:ext cx="6566739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u="sng" dirty="0"/>
              <a:t>Note</a:t>
            </a:r>
            <a:r>
              <a:rPr kumimoji="1" lang="en-US" altLang="ja-JP" dirty="0"/>
              <a:t>: Cavities are operated under the </a:t>
            </a:r>
            <a:r>
              <a:rPr kumimoji="1" lang="en-US" altLang="ja-JP" sz="2000" b="1" dirty="0">
                <a:solidFill>
                  <a:schemeClr val="tx2"/>
                </a:solidFill>
              </a:rPr>
              <a:t>Meissner state</a:t>
            </a:r>
            <a:endParaRPr kumimoji="1" lang="ja-JP" altLang="en-US" b="1" dirty="0">
              <a:solidFill>
                <a:schemeClr val="tx2"/>
              </a:solidFill>
            </a:endParaRPr>
          </a:p>
        </p:txBody>
      </p:sp>
      <p:sp>
        <p:nvSpPr>
          <p:cNvPr id="28" name="円弧 27">
            <a:extLst>
              <a:ext uri="{FF2B5EF4-FFF2-40B4-BE49-F238E27FC236}">
                <a16:creationId xmlns:a16="http://schemas.microsoft.com/office/drawing/2014/main" id="{27A0D6F0-4E32-0727-8197-F2D356F71C61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D242ABBF-47CA-FFFE-6370-30720FE2EA47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D242ABBF-47CA-FFFE-6370-30720FE2E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081E6A8-E896-5A17-603A-F999EF042895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D0EB817-ABB4-15DE-8E78-CA0944369330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</p:spTree>
    <p:extLst>
      <p:ext uri="{BB962C8B-B14F-4D97-AF65-F5344CB8AC3E}">
        <p14:creationId xmlns:p14="http://schemas.microsoft.com/office/powerpoint/2010/main" val="985647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A7DB-0321-9116-4C00-98028F08E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FFB7F085-44DD-3EFE-4908-30FAC0B1C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C6619D8-9B20-8B71-F58C-DACED4B6B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スライド番号プレースホルダー 1">
            <a:extLst>
              <a:ext uri="{FF2B5EF4-FFF2-40B4-BE49-F238E27FC236}">
                <a16:creationId xmlns:a16="http://schemas.microsoft.com/office/drawing/2014/main" id="{EC55AA1A-258E-4C95-FA4A-7C9F289B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43075" y="5834729"/>
            <a:ext cx="2057400" cy="365125"/>
          </a:xfrm>
        </p:spPr>
        <p:txBody>
          <a:bodyPr/>
          <a:lstStyle/>
          <a:p>
            <a:fld id="{D2D8002D-B5B0-4BAC-B1F6-782DDCCE6D9C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2E382A5-C4C8-33DB-409D-C6BDE73489F6}"/>
              </a:ext>
            </a:extLst>
          </p:cNvPr>
          <p:cNvSpPr txBox="1"/>
          <p:nvPr/>
        </p:nvSpPr>
        <p:spPr>
          <a:xfrm>
            <a:off x="180653" y="3903738"/>
            <a:ext cx="6566739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u="sng" dirty="0"/>
              <a:t>Note</a:t>
            </a:r>
            <a:r>
              <a:rPr kumimoji="1" lang="en-US" altLang="ja-JP" dirty="0"/>
              <a:t>: Cavities are operated under the </a:t>
            </a:r>
            <a:r>
              <a:rPr kumimoji="1" lang="en-US" altLang="ja-JP" sz="2000" b="1" dirty="0">
                <a:solidFill>
                  <a:schemeClr val="tx2"/>
                </a:solidFill>
              </a:rPr>
              <a:t>Meissner state</a:t>
            </a:r>
            <a:endParaRPr kumimoji="1" lang="ja-JP" altLang="en-US" b="1" dirty="0">
              <a:solidFill>
                <a:schemeClr val="tx2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466D335-FB68-561F-EBAF-949A0D7F41BA}"/>
              </a:ext>
            </a:extLst>
          </p:cNvPr>
          <p:cNvCxnSpPr/>
          <p:nvPr/>
        </p:nvCxnSpPr>
        <p:spPr>
          <a:xfrm>
            <a:off x="682330" y="5064987"/>
            <a:ext cx="557508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1219E4F-2406-78C6-7D42-22E0CAC2FBA4}"/>
              </a:ext>
            </a:extLst>
          </p:cNvPr>
          <p:cNvSpPr txBox="1"/>
          <p:nvPr/>
        </p:nvSpPr>
        <p:spPr>
          <a:xfrm>
            <a:off x="3955371" y="5097813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170mT</a:t>
            </a:r>
            <a:endParaRPr lang="ja-JP" altLang="en-US" sz="1600" dirty="0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FC98BD3-9F83-DC3A-44D5-2F387F1FE009}"/>
              </a:ext>
            </a:extLst>
          </p:cNvPr>
          <p:cNvCxnSpPr/>
          <p:nvPr/>
        </p:nvCxnSpPr>
        <p:spPr>
          <a:xfrm>
            <a:off x="432711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6E9E0C5-BC78-4798-BCF6-AFA89F6B2471}"/>
              </a:ext>
            </a:extLst>
          </p:cNvPr>
          <p:cNvCxnSpPr/>
          <p:nvPr/>
        </p:nvCxnSpPr>
        <p:spPr>
          <a:xfrm>
            <a:off x="2544187" y="4874407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0AAC983-83DE-C85D-BE91-24BDEB39061F}"/>
              </a:ext>
            </a:extLst>
          </p:cNvPr>
          <p:cNvSpPr txBox="1"/>
          <p:nvPr/>
        </p:nvSpPr>
        <p:spPr>
          <a:xfrm>
            <a:off x="544573" y="5095071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0mT</a:t>
            </a:r>
            <a:endParaRPr lang="ja-JP" altLang="en-US" sz="1600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73D5771-0BF0-712C-98ED-BC9D9E9EADC9}"/>
              </a:ext>
            </a:extLst>
          </p:cNvPr>
          <p:cNvCxnSpPr/>
          <p:nvPr/>
        </p:nvCxnSpPr>
        <p:spPr>
          <a:xfrm>
            <a:off x="784377" y="4875882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C79C2C5-9BDE-D5B4-F153-B1C24408D98A}"/>
              </a:ext>
            </a:extLst>
          </p:cNvPr>
          <p:cNvSpPr txBox="1"/>
          <p:nvPr/>
        </p:nvSpPr>
        <p:spPr>
          <a:xfrm>
            <a:off x="2245066" y="5095071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85mT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3D6C9EFB-2A2F-5AEB-2249-C33AF88EC35D}"/>
                  </a:ext>
                </a:extLst>
              </p:cNvPr>
              <p:cNvSpPr txBox="1"/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dirty="0"/>
                  <a:t> </a:t>
                </a:r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92ACD142-7270-A116-7DA0-24340A05B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559" y="5371196"/>
                <a:ext cx="1814306" cy="276999"/>
              </a:xfrm>
              <a:prstGeom prst="rect">
                <a:avLst/>
              </a:prstGeom>
              <a:blipFill>
                <a:blip r:embed="rId5"/>
                <a:stretch>
                  <a:fillRect l="-3020" t="-28261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9BF3A0D-377C-567A-DB81-B1695D8484F5}"/>
              </a:ext>
            </a:extLst>
          </p:cNvPr>
          <p:cNvCxnSpPr/>
          <p:nvPr/>
        </p:nvCxnSpPr>
        <p:spPr>
          <a:xfrm>
            <a:off x="5713516" y="485665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7DE99E30-9FA7-A56C-37DE-0D2CE9777D28}"/>
                  </a:ext>
                </a:extLst>
              </p:cNvPr>
              <p:cNvSpPr/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  <a:p>
                <a:r>
                  <a:rPr lang="en-US" altLang="ja-JP" dirty="0"/>
                  <a:t>of </a:t>
                </a:r>
                <a:r>
                  <a:rPr lang="en-US" altLang="ja-JP" dirty="0" err="1"/>
                  <a:t>Nb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172783F9-6039-974D-1E3E-B90EE614CF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64" y="5078727"/>
                <a:ext cx="902106" cy="646331"/>
              </a:xfrm>
              <a:prstGeom prst="rect">
                <a:avLst/>
              </a:prstGeom>
              <a:blipFill>
                <a:blip r:embed="rId6"/>
                <a:stretch>
                  <a:fillRect l="-6081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BB8D0550-DFE2-9805-89A7-E57918E586C1}"/>
              </a:ext>
            </a:extLst>
          </p:cNvPr>
          <p:cNvCxnSpPr/>
          <p:nvPr/>
        </p:nvCxnSpPr>
        <p:spPr>
          <a:xfrm>
            <a:off x="5207489" y="4865321"/>
            <a:ext cx="0" cy="292381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3BB6F1C-25DA-79A1-389A-A548F705142B}"/>
              </a:ext>
            </a:extLst>
          </p:cNvPr>
          <p:cNvSpPr txBox="1"/>
          <p:nvPr/>
        </p:nvSpPr>
        <p:spPr>
          <a:xfrm>
            <a:off x="4866993" y="5117165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210mT</a:t>
            </a:r>
            <a:endParaRPr lang="ja-JP" altLang="en-US" sz="14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FCB137B-9308-7472-4F7C-4FD3A0B0AC4A}"/>
              </a:ext>
            </a:extLst>
          </p:cNvPr>
          <p:cNvSpPr txBox="1"/>
          <p:nvPr/>
        </p:nvSpPr>
        <p:spPr>
          <a:xfrm>
            <a:off x="557489" y="4550044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0 MV/m</a:t>
            </a:r>
            <a:endParaRPr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5A7BA57-307C-CA77-4684-2CC2414CB273}"/>
              </a:ext>
            </a:extLst>
          </p:cNvPr>
          <p:cNvSpPr txBox="1"/>
          <p:nvPr/>
        </p:nvSpPr>
        <p:spPr>
          <a:xfrm>
            <a:off x="2074344" y="4578082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20 MV/m</a:t>
            </a:r>
            <a:endParaRPr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8B37917-E630-7573-FCA0-AC7C8B9BF042}"/>
              </a:ext>
            </a:extLst>
          </p:cNvPr>
          <p:cNvSpPr txBox="1"/>
          <p:nvPr/>
        </p:nvSpPr>
        <p:spPr>
          <a:xfrm>
            <a:off x="3937451" y="43718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40 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CD5EB61-8C99-146A-0A01-C4D5861C556F}"/>
              </a:ext>
            </a:extLst>
          </p:cNvPr>
          <p:cNvSpPr txBox="1"/>
          <p:nvPr/>
        </p:nvSpPr>
        <p:spPr>
          <a:xfrm>
            <a:off x="4881422" y="4369287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600" dirty="0"/>
              <a:t>50</a:t>
            </a:r>
          </a:p>
          <a:p>
            <a:pPr algn="ctr"/>
            <a:r>
              <a:rPr lang="en-US" altLang="ja-JP" sz="1600" dirty="0"/>
              <a:t>MV/m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A353E223-6349-0E6C-15B6-8BD1823D7399}"/>
                  </a:ext>
                </a:extLst>
              </p:cNvPr>
              <p:cNvSpPr txBox="1"/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E07D7E0D-5004-2934-8873-F7D974D38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47" y="4579652"/>
                <a:ext cx="480196" cy="276999"/>
              </a:xfrm>
              <a:prstGeom prst="rect">
                <a:avLst/>
              </a:prstGeom>
              <a:blipFill>
                <a:blip r:embed="rId7"/>
                <a:stretch>
                  <a:fillRect l="-10127" b="-108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145D2CB8-F4DC-B4B6-A648-78E99D5A4CB7}"/>
                  </a:ext>
                </a:extLst>
              </p:cNvPr>
              <p:cNvSpPr txBox="1"/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𝑟𝑓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BC403BA-189D-BB4E-64EB-2E2C015C4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18" y="5132553"/>
                <a:ext cx="404663" cy="299249"/>
              </a:xfrm>
              <a:prstGeom prst="rect">
                <a:avLst/>
              </a:prstGeom>
              <a:blipFill>
                <a:blip r:embed="rId8"/>
                <a:stretch>
                  <a:fillRect l="-11940" r="-5970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C5F0C9F-F8F8-F582-11C9-26F972793217}"/>
                  </a:ext>
                </a:extLst>
              </p:cNvPr>
              <p:cNvSpPr txBox="1"/>
              <p:nvPr/>
            </p:nvSpPr>
            <p:spPr>
              <a:xfrm>
                <a:off x="3723335" y="6230429"/>
                <a:ext cx="3740255" cy="55399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3600" i="1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altLang="ja-JP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  <m:r>
                        <a:rPr lang="en-US" altLang="ja-JP" sz="3600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ja-JP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ja-JP" sz="3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ja-JP" altLang="en-US" sz="36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01FAE93-EBE5-0322-DB59-F21980B39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335" y="6230429"/>
                <a:ext cx="3740255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右中かっこ 15">
            <a:extLst>
              <a:ext uri="{FF2B5EF4-FFF2-40B4-BE49-F238E27FC236}">
                <a16:creationId xmlns:a16="http://schemas.microsoft.com/office/drawing/2014/main" id="{0B3E1F0F-785A-DD90-7978-EBED76A4598F}"/>
              </a:ext>
            </a:extLst>
          </p:cNvPr>
          <p:cNvSpPr/>
          <p:nvPr/>
        </p:nvSpPr>
        <p:spPr>
          <a:xfrm rot="5400000">
            <a:off x="4831890" y="5241393"/>
            <a:ext cx="519079" cy="1507449"/>
          </a:xfrm>
          <a:prstGeom prst="rightBrace">
            <a:avLst>
              <a:gd name="adj1" fmla="val 20840"/>
              <a:gd name="adj2" fmla="val 23242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0897598-B633-5645-FAF2-61C5D1B5164D}"/>
                  </a:ext>
                </a:extLst>
              </p:cNvPr>
              <p:cNvSpPr txBox="1"/>
              <p:nvPr/>
            </p:nvSpPr>
            <p:spPr>
              <a:xfrm>
                <a:off x="7118098" y="4027362"/>
                <a:ext cx="4813958" cy="1678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sz="1600" dirty="0"/>
                  <a:t>:​  </a:t>
                </a:r>
                <a:r>
                  <a:rPr lang="en-US" altLang="ja-JP" sz="1600" i="1" dirty="0"/>
                  <a:t>the lower critical field</a:t>
                </a:r>
                <a:r>
                  <a:rPr lang="en-US" altLang="ja-JP" sz="1600" dirty="0"/>
                  <a:t>, above which the Meissner state becomes energetically unfavorable.</a:t>
                </a:r>
                <a:br>
                  <a:rPr lang="en-US" altLang="ja-JP" sz="16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ja-JP" altLang="ar-AE" sz="20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altLang="ja-JP" sz="2000" b="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1600" dirty="0"/>
                  <a:t>: </a:t>
                </a:r>
                <a:r>
                  <a:rPr lang="en-US" altLang="ja-JP" sz="1600" i="1" dirty="0"/>
                  <a:t>the superheating field</a:t>
                </a:r>
                <a:r>
                  <a:rPr lang="en-US" altLang="ja-JP" sz="1600" dirty="0"/>
                  <a:t>, which represents the stability limit of the Meissner state. </a:t>
                </a:r>
                <a:r>
                  <a:rPr lang="en-US" altLang="ja-JP" sz="1600" b="1" dirty="0"/>
                  <a:t>Ultimate limit for the ideal material. </a:t>
                </a:r>
                <a:endParaRPr kumimoji="1" lang="ja-JP" altLang="en-US" sz="1600" b="1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0897598-B633-5645-FAF2-61C5D1B51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098" y="4027362"/>
                <a:ext cx="4813958" cy="1678536"/>
              </a:xfrm>
              <a:prstGeom prst="rect">
                <a:avLst/>
              </a:prstGeom>
              <a:blipFill>
                <a:blip r:embed="rId10"/>
                <a:stretch>
                  <a:fillRect l="-760" b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3C2E67B-F077-7E49-D671-B898CC0B1C36}"/>
              </a:ext>
            </a:extLst>
          </p:cNvPr>
          <p:cNvSpPr txBox="1"/>
          <p:nvPr/>
        </p:nvSpPr>
        <p:spPr>
          <a:xfrm>
            <a:off x="8356277" y="5630264"/>
            <a:ext cx="38173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G. </a:t>
            </a:r>
            <a:r>
              <a:rPr lang="ja-JP" altLang="en-US" sz="1200" dirty="0">
                <a:solidFill>
                  <a:schemeClr val="tx2"/>
                </a:solidFill>
              </a:rPr>
              <a:t>Catelani and </a:t>
            </a:r>
            <a:r>
              <a:rPr lang="en-US" altLang="ja-JP" sz="1200" dirty="0">
                <a:solidFill>
                  <a:schemeClr val="tx2"/>
                </a:solidFill>
              </a:rPr>
              <a:t>J. P. </a:t>
            </a:r>
            <a:r>
              <a:rPr lang="ja-JP" altLang="en-US" sz="1200" dirty="0">
                <a:solidFill>
                  <a:schemeClr val="tx2"/>
                </a:solidFill>
              </a:rPr>
              <a:t>Sethna</a:t>
            </a:r>
            <a:r>
              <a:rPr lang="en-US" altLang="ja-JP" sz="1200" dirty="0">
                <a:solidFill>
                  <a:schemeClr val="tx2"/>
                </a:solidFill>
              </a:rPr>
              <a:t>,</a:t>
            </a:r>
            <a:r>
              <a:rPr lang="ja-JP" altLang="en-US" sz="1200" dirty="0">
                <a:solidFill>
                  <a:schemeClr val="tx2"/>
                </a:solidFill>
              </a:rPr>
              <a:t> </a:t>
            </a:r>
            <a:endParaRPr lang="en-US" altLang="ja-JP" sz="1200" dirty="0">
              <a:solidFill>
                <a:schemeClr val="tx2"/>
              </a:solidFill>
            </a:endParaRPr>
          </a:p>
          <a:p>
            <a:r>
              <a:rPr lang="ja-JP" altLang="en-US" sz="1200" dirty="0">
                <a:solidFill>
                  <a:schemeClr val="tx2"/>
                </a:solidFill>
              </a:rPr>
              <a:t>    Phys. Rev. B </a:t>
            </a:r>
            <a:r>
              <a:rPr lang="ja-JP" altLang="en-US" sz="1200" b="1" dirty="0">
                <a:solidFill>
                  <a:schemeClr val="tx2"/>
                </a:solidFill>
              </a:rPr>
              <a:t>78</a:t>
            </a:r>
            <a:r>
              <a:rPr lang="en-US" altLang="ja-JP" sz="1200" dirty="0">
                <a:solidFill>
                  <a:schemeClr val="tx2"/>
                </a:solidFill>
              </a:rPr>
              <a:t>,</a:t>
            </a:r>
            <a:r>
              <a:rPr lang="ja-JP" altLang="en-US" sz="1200" dirty="0">
                <a:solidFill>
                  <a:schemeClr val="tx2"/>
                </a:solidFill>
              </a:rPr>
              <a:t> 224509 </a:t>
            </a:r>
            <a:r>
              <a:rPr lang="en-US" altLang="ja-JP" sz="1200" dirty="0">
                <a:solidFill>
                  <a:schemeClr val="tx2"/>
                </a:solidFill>
              </a:rPr>
              <a:t>(2008)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rgbClr val="92D050"/>
                </a:solidFill>
              </a:rPr>
              <a:t>F. Pei-Jen Lin</a:t>
            </a:r>
            <a:r>
              <a:rPr lang="ja-JP" altLang="en-US" sz="1200" dirty="0">
                <a:solidFill>
                  <a:srgbClr val="92D050"/>
                </a:solidFill>
              </a:rPr>
              <a:t> and </a:t>
            </a:r>
            <a:r>
              <a:rPr lang="en-US" altLang="ja-JP" sz="1200" dirty="0">
                <a:solidFill>
                  <a:srgbClr val="92D050"/>
                </a:solidFill>
              </a:rPr>
              <a:t>A. Gurevich,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endParaRPr lang="en-US" altLang="ja-JP" sz="1200" dirty="0">
              <a:solidFill>
                <a:srgbClr val="92D050"/>
              </a:solidFill>
            </a:endParaRPr>
          </a:p>
          <a:p>
            <a:r>
              <a:rPr lang="ja-JP" altLang="en-US" sz="1200" dirty="0">
                <a:solidFill>
                  <a:srgbClr val="92D050"/>
                </a:solidFill>
              </a:rPr>
              <a:t>     Phys. Rev. B </a:t>
            </a:r>
            <a:r>
              <a:rPr lang="ja-JP" altLang="en-US" sz="1200" b="1" dirty="0">
                <a:solidFill>
                  <a:srgbClr val="92D050"/>
                </a:solidFill>
              </a:rPr>
              <a:t>8</a:t>
            </a:r>
            <a:r>
              <a:rPr lang="en-US" altLang="ja-JP" sz="1200" b="1" dirty="0">
                <a:solidFill>
                  <a:srgbClr val="92D050"/>
                </a:solidFill>
              </a:rPr>
              <a:t>5</a:t>
            </a:r>
            <a:r>
              <a:rPr lang="en-US" altLang="ja-JP" sz="1200" dirty="0">
                <a:solidFill>
                  <a:srgbClr val="92D050"/>
                </a:solidFill>
              </a:rPr>
              <a:t>,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r>
              <a:rPr lang="en-US" altLang="ja-JP" sz="1200" dirty="0">
                <a:solidFill>
                  <a:srgbClr val="92D050"/>
                </a:solidFill>
              </a:rPr>
              <a:t>054513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r>
              <a:rPr lang="en-US" altLang="ja-JP" sz="1200" dirty="0">
                <a:solidFill>
                  <a:srgbClr val="92D050"/>
                </a:solidFill>
              </a:rPr>
              <a:t>(2012)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T. Kubo, Phys. Rev. Research </a:t>
            </a:r>
            <a:r>
              <a:rPr lang="en-US" altLang="ja-JP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033203 (2020) 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T. Kubo, </a:t>
            </a:r>
            <a:r>
              <a:rPr lang="en-US" altLang="ja-JP" sz="12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Supercond.Sci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ja-JP" sz="12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Tecnol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ja-JP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34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045006 (2021) </a:t>
            </a:r>
            <a:endParaRPr lang="ja-JP" alt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78A0272-493E-5140-6977-95B10766E5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24EBC7-DECC-8623-8627-737B515FF18F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DD9F7CE8-9F02-5106-BAD3-35DAFB79E4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8E33436-4D8D-11AD-6C5D-6593FACAADD7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  <p:sp>
        <p:nvSpPr>
          <p:cNvPr id="14" name="円弧 13">
            <a:extLst>
              <a:ext uri="{FF2B5EF4-FFF2-40B4-BE49-F238E27FC236}">
                <a16:creationId xmlns:a16="http://schemas.microsoft.com/office/drawing/2014/main" id="{647BB238-9036-7CAD-1670-37549AE1899B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E4DB052-FE7E-E63B-DD07-56CAF01DB2D1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E4DB052-FE7E-E63B-DD07-56CAF01DB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CE431B3-4D4B-E60C-100F-7613CB7F4EEE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C5CCA59-E9BD-EC39-ABA3-E474839344A7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</p:spTree>
    <p:extLst>
      <p:ext uri="{BB962C8B-B14F-4D97-AF65-F5344CB8AC3E}">
        <p14:creationId xmlns:p14="http://schemas.microsoft.com/office/powerpoint/2010/main" val="2112852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3164D-6CB3-B9B4-6BBD-8D2B164C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DF7BCDD7-4959-DA44-5B4A-3FC08D2A61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E7474D1B-65A2-411F-FE05-899BB80C1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93EDC9-CF99-E39C-1534-29356D71C877}"/>
              </a:ext>
            </a:extLst>
          </p:cNvPr>
          <p:cNvSpPr txBox="1"/>
          <p:nvPr/>
        </p:nvSpPr>
        <p:spPr>
          <a:xfrm>
            <a:off x="2400665" y="3639758"/>
            <a:ext cx="7609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There are two key performance metrics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5767D0B-2CD0-31C4-53E0-32AF109512E4}"/>
                  </a:ext>
                </a:extLst>
              </p:cNvPr>
              <p:cNvSpPr txBox="1"/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kumimoji="1" lang="en-US" altLang="ja-JP" sz="4000" dirty="0"/>
                  <a:t> Accelerating electric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</m:oMath>
                </a14:m>
                <a:endParaRPr kumimoji="1" lang="en-US" altLang="ja-JP" sz="4000" dirty="0"/>
              </a:p>
              <a:p>
                <a:pPr marL="342900" indent="-342900">
                  <a:buAutoNum type="arabicParenBoth"/>
                </a:pPr>
                <a:r>
                  <a:rPr kumimoji="1" lang="en-US" altLang="ja-JP" sz="4000" dirty="0"/>
                  <a:t> </a:t>
                </a:r>
                <a:r>
                  <a:rPr kumimoji="1" lang="en-US" altLang="ja-JP" sz="4000" dirty="0">
                    <a:solidFill>
                      <a:srgbClr val="FFFF00"/>
                    </a:solidFill>
                  </a:rPr>
                  <a:t>Quality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kumimoji="1" lang="en-US" altLang="ja-JP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4000" dirty="0"/>
                  <a:t> (smallness of dissipation)</a:t>
                </a:r>
                <a:endParaRPr kumimoji="1" lang="ja-JP" altLang="en-US" sz="40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5767D0B-2CD0-31C4-53E0-32AF10951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blipFill>
                <a:blip r:embed="rId4"/>
                <a:stretch>
                  <a:fillRect l="-1920" t="-8295" b="-188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D0B044-D9E2-B0F4-C138-77DEB70B8C83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BD5C4A9-83AE-F6E2-81B5-74210CC009C2}"/>
              </a:ext>
            </a:extLst>
          </p:cNvPr>
          <p:cNvCxnSpPr/>
          <p:nvPr/>
        </p:nvCxnSpPr>
        <p:spPr>
          <a:xfrm flipV="1">
            <a:off x="681925" y="1115878"/>
            <a:ext cx="2798827" cy="387458"/>
          </a:xfrm>
          <a:prstGeom prst="straightConnector1">
            <a:avLst/>
          </a:prstGeom>
          <a:ln w="603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BCB10DEB-FD40-9192-6B4D-1F9DFD0D0AAB}"/>
                  </a:ext>
                </a:extLst>
              </p:cNvPr>
              <p:cNvSpPr txBox="1"/>
              <p:nvPr/>
            </p:nvSpPr>
            <p:spPr>
              <a:xfrm>
                <a:off x="3480752" y="822225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BCB10DEB-FD40-9192-6B4D-1F9DFD0D0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52" y="822225"/>
                <a:ext cx="32823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4D07DEA5-88AC-2802-C25A-D06E955183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EEFEBE5-B036-8472-D246-2320E5BA3167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625F7FF2-0F23-5EEB-C585-376058DCE46E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3109036-A286-DCB3-A20F-D5BCB74752E7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3109036-A286-DCB3-A20F-D5BCB7475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1E58E1A-8EF0-6DCB-E1EA-DD887883B54D}"/>
              </a:ext>
            </a:extLst>
          </p:cNvPr>
          <p:cNvSpPr/>
          <p:nvPr/>
        </p:nvSpPr>
        <p:spPr>
          <a:xfrm>
            <a:off x="3335684" y="59634"/>
            <a:ext cx="767917" cy="3154373"/>
          </a:xfrm>
          <a:prstGeom prst="rect">
            <a:avLst/>
          </a:prstGeom>
          <a:noFill/>
          <a:ln w="1016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0FE75BD-9E9C-682D-4B24-A6EAA7B740C5}"/>
                  </a:ext>
                </a:extLst>
              </p:cNvPr>
              <p:cNvSpPr txBox="1"/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0FE75BD-9E9C-682D-4B24-A6EAA7B74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952370-5380-3F8D-6E3F-E14EAFF83207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DE697AF6-7A0D-02B0-C939-3898ADFF35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F062D9A-9054-0347-0344-47C65D1F54FF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862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C717-3356-04B9-0EF9-FE1E2449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080F8FC7-ACB3-7205-66B1-9A59630CB2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9015" y="43422"/>
            <a:ext cx="3780075" cy="258929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04872F7B-E138-640C-FD0F-4086B5549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42910" y="43422"/>
            <a:ext cx="3780075" cy="25892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A8163E-EBA1-9985-5DA3-94493F2E2730}"/>
              </a:ext>
            </a:extLst>
          </p:cNvPr>
          <p:cNvSpPr txBox="1"/>
          <p:nvPr/>
        </p:nvSpPr>
        <p:spPr>
          <a:xfrm>
            <a:off x="2400665" y="3639758"/>
            <a:ext cx="7609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There are two key performance metrics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1767943-A178-F3EE-B1A1-D849EDCE1B83}"/>
                  </a:ext>
                </a:extLst>
              </p:cNvPr>
              <p:cNvSpPr txBox="1"/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kumimoji="1" lang="en-US" altLang="ja-JP" sz="4000" dirty="0"/>
                  <a:t> Accelerating electric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</m:oMath>
                </a14:m>
                <a:endParaRPr kumimoji="1" lang="en-US" altLang="ja-JP" sz="4000" dirty="0"/>
              </a:p>
              <a:p>
                <a:pPr marL="342900" indent="-342900">
                  <a:buAutoNum type="arabicParenBoth"/>
                </a:pPr>
                <a:r>
                  <a:rPr kumimoji="1" lang="en-US" altLang="ja-JP" sz="4000" dirty="0"/>
                  <a:t> </a:t>
                </a:r>
                <a:r>
                  <a:rPr kumimoji="1" lang="en-US" altLang="ja-JP" sz="4000" dirty="0">
                    <a:solidFill>
                      <a:srgbClr val="FFFF00"/>
                    </a:solidFill>
                  </a:rPr>
                  <a:t>Quality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kumimoji="1" lang="en-US" altLang="ja-JP" sz="4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4000" dirty="0"/>
                  <a:t> (smallness of dissipation)</a:t>
                </a:r>
                <a:endParaRPr kumimoji="1" lang="ja-JP" altLang="en-US" sz="40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1767943-A178-F3EE-B1A1-D849EDCE1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6" y="4506046"/>
                <a:ext cx="11112850" cy="1323439"/>
              </a:xfrm>
              <a:prstGeom prst="rect">
                <a:avLst/>
              </a:prstGeom>
              <a:blipFill>
                <a:blip r:embed="rId4"/>
                <a:stretch>
                  <a:fillRect l="-1920" t="-8295" b="-188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51EC65-CE52-DB30-9CC7-35A82ADDF688}"/>
              </a:ext>
            </a:extLst>
          </p:cNvPr>
          <p:cNvSpPr txBox="1"/>
          <p:nvPr/>
        </p:nvSpPr>
        <p:spPr>
          <a:xfrm>
            <a:off x="15595" y="0"/>
            <a:ext cx="13817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chemeClr val="tx2"/>
                </a:solidFill>
              </a:rPr>
              <a:t>Electric field </a:t>
            </a:r>
          </a:p>
          <a:p>
            <a:r>
              <a:rPr lang="en-US" altLang="ja-JP" sz="1400" b="1" dirty="0">
                <a:solidFill>
                  <a:schemeClr val="tx2"/>
                </a:solidFill>
              </a:rPr>
              <a:t>distribution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9353C5C-023D-48F7-312F-9D22AC79C7EA}"/>
              </a:ext>
            </a:extLst>
          </p:cNvPr>
          <p:cNvCxnSpPr/>
          <p:nvPr/>
        </p:nvCxnSpPr>
        <p:spPr>
          <a:xfrm flipV="1">
            <a:off x="681925" y="1115878"/>
            <a:ext cx="2798827" cy="387458"/>
          </a:xfrm>
          <a:prstGeom prst="straightConnector1">
            <a:avLst/>
          </a:prstGeom>
          <a:ln w="603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4773696E-42DF-E860-FF4F-90F7BD843A52}"/>
                  </a:ext>
                </a:extLst>
              </p:cNvPr>
              <p:cNvSpPr txBox="1"/>
              <p:nvPr/>
            </p:nvSpPr>
            <p:spPr>
              <a:xfrm>
                <a:off x="3480752" y="822225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4773696E-42DF-E860-FF4F-90F7BD843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52" y="822225"/>
                <a:ext cx="32823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1689FE27-D351-5EC7-09CD-1033A2062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325745" y="107616"/>
            <a:ext cx="5759169" cy="349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018627A-E75E-390F-9FFD-BDBAD0DE90C1}"/>
              </a:ext>
            </a:extLst>
          </p:cNvPr>
          <p:cNvSpPr txBox="1"/>
          <p:nvPr/>
        </p:nvSpPr>
        <p:spPr>
          <a:xfrm>
            <a:off x="10645607" y="30692"/>
            <a:ext cx="15279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Magnetic field </a:t>
            </a:r>
          </a:p>
          <a:p>
            <a:pPr algn="r"/>
            <a:r>
              <a:rPr lang="en-US" altLang="ja-JP" sz="1400" b="1" dirty="0">
                <a:solidFill>
                  <a:srgbClr val="FF0000"/>
                </a:solidFill>
              </a:rPr>
              <a:t>distribution</a:t>
            </a:r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04B69B35-AA8B-31E3-A557-F83156F403F8}"/>
              </a:ext>
            </a:extLst>
          </p:cNvPr>
          <p:cNvSpPr/>
          <p:nvPr/>
        </p:nvSpPr>
        <p:spPr>
          <a:xfrm>
            <a:off x="9303025" y="228599"/>
            <a:ext cx="1818862" cy="2374298"/>
          </a:xfrm>
          <a:prstGeom prst="arc">
            <a:avLst>
              <a:gd name="adj1" fmla="val 12592228"/>
              <a:gd name="adj2" fmla="val 8542769"/>
            </a:avLst>
          </a:prstGeom>
          <a:ln w="508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EA25855-D3D4-DF67-231A-3776A78940EB}"/>
                  </a:ext>
                </a:extLst>
              </p:cNvPr>
              <p:cNvSpPr txBox="1"/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EA25855-D3D4-DF67-231A-3776A7894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075" y="391338"/>
                <a:ext cx="33502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C49CD2-BF77-A91F-5EEE-2BAE149F387F}"/>
              </a:ext>
            </a:extLst>
          </p:cNvPr>
          <p:cNvSpPr/>
          <p:nvPr/>
        </p:nvSpPr>
        <p:spPr>
          <a:xfrm>
            <a:off x="3335684" y="59634"/>
            <a:ext cx="767917" cy="3154373"/>
          </a:xfrm>
          <a:prstGeom prst="rect">
            <a:avLst/>
          </a:prstGeom>
          <a:noFill/>
          <a:ln w="1016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028477-8F77-5780-63E3-CCC4FB73AC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5692057" y="1621445"/>
            <a:ext cx="1308949" cy="1049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179E5C1-218D-AD7F-3647-F15D8BE2B798}"/>
                  </a:ext>
                </a:extLst>
              </p:cNvPr>
              <p:cNvSpPr txBox="1"/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179E5C1-218D-AD7F-3647-F15D8BE2B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47" y="1289729"/>
                <a:ext cx="32823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ACD30D-EA70-2430-899B-39C57968ED6A}"/>
              </a:ext>
            </a:extLst>
          </p:cNvPr>
          <p:cNvSpPr txBox="1"/>
          <p:nvPr/>
        </p:nvSpPr>
        <p:spPr>
          <a:xfrm>
            <a:off x="8132547" y="219375"/>
            <a:ext cx="766557" cy="58477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Nb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E4531E9-52AA-E2D2-D6A1-FDEB396F4E6D}"/>
              </a:ext>
            </a:extLst>
          </p:cNvPr>
          <p:cNvSpPr/>
          <p:nvPr/>
        </p:nvSpPr>
        <p:spPr>
          <a:xfrm>
            <a:off x="5705061" y="3651343"/>
            <a:ext cx="5820717" cy="3133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46429F7-ADF1-D40A-80BE-EBE7E070843E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647" b="4836"/>
          <a:stretch/>
        </p:blipFill>
        <p:spPr>
          <a:xfrm>
            <a:off x="9427781" y="3650751"/>
            <a:ext cx="2097925" cy="3133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A3E4DA0E-04CE-8123-55C5-7FF97C16D64B}"/>
                  </a:ext>
                </a:extLst>
              </p:cNvPr>
              <p:cNvSpPr txBox="1"/>
              <p:nvPr/>
            </p:nvSpPr>
            <p:spPr>
              <a:xfrm>
                <a:off x="5883751" y="3741089"/>
                <a:ext cx="3227598" cy="882229"/>
              </a:xfrm>
              <a:prstGeom prst="rect">
                <a:avLst/>
              </a:prstGeom>
              <a:noFill/>
              <a:ln w="50800">
                <a:solidFill>
                  <a:srgbClr val="FFFF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kumimoji="1" lang="en-US" altLang="ja-JP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f>
                        <m:fPr>
                          <m:ctrlP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A3E4DA0E-04CE-8123-55C5-7FF97C16D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751" y="3741089"/>
                <a:ext cx="3227598" cy="8822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50800"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A811E6B-5332-4A8C-A669-204CEAA6B533}"/>
                  </a:ext>
                </a:extLst>
              </p:cNvPr>
              <p:cNvSpPr txBox="1"/>
              <p:nvPr/>
            </p:nvSpPr>
            <p:spPr>
              <a:xfrm>
                <a:off x="5804452" y="4919751"/>
                <a:ext cx="34062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bg1"/>
                    </a:solidFill>
                  </a:rPr>
                  <a:t> : dissipation per RF cycle</a:t>
                </a:r>
                <a:endParaRPr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A811E6B-5332-4A8C-A669-204CEAA6B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52" y="4919751"/>
                <a:ext cx="3406288" cy="400110"/>
              </a:xfrm>
              <a:prstGeom prst="rect">
                <a:avLst/>
              </a:prstGeom>
              <a:blipFill>
                <a:blip r:embed="rId12"/>
                <a:stretch>
                  <a:fillRect t="-7576" r="-1968" b="-257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AFADAEF-65E5-A580-78A3-C40088DCC6F0}"/>
                  </a:ext>
                </a:extLst>
              </p:cNvPr>
              <p:cNvSpPr txBox="1"/>
              <p:nvPr/>
            </p:nvSpPr>
            <p:spPr>
              <a:xfrm>
                <a:off x="5844210" y="5489240"/>
                <a:ext cx="340628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kumimoji="1"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000" dirty="0">
                    <a:solidFill>
                      <a:schemeClr val="bg1"/>
                    </a:solidFill>
                    <a:latin typeface="+mn-ea"/>
                  </a:rPr>
                  <a:t>: how many cycles it takes for the stored energy to completely dissipate</a:t>
                </a:r>
                <a:endParaRPr lang="ja-JP" altLang="en-US" sz="2000" dirty="0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AFADAEF-65E5-A580-78A3-C40088DCC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210" y="5489240"/>
                <a:ext cx="3406288" cy="1015663"/>
              </a:xfrm>
              <a:prstGeom prst="rect">
                <a:avLst/>
              </a:prstGeom>
              <a:blipFill>
                <a:blip r:embed="rId13"/>
                <a:stretch>
                  <a:fillRect l="-1971" t="-4192" r="-1792" b="-95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CAAACE3-5B95-F608-2C53-59E43DA3812B}"/>
              </a:ext>
            </a:extLst>
          </p:cNvPr>
          <p:cNvSpPr txBox="1"/>
          <p:nvPr/>
        </p:nvSpPr>
        <p:spPr>
          <a:xfrm>
            <a:off x="124925" y="5879093"/>
            <a:ext cx="5462488" cy="830997"/>
          </a:xfrm>
          <a:prstGeom prst="rect">
            <a:avLst/>
          </a:prstGeom>
          <a:noFill/>
          <a:ln w="50800"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b="1" dirty="0"/>
              <a:t>This is the key parameter common to all superconducting resonators.</a:t>
            </a:r>
            <a:endParaRPr lang="ja-JP" altLang="en-US" sz="2400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2617235-B838-B669-7A17-B03546DF8C6C}"/>
              </a:ext>
            </a:extLst>
          </p:cNvPr>
          <p:cNvSpPr txBox="1"/>
          <p:nvPr/>
        </p:nvSpPr>
        <p:spPr>
          <a:xfrm>
            <a:off x="5380714" y="2636262"/>
            <a:ext cx="35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900" b="1" dirty="0">
                <a:solidFill>
                  <a:srgbClr val="6BA9DA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900" b="1" dirty="0">
                <a:solidFill>
                  <a:srgbClr val="0070C0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900" b="1" dirty="0">
                <a:solidFill>
                  <a:srgbClr val="0070C0"/>
                </a:solidFill>
              </a:rPr>
              <a:t>  </a:t>
            </a:r>
            <a:endParaRPr lang="ja-JP" altLang="en-US" sz="9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135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62AD-0560-D77F-E660-60921943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39EAE2-0B6D-E10C-0BEA-42BAF6977C7D}"/>
              </a:ext>
            </a:extLst>
          </p:cNvPr>
          <p:cNvSpPr txBox="1"/>
          <p:nvPr/>
        </p:nvSpPr>
        <p:spPr>
          <a:xfrm>
            <a:off x="554182" y="1646088"/>
            <a:ext cx="1108363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dirty="0"/>
              <a:t>Overview of </a:t>
            </a:r>
          </a:p>
          <a:p>
            <a:pPr algn="ctr"/>
            <a:r>
              <a:rPr kumimoji="1" lang="en-US" altLang="ja-JP" sz="4800" dirty="0"/>
              <a:t>energy dissipation mechanisms in superconducting resonators </a:t>
            </a:r>
            <a:endParaRPr kumimoji="1" lang="ja-JP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39E2C1DD-8218-0F39-D6AE-627D1D382619}"/>
                  </a:ext>
                </a:extLst>
              </p:cNvPr>
              <p:cNvSpPr txBox="1"/>
              <p:nvPr/>
            </p:nvSpPr>
            <p:spPr>
              <a:xfrm>
                <a:off x="4482201" y="4645017"/>
                <a:ext cx="3227598" cy="882229"/>
              </a:xfrm>
              <a:prstGeom prst="rect">
                <a:avLst/>
              </a:prstGeom>
              <a:noFill/>
              <a:ln w="508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kumimoji="1" lang="en-US" altLang="ja-JP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f>
                        <m:fPr>
                          <m:ctrlP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A6EA6D9-F039-F1F6-FA5D-575A79FBA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201" y="4645017"/>
                <a:ext cx="3227598" cy="8822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08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E959F9-86C9-9ADC-BA93-270139081874}"/>
              </a:ext>
            </a:extLst>
          </p:cNvPr>
          <p:cNvSpPr/>
          <p:nvPr/>
        </p:nvSpPr>
        <p:spPr>
          <a:xfrm>
            <a:off x="5525583" y="5146411"/>
            <a:ext cx="423080" cy="413678"/>
          </a:xfrm>
          <a:prstGeom prst="rect">
            <a:avLst/>
          </a:prstGeom>
          <a:noFill/>
          <a:ln w="444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FE435D7-0E4C-F6FB-5642-D6A3A9F6BFE4}"/>
              </a:ext>
            </a:extLst>
          </p:cNvPr>
          <p:cNvSpPr/>
          <p:nvPr/>
        </p:nvSpPr>
        <p:spPr>
          <a:xfrm>
            <a:off x="6406151" y="5146411"/>
            <a:ext cx="423080" cy="413678"/>
          </a:xfrm>
          <a:prstGeom prst="rect">
            <a:avLst/>
          </a:prstGeom>
          <a:noFill/>
          <a:ln w="444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4ECA005-BB7E-16BC-AF10-A8DE1A8AD0CF}"/>
              </a:ext>
            </a:extLst>
          </p:cNvPr>
          <p:cNvSpPr/>
          <p:nvPr/>
        </p:nvSpPr>
        <p:spPr>
          <a:xfrm>
            <a:off x="7177983" y="5147568"/>
            <a:ext cx="423080" cy="413678"/>
          </a:xfrm>
          <a:prstGeom prst="rect">
            <a:avLst/>
          </a:prstGeom>
          <a:noFill/>
          <a:ln w="444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89E4CD-4935-89DA-4868-4D0D399E759D}"/>
              </a:ext>
            </a:extLst>
          </p:cNvPr>
          <p:cNvSpPr txBox="1"/>
          <p:nvPr/>
        </p:nvSpPr>
        <p:spPr>
          <a:xfrm>
            <a:off x="2916066" y="6028640"/>
            <a:ext cx="4177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FF0066"/>
                </a:solidFill>
              </a:rPr>
              <a:t>What are the causes of dissipation?</a:t>
            </a:r>
            <a:endParaRPr kumimoji="1" lang="ja-JP" altLang="en-US" b="1" dirty="0">
              <a:solidFill>
                <a:srgbClr val="FF0066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4A58A4C-D3E3-80FD-6495-A5086EDB84B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737123" y="5560089"/>
            <a:ext cx="339940" cy="501394"/>
          </a:xfrm>
          <a:prstGeom prst="line">
            <a:avLst/>
          </a:prstGeom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1E7F0A2-2FDD-F249-B93C-4FE6C3B22F9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114939" y="5560089"/>
            <a:ext cx="502752" cy="467394"/>
          </a:xfrm>
          <a:prstGeom prst="line">
            <a:avLst/>
          </a:prstGeom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EDE83C4-1C23-D4E7-31A2-E0828AB8ED6C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096000" y="5561246"/>
            <a:ext cx="1293523" cy="500237"/>
          </a:xfrm>
          <a:prstGeom prst="line">
            <a:avLst/>
          </a:prstGeom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810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2CD52-3D5D-C631-8A15-AB53B1E1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>
            <a:extLst>
              <a:ext uri="{FF2B5EF4-FFF2-40B4-BE49-F238E27FC236}">
                <a16:creationId xmlns:a16="http://schemas.microsoft.com/office/drawing/2014/main" id="{A72D5CB8-77D7-4E05-03BA-650303DE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94" t="7161" r="12200" b="1281"/>
          <a:stretch/>
        </p:blipFill>
        <p:spPr>
          <a:xfrm>
            <a:off x="6013174" y="1025051"/>
            <a:ext cx="6143157" cy="492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AE02160E-FC69-641F-5948-2800299D4987}"/>
                  </a:ext>
                </a:extLst>
              </p:cNvPr>
              <p:cNvSpPr txBox="1"/>
              <p:nvPr/>
            </p:nvSpPr>
            <p:spPr>
              <a:xfrm>
                <a:off x="6714197" y="34394"/>
                <a:ext cx="5397183" cy="96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1" dirty="0"/>
                  <a:t>Surface resistance </a:t>
                </a:r>
                <a14:m>
                  <m:oMath xmlns:m="http://schemas.openxmlformats.org/officeDocument/2006/math">
                    <m:r>
                      <a:rPr kumimoji="1" lang="en-US" altLang="ja-JP" sz="3600" b="1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kumimoji="1" lang="en-US" altLang="ja-JP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kumimoji="1" lang="ja-JP" altLang="en-US" sz="3600" b="1" dirty="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AFE4285-9712-452C-9725-D26397D2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197" y="34394"/>
                <a:ext cx="5397183" cy="960840"/>
              </a:xfrm>
              <a:prstGeom prst="rect">
                <a:avLst/>
              </a:prstGeom>
              <a:blipFill>
                <a:blip r:embed="rId4"/>
                <a:stretch>
                  <a:fillRect l="-3386" b="-57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7329ABC-068F-B571-DAC2-E2C1CC116F94}"/>
              </a:ext>
            </a:extLst>
          </p:cNvPr>
          <p:cNvCxnSpPr/>
          <p:nvPr/>
        </p:nvCxnSpPr>
        <p:spPr>
          <a:xfrm>
            <a:off x="10859049" y="5804958"/>
            <a:ext cx="1252331" cy="0"/>
          </a:xfrm>
          <a:prstGeom prst="straightConnector1">
            <a:avLst/>
          </a:prstGeom>
          <a:ln w="50800">
            <a:solidFill>
              <a:srgbClr val="1E3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8C4AAC28-4CA1-3917-A66D-AD35D7B78E96}"/>
              </a:ext>
            </a:extLst>
          </p:cNvPr>
          <p:cNvCxnSpPr>
            <a:cxnSpLocks/>
          </p:cNvCxnSpPr>
          <p:nvPr/>
        </p:nvCxnSpPr>
        <p:spPr>
          <a:xfrm flipH="1">
            <a:off x="6816032" y="5804958"/>
            <a:ext cx="1228697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260D8-74A8-8376-F1D9-34CE7AF8031B}"/>
              </a:ext>
            </a:extLst>
          </p:cNvPr>
          <p:cNvSpPr txBox="1"/>
          <p:nvPr/>
        </p:nvSpPr>
        <p:spPr>
          <a:xfrm>
            <a:off x="6719625" y="5915020"/>
            <a:ext cx="12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Higher T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C7F276-6903-D9B5-02A0-0E0332E0778A}"/>
              </a:ext>
            </a:extLst>
          </p:cNvPr>
          <p:cNvSpPr txBox="1"/>
          <p:nvPr/>
        </p:nvSpPr>
        <p:spPr>
          <a:xfrm>
            <a:off x="10991129" y="590279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rgbClr val="0070C0"/>
                </a:solidFill>
              </a:rPr>
              <a:t>Lower</a:t>
            </a:r>
            <a:r>
              <a:rPr kumimoji="1" lang="en-US" altLang="ja-JP" sz="2000" b="1" dirty="0">
                <a:solidFill>
                  <a:srgbClr val="0070C0"/>
                </a:solidFill>
              </a:rPr>
              <a:t> T</a:t>
            </a:r>
            <a:endParaRPr kumimoji="1" lang="ja-JP" altLang="en-US" sz="2000" b="1" dirty="0">
              <a:solidFill>
                <a:srgbClr val="0070C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A2F054E-ED6E-0A1B-F942-7F05DB7CD1DC}"/>
              </a:ext>
            </a:extLst>
          </p:cNvPr>
          <p:cNvSpPr txBox="1"/>
          <p:nvPr/>
        </p:nvSpPr>
        <p:spPr>
          <a:xfrm>
            <a:off x="6834886" y="4767768"/>
            <a:ext cx="1885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/>
              <a:t>1.3GHz Nb cavity</a:t>
            </a:r>
            <a:endParaRPr kumimoji="1" lang="ja-JP" altLang="en-US" sz="16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3A205C-25CF-69CF-D547-7F4C61D4796A}"/>
              </a:ext>
            </a:extLst>
          </p:cNvPr>
          <p:cNvSpPr txBox="1"/>
          <p:nvPr/>
        </p:nvSpPr>
        <p:spPr>
          <a:xfrm>
            <a:off x="7005719" y="1053041"/>
            <a:ext cx="2286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rgbClr val="1E3CFF"/>
                </a:solidFill>
              </a:rPr>
              <a:t>e.g.,</a:t>
            </a:r>
            <a:r>
              <a:rPr kumimoji="1" lang="ja-JP" altLang="en-US" sz="2800" dirty="0">
                <a:solidFill>
                  <a:srgbClr val="1E3CFF"/>
                </a:solidFill>
              </a:rPr>
              <a:t> </a:t>
            </a:r>
            <a:r>
              <a:rPr kumimoji="1" lang="en-US" altLang="ja-JP" sz="2800" dirty="0">
                <a:solidFill>
                  <a:srgbClr val="1E3CFF"/>
                </a:solidFill>
              </a:rPr>
              <a:t>bulk</a:t>
            </a:r>
            <a:r>
              <a:rPr kumimoji="1" lang="ja-JP" altLang="en-US" sz="2800" dirty="0">
                <a:solidFill>
                  <a:srgbClr val="1E3CFF"/>
                </a:solidFill>
              </a:rPr>
              <a:t> </a:t>
            </a:r>
            <a:r>
              <a:rPr kumimoji="1" lang="en-US" altLang="ja-JP" sz="2800" dirty="0">
                <a:solidFill>
                  <a:srgbClr val="1E3CFF"/>
                </a:solidFill>
              </a:rPr>
              <a:t>Nb</a:t>
            </a:r>
            <a:endParaRPr kumimoji="1" lang="ja-JP" altLang="en-US" sz="2800" dirty="0">
              <a:solidFill>
                <a:srgbClr val="1E3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982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5F76-842C-E73A-6504-8BADF0FE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>
            <a:extLst>
              <a:ext uri="{FF2B5EF4-FFF2-40B4-BE49-F238E27FC236}">
                <a16:creationId xmlns:a16="http://schemas.microsoft.com/office/drawing/2014/main" id="{546FAD34-A5AD-D750-AB1E-FCE6421A15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94" t="7161" r="12200" b="1281"/>
          <a:stretch/>
        </p:blipFill>
        <p:spPr>
          <a:xfrm>
            <a:off x="6013174" y="1025051"/>
            <a:ext cx="6143157" cy="492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A84BFC7C-8605-6E93-3300-4FFE49F88530}"/>
                  </a:ext>
                </a:extLst>
              </p:cNvPr>
              <p:cNvSpPr txBox="1"/>
              <p:nvPr/>
            </p:nvSpPr>
            <p:spPr>
              <a:xfrm>
                <a:off x="6714197" y="34394"/>
                <a:ext cx="5397183" cy="96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1" dirty="0"/>
                  <a:t>Surface resistance </a:t>
                </a:r>
                <a14:m>
                  <m:oMath xmlns:m="http://schemas.openxmlformats.org/officeDocument/2006/math">
                    <m:r>
                      <a:rPr kumimoji="1" lang="en-US" altLang="ja-JP" sz="3600" b="1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kumimoji="1" lang="en-US" altLang="ja-JP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kumimoji="1" lang="ja-JP" altLang="en-US" sz="3600" b="1" dirty="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AFE4285-9712-452C-9725-D26397D2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197" y="34394"/>
                <a:ext cx="5397183" cy="960840"/>
              </a:xfrm>
              <a:prstGeom prst="rect">
                <a:avLst/>
              </a:prstGeom>
              <a:blipFill>
                <a:blip r:embed="rId4"/>
                <a:stretch>
                  <a:fillRect l="-3386" b="-57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41C1F44-A9C3-24D7-0CDC-9083A7BFA36D}"/>
              </a:ext>
            </a:extLst>
          </p:cNvPr>
          <p:cNvCxnSpPr>
            <a:cxnSpLocks/>
          </p:cNvCxnSpPr>
          <p:nvPr/>
        </p:nvCxnSpPr>
        <p:spPr>
          <a:xfrm flipH="1">
            <a:off x="6816032" y="5804958"/>
            <a:ext cx="1228697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B5494CE-5060-26E2-0F64-58D715B137BD}"/>
              </a:ext>
            </a:extLst>
          </p:cNvPr>
          <p:cNvSpPr txBox="1"/>
          <p:nvPr/>
        </p:nvSpPr>
        <p:spPr>
          <a:xfrm>
            <a:off x="6719625" y="5915020"/>
            <a:ext cx="12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Higher T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952921B-5292-59B7-4954-836F3DBD6EC7}"/>
              </a:ext>
            </a:extLst>
          </p:cNvPr>
          <p:cNvSpPr txBox="1"/>
          <p:nvPr/>
        </p:nvSpPr>
        <p:spPr>
          <a:xfrm>
            <a:off x="10991129" y="590279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rgbClr val="0070C0"/>
                </a:solidFill>
              </a:rPr>
              <a:t>Lower</a:t>
            </a:r>
            <a:r>
              <a:rPr kumimoji="1" lang="en-US" altLang="ja-JP" sz="2000" b="1" dirty="0">
                <a:solidFill>
                  <a:srgbClr val="0070C0"/>
                </a:solidFill>
              </a:rPr>
              <a:t> T</a:t>
            </a:r>
            <a:endParaRPr kumimoji="1" lang="ja-JP" altLang="en-US" sz="2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351D5A53-8093-09AC-F8D8-C5712B6606BA}"/>
                  </a:ext>
                </a:extLst>
              </p:cNvPr>
              <p:cNvSpPr txBox="1"/>
              <p:nvPr/>
            </p:nvSpPr>
            <p:spPr>
              <a:xfrm>
                <a:off x="10879387" y="3625905"/>
                <a:ext cx="111774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l-GR" altLang="ja-JP" sz="4000" b="1" i="1" smtClean="0">
                              <a:solidFill>
                                <a:srgbClr val="1E3C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1" i="1" smtClean="0">
                              <a:solidFill>
                                <a:srgbClr val="1E3CFF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ja-JP" sz="4000" b="1" i="1" smtClean="0">
                              <a:solidFill>
                                <a:srgbClr val="1E3CFF"/>
                              </a:solidFill>
                              <a:latin typeface="Cambria Math" panose="02040503050406030204" pitchFamily="18" charset="0"/>
                            </a:rPr>
                            <m:t>𝒓𝒆𝒔</m:t>
                          </m:r>
                        </m:sub>
                      </m:sSub>
                    </m:oMath>
                  </m:oMathPara>
                </a14:m>
                <a:endParaRPr kumimoji="1" lang="ja-JP" altLang="en-US" sz="4000" b="1" dirty="0">
                  <a:solidFill>
                    <a:srgbClr val="1E3CFF"/>
                  </a:solidFill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0E45A0A-E161-CA75-00A1-46BEC2F3E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9387" y="3625905"/>
                <a:ext cx="1117742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DF3C2AF-A2E2-10DC-B95B-12754B2D1C7C}"/>
              </a:ext>
            </a:extLst>
          </p:cNvPr>
          <p:cNvCxnSpPr/>
          <p:nvPr/>
        </p:nvCxnSpPr>
        <p:spPr>
          <a:xfrm flipV="1">
            <a:off x="11980019" y="3578087"/>
            <a:ext cx="0" cy="1201763"/>
          </a:xfrm>
          <a:prstGeom prst="straightConnector1">
            <a:avLst/>
          </a:prstGeom>
          <a:ln w="50800">
            <a:solidFill>
              <a:srgbClr val="1E3C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右中かっこ 8">
            <a:extLst>
              <a:ext uri="{FF2B5EF4-FFF2-40B4-BE49-F238E27FC236}">
                <a16:creationId xmlns:a16="http://schemas.microsoft.com/office/drawing/2014/main" id="{A41D0243-64CA-CDD8-1E15-FA7F5AAAF048}"/>
              </a:ext>
            </a:extLst>
          </p:cNvPr>
          <p:cNvSpPr/>
          <p:nvPr/>
        </p:nvSpPr>
        <p:spPr>
          <a:xfrm rot="16200000">
            <a:off x="10340609" y="1318814"/>
            <a:ext cx="701219" cy="2577602"/>
          </a:xfrm>
          <a:prstGeom prst="rightBrace">
            <a:avLst>
              <a:gd name="adj1" fmla="val 29217"/>
              <a:gd name="adj2" fmla="val 50000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EB247BF-10FF-336F-217D-DB8A1E34C91B}"/>
                  </a:ext>
                </a:extLst>
              </p:cNvPr>
              <p:cNvSpPr txBox="1"/>
              <p:nvPr/>
            </p:nvSpPr>
            <p:spPr>
              <a:xfrm rot="563100">
                <a:off x="9716843" y="2853634"/>
                <a:ext cx="21900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kumimoji="1" lang="en-US" altLang="ja-JP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kumimoji="1" lang="en-US" altLang="ja-JP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ja-JP" sz="3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𝐊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613C0B0-7472-20DE-6492-19037961A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63100">
                <a:off x="9716843" y="2853634"/>
                <a:ext cx="219002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2EBF0CD-11E5-10B3-0B5C-704C436F3205}"/>
                  </a:ext>
                </a:extLst>
              </p:cNvPr>
              <p:cNvSpPr txBox="1"/>
              <p:nvPr/>
            </p:nvSpPr>
            <p:spPr>
              <a:xfrm rot="1821636">
                <a:off x="7218674" y="1470250"/>
                <a:ext cx="1631601" cy="6893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4A95D90-32C1-06DC-F649-20A0DA6B1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21636">
                <a:off x="7218674" y="1470250"/>
                <a:ext cx="1631601" cy="6893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右中かっこ 11">
            <a:extLst>
              <a:ext uri="{FF2B5EF4-FFF2-40B4-BE49-F238E27FC236}">
                <a16:creationId xmlns:a16="http://schemas.microsoft.com/office/drawing/2014/main" id="{A4EA15FF-9EB3-054A-AFA9-5FD754A63830}"/>
              </a:ext>
            </a:extLst>
          </p:cNvPr>
          <p:cNvSpPr/>
          <p:nvPr/>
        </p:nvSpPr>
        <p:spPr>
          <a:xfrm rot="5400000">
            <a:off x="7810998" y="2379162"/>
            <a:ext cx="701219" cy="2260717"/>
          </a:xfrm>
          <a:prstGeom prst="rightBrace">
            <a:avLst>
              <a:gd name="adj1" fmla="val 29217"/>
              <a:gd name="adj2" fmla="val 50000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467B3E8A-9FBD-E84F-2E18-373DF2C2D812}"/>
                  </a:ext>
                </a:extLst>
              </p:cNvPr>
              <p:cNvSpPr txBox="1"/>
              <p:nvPr/>
            </p:nvSpPr>
            <p:spPr>
              <a:xfrm rot="1938456">
                <a:off x="6838089" y="2240427"/>
                <a:ext cx="21900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kumimoji="1" lang="en-US" altLang="ja-JP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≳</m:t>
                      </m:r>
                      <m:r>
                        <a:rPr kumimoji="1" lang="en-US" altLang="ja-JP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ja-JP" sz="3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𝐊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AFE344A1-D0C7-AC5C-C76C-9B44C7E84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8456">
                <a:off x="6838089" y="2240427"/>
                <a:ext cx="2190026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ED440D8-BC4A-B14B-ABE0-941C544018E1}"/>
              </a:ext>
            </a:extLst>
          </p:cNvPr>
          <p:cNvSpPr txBox="1"/>
          <p:nvPr/>
        </p:nvSpPr>
        <p:spPr>
          <a:xfrm>
            <a:off x="6834886" y="4767768"/>
            <a:ext cx="1885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/>
              <a:t>1.3GHz Nb cavity</a:t>
            </a:r>
            <a:endParaRPr kumimoji="1" lang="ja-JP" altLang="en-US" sz="1600" b="1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9C9D240A-0686-DE4E-B300-F5D6FBBC0B29}"/>
              </a:ext>
            </a:extLst>
          </p:cNvPr>
          <p:cNvCxnSpPr/>
          <p:nvPr/>
        </p:nvCxnSpPr>
        <p:spPr>
          <a:xfrm>
            <a:off x="10859049" y="5804958"/>
            <a:ext cx="1252331" cy="0"/>
          </a:xfrm>
          <a:prstGeom prst="straightConnector1">
            <a:avLst/>
          </a:prstGeom>
          <a:ln w="50800">
            <a:solidFill>
              <a:srgbClr val="1E3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A79183-A87A-EB2E-155D-53BE9DF80203}"/>
              </a:ext>
            </a:extLst>
          </p:cNvPr>
          <p:cNvSpPr txBox="1"/>
          <p:nvPr/>
        </p:nvSpPr>
        <p:spPr>
          <a:xfrm>
            <a:off x="7005719" y="1053041"/>
            <a:ext cx="2286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rgbClr val="1E3CFF"/>
                </a:solidFill>
              </a:rPr>
              <a:t>e.g.,</a:t>
            </a:r>
            <a:r>
              <a:rPr kumimoji="1" lang="ja-JP" altLang="en-US" sz="2800" dirty="0">
                <a:solidFill>
                  <a:srgbClr val="1E3CFF"/>
                </a:solidFill>
              </a:rPr>
              <a:t> </a:t>
            </a:r>
            <a:r>
              <a:rPr kumimoji="1" lang="en-US" altLang="ja-JP" sz="2800" dirty="0">
                <a:solidFill>
                  <a:srgbClr val="1E3CFF"/>
                </a:solidFill>
              </a:rPr>
              <a:t>bulk</a:t>
            </a:r>
            <a:r>
              <a:rPr kumimoji="1" lang="ja-JP" altLang="en-US" sz="2800" dirty="0">
                <a:solidFill>
                  <a:srgbClr val="1E3CFF"/>
                </a:solidFill>
              </a:rPr>
              <a:t> </a:t>
            </a:r>
            <a:r>
              <a:rPr kumimoji="1" lang="en-US" altLang="ja-JP" sz="2800" dirty="0">
                <a:solidFill>
                  <a:srgbClr val="1E3CFF"/>
                </a:solidFill>
              </a:rPr>
              <a:t>Nb</a:t>
            </a:r>
            <a:endParaRPr kumimoji="1" lang="ja-JP" altLang="en-US" sz="2800" dirty="0">
              <a:solidFill>
                <a:srgbClr val="1E3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19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9C19C-7EA0-97E5-8F7E-130021B1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>
            <a:extLst>
              <a:ext uri="{FF2B5EF4-FFF2-40B4-BE49-F238E27FC236}">
                <a16:creationId xmlns:a16="http://schemas.microsoft.com/office/drawing/2014/main" id="{7611EDD6-A2B4-1AA3-5AC0-AAADBC56A3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94" t="7161" r="12200" b="1281"/>
          <a:stretch/>
        </p:blipFill>
        <p:spPr>
          <a:xfrm>
            <a:off x="6013174" y="1025051"/>
            <a:ext cx="6143157" cy="492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6A324EC-14E6-6A5E-F5A5-C3CD69F8DC90}"/>
                  </a:ext>
                </a:extLst>
              </p:cNvPr>
              <p:cNvSpPr txBox="1"/>
              <p:nvPr/>
            </p:nvSpPr>
            <p:spPr>
              <a:xfrm>
                <a:off x="14578" y="-2636"/>
                <a:ext cx="646573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Arial Black" panose="020B0A04020102020204" pitchFamily="34" charset="0"/>
                  </a:rPr>
                  <a:t>At a higher T (</a:t>
                </a:r>
                <a14:m>
                  <m:oMath xmlns:m="http://schemas.openxmlformats.org/officeDocument/2006/math">
                    <m:r>
                      <a:rPr kumimoji="1" lang="en-US" altLang="ja-JP" sz="3200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kumimoji="1" lang="en-US" altLang="ja-JP" sz="3200" b="0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en-US" altLang="ja-JP" sz="32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Arial Black" panose="020B0A04020102020204" pitchFamily="34" charset="0"/>
                  </a:rPr>
                  <a:t>K)</a:t>
                </a: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BE8C303-67EF-006E-1D24-B9E7454C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8" y="-2636"/>
                <a:ext cx="6465735" cy="584775"/>
              </a:xfrm>
              <a:prstGeom prst="rect">
                <a:avLst/>
              </a:prstGeom>
              <a:blipFill>
                <a:blip r:embed="rId3"/>
                <a:stretch>
                  <a:fillRect l="-2356" t="-12632" b="-3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4C4D0356-60B6-B8D5-87EE-9BC3500DEB27}"/>
                  </a:ext>
                </a:extLst>
              </p:cNvPr>
              <p:cNvSpPr txBox="1"/>
              <p:nvPr/>
            </p:nvSpPr>
            <p:spPr>
              <a:xfrm>
                <a:off x="6714197" y="34394"/>
                <a:ext cx="5397183" cy="96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1" dirty="0"/>
                  <a:t>Surface resistance </a:t>
                </a:r>
                <a14:m>
                  <m:oMath xmlns:m="http://schemas.openxmlformats.org/officeDocument/2006/math">
                    <m:r>
                      <a:rPr kumimoji="1" lang="en-US" altLang="ja-JP" sz="3600" b="1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kumimoji="1" lang="en-US" altLang="ja-JP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kumimoji="1" lang="ja-JP" altLang="en-US" sz="3600" b="1" dirty="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AFE4285-9712-452C-9725-D26397D2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197" y="34394"/>
                <a:ext cx="5397183" cy="960840"/>
              </a:xfrm>
              <a:prstGeom prst="rect">
                <a:avLst/>
              </a:prstGeom>
              <a:blipFill>
                <a:blip r:embed="rId4"/>
                <a:stretch>
                  <a:fillRect l="-3386" b="-57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図 23">
            <a:extLst>
              <a:ext uri="{FF2B5EF4-FFF2-40B4-BE49-F238E27FC236}">
                <a16:creationId xmlns:a16="http://schemas.microsoft.com/office/drawing/2014/main" id="{3997AB6C-2CF6-FBCE-40EA-456E7633A51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979" y="1163605"/>
            <a:ext cx="4559800" cy="39451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7424D0B-7876-0D3B-9578-A9A4AE00885C}"/>
                  </a:ext>
                </a:extLst>
              </p:cNvPr>
              <p:cNvSpPr txBox="1"/>
              <p:nvPr/>
            </p:nvSpPr>
            <p:spPr>
              <a:xfrm rot="1821636">
                <a:off x="7218674" y="1470250"/>
                <a:ext cx="1631601" cy="6893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E1DE71C-8F08-072A-4E3D-159B73E37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21636">
                <a:off x="7218674" y="1470250"/>
                <a:ext cx="1631601" cy="6893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2DAFB2F-1948-066C-44B5-D5C03A226423}"/>
              </a:ext>
            </a:extLst>
          </p:cNvPr>
          <p:cNvCxnSpPr>
            <a:cxnSpLocks/>
          </p:cNvCxnSpPr>
          <p:nvPr/>
        </p:nvCxnSpPr>
        <p:spPr>
          <a:xfrm flipH="1">
            <a:off x="6816032" y="5804958"/>
            <a:ext cx="1228697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3C27E39-AE0D-80F3-C11C-398ED28427F6}"/>
              </a:ext>
            </a:extLst>
          </p:cNvPr>
          <p:cNvSpPr txBox="1"/>
          <p:nvPr/>
        </p:nvSpPr>
        <p:spPr>
          <a:xfrm>
            <a:off x="6719625" y="5915020"/>
            <a:ext cx="12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Higher T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C96315D-F4F9-DF51-A5F5-2FD3B4E2B18F}"/>
              </a:ext>
            </a:extLst>
          </p:cNvPr>
          <p:cNvSpPr txBox="1"/>
          <p:nvPr/>
        </p:nvSpPr>
        <p:spPr>
          <a:xfrm>
            <a:off x="10991129" y="590279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rgbClr val="0070C0"/>
                </a:solidFill>
              </a:rPr>
              <a:t>Lower</a:t>
            </a:r>
            <a:r>
              <a:rPr kumimoji="1" lang="en-US" altLang="ja-JP" sz="2000" b="1" dirty="0">
                <a:solidFill>
                  <a:srgbClr val="0070C0"/>
                </a:solidFill>
              </a:rPr>
              <a:t> T</a:t>
            </a:r>
            <a:endParaRPr kumimoji="1" lang="ja-JP" altLang="en-US" sz="2000" b="1" dirty="0">
              <a:solidFill>
                <a:srgbClr val="0070C0"/>
              </a:solidFill>
            </a:endParaRPr>
          </a:p>
        </p:txBody>
      </p:sp>
      <p:sp>
        <p:nvSpPr>
          <p:cNvPr id="8" name="右中かっこ 7">
            <a:extLst>
              <a:ext uri="{FF2B5EF4-FFF2-40B4-BE49-F238E27FC236}">
                <a16:creationId xmlns:a16="http://schemas.microsoft.com/office/drawing/2014/main" id="{93E289E1-1B46-58B0-A07D-07A553D3BF4C}"/>
              </a:ext>
            </a:extLst>
          </p:cNvPr>
          <p:cNvSpPr/>
          <p:nvPr/>
        </p:nvSpPr>
        <p:spPr>
          <a:xfrm rot="5400000">
            <a:off x="7810998" y="2379162"/>
            <a:ext cx="701219" cy="2260717"/>
          </a:xfrm>
          <a:prstGeom prst="rightBrace">
            <a:avLst>
              <a:gd name="adj1" fmla="val 29217"/>
              <a:gd name="adj2" fmla="val 50000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036DD6EF-36D2-DB88-6D2F-599662AFF8D6}"/>
                  </a:ext>
                </a:extLst>
              </p:cNvPr>
              <p:cNvSpPr txBox="1"/>
              <p:nvPr/>
            </p:nvSpPr>
            <p:spPr>
              <a:xfrm>
                <a:off x="14578" y="5177262"/>
                <a:ext cx="646573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800" dirty="0"/>
                  <a:t>The contribution from </a:t>
                </a:r>
                <a:r>
                  <a:rPr lang="en-US" altLang="ja-JP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Arial Black" panose="020B0A04020102020204" pitchFamily="34" charset="0"/>
                  </a:rPr>
                  <a:t>thermally activated quasiparticles </a:t>
                </a:r>
                <a:r>
                  <a:rPr lang="en-US" altLang="ja-JP" sz="2800" dirty="0"/>
                  <a:t>decreases exponentially [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⁡(−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𝑘𝑇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800" dirty="0"/>
                  <a:t>].</a:t>
                </a:r>
                <a:endParaRPr lang="ja-JP" altLang="en-US" sz="28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6B4DF2A-A88D-777F-6373-DF9AA8692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8" y="5177262"/>
                <a:ext cx="6465735" cy="1384995"/>
              </a:xfrm>
              <a:prstGeom prst="rect">
                <a:avLst/>
              </a:prstGeom>
              <a:blipFill>
                <a:blip r:embed="rId8"/>
                <a:stretch>
                  <a:fillRect l="-1885" t="-5286" b="-11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C0A953-764C-B244-9618-6028371FFB43}"/>
              </a:ext>
            </a:extLst>
          </p:cNvPr>
          <p:cNvSpPr txBox="1"/>
          <p:nvPr/>
        </p:nvSpPr>
        <p:spPr>
          <a:xfrm>
            <a:off x="6834886" y="4767768"/>
            <a:ext cx="1885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/>
              <a:t>1.3GHz Nb cavity</a:t>
            </a:r>
            <a:endParaRPr kumimoji="1" lang="ja-JP" altLang="en-US" sz="1600" b="1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6F92E76-CA51-1EC8-DD63-A30A4E581814}"/>
              </a:ext>
            </a:extLst>
          </p:cNvPr>
          <p:cNvCxnSpPr/>
          <p:nvPr/>
        </p:nvCxnSpPr>
        <p:spPr>
          <a:xfrm>
            <a:off x="10859049" y="5804958"/>
            <a:ext cx="1252331" cy="0"/>
          </a:xfrm>
          <a:prstGeom prst="straightConnector1">
            <a:avLst/>
          </a:prstGeom>
          <a:ln w="50800">
            <a:solidFill>
              <a:srgbClr val="1E3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7EA07F07-4D87-93BA-1314-C64C0624B0EA}"/>
                  </a:ext>
                </a:extLst>
              </p:cNvPr>
              <p:cNvSpPr txBox="1"/>
              <p:nvPr/>
            </p:nvSpPr>
            <p:spPr>
              <a:xfrm rot="1938456">
                <a:off x="6838089" y="2240427"/>
                <a:ext cx="21900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kumimoji="1" lang="en-US" altLang="ja-JP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≳</m:t>
                      </m:r>
                      <m:r>
                        <a:rPr kumimoji="1" lang="en-US" altLang="ja-JP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ja-JP" sz="3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𝐊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764F414-B851-DE82-474B-E2A660FFB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8456">
                <a:off x="6838089" y="2240427"/>
                <a:ext cx="2190026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4C26D9-32A8-4840-BEC2-B68202C0C94F}"/>
              </a:ext>
            </a:extLst>
          </p:cNvPr>
          <p:cNvSpPr txBox="1"/>
          <p:nvPr/>
        </p:nvSpPr>
        <p:spPr>
          <a:xfrm>
            <a:off x="7005719" y="1053041"/>
            <a:ext cx="2286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rgbClr val="1E3CFF"/>
                </a:solidFill>
              </a:rPr>
              <a:t>e.g.,</a:t>
            </a:r>
            <a:r>
              <a:rPr kumimoji="1" lang="ja-JP" altLang="en-US" sz="2800" dirty="0">
                <a:solidFill>
                  <a:srgbClr val="1E3CFF"/>
                </a:solidFill>
              </a:rPr>
              <a:t> </a:t>
            </a:r>
            <a:r>
              <a:rPr kumimoji="1" lang="en-US" altLang="ja-JP" sz="2800" dirty="0">
                <a:solidFill>
                  <a:srgbClr val="1E3CFF"/>
                </a:solidFill>
              </a:rPr>
              <a:t>bulk</a:t>
            </a:r>
            <a:r>
              <a:rPr kumimoji="1" lang="ja-JP" altLang="en-US" sz="2800" dirty="0">
                <a:solidFill>
                  <a:srgbClr val="1E3CFF"/>
                </a:solidFill>
              </a:rPr>
              <a:t> </a:t>
            </a:r>
            <a:r>
              <a:rPr kumimoji="1" lang="en-US" altLang="ja-JP" sz="2800" dirty="0">
                <a:solidFill>
                  <a:srgbClr val="1E3CFF"/>
                </a:solidFill>
              </a:rPr>
              <a:t>Nb</a:t>
            </a:r>
            <a:endParaRPr kumimoji="1" lang="ja-JP" altLang="en-US" sz="2800" dirty="0">
              <a:solidFill>
                <a:srgbClr val="1E3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73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1FD2-199B-D4DF-FA63-5F45E5AC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86D88D3-119F-BC80-E01F-C71532655C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94" t="7161" r="12200" b="1281"/>
          <a:stretch/>
        </p:blipFill>
        <p:spPr>
          <a:xfrm>
            <a:off x="6013174" y="1025051"/>
            <a:ext cx="6143157" cy="4921725"/>
          </a:xfrm>
          <a:prstGeom prst="rect">
            <a:avLst/>
          </a:prstGeom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724FF53-3704-63CF-E611-CA3E7D9035AD}"/>
              </a:ext>
            </a:extLst>
          </p:cNvPr>
          <p:cNvCxnSpPr>
            <a:cxnSpLocks/>
          </p:cNvCxnSpPr>
          <p:nvPr/>
        </p:nvCxnSpPr>
        <p:spPr>
          <a:xfrm flipH="1">
            <a:off x="6816032" y="5804958"/>
            <a:ext cx="1228697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4AB5CA-95E2-3000-AE72-95AE8F0BD347}"/>
              </a:ext>
            </a:extLst>
          </p:cNvPr>
          <p:cNvSpPr txBox="1"/>
          <p:nvPr/>
        </p:nvSpPr>
        <p:spPr>
          <a:xfrm>
            <a:off x="6719625" y="5915020"/>
            <a:ext cx="12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Higher T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D31905C-EBBE-25C9-78BA-A52ECBFF9CC2}"/>
              </a:ext>
            </a:extLst>
          </p:cNvPr>
          <p:cNvSpPr txBox="1"/>
          <p:nvPr/>
        </p:nvSpPr>
        <p:spPr>
          <a:xfrm>
            <a:off x="10991129" y="590279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rgbClr val="0070C0"/>
                </a:solidFill>
              </a:rPr>
              <a:t>Lower</a:t>
            </a:r>
            <a:r>
              <a:rPr kumimoji="1" lang="en-US" altLang="ja-JP" sz="2000" b="1" dirty="0">
                <a:solidFill>
                  <a:srgbClr val="0070C0"/>
                </a:solidFill>
              </a:rPr>
              <a:t> T</a:t>
            </a:r>
            <a:endParaRPr kumimoji="1" lang="ja-JP" altLang="en-US" sz="2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E685030-147A-2AC2-B2E4-444A40E605CF}"/>
                  </a:ext>
                </a:extLst>
              </p:cNvPr>
              <p:cNvSpPr txBox="1"/>
              <p:nvPr/>
            </p:nvSpPr>
            <p:spPr>
              <a:xfrm>
                <a:off x="10879387" y="3625905"/>
                <a:ext cx="111774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l-GR" altLang="ja-JP" sz="4000" b="1" i="1" smtClean="0">
                              <a:solidFill>
                                <a:srgbClr val="1E3C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1" i="1" smtClean="0">
                              <a:solidFill>
                                <a:srgbClr val="1E3CFF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ja-JP" sz="4000" b="1" i="1" smtClean="0">
                              <a:solidFill>
                                <a:srgbClr val="1E3CFF"/>
                              </a:solidFill>
                              <a:latin typeface="Cambria Math" panose="02040503050406030204" pitchFamily="18" charset="0"/>
                            </a:rPr>
                            <m:t>𝒓𝒆𝒔</m:t>
                          </m:r>
                        </m:sub>
                      </m:sSub>
                    </m:oMath>
                  </m:oMathPara>
                </a14:m>
                <a:endParaRPr kumimoji="1" lang="ja-JP" altLang="en-US" sz="4000" b="1" dirty="0">
                  <a:solidFill>
                    <a:srgbClr val="1E3CFF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2A4E800-2D2F-4489-1C4F-168C54F98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9387" y="3625905"/>
                <a:ext cx="1117742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965F4D0-BC3D-0DB1-26CA-F297270F1C85}"/>
              </a:ext>
            </a:extLst>
          </p:cNvPr>
          <p:cNvCxnSpPr/>
          <p:nvPr/>
        </p:nvCxnSpPr>
        <p:spPr>
          <a:xfrm flipV="1">
            <a:off x="11980019" y="3578087"/>
            <a:ext cx="0" cy="1201763"/>
          </a:xfrm>
          <a:prstGeom prst="straightConnector1">
            <a:avLst/>
          </a:prstGeom>
          <a:ln w="50800">
            <a:solidFill>
              <a:srgbClr val="1E3C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1078DEE3-F0B3-90B4-6EB2-9E87E932AA6A}"/>
                  </a:ext>
                </a:extLst>
              </p:cNvPr>
              <p:cNvSpPr txBox="1"/>
              <p:nvPr/>
            </p:nvSpPr>
            <p:spPr>
              <a:xfrm>
                <a:off x="14578" y="7301"/>
                <a:ext cx="68429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b="1" dirty="0">
                    <a:solidFill>
                      <a:schemeClr val="tx2"/>
                    </a:solidFill>
                    <a:latin typeface="Arial Black" panose="020B0A04020102020204" pitchFamily="34" charset="0"/>
                  </a:rPr>
                  <a:t>At a lower T (</a:t>
                </a:r>
                <a14:m>
                  <m:oMath xmlns:m="http://schemas.openxmlformats.org/officeDocument/2006/math">
                    <m:r>
                      <a:rPr kumimoji="1" lang="en-US" altLang="ja-JP" sz="32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≲</m:t>
                    </m:r>
                    <m:r>
                      <a:rPr kumimoji="1" lang="en-US" altLang="ja-JP" sz="32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kumimoji="1" lang="en-US" altLang="ja-JP" sz="3200" b="1" dirty="0">
                    <a:solidFill>
                      <a:schemeClr val="tx2"/>
                    </a:solidFill>
                    <a:latin typeface="Arial Black" panose="020B0A04020102020204" pitchFamily="34" charset="0"/>
                  </a:rPr>
                  <a:t>K)</a:t>
                </a: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4B7F5CE-03CA-273A-00A2-026325B7D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8" y="7301"/>
                <a:ext cx="6842906" cy="584775"/>
              </a:xfrm>
              <a:prstGeom prst="rect">
                <a:avLst/>
              </a:prstGeom>
              <a:blipFill>
                <a:blip r:embed="rId4"/>
                <a:stretch>
                  <a:fillRect l="-2226" t="-12500" b="-343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6FBA1870-E246-C74D-A664-2825595E2416}"/>
                  </a:ext>
                </a:extLst>
              </p:cNvPr>
              <p:cNvSpPr txBox="1"/>
              <p:nvPr/>
            </p:nvSpPr>
            <p:spPr>
              <a:xfrm>
                <a:off x="6714197" y="34394"/>
                <a:ext cx="5397183" cy="960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1" dirty="0"/>
                  <a:t>Surface resistance </a:t>
                </a:r>
                <a14:m>
                  <m:oMath xmlns:m="http://schemas.openxmlformats.org/officeDocument/2006/math">
                    <m:r>
                      <a:rPr kumimoji="1" lang="en-US" altLang="ja-JP" sz="3600" b="1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kumimoji="1" lang="en-US" altLang="ja-JP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kumimoji="1" lang="en-US" altLang="ja-JP" sz="3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kumimoji="1" lang="ja-JP" altLang="en-US" sz="3600" b="1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3DE37512-1CE4-B3DF-96F3-DDE33F4CA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197" y="34394"/>
                <a:ext cx="5397183" cy="960840"/>
              </a:xfrm>
              <a:prstGeom prst="rect">
                <a:avLst/>
              </a:prstGeom>
              <a:blipFill>
                <a:blip r:embed="rId5"/>
                <a:stretch>
                  <a:fillRect l="-3386" b="-57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右中かっこ 7">
            <a:extLst>
              <a:ext uri="{FF2B5EF4-FFF2-40B4-BE49-F238E27FC236}">
                <a16:creationId xmlns:a16="http://schemas.microsoft.com/office/drawing/2014/main" id="{A8FD4A22-5584-F915-BCCD-C1B9045B6F74}"/>
              </a:ext>
            </a:extLst>
          </p:cNvPr>
          <p:cNvSpPr/>
          <p:nvPr/>
        </p:nvSpPr>
        <p:spPr>
          <a:xfrm rot="16200000">
            <a:off x="10340609" y="1318814"/>
            <a:ext cx="701219" cy="2577602"/>
          </a:xfrm>
          <a:prstGeom prst="rightBrace">
            <a:avLst>
              <a:gd name="adj1" fmla="val 29217"/>
              <a:gd name="adj2" fmla="val 50000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61E620A-9C79-EF04-840C-ED4FF51423CD}"/>
                  </a:ext>
                </a:extLst>
              </p:cNvPr>
              <p:cNvSpPr txBox="1"/>
              <p:nvPr/>
            </p:nvSpPr>
            <p:spPr>
              <a:xfrm>
                <a:off x="-7124" y="2388708"/>
                <a:ext cx="6143153" cy="2483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800" dirty="0"/>
                  <a:t>The quasiparticle contribution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kumimoji="1" lang="en-US" altLang="ja-JP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kumimoji="1" lang="en-US" altLang="ja-JP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kumimoji="1" lang="en-US" altLang="ja-JP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ja-JP" sz="2800" dirty="0"/>
                  <a:t> is exponentially suppressed (dashed curve), but </a:t>
                </a:r>
                <a:r>
                  <a:rPr lang="en-US" altLang="ja-JP" sz="2800" b="1" dirty="0">
                    <a:solidFill>
                      <a:schemeClr val="tx2"/>
                    </a:solidFill>
                  </a:rPr>
                  <a:t>other mechanisms can dominate at low temperatures.</a:t>
                </a:r>
                <a:endParaRPr lang="en-US" altLang="ja-JP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2E41001-ED30-E945-61CC-F45BAEF1E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24" y="2388708"/>
                <a:ext cx="6143153" cy="2483950"/>
              </a:xfrm>
              <a:prstGeom prst="rect">
                <a:avLst/>
              </a:prstGeom>
              <a:blipFill>
                <a:blip r:embed="rId7"/>
                <a:stretch>
                  <a:fillRect l="-2083" t="-2948" b="-5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4E0755-C492-EF77-6C3D-F577D185F290}"/>
              </a:ext>
            </a:extLst>
          </p:cNvPr>
          <p:cNvSpPr txBox="1"/>
          <p:nvPr/>
        </p:nvSpPr>
        <p:spPr>
          <a:xfrm>
            <a:off x="6834886" y="4767768"/>
            <a:ext cx="1885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/>
              <a:t>1.3GHz Nb cavity</a:t>
            </a:r>
            <a:endParaRPr kumimoji="1" lang="ja-JP" altLang="en-US" sz="1600" b="1" dirty="0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96FA2424-BB80-50D6-1167-F8A8C510A67D}"/>
              </a:ext>
            </a:extLst>
          </p:cNvPr>
          <p:cNvCxnSpPr/>
          <p:nvPr/>
        </p:nvCxnSpPr>
        <p:spPr>
          <a:xfrm>
            <a:off x="10859049" y="5804958"/>
            <a:ext cx="1252331" cy="0"/>
          </a:xfrm>
          <a:prstGeom prst="straightConnector1">
            <a:avLst/>
          </a:prstGeom>
          <a:ln w="50800">
            <a:solidFill>
              <a:srgbClr val="1E3C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E9F3F06-19F2-0D96-5870-7E0748F3FCB4}"/>
                  </a:ext>
                </a:extLst>
              </p:cNvPr>
              <p:cNvSpPr txBox="1"/>
              <p:nvPr/>
            </p:nvSpPr>
            <p:spPr>
              <a:xfrm rot="563100">
                <a:off x="9716843" y="2853634"/>
                <a:ext cx="21900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kumimoji="1" lang="en-US" altLang="ja-JP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kumimoji="1" lang="en-US" altLang="ja-JP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ja-JP" sz="3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𝐊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E9F3F06-19F2-0D96-5870-7E0748F3F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63100">
                <a:off x="9716843" y="2853634"/>
                <a:ext cx="219002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923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87539-6C78-406A-B44C-7BBF1497C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AC09A42-CB1A-CFE9-344C-C5672A52A1D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2908" y="559016"/>
            <a:ext cx="6072803" cy="306188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CFD7F68-2A44-6513-36A8-F9A423A3EA84}"/>
              </a:ext>
            </a:extLst>
          </p:cNvPr>
          <p:cNvSpPr txBox="1"/>
          <p:nvPr/>
        </p:nvSpPr>
        <p:spPr>
          <a:xfrm>
            <a:off x="104828" y="4170281"/>
            <a:ext cx="6221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solidFill>
                  <a:schemeClr val="tx2"/>
                </a:solidFill>
              </a:rPr>
              <a:t>Videos of vortex dynamics in </a:t>
            </a:r>
            <a:r>
              <a:rPr lang="en-US" altLang="ja-JP" sz="1600" b="1" u="sng" dirty="0">
                <a:solidFill>
                  <a:schemeClr val="tx2"/>
                </a:solidFill>
              </a:rPr>
              <a:t>cavity-grade Nb</a:t>
            </a:r>
            <a:r>
              <a:rPr lang="en-US" altLang="ja-JP" sz="1600" b="1" dirty="0">
                <a:solidFill>
                  <a:schemeClr val="tx2"/>
                </a:solidFill>
              </a:rPr>
              <a:t> (RRR&gt;300) </a:t>
            </a:r>
            <a:r>
              <a:rPr lang="en-US" altLang="ja-JP" sz="1600" dirty="0">
                <a:solidFill>
                  <a:schemeClr val="tx2"/>
                </a:solidFill>
              </a:rPr>
              <a:t>can be found in Ooi et al., PRB </a:t>
            </a:r>
            <a:r>
              <a:rPr lang="en-US" altLang="ja-JP" sz="1600" b="1" dirty="0">
                <a:solidFill>
                  <a:schemeClr val="tx2"/>
                </a:solidFill>
              </a:rPr>
              <a:t>111</a:t>
            </a:r>
            <a:r>
              <a:rPr lang="en-US" altLang="ja-JP" sz="1600" dirty="0">
                <a:solidFill>
                  <a:schemeClr val="tx2"/>
                </a:solidFill>
              </a:rPr>
              <a:t>, 094519 (2025)</a:t>
            </a:r>
            <a:endParaRPr lang="ja-JP" altLang="en-US" sz="1600" dirty="0">
              <a:solidFill>
                <a:schemeClr val="tx2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9EBCA2-D6F1-EBD2-77EE-F4D06EDC3897}"/>
              </a:ext>
            </a:extLst>
          </p:cNvPr>
          <p:cNvSpPr txBox="1"/>
          <p:nvPr/>
        </p:nvSpPr>
        <p:spPr>
          <a:xfrm>
            <a:off x="6383467" y="4062559"/>
            <a:ext cx="580853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See also, 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A. Gurevich and G. </a:t>
            </a:r>
            <a:r>
              <a:rPr lang="en-US" altLang="ja-JP" sz="1400" dirty="0" err="1">
                <a:solidFill>
                  <a:schemeClr val="tx2"/>
                </a:solidFill>
              </a:rPr>
              <a:t>Ciovati</a:t>
            </a:r>
            <a:r>
              <a:rPr lang="en-US" altLang="ja-JP" sz="1400" dirty="0">
                <a:solidFill>
                  <a:schemeClr val="tx2"/>
                </a:solidFill>
              </a:rPr>
              <a:t>, PRB </a:t>
            </a:r>
            <a:r>
              <a:rPr lang="en-US" altLang="ja-JP" sz="1400" b="1" dirty="0">
                <a:solidFill>
                  <a:schemeClr val="tx2"/>
                </a:solidFill>
              </a:rPr>
              <a:t>87</a:t>
            </a:r>
            <a:r>
              <a:rPr lang="en-US" altLang="ja-JP" sz="1400" dirty="0">
                <a:solidFill>
                  <a:schemeClr val="tx2"/>
                </a:solidFill>
              </a:rPr>
              <a:t>, 054502 (2013)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A. Romanenko et al., </a:t>
            </a:r>
            <a:r>
              <a:rPr lang="fr-FR" altLang="ja-JP" sz="1400" dirty="0">
                <a:solidFill>
                  <a:schemeClr val="tx2"/>
                </a:solidFill>
              </a:rPr>
              <a:t>Appl. Phys. Lett. </a:t>
            </a:r>
            <a:r>
              <a:rPr lang="fr-FR" altLang="ja-JP" sz="1400" b="1" dirty="0">
                <a:solidFill>
                  <a:schemeClr val="tx2"/>
                </a:solidFill>
              </a:rPr>
              <a:t>105</a:t>
            </a:r>
            <a:r>
              <a:rPr lang="fr-FR" altLang="ja-JP" sz="1400" dirty="0">
                <a:solidFill>
                  <a:schemeClr val="tx2"/>
                </a:solidFill>
              </a:rPr>
              <a:t>, 234103 (2014).</a:t>
            </a:r>
            <a:endParaRPr lang="en-US" altLang="ja-JP" sz="1400" dirty="0">
              <a:solidFill>
                <a:schemeClr val="tx2"/>
              </a:solidFill>
            </a:endParaRPr>
          </a:p>
          <a:p>
            <a:r>
              <a:rPr lang="en-US" altLang="ja-JP" sz="1400" dirty="0">
                <a:solidFill>
                  <a:schemeClr val="tx2"/>
                </a:solidFill>
              </a:rPr>
              <a:t>S. Huang eta al., Phys. Rev. Accelerators and Beams </a:t>
            </a:r>
            <a:r>
              <a:rPr lang="en-US" altLang="ja-JP" sz="1400" b="1" dirty="0">
                <a:solidFill>
                  <a:schemeClr val="tx2"/>
                </a:solidFill>
              </a:rPr>
              <a:t>19</a:t>
            </a:r>
            <a:r>
              <a:rPr lang="en-US" altLang="ja-JP" sz="1400" dirty="0">
                <a:solidFill>
                  <a:schemeClr val="tx2"/>
                </a:solidFill>
              </a:rPr>
              <a:t>, 082001 (2016).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Posen et al., J. Appl. Phys. </a:t>
            </a:r>
            <a:r>
              <a:rPr lang="en-US" altLang="ja-JP" sz="1400" b="1" dirty="0">
                <a:solidFill>
                  <a:schemeClr val="tx2"/>
                </a:solidFill>
              </a:rPr>
              <a:t>119</a:t>
            </a:r>
            <a:r>
              <a:rPr lang="en-US" altLang="ja-JP" sz="1400" dirty="0">
                <a:solidFill>
                  <a:schemeClr val="tx2"/>
                </a:solidFill>
              </a:rPr>
              <a:t>, 213903 (2016).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Ooi et al., Physical Review B </a:t>
            </a:r>
            <a:r>
              <a:rPr lang="en-US" altLang="ja-JP" sz="1400" b="1" dirty="0">
                <a:solidFill>
                  <a:schemeClr val="tx2"/>
                </a:solidFill>
              </a:rPr>
              <a:t>104</a:t>
            </a:r>
            <a:r>
              <a:rPr lang="en-US" altLang="ja-JP" sz="1400" dirty="0">
                <a:solidFill>
                  <a:schemeClr val="tx2"/>
                </a:solidFill>
              </a:rPr>
              <a:t>, 064504 (2021).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Ooi et al., Physical Review B </a:t>
            </a:r>
            <a:r>
              <a:rPr lang="en-US" altLang="ja-JP" sz="1400" b="1" dirty="0">
                <a:solidFill>
                  <a:schemeClr val="tx2"/>
                </a:solidFill>
              </a:rPr>
              <a:t>111</a:t>
            </a:r>
            <a:r>
              <a:rPr lang="en-US" altLang="ja-JP" sz="1400" dirty="0">
                <a:solidFill>
                  <a:schemeClr val="tx2"/>
                </a:solidFill>
              </a:rPr>
              <a:t>, 094519 (2025)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1DDDC50C-15D3-4673-5EC9-B90DA6EC4B89}"/>
                  </a:ext>
                </a:extLst>
              </p:cNvPr>
              <p:cNvSpPr txBox="1"/>
              <p:nvPr/>
            </p:nvSpPr>
            <p:spPr>
              <a:xfrm>
                <a:off x="47646" y="4701715"/>
                <a:ext cx="651639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Arial Black" panose="020B0A04020102020204" pitchFamily="34" charset="0"/>
                  </a:rPr>
                  <a:t>Microwave-driven vortex dynamics cause dissipation, which is only weakly dependent on temperature, leading to an elevated surface resistance: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endParaRPr kumimoji="1" lang="ja-JP" altLang="en-US" sz="24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AFE76F0-BA76-8A78-E500-31C1DC3B0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6" y="4701715"/>
                <a:ext cx="6516392" cy="1938992"/>
              </a:xfrm>
              <a:prstGeom prst="rect">
                <a:avLst/>
              </a:prstGeom>
              <a:blipFill>
                <a:blip r:embed="rId4"/>
                <a:stretch>
                  <a:fillRect l="-1497" t="-251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直方体 1">
            <a:extLst>
              <a:ext uri="{FF2B5EF4-FFF2-40B4-BE49-F238E27FC236}">
                <a16:creationId xmlns:a16="http://schemas.microsoft.com/office/drawing/2014/main" id="{90E1D75A-CF69-5E55-BF27-AA246C136342}"/>
              </a:ext>
            </a:extLst>
          </p:cNvPr>
          <p:cNvSpPr/>
          <p:nvPr/>
        </p:nvSpPr>
        <p:spPr>
          <a:xfrm>
            <a:off x="8032799" y="950935"/>
            <a:ext cx="2919070" cy="2920095"/>
          </a:xfrm>
          <a:prstGeom prst="cube">
            <a:avLst>
              <a:gd name="adj" fmla="val 18909"/>
            </a:avLst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3ED4230B-7ED6-6A9A-4EC8-D77D1EB1C590}"/>
              </a:ext>
            </a:extLst>
          </p:cNvPr>
          <p:cNvSpPr/>
          <p:nvPr/>
        </p:nvSpPr>
        <p:spPr>
          <a:xfrm>
            <a:off x="9024145" y="1198636"/>
            <a:ext cx="244453" cy="2354093"/>
          </a:xfrm>
          <a:custGeom>
            <a:avLst/>
            <a:gdLst>
              <a:gd name="connsiteX0" fmla="*/ 1262 w 244453"/>
              <a:gd name="connsiteY0" fmla="*/ 0 h 2354093"/>
              <a:gd name="connsiteX1" fmla="*/ 244453 w 244453"/>
              <a:gd name="connsiteY1" fmla="*/ 924127 h 2354093"/>
              <a:gd name="connsiteX2" fmla="*/ 1262 w 244453"/>
              <a:gd name="connsiteY2" fmla="*/ 1741251 h 2354093"/>
              <a:gd name="connsiteX3" fmla="*/ 166632 w 244453"/>
              <a:gd name="connsiteY3" fmla="*/ 2354093 h 235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53" h="2354093">
                <a:moveTo>
                  <a:pt x="1262" y="0"/>
                </a:moveTo>
                <a:cubicBezTo>
                  <a:pt x="122857" y="316959"/>
                  <a:pt x="244453" y="633919"/>
                  <a:pt x="244453" y="924127"/>
                </a:cubicBezTo>
                <a:cubicBezTo>
                  <a:pt x="244453" y="1214335"/>
                  <a:pt x="14232" y="1502923"/>
                  <a:pt x="1262" y="1741251"/>
                </a:cubicBezTo>
                <a:cubicBezTo>
                  <a:pt x="-11708" y="1979579"/>
                  <a:pt x="77462" y="2166836"/>
                  <a:pt x="166632" y="2354093"/>
                </a:cubicBezTo>
              </a:path>
            </a:pathLst>
          </a:cu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D6B3212-EB31-EDEB-5A8E-AFFF12777B6F}"/>
              </a:ext>
            </a:extLst>
          </p:cNvPr>
          <p:cNvCxnSpPr>
            <a:cxnSpLocks/>
          </p:cNvCxnSpPr>
          <p:nvPr/>
        </p:nvCxnSpPr>
        <p:spPr>
          <a:xfrm flipV="1">
            <a:off x="10414362" y="1106013"/>
            <a:ext cx="523533" cy="542870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AD604A7-2063-CEA9-9091-C845E7C736DE}"/>
              </a:ext>
            </a:extLst>
          </p:cNvPr>
          <p:cNvCxnSpPr>
            <a:cxnSpLocks/>
          </p:cNvCxnSpPr>
          <p:nvPr/>
        </p:nvCxnSpPr>
        <p:spPr>
          <a:xfrm flipV="1">
            <a:off x="10428085" y="1362283"/>
            <a:ext cx="397903" cy="380806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CE005D8-541C-AD22-4A35-BB58DD4B7B88}"/>
              </a:ext>
            </a:extLst>
          </p:cNvPr>
          <p:cNvSpPr txBox="1"/>
          <p:nvPr/>
        </p:nvSpPr>
        <p:spPr>
          <a:xfrm>
            <a:off x="9720397" y="858500"/>
            <a:ext cx="1196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rgbClr val="00B050"/>
                </a:solidFill>
              </a:rPr>
              <a:t>microwave</a:t>
            </a:r>
          </a:p>
          <a:p>
            <a:r>
              <a:rPr kumimoji="1" lang="en-US" altLang="ja-JP" sz="1600" dirty="0">
                <a:solidFill>
                  <a:srgbClr val="00B050"/>
                </a:solidFill>
              </a:rPr>
              <a:t>current</a:t>
            </a:r>
            <a:endParaRPr kumimoji="1" lang="ja-JP" altLang="en-US" sz="1600" dirty="0">
              <a:solidFill>
                <a:srgbClr val="00B050"/>
              </a:solidFill>
            </a:endParaRPr>
          </a:p>
        </p:txBody>
      </p:sp>
      <p:sp>
        <p:nvSpPr>
          <p:cNvPr id="20" name="円弧 19">
            <a:extLst>
              <a:ext uri="{FF2B5EF4-FFF2-40B4-BE49-F238E27FC236}">
                <a16:creationId xmlns:a16="http://schemas.microsoft.com/office/drawing/2014/main" id="{1814371B-868C-E349-EECE-417568F53D9B}"/>
              </a:ext>
            </a:extLst>
          </p:cNvPr>
          <p:cNvSpPr/>
          <p:nvPr/>
        </p:nvSpPr>
        <p:spPr>
          <a:xfrm>
            <a:off x="8572079" y="1071794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弧 21">
            <a:extLst>
              <a:ext uri="{FF2B5EF4-FFF2-40B4-BE49-F238E27FC236}">
                <a16:creationId xmlns:a16="http://schemas.microsoft.com/office/drawing/2014/main" id="{67F9053C-EF79-F716-BE54-F9222B436620}"/>
              </a:ext>
            </a:extLst>
          </p:cNvPr>
          <p:cNvSpPr/>
          <p:nvPr/>
        </p:nvSpPr>
        <p:spPr>
          <a:xfrm>
            <a:off x="8714754" y="2187232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弧 22">
            <a:extLst>
              <a:ext uri="{FF2B5EF4-FFF2-40B4-BE49-F238E27FC236}">
                <a16:creationId xmlns:a16="http://schemas.microsoft.com/office/drawing/2014/main" id="{627073AE-772C-8DB1-7B88-606A021B5B99}"/>
              </a:ext>
            </a:extLst>
          </p:cNvPr>
          <p:cNvSpPr/>
          <p:nvPr/>
        </p:nvSpPr>
        <p:spPr>
          <a:xfrm>
            <a:off x="8701782" y="3380494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D55BDF5E-1849-EC86-74A3-412D6B1F154F}"/>
              </a:ext>
            </a:extLst>
          </p:cNvPr>
          <p:cNvCxnSpPr>
            <a:cxnSpLocks/>
          </p:cNvCxnSpPr>
          <p:nvPr/>
        </p:nvCxnSpPr>
        <p:spPr>
          <a:xfrm flipV="1">
            <a:off x="10430187" y="1567185"/>
            <a:ext cx="328845" cy="314715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22083485-69A8-EEAC-A195-FFA1E7F9221D}"/>
              </a:ext>
            </a:extLst>
          </p:cNvPr>
          <p:cNvCxnSpPr>
            <a:cxnSpLocks/>
          </p:cNvCxnSpPr>
          <p:nvPr/>
        </p:nvCxnSpPr>
        <p:spPr>
          <a:xfrm flipV="1">
            <a:off x="10419194" y="1778173"/>
            <a:ext cx="247066" cy="236450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65ED3DA9-F59D-D662-596A-A98B0E184998}"/>
              </a:ext>
            </a:extLst>
          </p:cNvPr>
          <p:cNvCxnSpPr>
            <a:cxnSpLocks/>
          </p:cNvCxnSpPr>
          <p:nvPr/>
        </p:nvCxnSpPr>
        <p:spPr>
          <a:xfrm flipV="1">
            <a:off x="10417488" y="1969702"/>
            <a:ext cx="185624" cy="177649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DA6A756-C34B-8225-7D1E-08DC9D1E45CA}"/>
              </a:ext>
            </a:extLst>
          </p:cNvPr>
          <p:cNvSpPr txBox="1"/>
          <p:nvPr/>
        </p:nvSpPr>
        <p:spPr>
          <a:xfrm>
            <a:off x="8367802" y="1635563"/>
            <a:ext cx="86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vortex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8852710-05D3-AC2C-310E-0DD9380F16A3}"/>
              </a:ext>
            </a:extLst>
          </p:cNvPr>
          <p:cNvSpPr txBox="1"/>
          <p:nvPr/>
        </p:nvSpPr>
        <p:spPr>
          <a:xfrm>
            <a:off x="9343741" y="2469220"/>
            <a:ext cx="782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</a:rPr>
              <a:t>Vortex</a:t>
            </a:r>
          </a:p>
          <a:p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</a:rPr>
              <a:t>current</a:t>
            </a:r>
            <a:endParaRPr kumimoji="1" lang="ja-JP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A144329-5701-C425-01DB-BF67422BD541}"/>
              </a:ext>
            </a:extLst>
          </p:cNvPr>
          <p:cNvSpPr txBox="1"/>
          <p:nvPr/>
        </p:nvSpPr>
        <p:spPr>
          <a:xfrm>
            <a:off x="428928" y="3605998"/>
            <a:ext cx="56670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solidFill>
                  <a:schemeClr val="tx2"/>
                </a:solidFill>
              </a:rPr>
              <a:t>Figures adapted from Ooi et al., PRB </a:t>
            </a:r>
            <a:r>
              <a:rPr lang="en-US" altLang="ja-JP" sz="1600" b="1" dirty="0">
                <a:solidFill>
                  <a:schemeClr val="tx2"/>
                </a:solidFill>
              </a:rPr>
              <a:t>111</a:t>
            </a:r>
            <a:r>
              <a:rPr lang="en-US" altLang="ja-JP" sz="1600" dirty="0">
                <a:solidFill>
                  <a:schemeClr val="tx2"/>
                </a:solidFill>
              </a:rPr>
              <a:t>, 094519 (2025)</a:t>
            </a:r>
            <a:endParaRPr lang="ja-JP" altLang="en-US" sz="1600" dirty="0">
              <a:solidFill>
                <a:schemeClr val="tx2"/>
              </a:solidFill>
            </a:endParaRPr>
          </a:p>
          <a:p>
            <a:r>
              <a:rPr lang="en-US" altLang="ja-JP" sz="16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600" dirty="0">
                <a:solidFill>
                  <a:schemeClr val="tx2"/>
                </a:solidFill>
              </a:rPr>
              <a:t>© American Physical Society.</a:t>
            </a:r>
            <a:endParaRPr lang="ja-JP" altLang="en-US" sz="16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199CE81-0D36-BFE5-3667-4DD59B686261}"/>
                  </a:ext>
                </a:extLst>
              </p:cNvPr>
              <p:cNvSpPr txBox="1"/>
              <p:nvPr/>
            </p:nvSpPr>
            <p:spPr>
              <a:xfrm>
                <a:off x="-6192" y="84843"/>
                <a:ext cx="121981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b="1" dirty="0">
                    <a:latin typeface="Arial Black" panose="020B0A04020102020204" pitchFamily="34" charset="0"/>
                  </a:rPr>
                  <a:t>D</a:t>
                </a:r>
                <a:r>
                  <a:rPr kumimoji="1" lang="en-US" altLang="ja-JP" sz="2800" b="1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ominant cause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𝒓𝒆𝒔</m:t>
                        </m:r>
                      </m:sub>
                    </m:sSub>
                  </m:oMath>
                </a14:m>
                <a:r>
                  <a:rPr kumimoji="1" lang="en-US" altLang="ja-JP" sz="2800" b="1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 in SRF cavities is</a:t>
                </a: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2D6B89E-BC6C-F172-B203-F8DF17AEC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92" y="84843"/>
                <a:ext cx="12198192" cy="523220"/>
              </a:xfrm>
              <a:prstGeom prst="rect">
                <a:avLst/>
              </a:prstGeom>
              <a:blipFill>
                <a:blip r:embed="rId5"/>
                <a:stretch>
                  <a:fillRect l="-1049" t="-12791" b="-313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C52916C-929F-9275-8E23-A6C225C9D955}"/>
              </a:ext>
            </a:extLst>
          </p:cNvPr>
          <p:cNvSpPr txBox="1"/>
          <p:nvPr/>
        </p:nvSpPr>
        <p:spPr>
          <a:xfrm>
            <a:off x="8048340" y="97277"/>
            <a:ext cx="41436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Arial Black" panose="020B0A04020102020204" pitchFamily="34" charset="0"/>
              </a:rPr>
              <a:t>Vortices trapped during cool down </a:t>
            </a:r>
          </a:p>
        </p:txBody>
      </p:sp>
    </p:spTree>
    <p:extLst>
      <p:ext uri="{BB962C8B-B14F-4D97-AF65-F5344CB8AC3E}">
        <p14:creationId xmlns:p14="http://schemas.microsoft.com/office/powerpoint/2010/main" val="2055063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6ED3-9F6B-51E9-026A-4EE59D2E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方体 1">
            <a:extLst>
              <a:ext uri="{FF2B5EF4-FFF2-40B4-BE49-F238E27FC236}">
                <a16:creationId xmlns:a16="http://schemas.microsoft.com/office/drawing/2014/main" id="{6CAB3A62-C81D-3435-C97F-4B489B0A7508}"/>
              </a:ext>
            </a:extLst>
          </p:cNvPr>
          <p:cNvSpPr/>
          <p:nvPr/>
        </p:nvSpPr>
        <p:spPr>
          <a:xfrm>
            <a:off x="8032799" y="950935"/>
            <a:ext cx="2919070" cy="2920095"/>
          </a:xfrm>
          <a:prstGeom prst="cube">
            <a:avLst>
              <a:gd name="adj" fmla="val 18909"/>
            </a:avLst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35AA439C-13EC-13FA-BB9E-D4248264EE4C}"/>
              </a:ext>
            </a:extLst>
          </p:cNvPr>
          <p:cNvSpPr/>
          <p:nvPr/>
        </p:nvSpPr>
        <p:spPr>
          <a:xfrm>
            <a:off x="9024145" y="1198636"/>
            <a:ext cx="244453" cy="2354093"/>
          </a:xfrm>
          <a:custGeom>
            <a:avLst/>
            <a:gdLst>
              <a:gd name="connsiteX0" fmla="*/ 1262 w 244453"/>
              <a:gd name="connsiteY0" fmla="*/ 0 h 2354093"/>
              <a:gd name="connsiteX1" fmla="*/ 244453 w 244453"/>
              <a:gd name="connsiteY1" fmla="*/ 924127 h 2354093"/>
              <a:gd name="connsiteX2" fmla="*/ 1262 w 244453"/>
              <a:gd name="connsiteY2" fmla="*/ 1741251 h 2354093"/>
              <a:gd name="connsiteX3" fmla="*/ 166632 w 244453"/>
              <a:gd name="connsiteY3" fmla="*/ 2354093 h 235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53" h="2354093">
                <a:moveTo>
                  <a:pt x="1262" y="0"/>
                </a:moveTo>
                <a:cubicBezTo>
                  <a:pt x="122857" y="316959"/>
                  <a:pt x="244453" y="633919"/>
                  <a:pt x="244453" y="924127"/>
                </a:cubicBezTo>
                <a:cubicBezTo>
                  <a:pt x="244453" y="1214335"/>
                  <a:pt x="14232" y="1502923"/>
                  <a:pt x="1262" y="1741251"/>
                </a:cubicBezTo>
                <a:cubicBezTo>
                  <a:pt x="-11708" y="1979579"/>
                  <a:pt x="77462" y="2166836"/>
                  <a:pt x="166632" y="2354093"/>
                </a:cubicBezTo>
              </a:path>
            </a:pathLst>
          </a:cu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AD2961F-B5EC-F11B-2635-4BAE19C58FA5}"/>
              </a:ext>
            </a:extLst>
          </p:cNvPr>
          <p:cNvCxnSpPr>
            <a:cxnSpLocks/>
          </p:cNvCxnSpPr>
          <p:nvPr/>
        </p:nvCxnSpPr>
        <p:spPr>
          <a:xfrm flipV="1">
            <a:off x="10414362" y="1106013"/>
            <a:ext cx="523533" cy="542870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C1E2D19E-CF0A-CC36-1A98-6D42BD5149BF}"/>
              </a:ext>
            </a:extLst>
          </p:cNvPr>
          <p:cNvCxnSpPr>
            <a:cxnSpLocks/>
          </p:cNvCxnSpPr>
          <p:nvPr/>
        </p:nvCxnSpPr>
        <p:spPr>
          <a:xfrm flipV="1">
            <a:off x="10428085" y="1362283"/>
            <a:ext cx="397903" cy="380806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425C580-B229-3614-B3CC-7BD5AF414A48}"/>
              </a:ext>
            </a:extLst>
          </p:cNvPr>
          <p:cNvSpPr txBox="1"/>
          <p:nvPr/>
        </p:nvSpPr>
        <p:spPr>
          <a:xfrm>
            <a:off x="9720397" y="858500"/>
            <a:ext cx="1196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rgbClr val="00B050"/>
                </a:solidFill>
              </a:rPr>
              <a:t>microwave</a:t>
            </a:r>
          </a:p>
          <a:p>
            <a:r>
              <a:rPr kumimoji="1" lang="en-US" altLang="ja-JP" sz="1600" dirty="0">
                <a:solidFill>
                  <a:srgbClr val="00B050"/>
                </a:solidFill>
              </a:rPr>
              <a:t>current</a:t>
            </a:r>
            <a:endParaRPr kumimoji="1" lang="ja-JP" altLang="en-US" sz="1600" dirty="0">
              <a:solidFill>
                <a:srgbClr val="00B050"/>
              </a:solidFill>
            </a:endParaRPr>
          </a:p>
        </p:txBody>
      </p:sp>
      <p:sp>
        <p:nvSpPr>
          <p:cNvPr id="20" name="円弧 19">
            <a:extLst>
              <a:ext uri="{FF2B5EF4-FFF2-40B4-BE49-F238E27FC236}">
                <a16:creationId xmlns:a16="http://schemas.microsoft.com/office/drawing/2014/main" id="{0B3A3B38-F7E7-AF69-404A-6C65F7815E27}"/>
              </a:ext>
            </a:extLst>
          </p:cNvPr>
          <p:cNvSpPr/>
          <p:nvPr/>
        </p:nvSpPr>
        <p:spPr>
          <a:xfrm>
            <a:off x="8572079" y="1071794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弧 21">
            <a:extLst>
              <a:ext uri="{FF2B5EF4-FFF2-40B4-BE49-F238E27FC236}">
                <a16:creationId xmlns:a16="http://schemas.microsoft.com/office/drawing/2014/main" id="{A12D8568-E611-CF7B-F7C8-D3206643122D}"/>
              </a:ext>
            </a:extLst>
          </p:cNvPr>
          <p:cNvSpPr/>
          <p:nvPr/>
        </p:nvSpPr>
        <p:spPr>
          <a:xfrm>
            <a:off x="8714754" y="2187232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弧 22">
            <a:extLst>
              <a:ext uri="{FF2B5EF4-FFF2-40B4-BE49-F238E27FC236}">
                <a16:creationId xmlns:a16="http://schemas.microsoft.com/office/drawing/2014/main" id="{7BEA1C2F-230C-FD01-4FAF-E9E6E1AB7C6E}"/>
              </a:ext>
            </a:extLst>
          </p:cNvPr>
          <p:cNvSpPr/>
          <p:nvPr/>
        </p:nvSpPr>
        <p:spPr>
          <a:xfrm>
            <a:off x="8701782" y="3380494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0C76E910-9A88-E374-2ECB-2285A1471C74}"/>
              </a:ext>
            </a:extLst>
          </p:cNvPr>
          <p:cNvCxnSpPr>
            <a:cxnSpLocks/>
          </p:cNvCxnSpPr>
          <p:nvPr/>
        </p:nvCxnSpPr>
        <p:spPr>
          <a:xfrm flipV="1">
            <a:off x="10430187" y="1567185"/>
            <a:ext cx="328845" cy="314715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DAE2A5AF-21C3-CE9A-ECEF-26E529ED0EC8}"/>
              </a:ext>
            </a:extLst>
          </p:cNvPr>
          <p:cNvCxnSpPr>
            <a:cxnSpLocks/>
          </p:cNvCxnSpPr>
          <p:nvPr/>
        </p:nvCxnSpPr>
        <p:spPr>
          <a:xfrm flipV="1">
            <a:off x="10419194" y="1778173"/>
            <a:ext cx="247066" cy="236450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B2E35FDC-B532-0B5A-C058-D8BBD3422DE9}"/>
              </a:ext>
            </a:extLst>
          </p:cNvPr>
          <p:cNvCxnSpPr>
            <a:cxnSpLocks/>
          </p:cNvCxnSpPr>
          <p:nvPr/>
        </p:nvCxnSpPr>
        <p:spPr>
          <a:xfrm flipV="1">
            <a:off x="10417488" y="1969702"/>
            <a:ext cx="185624" cy="177649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00BD78A-17ED-13E1-08F7-AC97F07CC846}"/>
              </a:ext>
            </a:extLst>
          </p:cNvPr>
          <p:cNvSpPr txBox="1"/>
          <p:nvPr/>
        </p:nvSpPr>
        <p:spPr>
          <a:xfrm>
            <a:off x="8367802" y="1635563"/>
            <a:ext cx="86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vortex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AEEF314-7E61-374B-7BEC-83ED7553D7D8}"/>
              </a:ext>
            </a:extLst>
          </p:cNvPr>
          <p:cNvSpPr txBox="1"/>
          <p:nvPr/>
        </p:nvSpPr>
        <p:spPr>
          <a:xfrm>
            <a:off x="9343741" y="2469220"/>
            <a:ext cx="782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</a:rPr>
              <a:t>Vortex</a:t>
            </a:r>
          </a:p>
          <a:p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</a:rPr>
              <a:t>current</a:t>
            </a:r>
            <a:endParaRPr kumimoji="1" lang="ja-JP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E9F392EA-4C1D-27B1-6221-3C6FC84DDFA9}"/>
              </a:ext>
            </a:extLst>
          </p:cNvPr>
          <p:cNvCxnSpPr>
            <a:cxnSpLocks/>
          </p:cNvCxnSpPr>
          <p:nvPr/>
        </p:nvCxnSpPr>
        <p:spPr>
          <a:xfrm>
            <a:off x="4187997" y="2017587"/>
            <a:ext cx="77823" cy="1448918"/>
          </a:xfrm>
          <a:prstGeom prst="straightConnector1">
            <a:avLst/>
          </a:prstGeom>
          <a:ln w="9525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FE2BAC33-FF4F-A8C1-58E2-3FDD722E75AA}"/>
              </a:ext>
            </a:extLst>
          </p:cNvPr>
          <p:cNvSpPr>
            <a:spLocks noChangeAspect="1"/>
          </p:cNvSpPr>
          <p:nvPr/>
        </p:nvSpPr>
        <p:spPr>
          <a:xfrm>
            <a:off x="2925343" y="1497565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60CC9A-E910-AC01-5B2E-C41C3C7727F5}"/>
              </a:ext>
            </a:extLst>
          </p:cNvPr>
          <p:cNvSpPr txBox="1"/>
          <p:nvPr/>
        </p:nvSpPr>
        <p:spPr>
          <a:xfrm>
            <a:off x="544513" y="68224"/>
            <a:ext cx="6022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T</a:t>
            </a:r>
            <a:r>
              <a:rPr kumimoji="1" lang="en-US" altLang="ja-JP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wo-level system defects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B30F3EC-8106-C33A-63D7-F0AD60691862}"/>
              </a:ext>
            </a:extLst>
          </p:cNvPr>
          <p:cNvSpPr txBox="1"/>
          <p:nvPr/>
        </p:nvSpPr>
        <p:spPr>
          <a:xfrm>
            <a:off x="1830623" y="4187123"/>
            <a:ext cx="4208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ja-JP" sz="1400" dirty="0">
                <a:solidFill>
                  <a:schemeClr val="tx2"/>
                </a:solidFill>
              </a:rPr>
              <a:t>See also a review: </a:t>
            </a:r>
          </a:p>
          <a:p>
            <a:r>
              <a:rPr lang="da-DK" altLang="ja-JP" sz="1400" dirty="0">
                <a:solidFill>
                  <a:schemeClr val="tx2"/>
                </a:solidFill>
              </a:rPr>
              <a:t>Müller et al Rep. Prog. Phys. </a:t>
            </a:r>
            <a:r>
              <a:rPr lang="da-DK" altLang="ja-JP" sz="1400" b="1" dirty="0">
                <a:solidFill>
                  <a:schemeClr val="tx2"/>
                </a:solidFill>
              </a:rPr>
              <a:t>82</a:t>
            </a:r>
            <a:r>
              <a:rPr lang="da-DK" altLang="ja-JP" sz="1400" dirty="0">
                <a:solidFill>
                  <a:schemeClr val="tx2"/>
                </a:solidFill>
              </a:rPr>
              <a:t>, 124501 (2019)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B75B3EBC-069F-AE8A-AEBF-7E0EC5052E24}"/>
              </a:ext>
            </a:extLst>
          </p:cNvPr>
          <p:cNvSpPr>
            <a:spLocks noChangeAspect="1"/>
          </p:cNvSpPr>
          <p:nvPr/>
        </p:nvSpPr>
        <p:spPr>
          <a:xfrm>
            <a:off x="5329428" y="1013290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59AD606-FD9E-EF37-7810-895B04E54F01}"/>
              </a:ext>
            </a:extLst>
          </p:cNvPr>
          <p:cNvSpPr>
            <a:spLocks noChangeAspect="1"/>
          </p:cNvSpPr>
          <p:nvPr/>
        </p:nvSpPr>
        <p:spPr>
          <a:xfrm>
            <a:off x="2298473" y="96763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4F22877C-42A0-CFF3-724A-CF2C8600B5A2}"/>
              </a:ext>
            </a:extLst>
          </p:cNvPr>
          <p:cNvSpPr>
            <a:spLocks noChangeAspect="1"/>
          </p:cNvSpPr>
          <p:nvPr/>
        </p:nvSpPr>
        <p:spPr>
          <a:xfrm>
            <a:off x="4502652" y="2639069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240E0C42-C109-1CB6-8746-3A9CF09A59E9}"/>
              </a:ext>
            </a:extLst>
          </p:cNvPr>
          <p:cNvSpPr>
            <a:spLocks noChangeAspect="1"/>
          </p:cNvSpPr>
          <p:nvPr/>
        </p:nvSpPr>
        <p:spPr>
          <a:xfrm>
            <a:off x="2620865" y="2716862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B543F17-B376-5EAB-57D8-E5C9BBD416F5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71444" y="3057994"/>
            <a:ext cx="778645" cy="69307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0111CE2-74AB-B0AB-2FC9-022DCEB1DE21}"/>
              </a:ext>
            </a:extLst>
          </p:cNvPr>
          <p:cNvCxnSpPr>
            <a:cxnSpLocks/>
            <a:stCxn id="37" idx="6"/>
            <a:endCxn id="28" idx="2"/>
          </p:cNvCxnSpPr>
          <p:nvPr/>
        </p:nvCxnSpPr>
        <p:spPr>
          <a:xfrm>
            <a:off x="4319883" y="1717951"/>
            <a:ext cx="1143423" cy="40755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E277504-6793-1C49-56F0-881B19E95323}"/>
              </a:ext>
            </a:extLst>
          </p:cNvPr>
          <p:cNvCxnSpPr>
            <a:cxnSpLocks/>
            <a:endCxn id="37" idx="3"/>
          </p:cNvCxnSpPr>
          <p:nvPr/>
        </p:nvCxnSpPr>
        <p:spPr>
          <a:xfrm flipV="1">
            <a:off x="2881941" y="1851828"/>
            <a:ext cx="1114733" cy="93769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7644AE73-8C20-70DB-FC01-D57E72AE8A6A}"/>
              </a:ext>
            </a:extLst>
          </p:cNvPr>
          <p:cNvSpPr>
            <a:spLocks noChangeAspect="1"/>
          </p:cNvSpPr>
          <p:nvPr/>
        </p:nvSpPr>
        <p:spPr>
          <a:xfrm>
            <a:off x="636273" y="2680262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540BD677-C81F-FFEC-4013-9ECFFC1DD5C3}"/>
              </a:ext>
            </a:extLst>
          </p:cNvPr>
          <p:cNvCxnSpPr>
            <a:cxnSpLocks/>
            <a:stCxn id="39" idx="7"/>
            <a:endCxn id="18" idx="3"/>
          </p:cNvCxnSpPr>
          <p:nvPr/>
        </p:nvCxnSpPr>
        <p:spPr>
          <a:xfrm flipV="1">
            <a:off x="1917844" y="3040071"/>
            <a:ext cx="758475" cy="71099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254DE627-907F-1445-515E-7950996BCF4D}"/>
              </a:ext>
            </a:extLst>
          </p:cNvPr>
          <p:cNvSpPr>
            <a:spLocks noChangeAspect="1"/>
          </p:cNvSpPr>
          <p:nvPr/>
        </p:nvSpPr>
        <p:spPr>
          <a:xfrm>
            <a:off x="5463306" y="1936178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38C9C85-2091-A927-4062-A3AF25883AD3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5518760" y="1391953"/>
            <a:ext cx="127347" cy="59967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楕円 29">
            <a:extLst>
              <a:ext uri="{FF2B5EF4-FFF2-40B4-BE49-F238E27FC236}">
                <a16:creationId xmlns:a16="http://schemas.microsoft.com/office/drawing/2014/main" id="{05B48590-5193-2B12-946B-9C3548AA7F3D}"/>
              </a:ext>
            </a:extLst>
          </p:cNvPr>
          <p:cNvSpPr>
            <a:spLocks noChangeAspect="1"/>
          </p:cNvSpPr>
          <p:nvPr/>
        </p:nvSpPr>
        <p:spPr>
          <a:xfrm>
            <a:off x="1633408" y="195975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CC192BC6-C16D-73AE-B976-7C595F5AD011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1896727" y="1290845"/>
            <a:ext cx="457200" cy="700787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F2AE1811-C423-5DC7-A31B-2F56EF53364C}"/>
              </a:ext>
            </a:extLst>
          </p:cNvPr>
          <p:cNvSpPr>
            <a:spLocks noChangeAspect="1"/>
          </p:cNvSpPr>
          <p:nvPr/>
        </p:nvSpPr>
        <p:spPr>
          <a:xfrm>
            <a:off x="3941220" y="1528619"/>
            <a:ext cx="378663" cy="3786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64E8924F-486F-ED5A-C7D5-ABDB59731995}"/>
              </a:ext>
            </a:extLst>
          </p:cNvPr>
          <p:cNvSpPr>
            <a:spLocks noChangeAspect="1"/>
          </p:cNvSpPr>
          <p:nvPr/>
        </p:nvSpPr>
        <p:spPr>
          <a:xfrm>
            <a:off x="854883" y="1392329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70352D78-735B-8916-22BA-8123C50BABE2}"/>
              </a:ext>
            </a:extLst>
          </p:cNvPr>
          <p:cNvSpPr>
            <a:spLocks noChangeAspect="1"/>
          </p:cNvSpPr>
          <p:nvPr/>
        </p:nvSpPr>
        <p:spPr>
          <a:xfrm>
            <a:off x="1594635" y="369561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A70BA95-B28F-9B12-22B0-C3602C7B59F7}"/>
              </a:ext>
            </a:extLst>
          </p:cNvPr>
          <p:cNvCxnSpPr>
            <a:cxnSpLocks/>
          </p:cNvCxnSpPr>
          <p:nvPr/>
        </p:nvCxnSpPr>
        <p:spPr>
          <a:xfrm>
            <a:off x="1173709" y="1668768"/>
            <a:ext cx="511770" cy="39644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4435DE7-7AF5-AFB2-AB7F-B24FB6C37720}"/>
              </a:ext>
            </a:extLst>
          </p:cNvPr>
          <p:cNvCxnSpPr>
            <a:cxnSpLocks/>
          </p:cNvCxnSpPr>
          <p:nvPr/>
        </p:nvCxnSpPr>
        <p:spPr>
          <a:xfrm flipV="1">
            <a:off x="941495" y="2228697"/>
            <a:ext cx="761371" cy="56445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84B97FA0-AEFF-4762-35AA-8428D9144332}"/>
              </a:ext>
            </a:extLst>
          </p:cNvPr>
          <p:cNvCxnSpPr>
            <a:cxnSpLocks/>
          </p:cNvCxnSpPr>
          <p:nvPr/>
        </p:nvCxnSpPr>
        <p:spPr>
          <a:xfrm>
            <a:off x="2961929" y="2869341"/>
            <a:ext cx="1588051" cy="518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3D1F8544-8B57-E104-F8BC-FF725140EADC}"/>
              </a:ext>
            </a:extLst>
          </p:cNvPr>
          <p:cNvCxnSpPr>
            <a:cxnSpLocks/>
          </p:cNvCxnSpPr>
          <p:nvPr/>
        </p:nvCxnSpPr>
        <p:spPr>
          <a:xfrm flipV="1">
            <a:off x="4837532" y="2235511"/>
            <a:ext cx="718395" cy="521098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B6A0D667-160E-1F9F-B508-190FEFA8AEBD}"/>
              </a:ext>
            </a:extLst>
          </p:cNvPr>
          <p:cNvCxnSpPr>
            <a:cxnSpLocks/>
          </p:cNvCxnSpPr>
          <p:nvPr/>
        </p:nvCxnSpPr>
        <p:spPr>
          <a:xfrm>
            <a:off x="2927240" y="2984501"/>
            <a:ext cx="1108158" cy="711115"/>
          </a:xfrm>
          <a:prstGeom prst="line">
            <a:avLst/>
          </a:prstGeom>
          <a:ln w="222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5FB1A626-6A3A-6F47-9D5B-1CEA6D243DCB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4502652" y="2259387"/>
            <a:ext cx="1016108" cy="1436229"/>
          </a:xfrm>
          <a:prstGeom prst="line">
            <a:avLst/>
          </a:prstGeom>
          <a:ln w="222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楕円 45">
            <a:extLst>
              <a:ext uri="{FF2B5EF4-FFF2-40B4-BE49-F238E27FC236}">
                <a16:creationId xmlns:a16="http://schemas.microsoft.com/office/drawing/2014/main" id="{5C8BB3EF-B7BC-D579-5E8B-B7C868D53305}"/>
              </a:ext>
            </a:extLst>
          </p:cNvPr>
          <p:cNvSpPr>
            <a:spLocks noChangeAspect="1"/>
          </p:cNvSpPr>
          <p:nvPr/>
        </p:nvSpPr>
        <p:spPr>
          <a:xfrm>
            <a:off x="4055676" y="3561738"/>
            <a:ext cx="378663" cy="37866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E4BCD8E7-D394-45EF-9DDA-3CF23D856387}"/>
              </a:ext>
            </a:extLst>
          </p:cNvPr>
          <p:cNvCxnSpPr>
            <a:cxnSpLocks/>
          </p:cNvCxnSpPr>
          <p:nvPr/>
        </p:nvCxnSpPr>
        <p:spPr>
          <a:xfrm flipV="1">
            <a:off x="1666922" y="4074279"/>
            <a:ext cx="106636" cy="711973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93D35F82-5993-5828-D675-C5FA88C3FA87}"/>
              </a:ext>
            </a:extLst>
          </p:cNvPr>
          <p:cNvCxnSpPr>
            <a:cxnSpLocks/>
          </p:cNvCxnSpPr>
          <p:nvPr/>
        </p:nvCxnSpPr>
        <p:spPr>
          <a:xfrm>
            <a:off x="2473921" y="584133"/>
            <a:ext cx="0" cy="37350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F3CA99EC-A323-19B4-29C0-A9FB6214D1AE}"/>
              </a:ext>
            </a:extLst>
          </p:cNvPr>
          <p:cNvCxnSpPr>
            <a:cxnSpLocks/>
            <a:stCxn id="16" idx="5"/>
            <a:endCxn id="6" idx="1"/>
          </p:cNvCxnSpPr>
          <p:nvPr/>
        </p:nvCxnSpPr>
        <p:spPr>
          <a:xfrm>
            <a:off x="2621682" y="1290845"/>
            <a:ext cx="359115" cy="26217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4B31425D-E3ED-003C-42C1-4C0F17EA21F1}"/>
              </a:ext>
            </a:extLst>
          </p:cNvPr>
          <p:cNvCxnSpPr>
            <a:cxnSpLocks/>
          </p:cNvCxnSpPr>
          <p:nvPr/>
        </p:nvCxnSpPr>
        <p:spPr>
          <a:xfrm flipV="1">
            <a:off x="5633089" y="672772"/>
            <a:ext cx="331175" cy="36876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47B9DC13-FFB7-C0C8-649D-91ACE55B0FB2}"/>
              </a:ext>
            </a:extLst>
          </p:cNvPr>
          <p:cNvCxnSpPr>
            <a:cxnSpLocks/>
          </p:cNvCxnSpPr>
          <p:nvPr/>
        </p:nvCxnSpPr>
        <p:spPr>
          <a:xfrm>
            <a:off x="4881315" y="857155"/>
            <a:ext cx="448113" cy="30421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1C6CFA69-5686-5B01-E6D1-2D8C8D28C3DB}"/>
              </a:ext>
            </a:extLst>
          </p:cNvPr>
          <p:cNvCxnSpPr>
            <a:cxnSpLocks/>
          </p:cNvCxnSpPr>
          <p:nvPr/>
        </p:nvCxnSpPr>
        <p:spPr>
          <a:xfrm>
            <a:off x="373193" y="1557818"/>
            <a:ext cx="516409" cy="0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548C707C-E01E-A38B-0D3C-BA7BAF8BD0F2}"/>
              </a:ext>
            </a:extLst>
          </p:cNvPr>
          <p:cNvCxnSpPr>
            <a:cxnSpLocks/>
          </p:cNvCxnSpPr>
          <p:nvPr/>
        </p:nvCxnSpPr>
        <p:spPr>
          <a:xfrm flipV="1">
            <a:off x="1140963" y="897554"/>
            <a:ext cx="440794" cy="539911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B00A1CF8-35B4-C934-A821-BAE7F0BEA2AE}"/>
              </a:ext>
            </a:extLst>
          </p:cNvPr>
          <p:cNvCxnSpPr>
            <a:cxnSpLocks/>
          </p:cNvCxnSpPr>
          <p:nvPr/>
        </p:nvCxnSpPr>
        <p:spPr>
          <a:xfrm>
            <a:off x="4817658" y="2906193"/>
            <a:ext cx="511770" cy="39644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DE1DC387-D5EC-00D0-A9CB-148B80C4B79A}"/>
              </a:ext>
            </a:extLst>
          </p:cNvPr>
          <p:cNvCxnSpPr>
            <a:cxnSpLocks/>
          </p:cNvCxnSpPr>
          <p:nvPr/>
        </p:nvCxnSpPr>
        <p:spPr>
          <a:xfrm flipH="1">
            <a:off x="3267329" y="1379094"/>
            <a:ext cx="317838" cy="26214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048105D3-5955-7465-5F07-CE916988EA7E}"/>
              </a:ext>
            </a:extLst>
          </p:cNvPr>
          <p:cNvCxnSpPr>
            <a:cxnSpLocks/>
          </p:cNvCxnSpPr>
          <p:nvPr/>
        </p:nvCxnSpPr>
        <p:spPr>
          <a:xfrm flipH="1">
            <a:off x="3164673" y="1069901"/>
            <a:ext cx="68334" cy="43698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8CDB92B-E314-4F7B-3639-974F02CCEA52}"/>
              </a:ext>
            </a:extLst>
          </p:cNvPr>
          <p:cNvCxnSpPr>
            <a:cxnSpLocks/>
          </p:cNvCxnSpPr>
          <p:nvPr/>
        </p:nvCxnSpPr>
        <p:spPr>
          <a:xfrm>
            <a:off x="114988" y="2869341"/>
            <a:ext cx="516409" cy="0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E99495D5-4E5F-D0E8-F3CC-54790DED0CFB}"/>
              </a:ext>
            </a:extLst>
          </p:cNvPr>
          <p:cNvSpPr txBox="1"/>
          <p:nvPr/>
        </p:nvSpPr>
        <p:spPr>
          <a:xfrm>
            <a:off x="3195292" y="2348279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rgbClr val="FFFF00"/>
                </a:solidFill>
              </a:rPr>
              <a:t>Tunneling</a:t>
            </a:r>
          </a:p>
          <a:p>
            <a:pPr algn="ctr"/>
            <a:r>
              <a:rPr kumimoji="1" lang="en-US" altLang="ja-JP" sz="1400" b="1" dirty="0">
                <a:solidFill>
                  <a:srgbClr val="FFFF00"/>
                </a:solidFill>
              </a:rPr>
              <a:t>atom</a:t>
            </a:r>
            <a:endParaRPr kumimoji="1" lang="ja-JP" altLang="en-US" sz="1400" b="1" dirty="0">
              <a:solidFill>
                <a:srgbClr val="FFFF0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A13F8B-F1A2-D7EB-8302-BCE22073772A}"/>
              </a:ext>
            </a:extLst>
          </p:cNvPr>
          <p:cNvSpPr txBox="1"/>
          <p:nvPr/>
        </p:nvSpPr>
        <p:spPr>
          <a:xfrm>
            <a:off x="8048340" y="97277"/>
            <a:ext cx="41436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Arial Black" panose="020B0A04020102020204" pitchFamily="34" charset="0"/>
              </a:rPr>
              <a:t>Vortices trapped during cool down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A3BAA9-C133-A36C-4674-A6C591B96801}"/>
              </a:ext>
            </a:extLst>
          </p:cNvPr>
          <p:cNvSpPr txBox="1"/>
          <p:nvPr/>
        </p:nvSpPr>
        <p:spPr>
          <a:xfrm>
            <a:off x="6383467" y="4062559"/>
            <a:ext cx="580853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See also, 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A. Gurevich and G. </a:t>
            </a:r>
            <a:r>
              <a:rPr lang="en-US" altLang="ja-JP" sz="1400" dirty="0" err="1">
                <a:solidFill>
                  <a:schemeClr val="tx2"/>
                </a:solidFill>
              </a:rPr>
              <a:t>Ciovati</a:t>
            </a:r>
            <a:r>
              <a:rPr lang="en-US" altLang="ja-JP" sz="1400" dirty="0">
                <a:solidFill>
                  <a:schemeClr val="tx2"/>
                </a:solidFill>
              </a:rPr>
              <a:t>, PRB </a:t>
            </a:r>
            <a:r>
              <a:rPr lang="en-US" altLang="ja-JP" sz="1400" b="1" dirty="0">
                <a:solidFill>
                  <a:schemeClr val="tx2"/>
                </a:solidFill>
              </a:rPr>
              <a:t>87</a:t>
            </a:r>
            <a:r>
              <a:rPr lang="en-US" altLang="ja-JP" sz="1400" dirty="0">
                <a:solidFill>
                  <a:schemeClr val="tx2"/>
                </a:solidFill>
              </a:rPr>
              <a:t>, 054502 (2013)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A. Romanenko et al., </a:t>
            </a:r>
            <a:r>
              <a:rPr lang="fr-FR" altLang="ja-JP" sz="1400" dirty="0">
                <a:solidFill>
                  <a:schemeClr val="tx2"/>
                </a:solidFill>
              </a:rPr>
              <a:t>Appl. Phys. Lett. </a:t>
            </a:r>
            <a:r>
              <a:rPr lang="fr-FR" altLang="ja-JP" sz="1400" b="1" dirty="0">
                <a:solidFill>
                  <a:schemeClr val="tx2"/>
                </a:solidFill>
              </a:rPr>
              <a:t>105</a:t>
            </a:r>
            <a:r>
              <a:rPr lang="fr-FR" altLang="ja-JP" sz="1400" dirty="0">
                <a:solidFill>
                  <a:schemeClr val="tx2"/>
                </a:solidFill>
              </a:rPr>
              <a:t>, 234103 (2014).</a:t>
            </a:r>
            <a:endParaRPr lang="en-US" altLang="ja-JP" sz="1400" dirty="0">
              <a:solidFill>
                <a:schemeClr val="tx2"/>
              </a:solidFill>
            </a:endParaRPr>
          </a:p>
          <a:p>
            <a:r>
              <a:rPr lang="en-US" altLang="ja-JP" sz="1400" dirty="0">
                <a:solidFill>
                  <a:schemeClr val="tx2"/>
                </a:solidFill>
              </a:rPr>
              <a:t>S. Huang eta al., Phys. Rev. Accelerators and Beams </a:t>
            </a:r>
            <a:r>
              <a:rPr lang="en-US" altLang="ja-JP" sz="1400" b="1" dirty="0">
                <a:solidFill>
                  <a:schemeClr val="tx2"/>
                </a:solidFill>
              </a:rPr>
              <a:t>19</a:t>
            </a:r>
            <a:r>
              <a:rPr lang="en-US" altLang="ja-JP" sz="1400" dirty="0">
                <a:solidFill>
                  <a:schemeClr val="tx2"/>
                </a:solidFill>
              </a:rPr>
              <a:t>, 082001 (2016).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Posen et al., J. Appl. Phys. </a:t>
            </a:r>
            <a:r>
              <a:rPr lang="en-US" altLang="ja-JP" sz="1400" b="1" dirty="0">
                <a:solidFill>
                  <a:schemeClr val="tx2"/>
                </a:solidFill>
              </a:rPr>
              <a:t>119</a:t>
            </a:r>
            <a:r>
              <a:rPr lang="en-US" altLang="ja-JP" sz="1400" dirty="0">
                <a:solidFill>
                  <a:schemeClr val="tx2"/>
                </a:solidFill>
              </a:rPr>
              <a:t>, 213903 (2016).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Ooi et al., Physical Review B </a:t>
            </a:r>
            <a:r>
              <a:rPr lang="en-US" altLang="ja-JP" sz="1400" b="1" dirty="0">
                <a:solidFill>
                  <a:schemeClr val="tx2"/>
                </a:solidFill>
              </a:rPr>
              <a:t>104</a:t>
            </a:r>
            <a:r>
              <a:rPr lang="en-US" altLang="ja-JP" sz="1400" dirty="0">
                <a:solidFill>
                  <a:schemeClr val="tx2"/>
                </a:solidFill>
              </a:rPr>
              <a:t>, 064504 (2021).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Ooi et al., Physical Review B </a:t>
            </a:r>
            <a:r>
              <a:rPr lang="en-US" altLang="ja-JP" sz="1400" b="1" dirty="0">
                <a:solidFill>
                  <a:schemeClr val="tx2"/>
                </a:solidFill>
              </a:rPr>
              <a:t>111</a:t>
            </a:r>
            <a:r>
              <a:rPr lang="en-US" altLang="ja-JP" sz="1400" dirty="0">
                <a:solidFill>
                  <a:schemeClr val="tx2"/>
                </a:solidFill>
              </a:rPr>
              <a:t>, 094519 (2025)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546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18C8C-CB11-6C2B-1F04-E758BD621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方体 1">
            <a:extLst>
              <a:ext uri="{FF2B5EF4-FFF2-40B4-BE49-F238E27FC236}">
                <a16:creationId xmlns:a16="http://schemas.microsoft.com/office/drawing/2014/main" id="{2FB01F26-9AD4-C7AD-4A1A-6A04EB59E4B3}"/>
              </a:ext>
            </a:extLst>
          </p:cNvPr>
          <p:cNvSpPr/>
          <p:nvPr/>
        </p:nvSpPr>
        <p:spPr>
          <a:xfrm>
            <a:off x="8032799" y="950935"/>
            <a:ext cx="2919070" cy="2920095"/>
          </a:xfrm>
          <a:prstGeom prst="cube">
            <a:avLst>
              <a:gd name="adj" fmla="val 18909"/>
            </a:avLst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D8372F14-53CB-7F6A-7C33-4F842C14FAE7}"/>
              </a:ext>
            </a:extLst>
          </p:cNvPr>
          <p:cNvSpPr/>
          <p:nvPr/>
        </p:nvSpPr>
        <p:spPr>
          <a:xfrm>
            <a:off x="9024145" y="1198636"/>
            <a:ext cx="244453" cy="2354093"/>
          </a:xfrm>
          <a:custGeom>
            <a:avLst/>
            <a:gdLst>
              <a:gd name="connsiteX0" fmla="*/ 1262 w 244453"/>
              <a:gd name="connsiteY0" fmla="*/ 0 h 2354093"/>
              <a:gd name="connsiteX1" fmla="*/ 244453 w 244453"/>
              <a:gd name="connsiteY1" fmla="*/ 924127 h 2354093"/>
              <a:gd name="connsiteX2" fmla="*/ 1262 w 244453"/>
              <a:gd name="connsiteY2" fmla="*/ 1741251 h 2354093"/>
              <a:gd name="connsiteX3" fmla="*/ 166632 w 244453"/>
              <a:gd name="connsiteY3" fmla="*/ 2354093 h 235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53" h="2354093">
                <a:moveTo>
                  <a:pt x="1262" y="0"/>
                </a:moveTo>
                <a:cubicBezTo>
                  <a:pt x="122857" y="316959"/>
                  <a:pt x="244453" y="633919"/>
                  <a:pt x="244453" y="924127"/>
                </a:cubicBezTo>
                <a:cubicBezTo>
                  <a:pt x="244453" y="1214335"/>
                  <a:pt x="14232" y="1502923"/>
                  <a:pt x="1262" y="1741251"/>
                </a:cubicBezTo>
                <a:cubicBezTo>
                  <a:pt x="-11708" y="1979579"/>
                  <a:pt x="77462" y="2166836"/>
                  <a:pt x="166632" y="2354093"/>
                </a:cubicBezTo>
              </a:path>
            </a:pathLst>
          </a:cu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840DB38-DC6A-3960-52C5-7C4E3B20ED61}"/>
              </a:ext>
            </a:extLst>
          </p:cNvPr>
          <p:cNvCxnSpPr>
            <a:cxnSpLocks/>
          </p:cNvCxnSpPr>
          <p:nvPr/>
        </p:nvCxnSpPr>
        <p:spPr>
          <a:xfrm flipV="1">
            <a:off x="10414362" y="1106013"/>
            <a:ext cx="523533" cy="542870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79A566D-366A-9D94-2B8C-C89550CFB13C}"/>
              </a:ext>
            </a:extLst>
          </p:cNvPr>
          <p:cNvCxnSpPr>
            <a:cxnSpLocks/>
          </p:cNvCxnSpPr>
          <p:nvPr/>
        </p:nvCxnSpPr>
        <p:spPr>
          <a:xfrm flipV="1">
            <a:off x="10428085" y="1362283"/>
            <a:ext cx="397903" cy="380806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433AC89-627E-AB27-2035-CB91554C631F}"/>
              </a:ext>
            </a:extLst>
          </p:cNvPr>
          <p:cNvSpPr txBox="1"/>
          <p:nvPr/>
        </p:nvSpPr>
        <p:spPr>
          <a:xfrm>
            <a:off x="9720397" y="858500"/>
            <a:ext cx="1196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rgbClr val="00B050"/>
                </a:solidFill>
              </a:rPr>
              <a:t>microwave</a:t>
            </a:r>
          </a:p>
          <a:p>
            <a:r>
              <a:rPr kumimoji="1" lang="en-US" altLang="ja-JP" sz="1600" dirty="0">
                <a:solidFill>
                  <a:srgbClr val="00B050"/>
                </a:solidFill>
              </a:rPr>
              <a:t>current</a:t>
            </a:r>
            <a:endParaRPr kumimoji="1" lang="ja-JP" altLang="en-US" sz="1600" dirty="0">
              <a:solidFill>
                <a:srgbClr val="00B050"/>
              </a:solidFill>
            </a:endParaRPr>
          </a:p>
        </p:txBody>
      </p:sp>
      <p:sp>
        <p:nvSpPr>
          <p:cNvPr id="20" name="円弧 19">
            <a:extLst>
              <a:ext uri="{FF2B5EF4-FFF2-40B4-BE49-F238E27FC236}">
                <a16:creationId xmlns:a16="http://schemas.microsoft.com/office/drawing/2014/main" id="{48CC2C17-D5AE-49C6-20DE-809EFF407855}"/>
              </a:ext>
            </a:extLst>
          </p:cNvPr>
          <p:cNvSpPr/>
          <p:nvPr/>
        </p:nvSpPr>
        <p:spPr>
          <a:xfrm>
            <a:off x="8572079" y="1071794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弧 21">
            <a:extLst>
              <a:ext uri="{FF2B5EF4-FFF2-40B4-BE49-F238E27FC236}">
                <a16:creationId xmlns:a16="http://schemas.microsoft.com/office/drawing/2014/main" id="{59C9C533-93E0-9E9A-8ED0-CF8BE9176928}"/>
              </a:ext>
            </a:extLst>
          </p:cNvPr>
          <p:cNvSpPr/>
          <p:nvPr/>
        </p:nvSpPr>
        <p:spPr>
          <a:xfrm>
            <a:off x="8714754" y="2187232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弧 22">
            <a:extLst>
              <a:ext uri="{FF2B5EF4-FFF2-40B4-BE49-F238E27FC236}">
                <a16:creationId xmlns:a16="http://schemas.microsoft.com/office/drawing/2014/main" id="{DCADD00B-FF9F-FBFD-9BE1-052928105A2E}"/>
              </a:ext>
            </a:extLst>
          </p:cNvPr>
          <p:cNvSpPr/>
          <p:nvPr/>
        </p:nvSpPr>
        <p:spPr>
          <a:xfrm>
            <a:off x="8701782" y="3380494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D2508D0-3E6D-821D-7A87-63EFA4BAD11E}"/>
              </a:ext>
            </a:extLst>
          </p:cNvPr>
          <p:cNvCxnSpPr>
            <a:cxnSpLocks/>
          </p:cNvCxnSpPr>
          <p:nvPr/>
        </p:nvCxnSpPr>
        <p:spPr>
          <a:xfrm flipV="1">
            <a:off x="10430187" y="1567185"/>
            <a:ext cx="328845" cy="314715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A0D2CA15-0EEC-058D-6635-7B65F5049042}"/>
              </a:ext>
            </a:extLst>
          </p:cNvPr>
          <p:cNvCxnSpPr>
            <a:cxnSpLocks/>
          </p:cNvCxnSpPr>
          <p:nvPr/>
        </p:nvCxnSpPr>
        <p:spPr>
          <a:xfrm flipV="1">
            <a:off x="10419194" y="1778173"/>
            <a:ext cx="247066" cy="236450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B34DBBB-0AAA-E027-9E94-8FE0020C7A36}"/>
              </a:ext>
            </a:extLst>
          </p:cNvPr>
          <p:cNvCxnSpPr>
            <a:cxnSpLocks/>
          </p:cNvCxnSpPr>
          <p:nvPr/>
        </p:nvCxnSpPr>
        <p:spPr>
          <a:xfrm flipV="1">
            <a:off x="10417488" y="1969702"/>
            <a:ext cx="185624" cy="177649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B72D16A-4E3F-C910-7E59-625C65913348}"/>
              </a:ext>
            </a:extLst>
          </p:cNvPr>
          <p:cNvSpPr txBox="1"/>
          <p:nvPr/>
        </p:nvSpPr>
        <p:spPr>
          <a:xfrm>
            <a:off x="8367802" y="1635563"/>
            <a:ext cx="86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vortex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60665A8-8013-4FA6-20B0-2B1CB8A6EF42}"/>
              </a:ext>
            </a:extLst>
          </p:cNvPr>
          <p:cNvSpPr txBox="1"/>
          <p:nvPr/>
        </p:nvSpPr>
        <p:spPr>
          <a:xfrm>
            <a:off x="9343741" y="2469220"/>
            <a:ext cx="782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</a:rPr>
              <a:t>Vortex</a:t>
            </a:r>
          </a:p>
          <a:p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</a:rPr>
              <a:t>current</a:t>
            </a:r>
            <a:endParaRPr kumimoji="1" lang="ja-JP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B42A06C-59EF-1DED-6443-E4229C20DB4D}"/>
              </a:ext>
            </a:extLst>
          </p:cNvPr>
          <p:cNvCxnSpPr>
            <a:cxnSpLocks/>
          </p:cNvCxnSpPr>
          <p:nvPr/>
        </p:nvCxnSpPr>
        <p:spPr>
          <a:xfrm>
            <a:off x="4187997" y="2017587"/>
            <a:ext cx="77823" cy="1448918"/>
          </a:xfrm>
          <a:prstGeom prst="straightConnector1">
            <a:avLst/>
          </a:prstGeom>
          <a:ln w="9525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A04C16A0-724C-EE35-631C-35D0EC67F20E}"/>
              </a:ext>
            </a:extLst>
          </p:cNvPr>
          <p:cNvSpPr>
            <a:spLocks noChangeAspect="1"/>
          </p:cNvSpPr>
          <p:nvPr/>
        </p:nvSpPr>
        <p:spPr>
          <a:xfrm>
            <a:off x="2925343" y="1497565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B28D63-BBE7-D44B-C7A4-AA4D74B71EDB}"/>
              </a:ext>
            </a:extLst>
          </p:cNvPr>
          <p:cNvSpPr txBox="1"/>
          <p:nvPr/>
        </p:nvSpPr>
        <p:spPr>
          <a:xfrm>
            <a:off x="544513" y="68224"/>
            <a:ext cx="6022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T</a:t>
            </a:r>
            <a:r>
              <a:rPr kumimoji="1" lang="en-US" altLang="ja-JP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wo-level system defects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F1BA7B-BEBD-A67E-02B8-595F36928D74}"/>
              </a:ext>
            </a:extLst>
          </p:cNvPr>
          <p:cNvSpPr txBox="1"/>
          <p:nvPr/>
        </p:nvSpPr>
        <p:spPr>
          <a:xfrm>
            <a:off x="1830623" y="4187123"/>
            <a:ext cx="4208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ja-JP" sz="1400" dirty="0">
                <a:solidFill>
                  <a:schemeClr val="tx2"/>
                </a:solidFill>
              </a:rPr>
              <a:t>See also a review: </a:t>
            </a:r>
          </a:p>
          <a:p>
            <a:r>
              <a:rPr lang="da-DK" altLang="ja-JP" sz="1400" dirty="0">
                <a:solidFill>
                  <a:schemeClr val="tx2"/>
                </a:solidFill>
              </a:rPr>
              <a:t>Müller et al Rep. Prog. Phys. </a:t>
            </a:r>
            <a:r>
              <a:rPr lang="da-DK" altLang="ja-JP" sz="1400" b="1" dirty="0">
                <a:solidFill>
                  <a:schemeClr val="tx2"/>
                </a:solidFill>
              </a:rPr>
              <a:t>82</a:t>
            </a:r>
            <a:r>
              <a:rPr lang="da-DK" altLang="ja-JP" sz="1400" dirty="0">
                <a:solidFill>
                  <a:schemeClr val="tx2"/>
                </a:solidFill>
              </a:rPr>
              <a:t>, 124501 (2019)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4883C3C7-32D3-598C-BAEA-2626B2BDAC16}"/>
              </a:ext>
            </a:extLst>
          </p:cNvPr>
          <p:cNvSpPr>
            <a:spLocks noChangeAspect="1"/>
          </p:cNvSpPr>
          <p:nvPr/>
        </p:nvSpPr>
        <p:spPr>
          <a:xfrm>
            <a:off x="5329428" y="1013290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383895B7-79A2-975C-7D91-D5329DD4597A}"/>
              </a:ext>
            </a:extLst>
          </p:cNvPr>
          <p:cNvSpPr>
            <a:spLocks noChangeAspect="1"/>
          </p:cNvSpPr>
          <p:nvPr/>
        </p:nvSpPr>
        <p:spPr>
          <a:xfrm>
            <a:off x="2298473" y="96763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034D07D-3C4F-D24C-8841-250417B08DC3}"/>
              </a:ext>
            </a:extLst>
          </p:cNvPr>
          <p:cNvSpPr>
            <a:spLocks noChangeAspect="1"/>
          </p:cNvSpPr>
          <p:nvPr/>
        </p:nvSpPr>
        <p:spPr>
          <a:xfrm>
            <a:off x="4502652" y="2639069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8B85289-3CD0-2824-D95B-1BC572FDC835}"/>
              </a:ext>
            </a:extLst>
          </p:cNvPr>
          <p:cNvSpPr>
            <a:spLocks noChangeAspect="1"/>
          </p:cNvSpPr>
          <p:nvPr/>
        </p:nvSpPr>
        <p:spPr>
          <a:xfrm>
            <a:off x="2620865" y="2716862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E5891F0-DCCD-83DE-CDB4-D8DED797C06E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71444" y="3057994"/>
            <a:ext cx="778645" cy="69307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E30C0308-60B9-84AA-4DC2-36174EE307BC}"/>
              </a:ext>
            </a:extLst>
          </p:cNvPr>
          <p:cNvCxnSpPr>
            <a:cxnSpLocks/>
            <a:stCxn id="37" idx="6"/>
            <a:endCxn id="28" idx="2"/>
          </p:cNvCxnSpPr>
          <p:nvPr/>
        </p:nvCxnSpPr>
        <p:spPr>
          <a:xfrm>
            <a:off x="4319883" y="1717951"/>
            <a:ext cx="1143423" cy="40755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B762E04-2CA5-6BCC-17DE-83B10452E909}"/>
              </a:ext>
            </a:extLst>
          </p:cNvPr>
          <p:cNvCxnSpPr>
            <a:cxnSpLocks/>
            <a:endCxn id="37" idx="3"/>
          </p:cNvCxnSpPr>
          <p:nvPr/>
        </p:nvCxnSpPr>
        <p:spPr>
          <a:xfrm flipV="1">
            <a:off x="2881941" y="1851828"/>
            <a:ext cx="1114733" cy="93769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AB9BB8E5-2095-E5BB-D0AA-58E34C5246AC}"/>
              </a:ext>
            </a:extLst>
          </p:cNvPr>
          <p:cNvSpPr>
            <a:spLocks noChangeAspect="1"/>
          </p:cNvSpPr>
          <p:nvPr/>
        </p:nvSpPr>
        <p:spPr>
          <a:xfrm>
            <a:off x="636273" y="2680262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4BBE973-85C3-9657-09D6-8A92788C7111}"/>
              </a:ext>
            </a:extLst>
          </p:cNvPr>
          <p:cNvCxnSpPr>
            <a:cxnSpLocks/>
            <a:stCxn id="39" idx="7"/>
            <a:endCxn id="18" idx="3"/>
          </p:cNvCxnSpPr>
          <p:nvPr/>
        </p:nvCxnSpPr>
        <p:spPr>
          <a:xfrm flipV="1">
            <a:off x="1917844" y="3040071"/>
            <a:ext cx="758475" cy="71099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BBD38B7D-0727-F6C7-55F6-947756C30CA2}"/>
              </a:ext>
            </a:extLst>
          </p:cNvPr>
          <p:cNvSpPr>
            <a:spLocks noChangeAspect="1"/>
          </p:cNvSpPr>
          <p:nvPr/>
        </p:nvSpPr>
        <p:spPr>
          <a:xfrm>
            <a:off x="5463306" y="1936178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9108563-6D47-19FF-D313-495DE06B6A71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5518760" y="1391953"/>
            <a:ext cx="127347" cy="59967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楕円 29">
            <a:extLst>
              <a:ext uri="{FF2B5EF4-FFF2-40B4-BE49-F238E27FC236}">
                <a16:creationId xmlns:a16="http://schemas.microsoft.com/office/drawing/2014/main" id="{68648D01-5C1F-4DBE-7503-3B253D654ABE}"/>
              </a:ext>
            </a:extLst>
          </p:cNvPr>
          <p:cNvSpPr>
            <a:spLocks noChangeAspect="1"/>
          </p:cNvSpPr>
          <p:nvPr/>
        </p:nvSpPr>
        <p:spPr>
          <a:xfrm>
            <a:off x="1633408" y="195975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CCA5426A-9642-E2C9-3C61-F0D412BADF89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1896727" y="1290845"/>
            <a:ext cx="457200" cy="700787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F5B3ABD6-9B73-67C7-5B72-B293468A9438}"/>
              </a:ext>
            </a:extLst>
          </p:cNvPr>
          <p:cNvSpPr>
            <a:spLocks noChangeAspect="1"/>
          </p:cNvSpPr>
          <p:nvPr/>
        </p:nvSpPr>
        <p:spPr>
          <a:xfrm>
            <a:off x="3941220" y="1528619"/>
            <a:ext cx="378663" cy="3786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AB586F55-24A0-DC8C-41F9-8E854E700217}"/>
              </a:ext>
            </a:extLst>
          </p:cNvPr>
          <p:cNvSpPr>
            <a:spLocks noChangeAspect="1"/>
          </p:cNvSpPr>
          <p:nvPr/>
        </p:nvSpPr>
        <p:spPr>
          <a:xfrm>
            <a:off x="854883" y="1392329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BAA6BD9F-8CD1-ACB0-37F9-9E9E89315404}"/>
              </a:ext>
            </a:extLst>
          </p:cNvPr>
          <p:cNvSpPr>
            <a:spLocks noChangeAspect="1"/>
          </p:cNvSpPr>
          <p:nvPr/>
        </p:nvSpPr>
        <p:spPr>
          <a:xfrm>
            <a:off x="1594635" y="369561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6E9FB73-785C-D25F-F90C-8C9B5489621C}"/>
              </a:ext>
            </a:extLst>
          </p:cNvPr>
          <p:cNvCxnSpPr>
            <a:cxnSpLocks/>
          </p:cNvCxnSpPr>
          <p:nvPr/>
        </p:nvCxnSpPr>
        <p:spPr>
          <a:xfrm>
            <a:off x="1173709" y="1668768"/>
            <a:ext cx="511770" cy="39644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9CBC026A-BCAD-F2F0-376E-7C11E2F46470}"/>
              </a:ext>
            </a:extLst>
          </p:cNvPr>
          <p:cNvCxnSpPr>
            <a:cxnSpLocks/>
          </p:cNvCxnSpPr>
          <p:nvPr/>
        </p:nvCxnSpPr>
        <p:spPr>
          <a:xfrm flipV="1">
            <a:off x="941495" y="2228697"/>
            <a:ext cx="761371" cy="56445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8FC93401-9B04-03F1-FC00-C11209866E06}"/>
              </a:ext>
            </a:extLst>
          </p:cNvPr>
          <p:cNvCxnSpPr>
            <a:cxnSpLocks/>
          </p:cNvCxnSpPr>
          <p:nvPr/>
        </p:nvCxnSpPr>
        <p:spPr>
          <a:xfrm>
            <a:off x="2961929" y="2869341"/>
            <a:ext cx="1588051" cy="518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030E185-063C-AA3C-7859-768D1FE20112}"/>
              </a:ext>
            </a:extLst>
          </p:cNvPr>
          <p:cNvCxnSpPr>
            <a:cxnSpLocks/>
          </p:cNvCxnSpPr>
          <p:nvPr/>
        </p:nvCxnSpPr>
        <p:spPr>
          <a:xfrm flipV="1">
            <a:off x="4837532" y="2235511"/>
            <a:ext cx="718395" cy="521098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F5C3A491-26A8-4E38-1CF5-4687A6CD8B35}"/>
              </a:ext>
            </a:extLst>
          </p:cNvPr>
          <p:cNvCxnSpPr>
            <a:cxnSpLocks/>
          </p:cNvCxnSpPr>
          <p:nvPr/>
        </p:nvCxnSpPr>
        <p:spPr>
          <a:xfrm>
            <a:off x="2927240" y="2984501"/>
            <a:ext cx="1108158" cy="711115"/>
          </a:xfrm>
          <a:prstGeom prst="line">
            <a:avLst/>
          </a:prstGeom>
          <a:ln w="222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86F2B7C6-E41B-461C-CF64-40CD8AD0D431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4502652" y="2259387"/>
            <a:ext cx="1016108" cy="1436229"/>
          </a:xfrm>
          <a:prstGeom prst="line">
            <a:avLst/>
          </a:prstGeom>
          <a:ln w="222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楕円 45">
            <a:extLst>
              <a:ext uri="{FF2B5EF4-FFF2-40B4-BE49-F238E27FC236}">
                <a16:creationId xmlns:a16="http://schemas.microsoft.com/office/drawing/2014/main" id="{6725206E-9B08-B4DB-EAB0-8590908021C0}"/>
              </a:ext>
            </a:extLst>
          </p:cNvPr>
          <p:cNvSpPr>
            <a:spLocks noChangeAspect="1"/>
          </p:cNvSpPr>
          <p:nvPr/>
        </p:nvSpPr>
        <p:spPr>
          <a:xfrm>
            <a:off x="4055676" y="3561738"/>
            <a:ext cx="378663" cy="37866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97264903-29AA-CD30-262E-E410A53624E8}"/>
              </a:ext>
            </a:extLst>
          </p:cNvPr>
          <p:cNvCxnSpPr>
            <a:cxnSpLocks/>
          </p:cNvCxnSpPr>
          <p:nvPr/>
        </p:nvCxnSpPr>
        <p:spPr>
          <a:xfrm flipV="1">
            <a:off x="1666922" y="4074279"/>
            <a:ext cx="106636" cy="711973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6A9DD72C-74E2-7CF1-0B13-1B7EE325F825}"/>
              </a:ext>
            </a:extLst>
          </p:cNvPr>
          <p:cNvCxnSpPr>
            <a:cxnSpLocks/>
          </p:cNvCxnSpPr>
          <p:nvPr/>
        </p:nvCxnSpPr>
        <p:spPr>
          <a:xfrm>
            <a:off x="2473921" y="584133"/>
            <a:ext cx="0" cy="37350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FBCB48BB-D141-41C7-88B6-50DE1FADC9C3}"/>
              </a:ext>
            </a:extLst>
          </p:cNvPr>
          <p:cNvCxnSpPr>
            <a:cxnSpLocks/>
            <a:stCxn id="16" idx="5"/>
            <a:endCxn id="6" idx="1"/>
          </p:cNvCxnSpPr>
          <p:nvPr/>
        </p:nvCxnSpPr>
        <p:spPr>
          <a:xfrm>
            <a:off x="2621682" y="1290845"/>
            <a:ext cx="359115" cy="26217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AA70CDAB-5E61-C003-910F-44BC0A33AB98}"/>
              </a:ext>
            </a:extLst>
          </p:cNvPr>
          <p:cNvCxnSpPr>
            <a:cxnSpLocks/>
          </p:cNvCxnSpPr>
          <p:nvPr/>
        </p:nvCxnSpPr>
        <p:spPr>
          <a:xfrm flipV="1">
            <a:off x="5633089" y="672772"/>
            <a:ext cx="331175" cy="36876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05D871F3-7345-C7CB-FE21-1830805A5BAD}"/>
              </a:ext>
            </a:extLst>
          </p:cNvPr>
          <p:cNvCxnSpPr>
            <a:cxnSpLocks/>
          </p:cNvCxnSpPr>
          <p:nvPr/>
        </p:nvCxnSpPr>
        <p:spPr>
          <a:xfrm>
            <a:off x="4881315" y="857155"/>
            <a:ext cx="448113" cy="30421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2D9D5A1C-EB87-2A68-056F-386FC024DA97}"/>
              </a:ext>
            </a:extLst>
          </p:cNvPr>
          <p:cNvCxnSpPr>
            <a:cxnSpLocks/>
          </p:cNvCxnSpPr>
          <p:nvPr/>
        </p:nvCxnSpPr>
        <p:spPr>
          <a:xfrm>
            <a:off x="373193" y="1557818"/>
            <a:ext cx="516409" cy="0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EF0E612D-84B0-CC26-0E7B-D3691E13D21E}"/>
              </a:ext>
            </a:extLst>
          </p:cNvPr>
          <p:cNvCxnSpPr>
            <a:cxnSpLocks/>
          </p:cNvCxnSpPr>
          <p:nvPr/>
        </p:nvCxnSpPr>
        <p:spPr>
          <a:xfrm flipV="1">
            <a:off x="1140963" y="897554"/>
            <a:ext cx="440794" cy="539911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B00E321B-609F-800C-0C25-30FF08639229}"/>
              </a:ext>
            </a:extLst>
          </p:cNvPr>
          <p:cNvCxnSpPr>
            <a:cxnSpLocks/>
          </p:cNvCxnSpPr>
          <p:nvPr/>
        </p:nvCxnSpPr>
        <p:spPr>
          <a:xfrm>
            <a:off x="4817658" y="2906193"/>
            <a:ext cx="511770" cy="39644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90EB4269-E993-1489-165B-D6FE1810E4AD}"/>
              </a:ext>
            </a:extLst>
          </p:cNvPr>
          <p:cNvCxnSpPr>
            <a:cxnSpLocks/>
          </p:cNvCxnSpPr>
          <p:nvPr/>
        </p:nvCxnSpPr>
        <p:spPr>
          <a:xfrm flipH="1">
            <a:off x="3267329" y="1379094"/>
            <a:ext cx="317838" cy="26214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4954397C-3D70-CA5E-6B08-0C2C72432F7B}"/>
              </a:ext>
            </a:extLst>
          </p:cNvPr>
          <p:cNvCxnSpPr>
            <a:cxnSpLocks/>
          </p:cNvCxnSpPr>
          <p:nvPr/>
        </p:nvCxnSpPr>
        <p:spPr>
          <a:xfrm flipH="1">
            <a:off x="3164673" y="1069901"/>
            <a:ext cx="68334" cy="43698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FB254CCF-B1E8-BA11-3246-10477C347F46}"/>
              </a:ext>
            </a:extLst>
          </p:cNvPr>
          <p:cNvCxnSpPr>
            <a:cxnSpLocks/>
          </p:cNvCxnSpPr>
          <p:nvPr/>
        </p:nvCxnSpPr>
        <p:spPr>
          <a:xfrm>
            <a:off x="114988" y="2869341"/>
            <a:ext cx="516409" cy="0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5D2171B4-0937-E3FD-0801-32D833EEADE7}"/>
              </a:ext>
            </a:extLst>
          </p:cNvPr>
          <p:cNvSpPr txBox="1"/>
          <p:nvPr/>
        </p:nvSpPr>
        <p:spPr>
          <a:xfrm>
            <a:off x="3195292" y="2348279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rgbClr val="FFFF00"/>
                </a:solidFill>
              </a:rPr>
              <a:t>Tunneling</a:t>
            </a:r>
          </a:p>
          <a:p>
            <a:pPr algn="ctr"/>
            <a:r>
              <a:rPr kumimoji="1" lang="en-US" altLang="ja-JP" sz="1400" b="1" dirty="0">
                <a:solidFill>
                  <a:srgbClr val="FFFF00"/>
                </a:solidFill>
              </a:rPr>
              <a:t>atom</a:t>
            </a:r>
            <a:endParaRPr kumimoji="1" lang="ja-JP" altLang="en-US" sz="1400" b="1" dirty="0">
              <a:solidFill>
                <a:srgbClr val="FFFF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8343A80-9A5A-D4E8-0A6B-89D75ADE298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242" y="3596709"/>
            <a:ext cx="2440099" cy="251855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8D26EA8-CAC3-6C63-A853-A84049D9D0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77556" y="3600240"/>
            <a:ext cx="2956649" cy="251855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833DBF-2824-536B-359A-776DC4D7A858}"/>
              </a:ext>
            </a:extLst>
          </p:cNvPr>
          <p:cNvSpPr txBox="1"/>
          <p:nvPr/>
        </p:nvSpPr>
        <p:spPr>
          <a:xfrm>
            <a:off x="140184" y="3066246"/>
            <a:ext cx="3739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92D050"/>
                </a:solidFill>
                <a:latin typeface="Arial Black" panose="020B0A04020102020204" pitchFamily="34" charset="0"/>
              </a:rPr>
              <a:t>S</a:t>
            </a:r>
            <a:r>
              <a:rPr kumimoji="1" lang="en-US" altLang="ja-JP" sz="2800" b="1" dirty="0">
                <a:solidFill>
                  <a:srgbClr val="92D050"/>
                </a:solidFill>
                <a:latin typeface="Arial Black" panose="020B0A04020102020204" pitchFamily="34" charset="0"/>
              </a:rPr>
              <a:t>ubgap states</a:t>
            </a:r>
            <a:endParaRPr lang="en-US" altLang="ja-JP" sz="2800" b="1" dirty="0">
              <a:solidFill>
                <a:srgbClr val="92D05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34999DB-E4B9-D7F3-C438-09A341FFDDC1}"/>
              </a:ext>
            </a:extLst>
          </p:cNvPr>
          <p:cNvSpPr txBox="1"/>
          <p:nvPr/>
        </p:nvSpPr>
        <p:spPr>
          <a:xfrm rot="3184672">
            <a:off x="4014766" y="4820801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070C0"/>
                </a:solidFill>
              </a:rPr>
              <a:t>Long MFP</a:t>
            </a:r>
            <a:endParaRPr kumimoji="1" lang="ja-JP" altLang="en-US" dirty="0">
              <a:solidFill>
                <a:srgbClr val="0070C0"/>
              </a:solidFill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5EBFE2C8-80DC-A5F4-D8E0-EFA5DD224200}"/>
              </a:ext>
            </a:extLst>
          </p:cNvPr>
          <p:cNvSpPr txBox="1"/>
          <p:nvPr/>
        </p:nvSpPr>
        <p:spPr>
          <a:xfrm>
            <a:off x="12476" y="6525448"/>
            <a:ext cx="6070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ja-JP" sz="1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See also, A Gurevich and T Kubo, Physical Review B 96, 184515 (2017)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5D7A3F8F-FF94-B1FD-B92C-E48082D573F8}"/>
              </a:ext>
            </a:extLst>
          </p:cNvPr>
          <p:cNvSpPr txBox="1"/>
          <p:nvPr/>
        </p:nvSpPr>
        <p:spPr>
          <a:xfrm>
            <a:off x="8048340" y="97277"/>
            <a:ext cx="41436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Arial Black" panose="020B0A04020102020204" pitchFamily="34" charset="0"/>
              </a:rPr>
              <a:t>Vortices trapped during cool down 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ECEA2A27-01A0-5F86-4040-30337CCD5A6B}"/>
              </a:ext>
            </a:extLst>
          </p:cNvPr>
          <p:cNvSpPr txBox="1"/>
          <p:nvPr/>
        </p:nvSpPr>
        <p:spPr>
          <a:xfrm rot="3184672">
            <a:off x="3572389" y="5138193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Short MFP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7F11E408-96EC-F369-7292-961C4E2DB1FD}"/>
              </a:ext>
            </a:extLst>
          </p:cNvPr>
          <p:cNvSpPr txBox="1"/>
          <p:nvPr/>
        </p:nvSpPr>
        <p:spPr>
          <a:xfrm>
            <a:off x="6383467" y="4062559"/>
            <a:ext cx="580853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See also, 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A. Gurevich and G. </a:t>
            </a:r>
            <a:r>
              <a:rPr lang="en-US" altLang="ja-JP" sz="1400" dirty="0" err="1">
                <a:solidFill>
                  <a:schemeClr val="tx2"/>
                </a:solidFill>
              </a:rPr>
              <a:t>Ciovati</a:t>
            </a:r>
            <a:r>
              <a:rPr lang="en-US" altLang="ja-JP" sz="1400" dirty="0">
                <a:solidFill>
                  <a:schemeClr val="tx2"/>
                </a:solidFill>
              </a:rPr>
              <a:t>, PRB </a:t>
            </a:r>
            <a:r>
              <a:rPr lang="en-US" altLang="ja-JP" sz="1400" b="1" dirty="0">
                <a:solidFill>
                  <a:schemeClr val="tx2"/>
                </a:solidFill>
              </a:rPr>
              <a:t>87</a:t>
            </a:r>
            <a:r>
              <a:rPr lang="en-US" altLang="ja-JP" sz="1400" dirty="0">
                <a:solidFill>
                  <a:schemeClr val="tx2"/>
                </a:solidFill>
              </a:rPr>
              <a:t>, 054502 (2013)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A. Romanenko et al., </a:t>
            </a:r>
            <a:r>
              <a:rPr lang="fr-FR" altLang="ja-JP" sz="1400" dirty="0">
                <a:solidFill>
                  <a:schemeClr val="tx2"/>
                </a:solidFill>
              </a:rPr>
              <a:t>Appl. Phys. Lett. </a:t>
            </a:r>
            <a:r>
              <a:rPr lang="fr-FR" altLang="ja-JP" sz="1400" b="1" dirty="0">
                <a:solidFill>
                  <a:schemeClr val="tx2"/>
                </a:solidFill>
              </a:rPr>
              <a:t>105</a:t>
            </a:r>
            <a:r>
              <a:rPr lang="fr-FR" altLang="ja-JP" sz="1400" dirty="0">
                <a:solidFill>
                  <a:schemeClr val="tx2"/>
                </a:solidFill>
              </a:rPr>
              <a:t>, 234103 (2014).</a:t>
            </a:r>
            <a:endParaRPr lang="en-US" altLang="ja-JP" sz="1400" dirty="0">
              <a:solidFill>
                <a:schemeClr val="tx2"/>
              </a:solidFill>
            </a:endParaRPr>
          </a:p>
          <a:p>
            <a:r>
              <a:rPr lang="en-US" altLang="ja-JP" sz="1400" dirty="0">
                <a:solidFill>
                  <a:schemeClr val="tx2"/>
                </a:solidFill>
              </a:rPr>
              <a:t>S. Huang eta al., Phys. Rev. Accelerators and Beams </a:t>
            </a:r>
            <a:r>
              <a:rPr lang="en-US" altLang="ja-JP" sz="1400" b="1" dirty="0">
                <a:solidFill>
                  <a:schemeClr val="tx2"/>
                </a:solidFill>
              </a:rPr>
              <a:t>19</a:t>
            </a:r>
            <a:r>
              <a:rPr lang="en-US" altLang="ja-JP" sz="1400" dirty="0">
                <a:solidFill>
                  <a:schemeClr val="tx2"/>
                </a:solidFill>
              </a:rPr>
              <a:t>, 082001 (2016).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Posen et al., J. Appl. Phys. </a:t>
            </a:r>
            <a:r>
              <a:rPr lang="en-US" altLang="ja-JP" sz="1400" b="1" dirty="0">
                <a:solidFill>
                  <a:schemeClr val="tx2"/>
                </a:solidFill>
              </a:rPr>
              <a:t>119</a:t>
            </a:r>
            <a:r>
              <a:rPr lang="en-US" altLang="ja-JP" sz="1400" dirty="0">
                <a:solidFill>
                  <a:schemeClr val="tx2"/>
                </a:solidFill>
              </a:rPr>
              <a:t>, 213903 (2016).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Ooi et al., Physical Review B </a:t>
            </a:r>
            <a:r>
              <a:rPr lang="en-US" altLang="ja-JP" sz="1400" b="1" dirty="0">
                <a:solidFill>
                  <a:schemeClr val="tx2"/>
                </a:solidFill>
              </a:rPr>
              <a:t>104</a:t>
            </a:r>
            <a:r>
              <a:rPr lang="en-US" altLang="ja-JP" sz="1400" dirty="0">
                <a:solidFill>
                  <a:schemeClr val="tx2"/>
                </a:solidFill>
              </a:rPr>
              <a:t>, 064504 (2021).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S. Ooi et al., Physical Review B </a:t>
            </a:r>
            <a:r>
              <a:rPr lang="en-US" altLang="ja-JP" sz="1400" b="1" dirty="0">
                <a:solidFill>
                  <a:schemeClr val="tx2"/>
                </a:solidFill>
              </a:rPr>
              <a:t>111</a:t>
            </a:r>
            <a:r>
              <a:rPr lang="en-US" altLang="ja-JP" sz="1400" dirty="0">
                <a:solidFill>
                  <a:schemeClr val="tx2"/>
                </a:solidFill>
              </a:rPr>
              <a:t>, 094519 (2025)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E72CB6-E9E6-0D20-5C84-BDAEED1C9B49}"/>
              </a:ext>
            </a:extLst>
          </p:cNvPr>
          <p:cNvSpPr txBox="1"/>
          <p:nvPr/>
        </p:nvSpPr>
        <p:spPr>
          <a:xfrm>
            <a:off x="0" y="6077171"/>
            <a:ext cx="5964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Figures adapted from </a:t>
            </a:r>
            <a:r>
              <a:rPr lang="en-US" altLang="ja-JP" sz="1400" dirty="0">
                <a:solidFill>
                  <a:schemeClr val="tx2"/>
                </a:solidFill>
                <a:latin typeface="Arial" panose="020B0604020202020204" pitchFamily="34" charset="0"/>
              </a:rPr>
              <a:t>T. Kubo, Physical Review Applied 17, 014018 (2022)</a:t>
            </a:r>
          </a:p>
          <a:p>
            <a:r>
              <a:rPr lang="en-US" altLang="ja-JP" sz="14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200" dirty="0">
                <a:solidFill>
                  <a:schemeClr val="tx2"/>
                </a:solidFill>
              </a:rPr>
              <a:t>© American Physical Society.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587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FF18C-EDA1-F522-85F2-5ADAD433B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方体 1">
            <a:extLst>
              <a:ext uri="{FF2B5EF4-FFF2-40B4-BE49-F238E27FC236}">
                <a16:creationId xmlns:a16="http://schemas.microsoft.com/office/drawing/2014/main" id="{1ED14F73-DE48-ED65-A0FA-A7D38F4C64CD}"/>
              </a:ext>
            </a:extLst>
          </p:cNvPr>
          <p:cNvSpPr/>
          <p:nvPr/>
        </p:nvSpPr>
        <p:spPr>
          <a:xfrm>
            <a:off x="8032799" y="950935"/>
            <a:ext cx="2919070" cy="2920095"/>
          </a:xfrm>
          <a:prstGeom prst="cube">
            <a:avLst>
              <a:gd name="adj" fmla="val 18909"/>
            </a:avLst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8C3B3D3-1498-E0C0-54CD-4A7CBFECD522}"/>
              </a:ext>
            </a:extLst>
          </p:cNvPr>
          <p:cNvSpPr/>
          <p:nvPr/>
        </p:nvSpPr>
        <p:spPr>
          <a:xfrm>
            <a:off x="9024145" y="1198636"/>
            <a:ext cx="244453" cy="2354093"/>
          </a:xfrm>
          <a:custGeom>
            <a:avLst/>
            <a:gdLst>
              <a:gd name="connsiteX0" fmla="*/ 1262 w 244453"/>
              <a:gd name="connsiteY0" fmla="*/ 0 h 2354093"/>
              <a:gd name="connsiteX1" fmla="*/ 244453 w 244453"/>
              <a:gd name="connsiteY1" fmla="*/ 924127 h 2354093"/>
              <a:gd name="connsiteX2" fmla="*/ 1262 w 244453"/>
              <a:gd name="connsiteY2" fmla="*/ 1741251 h 2354093"/>
              <a:gd name="connsiteX3" fmla="*/ 166632 w 244453"/>
              <a:gd name="connsiteY3" fmla="*/ 2354093 h 235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53" h="2354093">
                <a:moveTo>
                  <a:pt x="1262" y="0"/>
                </a:moveTo>
                <a:cubicBezTo>
                  <a:pt x="122857" y="316959"/>
                  <a:pt x="244453" y="633919"/>
                  <a:pt x="244453" y="924127"/>
                </a:cubicBezTo>
                <a:cubicBezTo>
                  <a:pt x="244453" y="1214335"/>
                  <a:pt x="14232" y="1502923"/>
                  <a:pt x="1262" y="1741251"/>
                </a:cubicBezTo>
                <a:cubicBezTo>
                  <a:pt x="-11708" y="1979579"/>
                  <a:pt x="77462" y="2166836"/>
                  <a:pt x="166632" y="2354093"/>
                </a:cubicBezTo>
              </a:path>
            </a:pathLst>
          </a:cu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AADEE83-D4FB-CB22-A3C9-64B891E62C92}"/>
              </a:ext>
            </a:extLst>
          </p:cNvPr>
          <p:cNvCxnSpPr>
            <a:cxnSpLocks/>
          </p:cNvCxnSpPr>
          <p:nvPr/>
        </p:nvCxnSpPr>
        <p:spPr>
          <a:xfrm flipV="1">
            <a:off x="10414362" y="1106013"/>
            <a:ext cx="523533" cy="542870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B6997C57-8376-75CE-E256-6D696DA0E269}"/>
              </a:ext>
            </a:extLst>
          </p:cNvPr>
          <p:cNvCxnSpPr>
            <a:cxnSpLocks/>
          </p:cNvCxnSpPr>
          <p:nvPr/>
        </p:nvCxnSpPr>
        <p:spPr>
          <a:xfrm flipV="1">
            <a:off x="10428085" y="1362283"/>
            <a:ext cx="397903" cy="380806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1F5DE98-2C8D-93BE-7DCA-B6DE6823355B}"/>
              </a:ext>
            </a:extLst>
          </p:cNvPr>
          <p:cNvSpPr txBox="1"/>
          <p:nvPr/>
        </p:nvSpPr>
        <p:spPr>
          <a:xfrm>
            <a:off x="9720397" y="858500"/>
            <a:ext cx="1196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rgbClr val="00B050"/>
                </a:solidFill>
              </a:rPr>
              <a:t>microwave</a:t>
            </a:r>
          </a:p>
          <a:p>
            <a:r>
              <a:rPr kumimoji="1" lang="en-US" altLang="ja-JP" sz="1600" dirty="0">
                <a:solidFill>
                  <a:srgbClr val="00B050"/>
                </a:solidFill>
              </a:rPr>
              <a:t>current</a:t>
            </a:r>
            <a:endParaRPr kumimoji="1" lang="ja-JP" altLang="en-US" sz="1600" dirty="0">
              <a:solidFill>
                <a:srgbClr val="00B050"/>
              </a:solidFill>
            </a:endParaRPr>
          </a:p>
        </p:txBody>
      </p:sp>
      <p:sp>
        <p:nvSpPr>
          <p:cNvPr id="20" name="円弧 19">
            <a:extLst>
              <a:ext uri="{FF2B5EF4-FFF2-40B4-BE49-F238E27FC236}">
                <a16:creationId xmlns:a16="http://schemas.microsoft.com/office/drawing/2014/main" id="{BF3BAF7F-5BB7-31FD-C9AB-29DA45DCBDD2}"/>
              </a:ext>
            </a:extLst>
          </p:cNvPr>
          <p:cNvSpPr/>
          <p:nvPr/>
        </p:nvSpPr>
        <p:spPr>
          <a:xfrm>
            <a:off x="8572079" y="1071794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弧 21">
            <a:extLst>
              <a:ext uri="{FF2B5EF4-FFF2-40B4-BE49-F238E27FC236}">
                <a16:creationId xmlns:a16="http://schemas.microsoft.com/office/drawing/2014/main" id="{50EBBE0A-2E1C-02B9-FDC4-5C6C62B27088}"/>
              </a:ext>
            </a:extLst>
          </p:cNvPr>
          <p:cNvSpPr/>
          <p:nvPr/>
        </p:nvSpPr>
        <p:spPr>
          <a:xfrm>
            <a:off x="8714754" y="2187232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弧 22">
            <a:extLst>
              <a:ext uri="{FF2B5EF4-FFF2-40B4-BE49-F238E27FC236}">
                <a16:creationId xmlns:a16="http://schemas.microsoft.com/office/drawing/2014/main" id="{6310F5BD-49EA-B186-AF71-0DBADAE55944}"/>
              </a:ext>
            </a:extLst>
          </p:cNvPr>
          <p:cNvSpPr/>
          <p:nvPr/>
        </p:nvSpPr>
        <p:spPr>
          <a:xfrm>
            <a:off x="8701782" y="3380494"/>
            <a:ext cx="993374" cy="318597"/>
          </a:xfrm>
          <a:prstGeom prst="arc">
            <a:avLst>
              <a:gd name="adj1" fmla="val 9698011"/>
              <a:gd name="adj2" fmla="val 9416447"/>
            </a:avLst>
          </a:prstGeom>
          <a:ln w="28575">
            <a:solidFill>
              <a:srgbClr val="FF0000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EA2DC5B5-0802-D3AA-0EB5-7E8C3831744F}"/>
              </a:ext>
            </a:extLst>
          </p:cNvPr>
          <p:cNvCxnSpPr>
            <a:cxnSpLocks/>
          </p:cNvCxnSpPr>
          <p:nvPr/>
        </p:nvCxnSpPr>
        <p:spPr>
          <a:xfrm flipV="1">
            <a:off x="10430187" y="1567185"/>
            <a:ext cx="328845" cy="314715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D0265846-CA6C-974A-34B8-02086BDCC7E6}"/>
              </a:ext>
            </a:extLst>
          </p:cNvPr>
          <p:cNvCxnSpPr>
            <a:cxnSpLocks/>
          </p:cNvCxnSpPr>
          <p:nvPr/>
        </p:nvCxnSpPr>
        <p:spPr>
          <a:xfrm flipV="1">
            <a:off x="10419194" y="1778173"/>
            <a:ext cx="247066" cy="236450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FC1A675-0A60-3E96-7892-DF483F940AFC}"/>
              </a:ext>
            </a:extLst>
          </p:cNvPr>
          <p:cNvCxnSpPr>
            <a:cxnSpLocks/>
          </p:cNvCxnSpPr>
          <p:nvPr/>
        </p:nvCxnSpPr>
        <p:spPr>
          <a:xfrm flipV="1">
            <a:off x="10417488" y="1969702"/>
            <a:ext cx="185624" cy="177649"/>
          </a:xfrm>
          <a:prstGeom prst="straightConnector1">
            <a:avLst/>
          </a:prstGeom>
          <a:ln w="317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BBA34C-97B2-52F1-1F74-A269C2A3EE12}"/>
              </a:ext>
            </a:extLst>
          </p:cNvPr>
          <p:cNvSpPr txBox="1"/>
          <p:nvPr/>
        </p:nvSpPr>
        <p:spPr>
          <a:xfrm>
            <a:off x="8367802" y="1635563"/>
            <a:ext cx="86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vortex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DD13926-DCD4-4F60-CE88-209645E4B6B9}"/>
              </a:ext>
            </a:extLst>
          </p:cNvPr>
          <p:cNvSpPr txBox="1"/>
          <p:nvPr/>
        </p:nvSpPr>
        <p:spPr>
          <a:xfrm>
            <a:off x="9343741" y="2469220"/>
            <a:ext cx="782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</a:rPr>
              <a:t>Vortex</a:t>
            </a:r>
          </a:p>
          <a:p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</a:rPr>
              <a:t>current</a:t>
            </a:r>
            <a:endParaRPr kumimoji="1" lang="ja-JP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51F11335-6101-592F-AD09-6012A909900C}"/>
              </a:ext>
            </a:extLst>
          </p:cNvPr>
          <p:cNvCxnSpPr>
            <a:cxnSpLocks/>
          </p:cNvCxnSpPr>
          <p:nvPr/>
        </p:nvCxnSpPr>
        <p:spPr>
          <a:xfrm>
            <a:off x="4187997" y="2017587"/>
            <a:ext cx="77823" cy="1448918"/>
          </a:xfrm>
          <a:prstGeom prst="straightConnector1">
            <a:avLst/>
          </a:prstGeom>
          <a:ln w="9525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8F2ADD02-B554-3D58-837A-5D4426C99921}"/>
              </a:ext>
            </a:extLst>
          </p:cNvPr>
          <p:cNvSpPr>
            <a:spLocks noChangeAspect="1"/>
          </p:cNvSpPr>
          <p:nvPr/>
        </p:nvSpPr>
        <p:spPr>
          <a:xfrm>
            <a:off x="2925343" y="1497565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F13660-5552-C72E-B7E4-573B615F9BF6}"/>
              </a:ext>
            </a:extLst>
          </p:cNvPr>
          <p:cNvSpPr txBox="1"/>
          <p:nvPr/>
        </p:nvSpPr>
        <p:spPr>
          <a:xfrm>
            <a:off x="544513" y="68224"/>
            <a:ext cx="6022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T</a:t>
            </a:r>
            <a:r>
              <a:rPr kumimoji="1" lang="en-US" altLang="ja-JP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wo-level system defects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3BBC6D8-72E4-A7C9-A1C1-9B6B26E78F67}"/>
              </a:ext>
            </a:extLst>
          </p:cNvPr>
          <p:cNvSpPr txBox="1"/>
          <p:nvPr/>
        </p:nvSpPr>
        <p:spPr>
          <a:xfrm>
            <a:off x="1830623" y="4187123"/>
            <a:ext cx="4208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altLang="ja-JP" sz="1400" dirty="0">
                <a:solidFill>
                  <a:schemeClr val="tx2"/>
                </a:solidFill>
              </a:rPr>
              <a:t>See also a review: </a:t>
            </a:r>
          </a:p>
          <a:p>
            <a:r>
              <a:rPr lang="da-DK" altLang="ja-JP" sz="1400" dirty="0">
                <a:solidFill>
                  <a:schemeClr val="tx2"/>
                </a:solidFill>
              </a:rPr>
              <a:t>Müller et al Rep. Prog. Phys. </a:t>
            </a:r>
            <a:r>
              <a:rPr lang="da-DK" altLang="ja-JP" sz="1400" b="1" dirty="0">
                <a:solidFill>
                  <a:schemeClr val="tx2"/>
                </a:solidFill>
              </a:rPr>
              <a:t>82</a:t>
            </a:r>
            <a:r>
              <a:rPr lang="da-DK" altLang="ja-JP" sz="1400" dirty="0">
                <a:solidFill>
                  <a:schemeClr val="tx2"/>
                </a:solidFill>
              </a:rPr>
              <a:t>, 124501 (2019)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B0ACFDC-2897-A836-A895-3E4660332FFB}"/>
              </a:ext>
            </a:extLst>
          </p:cNvPr>
          <p:cNvSpPr>
            <a:spLocks noChangeAspect="1"/>
          </p:cNvSpPr>
          <p:nvPr/>
        </p:nvSpPr>
        <p:spPr>
          <a:xfrm>
            <a:off x="5329428" y="1013290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FC3F5CA-C370-AE78-0641-E31BED9CF304}"/>
              </a:ext>
            </a:extLst>
          </p:cNvPr>
          <p:cNvSpPr>
            <a:spLocks noChangeAspect="1"/>
          </p:cNvSpPr>
          <p:nvPr/>
        </p:nvSpPr>
        <p:spPr>
          <a:xfrm>
            <a:off x="2298473" y="96763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F9179C38-BA20-9A91-2D33-A48FB7427937}"/>
              </a:ext>
            </a:extLst>
          </p:cNvPr>
          <p:cNvSpPr>
            <a:spLocks noChangeAspect="1"/>
          </p:cNvSpPr>
          <p:nvPr/>
        </p:nvSpPr>
        <p:spPr>
          <a:xfrm>
            <a:off x="4502652" y="2639069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D10BD44-FA1E-A54E-D324-46B88221FB04}"/>
              </a:ext>
            </a:extLst>
          </p:cNvPr>
          <p:cNvSpPr>
            <a:spLocks noChangeAspect="1"/>
          </p:cNvSpPr>
          <p:nvPr/>
        </p:nvSpPr>
        <p:spPr>
          <a:xfrm>
            <a:off x="2620865" y="2716862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4455C9E-563A-3F50-07A6-3EEA3D26ABC1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71444" y="3057994"/>
            <a:ext cx="778645" cy="69307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D1ADB0BE-2A11-AB23-C821-A5CA1808DE0E}"/>
              </a:ext>
            </a:extLst>
          </p:cNvPr>
          <p:cNvCxnSpPr>
            <a:cxnSpLocks/>
            <a:stCxn id="37" idx="6"/>
            <a:endCxn id="28" idx="2"/>
          </p:cNvCxnSpPr>
          <p:nvPr/>
        </p:nvCxnSpPr>
        <p:spPr>
          <a:xfrm>
            <a:off x="4319883" y="1717951"/>
            <a:ext cx="1143423" cy="40755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85984DA-186B-F8CF-2C9C-67EE4C42FB5C}"/>
              </a:ext>
            </a:extLst>
          </p:cNvPr>
          <p:cNvCxnSpPr>
            <a:cxnSpLocks/>
            <a:endCxn id="37" idx="3"/>
          </p:cNvCxnSpPr>
          <p:nvPr/>
        </p:nvCxnSpPr>
        <p:spPr>
          <a:xfrm flipV="1">
            <a:off x="2881941" y="1851828"/>
            <a:ext cx="1114733" cy="93769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EC66CAD0-D76A-08EB-329E-CACAD28138BD}"/>
              </a:ext>
            </a:extLst>
          </p:cNvPr>
          <p:cNvSpPr>
            <a:spLocks noChangeAspect="1"/>
          </p:cNvSpPr>
          <p:nvPr/>
        </p:nvSpPr>
        <p:spPr>
          <a:xfrm>
            <a:off x="636273" y="2680262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0F9CA0F-9B4D-9070-39B7-1A53BF888255}"/>
              </a:ext>
            </a:extLst>
          </p:cNvPr>
          <p:cNvCxnSpPr>
            <a:cxnSpLocks/>
            <a:stCxn id="39" idx="7"/>
            <a:endCxn id="18" idx="3"/>
          </p:cNvCxnSpPr>
          <p:nvPr/>
        </p:nvCxnSpPr>
        <p:spPr>
          <a:xfrm flipV="1">
            <a:off x="1917844" y="3040071"/>
            <a:ext cx="758475" cy="71099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9D3827FC-E9CF-7AE4-DB60-0838AB94F64D}"/>
              </a:ext>
            </a:extLst>
          </p:cNvPr>
          <p:cNvSpPr>
            <a:spLocks noChangeAspect="1"/>
          </p:cNvSpPr>
          <p:nvPr/>
        </p:nvSpPr>
        <p:spPr>
          <a:xfrm>
            <a:off x="5463306" y="1936178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A41451A-B2AF-5DE7-84F8-2D449AE28B05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5518760" y="1391953"/>
            <a:ext cx="127347" cy="59967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楕円 29">
            <a:extLst>
              <a:ext uri="{FF2B5EF4-FFF2-40B4-BE49-F238E27FC236}">
                <a16:creationId xmlns:a16="http://schemas.microsoft.com/office/drawing/2014/main" id="{44871B79-B92A-BC8A-322B-440AB2A03DA9}"/>
              </a:ext>
            </a:extLst>
          </p:cNvPr>
          <p:cNvSpPr>
            <a:spLocks noChangeAspect="1"/>
          </p:cNvSpPr>
          <p:nvPr/>
        </p:nvSpPr>
        <p:spPr>
          <a:xfrm>
            <a:off x="1633408" y="195975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8AD8E75-790B-FA8D-2BA1-C3FF1239364E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1896727" y="1290845"/>
            <a:ext cx="457200" cy="700787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A4A7F134-EC5F-4622-FC9C-AA8B01D2EEEE}"/>
              </a:ext>
            </a:extLst>
          </p:cNvPr>
          <p:cNvSpPr>
            <a:spLocks noChangeAspect="1"/>
          </p:cNvSpPr>
          <p:nvPr/>
        </p:nvSpPr>
        <p:spPr>
          <a:xfrm>
            <a:off x="3941220" y="1528619"/>
            <a:ext cx="378663" cy="3786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3276E6-1C5B-BE26-3F40-EC9A98372C22}"/>
              </a:ext>
            </a:extLst>
          </p:cNvPr>
          <p:cNvSpPr>
            <a:spLocks noChangeAspect="1"/>
          </p:cNvSpPr>
          <p:nvPr/>
        </p:nvSpPr>
        <p:spPr>
          <a:xfrm>
            <a:off x="854883" y="1392329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EB251F34-E758-CA15-611C-6B82A90233BA}"/>
              </a:ext>
            </a:extLst>
          </p:cNvPr>
          <p:cNvSpPr>
            <a:spLocks noChangeAspect="1"/>
          </p:cNvSpPr>
          <p:nvPr/>
        </p:nvSpPr>
        <p:spPr>
          <a:xfrm>
            <a:off x="1594635" y="3695616"/>
            <a:ext cx="378663" cy="3786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34C2E46-38CB-053B-AB6D-EE0F47D43341}"/>
              </a:ext>
            </a:extLst>
          </p:cNvPr>
          <p:cNvCxnSpPr>
            <a:cxnSpLocks/>
          </p:cNvCxnSpPr>
          <p:nvPr/>
        </p:nvCxnSpPr>
        <p:spPr>
          <a:xfrm>
            <a:off x="1173709" y="1668768"/>
            <a:ext cx="511770" cy="39644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3DC1A621-4BC5-CFA1-071E-86F4EBF89EBE}"/>
              </a:ext>
            </a:extLst>
          </p:cNvPr>
          <p:cNvCxnSpPr>
            <a:cxnSpLocks/>
          </p:cNvCxnSpPr>
          <p:nvPr/>
        </p:nvCxnSpPr>
        <p:spPr>
          <a:xfrm flipV="1">
            <a:off x="941495" y="2228697"/>
            <a:ext cx="761371" cy="56445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FAFA3F9-A1DC-A524-A7D3-61136D516A2C}"/>
              </a:ext>
            </a:extLst>
          </p:cNvPr>
          <p:cNvCxnSpPr>
            <a:cxnSpLocks/>
          </p:cNvCxnSpPr>
          <p:nvPr/>
        </p:nvCxnSpPr>
        <p:spPr>
          <a:xfrm>
            <a:off x="2961929" y="2869341"/>
            <a:ext cx="1588051" cy="518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8CC0E22B-F4DF-98B9-C152-6C61F2FE2349}"/>
              </a:ext>
            </a:extLst>
          </p:cNvPr>
          <p:cNvCxnSpPr>
            <a:cxnSpLocks/>
          </p:cNvCxnSpPr>
          <p:nvPr/>
        </p:nvCxnSpPr>
        <p:spPr>
          <a:xfrm flipV="1">
            <a:off x="4837532" y="2235511"/>
            <a:ext cx="718395" cy="521098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B16EC47-2246-E416-3596-C7EFDE39A7A2}"/>
              </a:ext>
            </a:extLst>
          </p:cNvPr>
          <p:cNvCxnSpPr>
            <a:cxnSpLocks/>
          </p:cNvCxnSpPr>
          <p:nvPr/>
        </p:nvCxnSpPr>
        <p:spPr>
          <a:xfrm>
            <a:off x="2927240" y="2984501"/>
            <a:ext cx="1108158" cy="711115"/>
          </a:xfrm>
          <a:prstGeom prst="line">
            <a:avLst/>
          </a:prstGeom>
          <a:ln w="222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A344094A-185D-A748-A43C-E5B8719E58DC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4502652" y="2259387"/>
            <a:ext cx="1016108" cy="1436229"/>
          </a:xfrm>
          <a:prstGeom prst="line">
            <a:avLst/>
          </a:prstGeom>
          <a:ln w="22225">
            <a:solidFill>
              <a:schemeClr val="tx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楕円 45">
            <a:extLst>
              <a:ext uri="{FF2B5EF4-FFF2-40B4-BE49-F238E27FC236}">
                <a16:creationId xmlns:a16="http://schemas.microsoft.com/office/drawing/2014/main" id="{7205520C-6419-EB7F-3F63-BE7B550AF851}"/>
              </a:ext>
            </a:extLst>
          </p:cNvPr>
          <p:cNvSpPr>
            <a:spLocks noChangeAspect="1"/>
          </p:cNvSpPr>
          <p:nvPr/>
        </p:nvSpPr>
        <p:spPr>
          <a:xfrm>
            <a:off x="4055676" y="3561738"/>
            <a:ext cx="378663" cy="37866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2C3C33C2-F304-E696-BC0B-14947C14BD8D}"/>
              </a:ext>
            </a:extLst>
          </p:cNvPr>
          <p:cNvCxnSpPr>
            <a:cxnSpLocks/>
          </p:cNvCxnSpPr>
          <p:nvPr/>
        </p:nvCxnSpPr>
        <p:spPr>
          <a:xfrm flipV="1">
            <a:off x="1666922" y="4074279"/>
            <a:ext cx="106636" cy="711973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B20E91B0-4FAD-614F-5DD6-A5427BA948B7}"/>
              </a:ext>
            </a:extLst>
          </p:cNvPr>
          <p:cNvCxnSpPr>
            <a:cxnSpLocks/>
          </p:cNvCxnSpPr>
          <p:nvPr/>
        </p:nvCxnSpPr>
        <p:spPr>
          <a:xfrm>
            <a:off x="2473921" y="584133"/>
            <a:ext cx="0" cy="37350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F0BCFEE8-7AF1-FFDE-638F-4FBBC4A35B0D}"/>
              </a:ext>
            </a:extLst>
          </p:cNvPr>
          <p:cNvCxnSpPr>
            <a:cxnSpLocks/>
            <a:stCxn id="16" idx="5"/>
            <a:endCxn id="6" idx="1"/>
          </p:cNvCxnSpPr>
          <p:nvPr/>
        </p:nvCxnSpPr>
        <p:spPr>
          <a:xfrm>
            <a:off x="2621682" y="1290845"/>
            <a:ext cx="359115" cy="26217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2FC6759E-25BD-91CB-169F-69CF5289BEF1}"/>
              </a:ext>
            </a:extLst>
          </p:cNvPr>
          <p:cNvCxnSpPr>
            <a:cxnSpLocks/>
          </p:cNvCxnSpPr>
          <p:nvPr/>
        </p:nvCxnSpPr>
        <p:spPr>
          <a:xfrm flipV="1">
            <a:off x="5633089" y="672772"/>
            <a:ext cx="331175" cy="368766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8FE04C98-2137-45FA-C4E5-A9984BB6DF7F}"/>
              </a:ext>
            </a:extLst>
          </p:cNvPr>
          <p:cNvCxnSpPr>
            <a:cxnSpLocks/>
          </p:cNvCxnSpPr>
          <p:nvPr/>
        </p:nvCxnSpPr>
        <p:spPr>
          <a:xfrm>
            <a:off x="4881315" y="857155"/>
            <a:ext cx="448113" cy="30421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F56884AB-2EEE-5B09-E08E-997B4D725DFA}"/>
              </a:ext>
            </a:extLst>
          </p:cNvPr>
          <p:cNvCxnSpPr>
            <a:cxnSpLocks/>
          </p:cNvCxnSpPr>
          <p:nvPr/>
        </p:nvCxnSpPr>
        <p:spPr>
          <a:xfrm>
            <a:off x="373193" y="1557818"/>
            <a:ext cx="516409" cy="0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8B51BD39-DBFE-9206-A99B-90BF0B077590}"/>
              </a:ext>
            </a:extLst>
          </p:cNvPr>
          <p:cNvCxnSpPr>
            <a:cxnSpLocks/>
          </p:cNvCxnSpPr>
          <p:nvPr/>
        </p:nvCxnSpPr>
        <p:spPr>
          <a:xfrm flipV="1">
            <a:off x="1140963" y="897554"/>
            <a:ext cx="440794" cy="539911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E0017346-1BF4-84C3-9BD0-41C43A7F9B0D}"/>
              </a:ext>
            </a:extLst>
          </p:cNvPr>
          <p:cNvCxnSpPr>
            <a:cxnSpLocks/>
          </p:cNvCxnSpPr>
          <p:nvPr/>
        </p:nvCxnSpPr>
        <p:spPr>
          <a:xfrm>
            <a:off x="4817658" y="2906193"/>
            <a:ext cx="511770" cy="396449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C325337A-E0B2-8E68-7C8C-4815DEA74A47}"/>
              </a:ext>
            </a:extLst>
          </p:cNvPr>
          <p:cNvCxnSpPr>
            <a:cxnSpLocks/>
          </p:cNvCxnSpPr>
          <p:nvPr/>
        </p:nvCxnSpPr>
        <p:spPr>
          <a:xfrm flipH="1">
            <a:off x="3267329" y="1379094"/>
            <a:ext cx="317838" cy="26214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F98F7D30-391E-EF2B-3251-BDD4274FC257}"/>
              </a:ext>
            </a:extLst>
          </p:cNvPr>
          <p:cNvCxnSpPr>
            <a:cxnSpLocks/>
          </p:cNvCxnSpPr>
          <p:nvPr/>
        </p:nvCxnSpPr>
        <p:spPr>
          <a:xfrm flipH="1">
            <a:off x="3164673" y="1069901"/>
            <a:ext cx="68334" cy="436984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0AF2E6F-B880-BD3E-7745-A373D146A93E}"/>
              </a:ext>
            </a:extLst>
          </p:cNvPr>
          <p:cNvCxnSpPr>
            <a:cxnSpLocks/>
          </p:cNvCxnSpPr>
          <p:nvPr/>
        </p:nvCxnSpPr>
        <p:spPr>
          <a:xfrm>
            <a:off x="114988" y="2869341"/>
            <a:ext cx="516409" cy="0"/>
          </a:xfrm>
          <a:prstGeom prst="line">
            <a:avLst/>
          </a:prstGeom>
          <a:ln w="47625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87957E65-D6B1-5D9C-4339-B8DD1F79676A}"/>
              </a:ext>
            </a:extLst>
          </p:cNvPr>
          <p:cNvSpPr txBox="1"/>
          <p:nvPr/>
        </p:nvSpPr>
        <p:spPr>
          <a:xfrm>
            <a:off x="3195292" y="2348279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rgbClr val="FFFF00"/>
                </a:solidFill>
              </a:rPr>
              <a:t>Tunneling</a:t>
            </a:r>
          </a:p>
          <a:p>
            <a:pPr algn="ctr"/>
            <a:r>
              <a:rPr kumimoji="1" lang="en-US" altLang="ja-JP" sz="1400" b="1" dirty="0">
                <a:solidFill>
                  <a:srgbClr val="FFFF00"/>
                </a:solidFill>
              </a:rPr>
              <a:t>atom</a:t>
            </a:r>
            <a:endParaRPr kumimoji="1" lang="ja-JP" altLang="en-US" sz="1400" b="1" dirty="0">
              <a:solidFill>
                <a:srgbClr val="FFFF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1FAC21C-659A-F38F-9441-80800AB94A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242" y="3596709"/>
            <a:ext cx="2440099" cy="251855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2832FF7-EA44-0B9E-6EC5-8637C51A34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77556" y="3600240"/>
            <a:ext cx="2956649" cy="251855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D0E7531-5440-6479-7A46-97898C72DF8F}"/>
              </a:ext>
            </a:extLst>
          </p:cNvPr>
          <p:cNvSpPr txBox="1"/>
          <p:nvPr/>
        </p:nvSpPr>
        <p:spPr>
          <a:xfrm>
            <a:off x="140184" y="3066246"/>
            <a:ext cx="3739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92D050"/>
                </a:solidFill>
                <a:latin typeface="Arial Black" panose="020B0A04020102020204" pitchFamily="34" charset="0"/>
              </a:rPr>
              <a:t>S</a:t>
            </a:r>
            <a:r>
              <a:rPr kumimoji="1" lang="en-US" altLang="ja-JP" sz="2800" b="1" dirty="0">
                <a:solidFill>
                  <a:srgbClr val="92D050"/>
                </a:solidFill>
                <a:latin typeface="Arial Black" panose="020B0A04020102020204" pitchFamily="34" charset="0"/>
              </a:rPr>
              <a:t>ubgap states</a:t>
            </a:r>
            <a:endParaRPr lang="en-US" altLang="ja-JP" sz="2800" b="1" dirty="0">
              <a:solidFill>
                <a:srgbClr val="92D05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F7DC90E-F127-049C-9D4A-EFBD7C36A07B}"/>
              </a:ext>
            </a:extLst>
          </p:cNvPr>
          <p:cNvSpPr txBox="1"/>
          <p:nvPr/>
        </p:nvSpPr>
        <p:spPr>
          <a:xfrm rot="3184672">
            <a:off x="4014766" y="4820801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070C0"/>
                </a:solidFill>
              </a:rPr>
              <a:t>Long MFP</a:t>
            </a:r>
            <a:endParaRPr kumimoji="1" lang="ja-JP" altLang="en-US" dirty="0">
              <a:solidFill>
                <a:srgbClr val="0070C0"/>
              </a:solidFill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129A7BF-11F4-BC1F-F750-DFCE007BDD4B}"/>
              </a:ext>
            </a:extLst>
          </p:cNvPr>
          <p:cNvSpPr txBox="1"/>
          <p:nvPr/>
        </p:nvSpPr>
        <p:spPr>
          <a:xfrm rot="3184672">
            <a:off x="3572389" y="5138193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Short MFP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054A9E1-6ADD-F7CC-5D74-0B30638A5AEF}"/>
              </a:ext>
            </a:extLst>
          </p:cNvPr>
          <p:cNvSpPr txBox="1"/>
          <p:nvPr/>
        </p:nvSpPr>
        <p:spPr>
          <a:xfrm>
            <a:off x="12476" y="6525448"/>
            <a:ext cx="6070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ja-JP" sz="1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See also, A Gurevich and T Kubo, Physical Review B 96, 184515 (2017)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AE0673B-D92D-C78D-344B-05F4D4722655}"/>
              </a:ext>
            </a:extLst>
          </p:cNvPr>
          <p:cNvSpPr txBox="1"/>
          <p:nvPr/>
        </p:nvSpPr>
        <p:spPr>
          <a:xfrm>
            <a:off x="0" y="6077171"/>
            <a:ext cx="5964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Figures adapted from </a:t>
            </a:r>
            <a:r>
              <a:rPr lang="en-US" altLang="ja-JP" sz="1400" dirty="0">
                <a:solidFill>
                  <a:schemeClr val="tx2"/>
                </a:solidFill>
                <a:latin typeface="Arial" panose="020B0604020202020204" pitchFamily="34" charset="0"/>
              </a:rPr>
              <a:t>T. Kubo, Physical Review Applied 17, 014018 (2022)</a:t>
            </a:r>
          </a:p>
          <a:p>
            <a:r>
              <a:rPr lang="en-US" altLang="ja-JP" sz="14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200" dirty="0">
                <a:solidFill>
                  <a:schemeClr val="tx2"/>
                </a:solidFill>
              </a:rPr>
              <a:t>© American Physical Society.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756EC1D3-8F01-179F-4F0A-FE99A149E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344" y="4785772"/>
            <a:ext cx="2364472" cy="1623723"/>
          </a:xfrm>
          <a:prstGeom prst="rect">
            <a:avLst/>
          </a:prstGeom>
        </p:spPr>
      </p:pic>
      <p:pic>
        <p:nvPicPr>
          <p:cNvPr id="64" name="Picture 3" descr="C:\Users\kubotaka\Desktop\スライド・会議メモ\定例ミーティング\STF空洞meeting\201109_\highF_gif.gif">
            <a:extLst>
              <a:ext uri="{FF2B5EF4-FFF2-40B4-BE49-F238E27FC236}">
                <a16:creationId xmlns:a16="http://schemas.microsoft.com/office/drawing/2014/main" id="{D76AB8F1-1E94-BD51-FDB1-D9DD209CAA6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627" y="4216451"/>
            <a:ext cx="3400661" cy="225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21437909-0B8D-5347-C94F-C56E95467A36}"/>
                  </a:ext>
                </a:extLst>
              </p:cNvPr>
              <p:cNvSpPr txBox="1"/>
              <p:nvPr/>
            </p:nvSpPr>
            <p:spPr>
              <a:xfrm>
                <a:off x="7502427" y="6366729"/>
                <a:ext cx="71128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/>
                        </a:rPr>
                        <m:t>𝜖</m:t>
                      </m:r>
                      <m:r>
                        <a:rPr kumimoji="1" lang="en-US" altLang="ja-JP" b="0" i="1" smtClean="0">
                          <a:latin typeface="Cambria Math"/>
                        </a:rPr>
                        <m:t>/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D0870D6C-AB9B-9ED7-5FDA-9ED880A18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427" y="6366729"/>
                <a:ext cx="711284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E35CEE27-9B97-1668-9426-13B83C1A8370}"/>
                  </a:ext>
                </a:extLst>
              </p:cNvPr>
              <p:cNvSpPr txBox="1"/>
              <p:nvPr/>
            </p:nvSpPr>
            <p:spPr>
              <a:xfrm>
                <a:off x="5607457" y="5096412"/>
                <a:ext cx="49321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/>
                        </a:rPr>
                        <m:t>𝛿</m:t>
                      </m:r>
                      <m:r>
                        <a:rPr kumimoji="1" lang="en-US" altLang="ja-JP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CF2C3141-E09E-B77D-37A4-DECF69CA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457" y="5096412"/>
                <a:ext cx="49321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A511FD2F-31BD-3C1F-6AB0-01BE2E7C03D6}"/>
              </a:ext>
            </a:extLst>
          </p:cNvPr>
          <p:cNvSpPr txBox="1"/>
          <p:nvPr/>
        </p:nvSpPr>
        <p:spPr>
          <a:xfrm>
            <a:off x="7698312" y="6565199"/>
            <a:ext cx="2590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70C0"/>
                </a:solidFill>
              </a:rPr>
              <a:t>T. Kubo (2020) not published</a:t>
            </a:r>
            <a:endParaRPr kumimoji="1" lang="ja-JP" altLang="en-US" sz="1400" dirty="0">
              <a:solidFill>
                <a:srgbClr val="0070C0"/>
              </a:solidFill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3B23FB4-7A3B-BD93-9F13-8A47C0B30AEC}"/>
              </a:ext>
            </a:extLst>
          </p:cNvPr>
          <p:cNvSpPr txBox="1"/>
          <p:nvPr/>
        </p:nvSpPr>
        <p:spPr>
          <a:xfrm>
            <a:off x="5325566" y="3874728"/>
            <a:ext cx="6438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Nonequilibrium quasi particles and Nonequilibrium distribution function</a:t>
            </a:r>
            <a:endParaRPr lang="en-US" altLang="ja-JP" sz="2400" b="1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637A15A-CA58-E1A4-83F2-70135F3F95D9}"/>
              </a:ext>
            </a:extLst>
          </p:cNvPr>
          <p:cNvSpPr txBox="1"/>
          <p:nvPr/>
        </p:nvSpPr>
        <p:spPr>
          <a:xfrm>
            <a:off x="10496487" y="6547648"/>
            <a:ext cx="16565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t/tau </a:t>
            </a:r>
            <a:r>
              <a:rPr kumimoji="1" lang="en-US" altLang="ja-JP" sz="900" dirty="0"/>
              <a:t>(tau ~ 0.2ns for Nb)</a:t>
            </a:r>
            <a:endParaRPr kumimoji="1" lang="ja-JP" altLang="en-US" sz="1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768AC58-A340-E498-2ED5-252B1C01F629}"/>
              </a:ext>
            </a:extLst>
          </p:cNvPr>
          <p:cNvSpPr txBox="1"/>
          <p:nvPr/>
        </p:nvSpPr>
        <p:spPr>
          <a:xfrm>
            <a:off x="8048340" y="97277"/>
            <a:ext cx="41436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Arial Black" panose="020B0A04020102020204" pitchFamily="34" charset="0"/>
              </a:rPr>
              <a:t>Vortices trapped during cool down </a:t>
            </a:r>
          </a:p>
        </p:txBody>
      </p:sp>
    </p:spTree>
    <p:extLst>
      <p:ext uri="{BB962C8B-B14F-4D97-AF65-F5344CB8AC3E}">
        <p14:creationId xmlns:p14="http://schemas.microsoft.com/office/powerpoint/2010/main" val="2429772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12789A-C727-B2EC-CF45-48984B61C50E}"/>
              </a:ext>
            </a:extLst>
          </p:cNvPr>
          <p:cNvSpPr txBox="1"/>
          <p:nvPr/>
        </p:nvSpPr>
        <p:spPr>
          <a:xfrm>
            <a:off x="0" y="493594"/>
            <a:ext cx="121919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4000" dirty="0"/>
              <a:t>In such a seemingly complex situation, </a:t>
            </a:r>
          </a:p>
          <a:p>
            <a:pPr algn="ctr"/>
            <a:r>
              <a:rPr lang="en-US" altLang="ja-JP" sz="4000" dirty="0"/>
              <a:t>how do accelerator researchers extract </a:t>
            </a:r>
          </a:p>
          <a:p>
            <a:pPr algn="ctr"/>
            <a:r>
              <a:rPr lang="en-US" altLang="ja-JP" sz="4000" dirty="0"/>
              <a:t>high cavity performance?</a:t>
            </a:r>
            <a:endParaRPr lang="ja-JP" alt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2F84B6-18BE-A0E3-07DC-CB00987A42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895967" y="3900955"/>
            <a:ext cx="4748939" cy="2884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B5D468-E13C-FD25-8C8C-FF224D40592A}"/>
              </a:ext>
            </a:extLst>
          </p:cNvPr>
          <p:cNvSpPr txBox="1"/>
          <p:nvPr/>
        </p:nvSpPr>
        <p:spPr>
          <a:xfrm>
            <a:off x="13592" y="5836659"/>
            <a:ext cx="391832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100" b="1" dirty="0">
                <a:hlinkClick r:id="rId3"/>
              </a:rPr>
              <a:t>https://doi.org/10.18429/JACoW-IPAC2014-WEPRI022</a:t>
            </a:r>
            <a:r>
              <a:rPr lang="en-US" altLang="ja-JP" sz="1100" b="1" dirty="0"/>
              <a:t>  </a:t>
            </a:r>
            <a:endParaRPr lang="ja-JP" altLang="en-US" sz="11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1479D82-D0D7-413C-9C01-26E7F1A0D7CF}"/>
                  </a:ext>
                </a:extLst>
              </p:cNvPr>
              <p:cNvSpPr txBox="1"/>
              <p:nvPr/>
            </p:nvSpPr>
            <p:spPr>
              <a:xfrm>
                <a:off x="0" y="3063090"/>
                <a:ext cx="1219200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400" dirty="0"/>
                  <a:t>The accelerator community can build </a:t>
                </a:r>
              </a:p>
              <a:p>
                <a:pPr algn="ctr"/>
                <a:r>
                  <a:rPr kumimoji="1" lang="en-US" altLang="ja-JP" sz="2400" b="1" dirty="0">
                    <a:solidFill>
                      <a:schemeClr val="tx2"/>
                    </a:solidFill>
                  </a:rPr>
                  <a:t>the best cavities on the planet </a:t>
                </a:r>
                <a:r>
                  <a:rPr kumimoji="1" lang="en-US" altLang="ja-JP" sz="2400" dirty="0"/>
                  <a:t>— achieving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.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1479D82-D0D7-413C-9C01-26E7F1A0D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63090"/>
                <a:ext cx="12192001" cy="830997"/>
              </a:xfrm>
              <a:prstGeom prst="rect">
                <a:avLst/>
              </a:prstGeom>
              <a:blipFill>
                <a:blip r:embed="rId4"/>
                <a:stretch>
                  <a:fillRect t="-6569" b="-145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B8CCFE-7E90-5BA9-79AC-989E8CA20D89}"/>
              </a:ext>
            </a:extLst>
          </p:cNvPr>
          <p:cNvSpPr txBox="1"/>
          <p:nvPr/>
        </p:nvSpPr>
        <p:spPr>
          <a:xfrm>
            <a:off x="7183974" y="591050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ILC recipe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206066-9B2C-0571-62E6-5A696605E127}"/>
              </a:ext>
            </a:extLst>
          </p:cNvPr>
          <p:cNvSpPr txBox="1"/>
          <p:nvPr/>
        </p:nvSpPr>
        <p:spPr>
          <a:xfrm>
            <a:off x="8971281" y="4420094"/>
            <a:ext cx="2753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← </a:t>
            </a:r>
            <a:r>
              <a:rPr kumimoji="1" lang="en-US" altLang="ja-JP" dirty="0"/>
              <a:t>This is not special but typical in accelerator experiments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1266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4898E6B-9B5F-46B2-AA01-553FDCC3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30</a:t>
            </a:fld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40C70FD-CBD3-43DE-A62F-7E53960B5951}"/>
              </a:ext>
            </a:extLst>
          </p:cNvPr>
          <p:cNvSpPr/>
          <p:nvPr/>
        </p:nvSpPr>
        <p:spPr>
          <a:xfrm>
            <a:off x="4230374" y="2382789"/>
            <a:ext cx="765682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4400" b="1" dirty="0">
                <a:latin typeface="Arial Black" panose="020B0A04020102020204" pitchFamily="34" charset="0"/>
                <a:cs typeface="MV Boli" panose="02000500030200090000" pitchFamily="2" charset="0"/>
              </a:rPr>
              <a:t>Nb cavity technology </a:t>
            </a:r>
          </a:p>
          <a:p>
            <a:pPr algn="ctr"/>
            <a:r>
              <a:rPr lang="en-US" altLang="ja-JP" sz="4400" b="1" dirty="0">
                <a:latin typeface="Arial Black" panose="020B0A04020102020204" pitchFamily="34" charset="0"/>
                <a:cs typeface="MV Boli" panose="02000500030200090000" pitchFamily="2" charset="0"/>
              </a:rPr>
              <a:t>for accelerators: </a:t>
            </a:r>
          </a:p>
          <a:p>
            <a:pPr algn="ctr"/>
            <a:r>
              <a:rPr lang="en-US" altLang="ja-JP" sz="2000" b="1" dirty="0">
                <a:latin typeface="Arial Black" panose="020B0A04020102020204" pitchFamily="34" charset="0"/>
                <a:cs typeface="MV Boli" panose="02000500030200090000" pitchFamily="2" charset="0"/>
              </a:rPr>
              <a:t>Classical ILC recipe as a representative example</a:t>
            </a:r>
          </a:p>
        </p:txBody>
      </p:sp>
      <p:pic>
        <p:nvPicPr>
          <p:cNvPr id="4" name="Picture 3" descr="C:\Users\kubotaka\Desktop\Kenkyu\LG_and_seamless\131213\DSC04896.JPG">
            <a:extLst>
              <a:ext uri="{FF2B5EF4-FFF2-40B4-BE49-F238E27FC236}">
                <a16:creationId xmlns:a16="http://schemas.microsoft.com/office/drawing/2014/main" id="{8DC163E3-C752-8F77-DCE5-CBCAAEABC9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035" r="24878"/>
          <a:stretch/>
        </p:blipFill>
        <p:spPr bwMode="auto">
          <a:xfrm>
            <a:off x="19880" y="-19889"/>
            <a:ext cx="3859593" cy="6877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05B5EB-F2C2-F3C2-04A6-4A8C3792A52B}"/>
              </a:ext>
            </a:extLst>
          </p:cNvPr>
          <p:cNvSpPr txBox="1"/>
          <p:nvPr/>
        </p:nvSpPr>
        <p:spPr>
          <a:xfrm>
            <a:off x="41731" y="6488668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FFC000"/>
                </a:solidFill>
              </a:rPr>
              <a:t>2013 T. Kubo</a:t>
            </a:r>
            <a:endParaRPr kumimoji="1" lang="ja-JP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806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kubotaka\Desktop\Kenkyu\LG_and_seamless\130605_LG板の写真\DSC03932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23"/>
          <a:stretch/>
        </p:blipFill>
        <p:spPr bwMode="auto">
          <a:xfrm rot="5400000">
            <a:off x="2822722" y="185498"/>
            <a:ext cx="6902186" cy="650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85844926-07EB-4AB8-AB25-328421547EC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86" y="2751"/>
            <a:ext cx="1725318" cy="6852498"/>
          </a:xfrm>
          <a:prstGeom prst="rect">
            <a:avLst/>
          </a:prstGeom>
        </p:spPr>
      </p:pic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E4B308A9-B341-4C37-ACDF-20CEDB80B38C}"/>
              </a:ext>
            </a:extLst>
          </p:cNvPr>
          <p:cNvSpPr/>
          <p:nvPr/>
        </p:nvSpPr>
        <p:spPr>
          <a:xfrm>
            <a:off x="320416" y="404664"/>
            <a:ext cx="1112851" cy="432048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2D56485-F0FC-44A2-BA0F-4A83E3C4654E}"/>
              </a:ext>
            </a:extLst>
          </p:cNvPr>
          <p:cNvCxnSpPr>
            <a:cxnSpLocks/>
          </p:cNvCxnSpPr>
          <p:nvPr/>
        </p:nvCxnSpPr>
        <p:spPr>
          <a:xfrm flipV="1">
            <a:off x="6287657" y="99391"/>
            <a:ext cx="0" cy="6622084"/>
          </a:xfrm>
          <a:prstGeom prst="straightConnector1">
            <a:avLst/>
          </a:prstGeom>
          <a:ln w="60325"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FAC9132-41B0-41A6-9A0F-EDF9BFF5580D}"/>
              </a:ext>
            </a:extLst>
          </p:cNvPr>
          <p:cNvSpPr txBox="1"/>
          <p:nvPr/>
        </p:nvSpPr>
        <p:spPr>
          <a:xfrm>
            <a:off x="4460912" y="3118045"/>
            <a:ext cx="1755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bg1"/>
                </a:solidFill>
              </a:rPr>
              <a:t>270 mm</a:t>
            </a:r>
            <a:endParaRPr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31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A13361-6B0C-F4B7-E388-70BD197011C2}"/>
              </a:ext>
            </a:extLst>
          </p:cNvPr>
          <p:cNvSpPr txBox="1"/>
          <p:nvPr/>
        </p:nvSpPr>
        <p:spPr>
          <a:xfrm>
            <a:off x="3583414" y="2497464"/>
            <a:ext cx="2523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  <a:latin typeface="+mn-ea"/>
              </a:rPr>
              <a:t>RRR&gt;300</a:t>
            </a:r>
            <a:endParaRPr kumimoji="1" lang="ja-JP" altLang="en-US" sz="4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C13372-4BB4-629B-D108-D6709DB04967}"/>
              </a:ext>
            </a:extLst>
          </p:cNvPr>
          <p:cNvSpPr txBox="1"/>
          <p:nvPr/>
        </p:nvSpPr>
        <p:spPr>
          <a:xfrm>
            <a:off x="9505045" y="2774353"/>
            <a:ext cx="2712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High purity Nb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80917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:\Users\kubotaka\Desktop\Kenkyu\LG_and_seamless\130605_LG板の写真\DSC03988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7467" y="32686"/>
            <a:ext cx="4265744" cy="319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:\Users\kubotaka\Desktop\Kenkyu\LG_and_seamless\130605_LG板の写真\DSC03983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20299" y="32687"/>
            <a:ext cx="4265744" cy="319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/>
          <p:cNvSpPr txBox="1"/>
          <p:nvPr/>
        </p:nvSpPr>
        <p:spPr>
          <a:xfrm>
            <a:off x="8435123" y="273631"/>
            <a:ext cx="239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latin typeface="MV Boli" panose="02000500030200090000" pitchFamily="2" charset="0"/>
                <a:cs typeface="MV Boli" panose="02000500030200090000" pitchFamily="2" charset="0"/>
              </a:rPr>
              <a:t>Wire-EDM</a:t>
            </a:r>
          </a:p>
          <a:p>
            <a:pPr algn="ctr"/>
            <a:r>
              <a:rPr lang="en-US" altLang="ja-JP" sz="2800" b="1" dirty="0">
                <a:latin typeface="MV Boli" panose="02000500030200090000" pitchFamily="2" charset="0"/>
                <a:cs typeface="MV Boli" panose="02000500030200090000" pitchFamily="2" charset="0"/>
              </a:rPr>
              <a:t>(Electrical discharge machining)</a:t>
            </a:r>
            <a:endParaRPr lang="ja-JP" altLang="en-US" sz="2800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CD0913B-9753-430B-AE5E-A831DC71641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87" y="2751"/>
            <a:ext cx="1725318" cy="6852498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A61BC65-0A0E-4B45-9884-1C84B644DC21}"/>
              </a:ext>
            </a:extLst>
          </p:cNvPr>
          <p:cNvSpPr/>
          <p:nvPr/>
        </p:nvSpPr>
        <p:spPr>
          <a:xfrm>
            <a:off x="320417" y="1090229"/>
            <a:ext cx="1112851" cy="357065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86047A-AA22-46B2-9F7E-8513C6115290}"/>
              </a:ext>
            </a:extLst>
          </p:cNvPr>
          <p:cNvSpPr txBox="1"/>
          <p:nvPr/>
        </p:nvSpPr>
        <p:spPr>
          <a:xfrm>
            <a:off x="1771903" y="17162"/>
            <a:ext cx="33524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 dirty="0">
                <a:latin typeface="MV Boli" panose="02000500030200090000" pitchFamily="2" charset="0"/>
                <a:cs typeface="MV Boli" panose="02000500030200090000" pitchFamily="2" charset="0"/>
              </a:rPr>
              <a:t>Let’s start fabrication. </a:t>
            </a: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082B9E80-3D44-4142-9C8A-EECB4019D603}"/>
              </a:ext>
            </a:extLst>
          </p:cNvPr>
          <p:cNvSpPr/>
          <p:nvPr/>
        </p:nvSpPr>
        <p:spPr>
          <a:xfrm>
            <a:off x="5927219" y="1311388"/>
            <a:ext cx="888704" cy="1152128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32</a:t>
            </a:fld>
            <a:endParaRPr kumimoji="1" lang="ja-JP" altLang="en-US"/>
          </a:p>
        </p:txBody>
      </p:sp>
      <p:pic>
        <p:nvPicPr>
          <p:cNvPr id="3" name="Picture 3" descr="C:\Users\kubotaka\Desktop\Kenkyu\Large Grain\130717_center-cell\DSC04180.JPG">
            <a:extLst>
              <a:ext uri="{FF2B5EF4-FFF2-40B4-BE49-F238E27FC236}">
                <a16:creationId xmlns:a16="http://schemas.microsoft.com/office/drawing/2014/main" id="{0B771452-D6BD-F99D-A3BF-DC9AEF22F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6427" y="3296347"/>
            <a:ext cx="4692318" cy="3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C:\Users\kubotaka\Desktop\Kenkyu\Large Grain\130717_center-cell\DSC04185.JPG">
            <a:extLst>
              <a:ext uri="{FF2B5EF4-FFF2-40B4-BE49-F238E27FC236}">
                <a16:creationId xmlns:a16="http://schemas.microsoft.com/office/drawing/2014/main" id="{C0D54446-D5CC-D92C-713D-EB3CD5DFA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11794" y="3347486"/>
            <a:ext cx="4692318" cy="351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10537E86-3DB5-3A28-74FA-CE90E7FC641D}"/>
              </a:ext>
            </a:extLst>
          </p:cNvPr>
          <p:cNvSpPr/>
          <p:nvPr/>
        </p:nvSpPr>
        <p:spPr>
          <a:xfrm rot="5400000">
            <a:off x="9809633" y="2819858"/>
            <a:ext cx="888704" cy="1152128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FA75A38B-2D1C-0C20-56C4-DDF12CCA4FCF}"/>
              </a:ext>
            </a:extLst>
          </p:cNvPr>
          <p:cNvSpPr/>
          <p:nvPr/>
        </p:nvSpPr>
        <p:spPr>
          <a:xfrm rot="10800000">
            <a:off x="6677974" y="4489630"/>
            <a:ext cx="888704" cy="1152128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06958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ubotaka\Desktop\Kenkyu\LG_and_seamless\131212\DSC04855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43" b="9292"/>
          <a:stretch/>
        </p:blipFill>
        <p:spPr bwMode="auto">
          <a:xfrm>
            <a:off x="2922111" y="3887839"/>
            <a:ext cx="6245476" cy="292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14DFD4-39F9-4E99-A606-BF5937937B6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86" y="2751"/>
            <a:ext cx="1725318" cy="6852498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D873D22-CB7F-47C9-84A3-6BD3640AC036}"/>
              </a:ext>
            </a:extLst>
          </p:cNvPr>
          <p:cNvSpPr/>
          <p:nvPr/>
        </p:nvSpPr>
        <p:spPr>
          <a:xfrm>
            <a:off x="320416" y="1090229"/>
            <a:ext cx="1112851" cy="357065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32BDBB2-8EE8-4466-9C0D-A5335DC0B8DC}"/>
              </a:ext>
            </a:extLst>
          </p:cNvPr>
          <p:cNvSpPr txBox="1"/>
          <p:nvPr/>
        </p:nvSpPr>
        <p:spPr>
          <a:xfrm>
            <a:off x="6243803" y="3159261"/>
            <a:ext cx="53435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  <a:latin typeface="Arial Black" panose="020B0A04020102020204" pitchFamily="34" charset="0"/>
              </a:rPr>
              <a:t>Electron beam welding</a:t>
            </a:r>
            <a:endParaRPr lang="ja-JP" altLang="en-US" sz="32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33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BE79266-4F65-6A30-3B56-00E6538E7D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06"/>
          <a:stretch/>
        </p:blipFill>
        <p:spPr>
          <a:xfrm>
            <a:off x="2853060" y="123880"/>
            <a:ext cx="6249350" cy="3063446"/>
          </a:xfrm>
          <a:prstGeom prst="rect">
            <a:avLst/>
          </a:prstGeom>
          <a:ln w="127000">
            <a:noFill/>
          </a:ln>
        </p:spPr>
      </p:pic>
      <p:sp>
        <p:nvSpPr>
          <p:cNvPr id="6" name="矢印: 下 5">
            <a:extLst>
              <a:ext uri="{FF2B5EF4-FFF2-40B4-BE49-F238E27FC236}">
                <a16:creationId xmlns:a16="http://schemas.microsoft.com/office/drawing/2014/main" id="{A83BA771-B6CB-4E22-8FA4-F991BFB4B8B8}"/>
              </a:ext>
            </a:extLst>
          </p:cNvPr>
          <p:cNvSpPr/>
          <p:nvPr/>
        </p:nvSpPr>
        <p:spPr>
          <a:xfrm>
            <a:off x="5208016" y="2446539"/>
            <a:ext cx="1224136" cy="1224136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78F428-C383-4E15-9ACE-39BE219D0F72}"/>
              </a:ext>
            </a:extLst>
          </p:cNvPr>
          <p:cNvSpPr txBox="1"/>
          <p:nvPr/>
        </p:nvSpPr>
        <p:spPr>
          <a:xfrm>
            <a:off x="2154287" y="4853033"/>
            <a:ext cx="7827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dirty="0">
                <a:solidFill>
                  <a:schemeClr val="bg1"/>
                </a:solidFill>
                <a:latin typeface="Arial Black" panose="020B0A04020102020204" pitchFamily="34" charset="0"/>
                <a:cs typeface="MV Boli" panose="02000500030200090000" pitchFamily="2" charset="0"/>
              </a:rPr>
              <a:t>Half cell </a:t>
            </a:r>
            <a:r>
              <a:rPr lang="en-US" altLang="ja-JP" sz="5400" dirty="0">
                <a:solidFill>
                  <a:schemeClr val="bg1"/>
                </a:solidFill>
                <a:latin typeface="Arial Black" panose="020B0A04020102020204" pitchFamily="34" charset="0"/>
                <a:cs typeface="MV Boli" panose="02000500030200090000" pitchFamily="2" charset="0"/>
              </a:rPr>
              <a:t>+</a:t>
            </a:r>
            <a:r>
              <a:rPr lang="en-US" altLang="ja-JP" sz="3600" dirty="0">
                <a:solidFill>
                  <a:schemeClr val="bg1"/>
                </a:solidFill>
                <a:latin typeface="Arial Black" panose="020B0A04020102020204" pitchFamily="34" charset="0"/>
                <a:cs typeface="MV Boli" panose="02000500030200090000" pitchFamily="2" charset="0"/>
              </a:rPr>
              <a:t> beam pipe</a:t>
            </a:r>
            <a:endParaRPr lang="ja-JP" altLang="en-US" sz="3600" dirty="0">
              <a:solidFill>
                <a:schemeClr val="bg1"/>
              </a:solidFill>
              <a:latin typeface="Arial Black" panose="020B0A04020102020204" pitchFamily="34" charset="0"/>
              <a:cs typeface="MV Boli" panose="02000500030200090000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B376C8-14E1-68FB-DF31-E7D6F018CD16}"/>
              </a:ext>
            </a:extLst>
          </p:cNvPr>
          <p:cNvSpPr txBox="1"/>
          <p:nvPr/>
        </p:nvSpPr>
        <p:spPr>
          <a:xfrm>
            <a:off x="6590512" y="3568405"/>
            <a:ext cx="481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 Black" panose="020B0A04020102020204" pitchFamily="34" charset="0"/>
              </a:rPr>
              <a:t>Cavity material quality is maintained</a:t>
            </a:r>
            <a:endParaRPr kumimoji="1" lang="ja-JP" altLang="en-US" dirty="0">
              <a:latin typeface="Arial Black" panose="020B0A040201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FF002FC-4906-4F5B-4C50-4DD94705A253}"/>
              </a:ext>
            </a:extLst>
          </p:cNvPr>
          <p:cNvSpPr txBox="1"/>
          <p:nvPr/>
        </p:nvSpPr>
        <p:spPr>
          <a:xfrm>
            <a:off x="5450631" y="1653154"/>
            <a:ext cx="3651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dirty="0">
                <a:solidFill>
                  <a:schemeClr val="bg1"/>
                </a:solidFill>
                <a:latin typeface="Arial Black" panose="020B0A04020102020204" pitchFamily="34" charset="0"/>
                <a:cs typeface="MV Boli" panose="02000500030200090000" pitchFamily="2" charset="0"/>
              </a:rPr>
              <a:t>Half cells</a:t>
            </a:r>
            <a:endParaRPr lang="ja-JP" altLang="en-US" sz="3600" dirty="0">
              <a:solidFill>
                <a:schemeClr val="bg1"/>
              </a:solidFill>
              <a:latin typeface="Arial Black" panose="020B0A04020102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30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C:\Users\kubotaka\Desktop\Kenkyu\LG_and_seamless\131125_LG板EBW\DSC04606.JPG">
            <a:extLst>
              <a:ext uri="{FF2B5EF4-FFF2-40B4-BE49-F238E27FC236}">
                <a16:creationId xmlns:a16="http://schemas.microsoft.com/office/drawing/2014/main" id="{009F8469-8EE4-427D-963D-BCF867A54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1271" y="69701"/>
            <a:ext cx="5161550" cy="387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16DF492-564D-44F0-A8C8-8C48078A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34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875F0A-6B8B-4C2A-9CD9-EF34B74E3D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27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F160A-2C14-434A-8026-5A980E963C81}"/>
              </a:ext>
            </a:extLst>
          </p:cNvPr>
          <p:cNvSpPr/>
          <p:nvPr/>
        </p:nvSpPr>
        <p:spPr>
          <a:xfrm>
            <a:off x="330357" y="1090229"/>
            <a:ext cx="1112851" cy="357065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6" name="Picture 2" descr="C:\Users\kubotaka\Desktop\Kenkyu\LG_and_seamless\131125_LG板EBW\DSC04605.JPG">
            <a:extLst>
              <a:ext uri="{FF2B5EF4-FFF2-40B4-BE49-F238E27FC236}">
                <a16:creationId xmlns:a16="http://schemas.microsoft.com/office/drawing/2014/main" id="{BF0F71A3-263F-46B4-A0FD-B950B362A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05793" y="2539178"/>
            <a:ext cx="4850024" cy="425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CE6BAA-1C0A-4B8F-9E79-3416E7BACCD9}"/>
              </a:ext>
            </a:extLst>
          </p:cNvPr>
          <p:cNvSpPr txBox="1"/>
          <p:nvPr/>
        </p:nvSpPr>
        <p:spPr>
          <a:xfrm>
            <a:off x="3541253" y="6198255"/>
            <a:ext cx="397910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latin typeface="MV Boli" panose="02000500030200090000" pitchFamily="2" charset="0"/>
                <a:cs typeface="MV Boli" panose="02000500030200090000" pitchFamily="2" charset="0"/>
              </a:rPr>
              <a:t>Inside the chamber</a:t>
            </a:r>
            <a:endParaRPr lang="ja-JP" alt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AE6276B-51F1-4BFF-B82F-788F115B7888}"/>
              </a:ext>
            </a:extLst>
          </p:cNvPr>
          <p:cNvSpPr txBox="1"/>
          <p:nvPr/>
        </p:nvSpPr>
        <p:spPr>
          <a:xfrm>
            <a:off x="6496700" y="2886216"/>
            <a:ext cx="134994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MV Boli" panose="02000500030200090000" pitchFamily="2" charset="0"/>
                <a:cs typeface="MV Boli" panose="02000500030200090000" pitchFamily="2" charset="0"/>
              </a:rPr>
              <a:t>Electron gun</a:t>
            </a:r>
            <a:endParaRPr lang="ja-JP" altLang="en-US" sz="2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F703B4E7-1ECA-4170-BC9C-FC437065CF64}"/>
              </a:ext>
            </a:extLst>
          </p:cNvPr>
          <p:cNvSpPr/>
          <p:nvPr/>
        </p:nvSpPr>
        <p:spPr>
          <a:xfrm rot="805697">
            <a:off x="6447616" y="3458468"/>
            <a:ext cx="476086" cy="4658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7" name="Picture 2" descr="C:\Users\kubotaka\Desktop\Kenkyu\LG_and_seamless\131213\DSC04859.JPG">
            <a:extLst>
              <a:ext uri="{FF2B5EF4-FFF2-40B4-BE49-F238E27FC236}">
                <a16:creationId xmlns:a16="http://schemas.microsoft.com/office/drawing/2014/main" id="{FE817DA6-BBDE-195F-104E-B59827E716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43237" y="61168"/>
            <a:ext cx="4585055" cy="241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矢印: 下カーブ 7">
            <a:extLst>
              <a:ext uri="{FF2B5EF4-FFF2-40B4-BE49-F238E27FC236}">
                <a16:creationId xmlns:a16="http://schemas.microsoft.com/office/drawing/2014/main" id="{761B8B26-9789-6E8C-BEEF-54E21B45EA67}"/>
              </a:ext>
            </a:extLst>
          </p:cNvPr>
          <p:cNvSpPr/>
          <p:nvPr/>
        </p:nvSpPr>
        <p:spPr>
          <a:xfrm rot="8156629">
            <a:off x="6511487" y="4022405"/>
            <a:ext cx="3681910" cy="1728978"/>
          </a:xfrm>
          <a:prstGeom prst="curved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388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16DF492-564D-44F0-A8C8-8C48078A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35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875F0A-6B8B-4C2A-9CD9-EF34B74E3D4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26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F160A-2C14-434A-8026-5A980E963C81}"/>
              </a:ext>
            </a:extLst>
          </p:cNvPr>
          <p:cNvSpPr/>
          <p:nvPr/>
        </p:nvSpPr>
        <p:spPr>
          <a:xfrm>
            <a:off x="330356" y="1090229"/>
            <a:ext cx="1112851" cy="357065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25" name="Picture 3" descr="C:\Users\kubotaka\Desktop\Kenkyu\LG_and_seamless\131213\DSC04899.JPG">
            <a:extLst>
              <a:ext uri="{FF2B5EF4-FFF2-40B4-BE49-F238E27FC236}">
                <a16:creationId xmlns:a16="http://schemas.microsoft.com/office/drawing/2014/main" id="{FDBF4DD9-9A7F-4515-8C9F-DDCF14629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03335" y="7798"/>
            <a:ext cx="9133605" cy="685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776D98D-0772-41FD-A894-F22E320CCC87}"/>
              </a:ext>
            </a:extLst>
          </p:cNvPr>
          <p:cNvSpPr txBox="1"/>
          <p:nvPr/>
        </p:nvSpPr>
        <p:spPr>
          <a:xfrm>
            <a:off x="8249478" y="1327500"/>
            <a:ext cx="242300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latin typeface="MV Boli" panose="02000500030200090000" pitchFamily="2" charset="0"/>
                <a:cs typeface="MV Boli" panose="02000500030200090000" pitchFamily="2" charset="0"/>
              </a:rPr>
              <a:t>Electron gun</a:t>
            </a:r>
            <a:endParaRPr lang="ja-JP" alt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27" name="矢印: 下 26">
            <a:extLst>
              <a:ext uri="{FF2B5EF4-FFF2-40B4-BE49-F238E27FC236}">
                <a16:creationId xmlns:a16="http://schemas.microsoft.com/office/drawing/2014/main" id="{26C66DBD-013C-4A0B-AF83-323A01F59F46}"/>
              </a:ext>
            </a:extLst>
          </p:cNvPr>
          <p:cNvSpPr/>
          <p:nvPr/>
        </p:nvSpPr>
        <p:spPr>
          <a:xfrm rot="805697">
            <a:off x="9214540" y="1822530"/>
            <a:ext cx="633672" cy="62008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8F310F5D-6EA8-45D4-911E-AAA3F31452CF}"/>
              </a:ext>
            </a:extLst>
          </p:cNvPr>
          <p:cNvCxnSpPr/>
          <p:nvPr/>
        </p:nvCxnSpPr>
        <p:spPr>
          <a:xfrm flipH="1">
            <a:off x="5674073" y="3810744"/>
            <a:ext cx="2806464" cy="0"/>
          </a:xfrm>
          <a:prstGeom prst="straightConnector1">
            <a:avLst/>
          </a:prstGeom>
          <a:ln w="984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0E3E65B-FC16-4266-8F6F-D86D6397F581}"/>
              </a:ext>
            </a:extLst>
          </p:cNvPr>
          <p:cNvSpPr/>
          <p:nvPr/>
        </p:nvSpPr>
        <p:spPr>
          <a:xfrm>
            <a:off x="5659789" y="3091296"/>
            <a:ext cx="28712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C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Electron beam</a:t>
            </a:r>
            <a:endParaRPr lang="ja-JP" altLang="en-US" sz="3200" b="1" dirty="0">
              <a:solidFill>
                <a:srgbClr val="FFC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0532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BA2EF-46C1-FF92-CF81-B6ECA465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04D6DF5-91B1-C324-46EF-5687D65B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36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EB4EEF9-2F70-7C08-8F97-143EAB22913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26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62FFCA5-B6B7-162D-03B1-841D4B8EEA7C}"/>
              </a:ext>
            </a:extLst>
          </p:cNvPr>
          <p:cNvSpPr/>
          <p:nvPr/>
        </p:nvSpPr>
        <p:spPr>
          <a:xfrm>
            <a:off x="330356" y="1090229"/>
            <a:ext cx="1112851" cy="357065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25" name="Picture 3" descr="C:\Users\kubotaka\Desktop\Kenkyu\LG_and_seamless\131213\DSC04899.JPG">
            <a:extLst>
              <a:ext uri="{FF2B5EF4-FFF2-40B4-BE49-F238E27FC236}">
                <a16:creationId xmlns:a16="http://schemas.microsoft.com/office/drawing/2014/main" id="{733A1621-2C86-B176-6376-DD7BC68C2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03335" y="7798"/>
            <a:ext cx="9133605" cy="685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矢印: 下 26">
            <a:extLst>
              <a:ext uri="{FF2B5EF4-FFF2-40B4-BE49-F238E27FC236}">
                <a16:creationId xmlns:a16="http://schemas.microsoft.com/office/drawing/2014/main" id="{F58923A8-EBE4-C167-A8FB-FA2EF1BBFFC3}"/>
              </a:ext>
            </a:extLst>
          </p:cNvPr>
          <p:cNvSpPr/>
          <p:nvPr/>
        </p:nvSpPr>
        <p:spPr>
          <a:xfrm rot="805697">
            <a:off x="9214540" y="1822530"/>
            <a:ext cx="633672" cy="62008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9D2ABAB-10B2-F808-BD05-87D8567564EB}"/>
              </a:ext>
            </a:extLst>
          </p:cNvPr>
          <p:cNvCxnSpPr/>
          <p:nvPr/>
        </p:nvCxnSpPr>
        <p:spPr>
          <a:xfrm flipH="1">
            <a:off x="5674073" y="3810744"/>
            <a:ext cx="2806464" cy="0"/>
          </a:xfrm>
          <a:prstGeom prst="straightConnector1">
            <a:avLst/>
          </a:prstGeom>
          <a:ln w="984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A053F71-2780-906C-E4D3-2B3E94331762}"/>
              </a:ext>
            </a:extLst>
          </p:cNvPr>
          <p:cNvSpPr/>
          <p:nvPr/>
        </p:nvSpPr>
        <p:spPr>
          <a:xfrm>
            <a:off x="5659789" y="3091296"/>
            <a:ext cx="28712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C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Electron beam</a:t>
            </a:r>
            <a:endParaRPr lang="ja-JP" altLang="en-US" sz="3200" b="1" dirty="0">
              <a:solidFill>
                <a:srgbClr val="FFC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8" name="Picture 3" descr="C:\Users\kubotaka\Desktop\Kenkyu\LG_and_seamless\131213\DSC04910.JPG">
            <a:extLst>
              <a:ext uri="{FF2B5EF4-FFF2-40B4-BE49-F238E27FC236}">
                <a16:creationId xmlns:a16="http://schemas.microsoft.com/office/drawing/2014/main" id="{63738228-8A1B-6548-40C3-BF2809710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6578" y="849095"/>
            <a:ext cx="6870024" cy="5152516"/>
          </a:xfrm>
          <a:prstGeom prst="rect">
            <a:avLst/>
          </a:prstGeom>
          <a:noFill/>
          <a:ln w="1270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946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410F2DA-C3E6-4ABE-B098-299F35FE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37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3765B5E-E93F-44FA-9B64-07D75D5BF9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48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5E2DF00-D36B-48DA-A7EA-EF5E0DC9072B}"/>
              </a:ext>
            </a:extLst>
          </p:cNvPr>
          <p:cNvSpPr/>
          <p:nvPr/>
        </p:nvSpPr>
        <p:spPr>
          <a:xfrm>
            <a:off x="73494" y="1710139"/>
            <a:ext cx="1584176" cy="50405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1026" name="Picture 2" descr="C:\Users\kubotaka\Desktop\Kenkyu\PKU北京空洞\130213デジカメ\DSC03387.JPG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299"/>
          <a:stretch/>
        </p:blipFill>
        <p:spPr bwMode="auto">
          <a:xfrm>
            <a:off x="1755404" y="1579962"/>
            <a:ext cx="3695269" cy="361348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kubotaka\Desktop\Kenkyu\PKU北京空洞\130213デジカメ\DSC03390.JPG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98" r="11696"/>
          <a:stretch/>
        </p:blipFill>
        <p:spPr bwMode="auto">
          <a:xfrm>
            <a:off x="2891178" y="3279264"/>
            <a:ext cx="3718417" cy="3570666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ubotaka\Desktop\Kenkyu\PKU北京空洞\130213デジカメ\DSC03404.JPG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276861" y="3287736"/>
            <a:ext cx="3894991" cy="357026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kubotaka\Desktop\Kenkyu\PKU北京空洞\130213デジカメ\DSC03388.JP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909" y="1570483"/>
            <a:ext cx="4379775" cy="328498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7E3576-6A3A-E1BB-972D-BFFFCB9F1EEF}"/>
              </a:ext>
            </a:extLst>
          </p:cNvPr>
          <p:cNvSpPr txBox="1"/>
          <p:nvPr/>
        </p:nvSpPr>
        <p:spPr>
          <a:xfrm>
            <a:off x="1755404" y="8070"/>
            <a:ext cx="104365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dirty="0"/>
              <a:t>Electropolishing (EP)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000" b="1" dirty="0"/>
              <a:t>The electrolyte is a mixture of (9:1) sulfuric acid and hydrofluoric acid (HF).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000" b="1" dirty="0"/>
              <a:t>A DC voltage is applied with Nb as the anode and aluminum as the cathode.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000" b="1" dirty="0"/>
              <a:t>Niobium is oxidized to form Nb</a:t>
            </a:r>
            <a:r>
              <a:rPr lang="en-US" altLang="ja-JP" sz="2000" b="1" baseline="-25000" dirty="0"/>
              <a:t>2</a:t>
            </a:r>
            <a:r>
              <a:rPr lang="en-US" altLang="ja-JP" sz="2000" b="1" dirty="0"/>
              <a:t>O</a:t>
            </a:r>
            <a:r>
              <a:rPr lang="en-US" altLang="ja-JP" sz="2000" b="1" baseline="-25000" dirty="0"/>
              <a:t>5</a:t>
            </a:r>
            <a:r>
              <a:rPr lang="en-US" altLang="ja-JP" sz="2000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000" b="1" dirty="0"/>
              <a:t>This oxide layer is dissolved and polished away by HF​  present in the electrolyte.</a:t>
            </a:r>
            <a:endParaRPr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025460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410F2DA-C3E6-4ABE-B098-299F35FE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38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3765B5E-E93F-44FA-9B64-07D75D5BF9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47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5E2DF00-D36B-48DA-A7EA-EF5E0DC9072B}"/>
              </a:ext>
            </a:extLst>
          </p:cNvPr>
          <p:cNvSpPr/>
          <p:nvPr/>
        </p:nvSpPr>
        <p:spPr>
          <a:xfrm>
            <a:off x="83432" y="1710139"/>
            <a:ext cx="1584176" cy="50405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10" name="Picture 2" descr="C:\Users\kubotaka\Desktop\Kenkyu\LG_and_seamless\140122_EP1\DSC05126.JPG">
            <a:extLst>
              <a:ext uri="{FF2B5EF4-FFF2-40B4-BE49-F238E27FC236}">
                <a16:creationId xmlns:a16="http://schemas.microsoft.com/office/drawing/2014/main" id="{3578B12A-3E9F-42EE-8FC7-A17AC905BE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660"/>
          <a:stretch/>
        </p:blipFill>
        <p:spPr bwMode="auto">
          <a:xfrm>
            <a:off x="2735007" y="1464474"/>
            <a:ext cx="8299877" cy="5312314"/>
          </a:xfrm>
          <a:prstGeom prst="rect">
            <a:avLst/>
          </a:prstGeom>
          <a:noFill/>
          <a:ln w="920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6D544B-A812-1CD5-3527-76D50D1442D3}"/>
              </a:ext>
            </a:extLst>
          </p:cNvPr>
          <p:cNvSpPr txBox="1"/>
          <p:nvPr/>
        </p:nvSpPr>
        <p:spPr>
          <a:xfrm>
            <a:off x="1755404" y="8070"/>
            <a:ext cx="104365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dirty="0"/>
              <a:t>Electropolishing (EP)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000" b="1" dirty="0"/>
              <a:t>The electrolyte is a mixture of (9:1) sulfuric acid and hydrofluoric acid (HF).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000" b="1" dirty="0"/>
              <a:t>A DC voltage is applied with Nb as the anode and aluminum as the cathode.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000" b="1" dirty="0"/>
              <a:t>Niobium is oxidized to form Nb</a:t>
            </a:r>
            <a:r>
              <a:rPr lang="en-US" altLang="ja-JP" sz="2000" b="1" baseline="-25000" dirty="0"/>
              <a:t>2</a:t>
            </a:r>
            <a:r>
              <a:rPr lang="en-US" altLang="ja-JP" sz="2000" b="1" dirty="0"/>
              <a:t>O</a:t>
            </a:r>
            <a:r>
              <a:rPr lang="en-US" altLang="ja-JP" sz="2000" b="1" baseline="-25000" dirty="0"/>
              <a:t>5</a:t>
            </a:r>
            <a:r>
              <a:rPr lang="en-US" altLang="ja-JP" sz="2000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2000" b="1" dirty="0"/>
              <a:t>This oxide layer is dissolved and polished away by HF​  present in the electrolyte.</a:t>
            </a:r>
            <a:endParaRPr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2099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ubotaka\Desktop\Kenkyu\PKU北京空洞\130213デジカメ\DSC03444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95939" y="-12"/>
            <a:ext cx="8961564" cy="672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5352A01-7F8E-49DA-BD6C-5B836CFA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39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49B729B-4479-4F56-AC50-9ECAE161EA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94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E972E29-DB8D-40E0-B159-6FEADEBEBEB6}"/>
              </a:ext>
            </a:extLst>
          </p:cNvPr>
          <p:cNvSpPr/>
          <p:nvPr/>
        </p:nvSpPr>
        <p:spPr>
          <a:xfrm>
            <a:off x="89671" y="2492896"/>
            <a:ext cx="1584176" cy="50405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41B508D-E3E3-4210-B178-0FB508601E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54276" y="3553649"/>
            <a:ext cx="4907159" cy="3251615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4CAF158-06AC-4D0C-A5E6-4927C0911DBD}"/>
              </a:ext>
            </a:extLst>
          </p:cNvPr>
          <p:cNvSpPr/>
          <p:nvPr/>
        </p:nvSpPr>
        <p:spPr>
          <a:xfrm>
            <a:off x="2485384" y="5952972"/>
            <a:ext cx="4270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00" dirty="0">
                <a:solidFill>
                  <a:srgbClr val="0070C0"/>
                </a:solidFill>
              </a:rPr>
              <a:t>B. </a:t>
            </a:r>
            <a:r>
              <a:rPr lang="en-US" altLang="ja-JP" sz="1000" dirty="0" err="1">
                <a:solidFill>
                  <a:srgbClr val="0070C0"/>
                </a:solidFill>
              </a:rPr>
              <a:t>Aune</a:t>
            </a:r>
            <a:r>
              <a:rPr lang="en-US" altLang="ja-JP" sz="1000" dirty="0">
                <a:solidFill>
                  <a:srgbClr val="0070C0"/>
                </a:solidFill>
              </a:rPr>
              <a:t> et al., </a:t>
            </a:r>
          </a:p>
          <a:p>
            <a:r>
              <a:rPr lang="en-US" altLang="ja-JP" sz="1000" dirty="0">
                <a:solidFill>
                  <a:srgbClr val="0070C0"/>
                </a:solidFill>
              </a:rPr>
              <a:t>in proceedings of LINAC1990, Albuquerque, New Mexico, USA (1990)</a:t>
            </a:r>
            <a:endParaRPr lang="ja-JP" altLang="en-US" sz="1000" dirty="0">
              <a:solidFill>
                <a:srgbClr val="0070C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F43C592-398E-426F-B4E0-BFBF54894B66}"/>
              </a:ext>
            </a:extLst>
          </p:cNvPr>
          <p:cNvSpPr txBox="1"/>
          <p:nvPr/>
        </p:nvSpPr>
        <p:spPr>
          <a:xfrm>
            <a:off x="2362262" y="3734897"/>
            <a:ext cx="4091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“Q-disease” due to niobium hydride</a:t>
            </a:r>
            <a:endParaRPr lang="ja-JP" altLang="en-US" dirty="0">
              <a:solidFill>
                <a:srgbClr val="FF0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C400309-2752-0E3E-1CCE-7DFEBFDE10AA}"/>
              </a:ext>
            </a:extLst>
          </p:cNvPr>
          <p:cNvSpPr txBox="1"/>
          <p:nvPr/>
        </p:nvSpPr>
        <p:spPr>
          <a:xfrm>
            <a:off x="2295939" y="798416"/>
            <a:ext cx="89615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en-US" altLang="ja-JP" sz="2800" b="1" dirty="0"/>
              <a:t>To degas hydrogen — prevents hydrogen Q-disease (requires &gt;700 </a:t>
            </a:r>
            <a:r>
              <a:rPr kumimoji="1" lang="ja-JP" altLang="en-US" sz="2800" b="1" dirty="0"/>
              <a:t>℃</a:t>
            </a:r>
            <a:r>
              <a:rPr kumimoji="1" lang="en-US" altLang="ja-JP" sz="2800" b="1" dirty="0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kumimoji="1" lang="en-US" altLang="ja-JP" sz="28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007581-A1F9-3287-A505-15952F1FD8C4}"/>
              </a:ext>
            </a:extLst>
          </p:cNvPr>
          <p:cNvSpPr txBox="1"/>
          <p:nvPr/>
        </p:nvSpPr>
        <p:spPr>
          <a:xfrm>
            <a:off x="5077944" y="28540"/>
            <a:ext cx="32592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Annealing</a:t>
            </a:r>
            <a:endParaRPr kumimoji="1" lang="ja-JP" altLang="en-US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416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B457-E54E-6D7E-AAAE-DF0210A2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ubotaka\Desktop\Kenkyu\PKU北京空洞\130213デジカメ\DSC03444.JPG">
            <a:extLst>
              <a:ext uri="{FF2B5EF4-FFF2-40B4-BE49-F238E27FC236}">
                <a16:creationId xmlns:a16="http://schemas.microsoft.com/office/drawing/2014/main" id="{37903FF6-974A-F2F9-E8D1-39D67077D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95939" y="-12"/>
            <a:ext cx="8961564" cy="672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0E8F527-DCC6-7E56-5768-E28D5CD8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40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9EF39F7-8508-4E2D-A054-C322CA5B02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94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1DB2C88-A517-D769-26D9-C78ACED6E578}"/>
              </a:ext>
            </a:extLst>
          </p:cNvPr>
          <p:cNvSpPr/>
          <p:nvPr/>
        </p:nvSpPr>
        <p:spPr>
          <a:xfrm>
            <a:off x="89671" y="2492896"/>
            <a:ext cx="1584176" cy="50405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4CFE7BB-7010-A204-2443-B91B533E1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54276" y="3553649"/>
            <a:ext cx="4907159" cy="3251615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343EBE2-7E56-7C56-7EB2-92CE9A43A8BD}"/>
              </a:ext>
            </a:extLst>
          </p:cNvPr>
          <p:cNvSpPr/>
          <p:nvPr/>
        </p:nvSpPr>
        <p:spPr>
          <a:xfrm>
            <a:off x="2485384" y="5952972"/>
            <a:ext cx="4270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000" dirty="0">
                <a:solidFill>
                  <a:srgbClr val="0070C0"/>
                </a:solidFill>
              </a:rPr>
              <a:t>B. </a:t>
            </a:r>
            <a:r>
              <a:rPr lang="en-US" altLang="ja-JP" sz="1000" dirty="0" err="1">
                <a:solidFill>
                  <a:srgbClr val="0070C0"/>
                </a:solidFill>
              </a:rPr>
              <a:t>Aune</a:t>
            </a:r>
            <a:r>
              <a:rPr lang="en-US" altLang="ja-JP" sz="1000" dirty="0">
                <a:solidFill>
                  <a:srgbClr val="0070C0"/>
                </a:solidFill>
              </a:rPr>
              <a:t> et al., </a:t>
            </a:r>
          </a:p>
          <a:p>
            <a:r>
              <a:rPr lang="en-US" altLang="ja-JP" sz="1000" dirty="0">
                <a:solidFill>
                  <a:srgbClr val="0070C0"/>
                </a:solidFill>
              </a:rPr>
              <a:t>in proceedings of LINAC1990, Albuquerque, New Mexico, USA (1990)</a:t>
            </a:r>
            <a:endParaRPr lang="ja-JP" altLang="en-US" sz="1000" dirty="0">
              <a:solidFill>
                <a:srgbClr val="0070C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6FE41D-5D7F-E6B5-69A2-C0EA8F2D8ACE}"/>
              </a:ext>
            </a:extLst>
          </p:cNvPr>
          <p:cNvSpPr txBox="1"/>
          <p:nvPr/>
        </p:nvSpPr>
        <p:spPr>
          <a:xfrm>
            <a:off x="2362262" y="3734897"/>
            <a:ext cx="4091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“Q-disease” due to niobium hydride</a:t>
            </a:r>
            <a:endParaRPr lang="ja-JP" altLang="en-US" dirty="0">
              <a:solidFill>
                <a:srgbClr val="FF0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B0C17BF-60DD-3803-2472-F826C370A171}"/>
              </a:ext>
            </a:extLst>
          </p:cNvPr>
          <p:cNvSpPr txBox="1"/>
          <p:nvPr/>
        </p:nvSpPr>
        <p:spPr>
          <a:xfrm>
            <a:off x="2295939" y="798416"/>
            <a:ext cx="89615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en-US" altLang="ja-JP" sz="2800" b="1" dirty="0"/>
              <a:t>To degas hydrogen — prevents hydrogen Q-disease (requires &gt;700 </a:t>
            </a:r>
            <a:r>
              <a:rPr kumimoji="1" lang="ja-JP" altLang="en-US" sz="2800" b="1" dirty="0"/>
              <a:t>℃</a:t>
            </a:r>
            <a:r>
              <a:rPr kumimoji="1" lang="en-US" altLang="ja-JP" sz="2800" b="1" dirty="0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kumimoji="1" lang="en-US" altLang="ja-JP" sz="28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en-US" altLang="ja-JP" sz="2800" b="1" dirty="0"/>
              <a:t>To reduce pinning centers — minimizes trapped flux (requires ~900 </a:t>
            </a:r>
            <a:r>
              <a:rPr kumimoji="1" lang="ja-JP" altLang="en-US" sz="2800" b="1" dirty="0"/>
              <a:t>℃</a:t>
            </a:r>
            <a:r>
              <a:rPr kumimoji="1" lang="en-US" altLang="ja-JP" sz="2800" b="1" dirty="0"/>
              <a:t>)</a:t>
            </a:r>
            <a:endParaRPr kumimoji="1" lang="ja-JP" altLang="en-US" sz="28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94425C-D72F-F4BB-F007-A67951F56187}"/>
              </a:ext>
            </a:extLst>
          </p:cNvPr>
          <p:cNvSpPr txBox="1"/>
          <p:nvPr/>
        </p:nvSpPr>
        <p:spPr>
          <a:xfrm>
            <a:off x="5077944" y="28540"/>
            <a:ext cx="32592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Annealing</a:t>
            </a:r>
            <a:endParaRPr kumimoji="1" lang="ja-JP" altLang="en-US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710707A2-657F-6F86-7439-B0079AF8E0E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4152" y="3553649"/>
            <a:ext cx="4507345" cy="3241964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504186C-A23B-4494-E689-8F7726A96B1F}"/>
              </a:ext>
            </a:extLst>
          </p:cNvPr>
          <p:cNvSpPr txBox="1"/>
          <p:nvPr/>
        </p:nvSpPr>
        <p:spPr>
          <a:xfrm>
            <a:off x="8064213" y="3524794"/>
            <a:ext cx="33794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100" dirty="0">
                <a:solidFill>
                  <a:srgbClr val="0070C0"/>
                </a:solidFill>
              </a:rPr>
              <a:t>S. Posen et al., J. Appl. Phys. </a:t>
            </a:r>
            <a:r>
              <a:rPr lang="en-US" altLang="ja-JP" sz="1100" b="1" dirty="0">
                <a:solidFill>
                  <a:srgbClr val="0070C0"/>
                </a:solidFill>
              </a:rPr>
              <a:t>119</a:t>
            </a:r>
            <a:r>
              <a:rPr lang="en-US" altLang="ja-JP" sz="1100" dirty="0">
                <a:solidFill>
                  <a:srgbClr val="0070C0"/>
                </a:solidFill>
              </a:rPr>
              <a:t>, 213903 (2016).</a:t>
            </a:r>
          </a:p>
          <a:p>
            <a:pPr algn="r"/>
            <a:r>
              <a:rPr lang="en-US" altLang="ja-JP" sz="1100" dirty="0">
                <a:hlinkClick r:id="rId6"/>
              </a:rPr>
              <a:t>https://doi.org/10.1063/1.4953087</a:t>
            </a:r>
            <a:r>
              <a:rPr lang="en-US" altLang="ja-JP" sz="1100" dirty="0"/>
              <a:t> </a:t>
            </a:r>
            <a:endParaRPr lang="en-US" altLang="ja-JP" sz="11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8084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5352A01-7F8E-49DA-BD6C-5B836CFA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41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49B729B-4479-4F56-AC50-9ECAE161EA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87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E972E29-DB8D-40E0-B159-6FEADEBEBEB6}"/>
              </a:ext>
            </a:extLst>
          </p:cNvPr>
          <p:cNvSpPr/>
          <p:nvPr/>
        </p:nvSpPr>
        <p:spPr>
          <a:xfrm>
            <a:off x="92764" y="3256991"/>
            <a:ext cx="1584176" cy="50405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6" name="Picture 2" descr="C:\Users\kubotaka\Desktop\Kenkyu\LG_and_seamless\140122_EP1\DSC05126.JPG">
            <a:extLst>
              <a:ext uri="{FF2B5EF4-FFF2-40B4-BE49-F238E27FC236}">
                <a16:creationId xmlns:a16="http://schemas.microsoft.com/office/drawing/2014/main" id="{27537C08-BA75-3EAD-0C75-A6D948D92A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660"/>
          <a:stretch/>
        </p:blipFill>
        <p:spPr bwMode="auto">
          <a:xfrm>
            <a:off x="2320013" y="994577"/>
            <a:ext cx="9129865" cy="5843545"/>
          </a:xfrm>
          <a:prstGeom prst="rect">
            <a:avLst/>
          </a:prstGeom>
          <a:noFill/>
          <a:ln w="920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C72478-08B5-C649-4C05-D08CBD6484B2}"/>
              </a:ext>
            </a:extLst>
          </p:cNvPr>
          <p:cNvSpPr txBox="1"/>
          <p:nvPr/>
        </p:nvSpPr>
        <p:spPr>
          <a:xfrm>
            <a:off x="2246243" y="248479"/>
            <a:ext cx="9610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Arial Black" panose="020B0A04020102020204" pitchFamily="34" charset="0"/>
              </a:rPr>
              <a:t>A </a:t>
            </a:r>
            <a:r>
              <a:rPr lang="en-US" altLang="ja-JP" sz="2800" dirty="0">
                <a:solidFill>
                  <a:srgbClr val="00B050"/>
                </a:solidFill>
                <a:latin typeface="Arial Black" panose="020B0A04020102020204" pitchFamily="34" charset="0"/>
              </a:rPr>
              <a:t>second EP </a:t>
            </a:r>
            <a:r>
              <a:rPr lang="en-US" altLang="ja-JP" sz="2800" dirty="0">
                <a:latin typeface="Arial Black" panose="020B0A04020102020204" pitchFamily="34" charset="0"/>
              </a:rPr>
              <a:t>step, removing only a few microns.</a:t>
            </a:r>
            <a:endParaRPr kumimoji="1" lang="ja-JP" altLang="en-US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1628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ubotaka\Desktop\スライド・会議メモ\国際会議・研究会等\2020\200915_JPSシンポジウム（オンライン）\P1044646.JPG-small（COIクリーンルーム）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21" y="2752"/>
            <a:ext cx="4607169" cy="686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49B729B-4479-4F56-AC50-9ECAE161E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34" y="2751"/>
            <a:ext cx="1725318" cy="6852498"/>
          </a:xfrm>
          <a:prstGeom prst="rect">
            <a:avLst/>
          </a:prstGeom>
        </p:spPr>
      </p:pic>
      <p:sp>
        <p:nvSpPr>
          <p:cNvPr id="7" name="四角形: 角を丸くする 3">
            <a:extLst>
              <a:ext uri="{FF2B5EF4-FFF2-40B4-BE49-F238E27FC236}">
                <a16:creationId xmlns:a16="http://schemas.microsoft.com/office/drawing/2014/main" id="{CE972E29-DB8D-40E0-B159-6FEADEBEBEB6}"/>
              </a:ext>
            </a:extLst>
          </p:cNvPr>
          <p:cNvSpPr/>
          <p:nvPr/>
        </p:nvSpPr>
        <p:spPr>
          <a:xfrm>
            <a:off x="216982" y="4033057"/>
            <a:ext cx="1309237" cy="1114804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250896" y="6583098"/>
            <a:ext cx="226841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ja-JP" altLang="ja-JP" sz="1000" b="1" dirty="0">
                <a:latin typeface="Arial Unicode MS" pitchFamily="50" charset="-128"/>
                <a:ea typeface="ＭＳ Ｐゴシック" pitchFamily="50" charset="-128"/>
                <a:cs typeface="ＭＳ Ｐゴシック" pitchFamily="50" charset="-128"/>
              </a:rPr>
              <a:t>Courtesy of Mathieu Omet (KEK)</a:t>
            </a:r>
            <a:r>
              <a:rPr lang="ja-JP" altLang="ja-JP" sz="600" b="1" dirty="0">
                <a:latin typeface="Arial" pitchFamily="34" charset="0"/>
                <a:ea typeface="ＭＳ Ｐゴシック" pitchFamily="50" charset="-128"/>
                <a:cs typeface="ＭＳ Ｐゴシック" pitchFamily="50" charset="-128"/>
              </a:rPr>
              <a:t> </a:t>
            </a:r>
            <a:endParaRPr lang="ja-JP" altLang="ja-JP" b="1" dirty="0">
              <a:latin typeface="Arial" pitchFamily="34" charset="0"/>
              <a:ea typeface="ＭＳ Ｐゴシック" pitchFamily="50" charset="-128"/>
              <a:cs typeface="ＭＳ Ｐゴシック" pitchFamily="50" charset="-128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6"/>
          <a:stretch/>
        </p:blipFill>
        <p:spPr bwMode="auto">
          <a:xfrm rot="5400000">
            <a:off x="7284061" y="1065939"/>
            <a:ext cx="4172349" cy="211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ABD6B87-13FB-46F3-ABF7-750EDB72D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7340" b="16117"/>
          <a:stretch/>
        </p:blipFill>
        <p:spPr bwMode="auto">
          <a:xfrm>
            <a:off x="7824112" y="4711880"/>
            <a:ext cx="2708465" cy="206393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正方形/長方形 10"/>
          <p:cNvSpPr/>
          <p:nvPr/>
        </p:nvSpPr>
        <p:spPr>
          <a:xfrm>
            <a:off x="7744600" y="4154129"/>
            <a:ext cx="381386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100" dirty="0">
                <a:solidFill>
                  <a:schemeClr val="tx2"/>
                </a:solidFill>
              </a:rPr>
              <a:t>H. Sakai et al., </a:t>
            </a:r>
          </a:p>
          <a:p>
            <a:r>
              <a:rPr lang="en-US" altLang="ja-JP" sz="1100" dirty="0">
                <a:solidFill>
                  <a:schemeClr val="tx2"/>
                </a:solidFill>
              </a:rPr>
              <a:t>Phys. Rev. </a:t>
            </a:r>
            <a:r>
              <a:rPr lang="en-US" altLang="ja-JP" sz="1100" dirty="0" err="1">
                <a:solidFill>
                  <a:schemeClr val="tx2"/>
                </a:solidFill>
              </a:rPr>
              <a:t>Accel</a:t>
            </a:r>
            <a:r>
              <a:rPr lang="en-US" altLang="ja-JP" sz="1100" dirty="0">
                <a:solidFill>
                  <a:schemeClr val="tx2"/>
                </a:solidFill>
              </a:rPr>
              <a:t>. Beams </a:t>
            </a:r>
            <a:r>
              <a:rPr lang="en-US" altLang="ja-JP" sz="1100" b="1" dirty="0">
                <a:solidFill>
                  <a:schemeClr val="tx2"/>
                </a:solidFill>
              </a:rPr>
              <a:t>22</a:t>
            </a:r>
            <a:r>
              <a:rPr lang="en-US" altLang="ja-JP" sz="1100" dirty="0">
                <a:solidFill>
                  <a:schemeClr val="tx2"/>
                </a:solidFill>
              </a:rPr>
              <a:t>,022002 (2019)</a:t>
            </a:r>
          </a:p>
          <a:p>
            <a:r>
              <a:rPr lang="en-US" altLang="ja-JP" sz="1100" dirty="0">
                <a:solidFill>
                  <a:srgbClr val="6BA9DA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https://doi.org/10.1103/PhysRevAccelBeams.</a:t>
            </a:r>
            <a:r>
              <a:rPr lang="en-US" altLang="ja-JP" sz="1100" dirty="0">
                <a:solidFill>
                  <a:schemeClr val="tx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22.022002</a:t>
            </a:r>
            <a:r>
              <a:rPr lang="en-US" altLang="ja-JP" sz="1100" dirty="0">
                <a:solidFill>
                  <a:schemeClr val="tx2"/>
                </a:solidFill>
              </a:rPr>
              <a:t> </a:t>
            </a:r>
            <a:endParaRPr lang="ja-JP" altLang="en-US" sz="1100" dirty="0">
              <a:solidFill>
                <a:schemeClr val="tx2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DC70C63-D5A1-49B2-9A31-A4A75DEB6DFE}"/>
              </a:ext>
            </a:extLst>
          </p:cNvPr>
          <p:cNvSpPr/>
          <p:nvPr/>
        </p:nvSpPr>
        <p:spPr>
          <a:xfrm>
            <a:off x="8443544" y="4726706"/>
            <a:ext cx="218049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050" dirty="0">
                <a:solidFill>
                  <a:srgbClr val="0070C0"/>
                </a:solidFill>
              </a:rPr>
              <a:t>P. Bernard et al., In proceedings of EPAC1992, Berlin, Germany (1992)</a:t>
            </a:r>
            <a:endParaRPr lang="ja-JP" altLang="en-US" sz="105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070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49B729B-4479-4F56-AC50-9ECAE161EA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65" y="2751"/>
            <a:ext cx="1725318" cy="6852498"/>
          </a:xfrm>
          <a:prstGeom prst="rect">
            <a:avLst/>
          </a:prstGeom>
        </p:spPr>
      </p:pic>
      <p:sp>
        <p:nvSpPr>
          <p:cNvPr id="3" name="四角形: 角を丸くする 3">
            <a:extLst>
              <a:ext uri="{FF2B5EF4-FFF2-40B4-BE49-F238E27FC236}">
                <a16:creationId xmlns:a16="http://schemas.microsoft.com/office/drawing/2014/main" id="{CE972E29-DB8D-40E0-B159-6FEADEBEBEB6}"/>
              </a:ext>
            </a:extLst>
          </p:cNvPr>
          <p:cNvSpPr/>
          <p:nvPr/>
        </p:nvSpPr>
        <p:spPr>
          <a:xfrm>
            <a:off x="112643" y="5400419"/>
            <a:ext cx="1584177" cy="692205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2050" name="Picture 2" descr="C:\Users\kubotaka\Desktop\スライド・会議メモ\国際会議・研究会等\2020\200915_JPSシンポジウム（オンライン）\P1077964.JPG-small（ベーキング）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628" y="90497"/>
            <a:ext cx="3776439" cy="566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869299" y="5413752"/>
            <a:ext cx="2268416" cy="2462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ja-JP" altLang="ja-JP" sz="1000" b="1" dirty="0">
                <a:latin typeface="Arial Unicode MS" pitchFamily="50" charset="-128"/>
                <a:ea typeface="ＭＳ Ｐゴシック" pitchFamily="50" charset="-128"/>
                <a:cs typeface="ＭＳ Ｐゴシック" pitchFamily="50" charset="-128"/>
              </a:rPr>
              <a:t>Courtesy of Mathieu Omet (KEK)</a:t>
            </a:r>
            <a:r>
              <a:rPr lang="ja-JP" altLang="ja-JP" sz="600" b="1" dirty="0">
                <a:latin typeface="Arial" pitchFamily="34" charset="0"/>
                <a:ea typeface="ＭＳ Ｐゴシック" pitchFamily="50" charset="-128"/>
                <a:cs typeface="ＭＳ Ｐゴシック" pitchFamily="50" charset="-128"/>
              </a:rPr>
              <a:t> </a:t>
            </a:r>
            <a:endParaRPr lang="ja-JP" altLang="ja-JP" b="1" dirty="0">
              <a:latin typeface="Arial" pitchFamily="34" charset="0"/>
              <a:ea typeface="ＭＳ Ｐゴシック" pitchFamily="50" charset="-128"/>
              <a:cs typeface="ＭＳ Ｐゴシック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69776" y="122711"/>
            <a:ext cx="352051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</a:rPr>
              <a:t>120</a:t>
            </a:r>
            <a:r>
              <a:rPr lang="ja-JP" altLang="en-US" sz="3200" b="1" dirty="0">
                <a:solidFill>
                  <a:srgbClr val="FF0000"/>
                </a:solidFill>
              </a:rPr>
              <a:t>℃ー</a:t>
            </a:r>
            <a:r>
              <a:rPr lang="en-US" altLang="ja-JP" sz="3200" b="1" dirty="0">
                <a:solidFill>
                  <a:srgbClr val="FF0000"/>
                </a:solidFill>
              </a:rPr>
              <a:t>48h</a:t>
            </a:r>
            <a:r>
              <a:rPr lang="ja-JP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ja-JP" sz="3200" b="1" dirty="0">
                <a:solidFill>
                  <a:srgbClr val="FF0000"/>
                </a:solidFill>
              </a:rPr>
              <a:t>bake</a:t>
            </a:r>
            <a:endParaRPr lang="ja-JP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0438C5-C919-C656-0C29-E04B8B371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2" t="19420" r="18221" b="19994"/>
          <a:stretch/>
        </p:blipFill>
        <p:spPr bwMode="auto">
          <a:xfrm>
            <a:off x="6252486" y="346828"/>
            <a:ext cx="3941574" cy="25697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670829-E456-B94A-5A01-5B0EE9458387}"/>
              </a:ext>
            </a:extLst>
          </p:cNvPr>
          <p:cNvSpPr txBox="1"/>
          <p:nvPr/>
        </p:nvSpPr>
        <p:spPr>
          <a:xfrm>
            <a:off x="10207609" y="1100212"/>
            <a:ext cx="1908756" cy="86737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latin typeface="MV Boli" panose="02000500030200090000" pitchFamily="2" charset="0"/>
                <a:cs typeface="MV Boli" panose="02000500030200090000" pitchFamily="2" charset="0"/>
              </a:rPr>
              <a:t>Without baking</a:t>
            </a:r>
            <a:endParaRPr lang="ja-JP" alt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2E4433E-220F-13DB-6F21-CDC627544A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5" t="14263" r="14897" b="15937"/>
          <a:stretch/>
        </p:blipFill>
        <p:spPr bwMode="auto">
          <a:xfrm>
            <a:off x="6179290" y="2984606"/>
            <a:ext cx="4087965" cy="277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2C16E72-AB0E-E3EE-9CD8-AB68F574A339}"/>
              </a:ext>
            </a:extLst>
          </p:cNvPr>
          <p:cNvSpPr txBox="1"/>
          <p:nvPr/>
        </p:nvSpPr>
        <p:spPr>
          <a:xfrm>
            <a:off x="10452543" y="3881044"/>
            <a:ext cx="1189727" cy="954107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latin typeface="MV Boli" panose="02000500030200090000" pitchFamily="2" charset="0"/>
                <a:cs typeface="MV Boli" panose="02000500030200090000" pitchFamily="2" charset="0"/>
              </a:rPr>
              <a:t>With </a:t>
            </a:r>
          </a:p>
          <a:p>
            <a:pPr algn="ctr"/>
            <a:r>
              <a:rPr lang="en-US" altLang="ja-JP" sz="2800" dirty="0">
                <a:latin typeface="MV Boli" panose="02000500030200090000" pitchFamily="2" charset="0"/>
                <a:cs typeface="MV Boli" panose="02000500030200090000" pitchFamily="2" charset="0"/>
              </a:rPr>
              <a:t>baking</a:t>
            </a:r>
            <a:endParaRPr lang="ja-JP" alt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4D68B0-99D0-1F4B-8854-D3DE1F32F751}"/>
              </a:ext>
            </a:extLst>
          </p:cNvPr>
          <p:cNvSpPr txBox="1"/>
          <p:nvPr/>
        </p:nvSpPr>
        <p:spPr>
          <a:xfrm>
            <a:off x="1987648" y="5732761"/>
            <a:ext cx="965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Spatial variation of the mean free path on the scale of the penetration depth suppresses the surface current, thereby increasing the maximum achievable field.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9B0728-3DBD-5C5A-B8FA-80C908DF3DF4}"/>
              </a:ext>
            </a:extLst>
          </p:cNvPr>
          <p:cNvSpPr/>
          <p:nvPr/>
        </p:nvSpPr>
        <p:spPr>
          <a:xfrm>
            <a:off x="5790292" y="288"/>
            <a:ext cx="633814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ja-JP" sz="1050" dirty="0">
                <a:solidFill>
                  <a:schemeClr val="tx2"/>
                </a:solidFill>
              </a:rPr>
              <a:t>L. </a:t>
            </a:r>
            <a:r>
              <a:rPr lang="en-US" altLang="ja-JP" sz="1050" dirty="0" err="1">
                <a:solidFill>
                  <a:schemeClr val="tx2"/>
                </a:solidFill>
              </a:rPr>
              <a:t>Lilje</a:t>
            </a:r>
            <a:r>
              <a:rPr lang="en-US" altLang="ja-JP" sz="1050" dirty="0">
                <a:solidFill>
                  <a:schemeClr val="tx2"/>
                </a:solidFill>
              </a:rPr>
              <a:t> et al., in Proceedings of SRF1999, Santa Fe, New Mexico, USA</a:t>
            </a:r>
            <a:r>
              <a:rPr lang="ja-JP" altLang="en-US" sz="1050" dirty="0">
                <a:solidFill>
                  <a:schemeClr val="tx2"/>
                </a:solidFill>
              </a:rPr>
              <a:t> </a:t>
            </a:r>
            <a:r>
              <a:rPr lang="en-US" altLang="ja-JP" sz="1050" dirty="0">
                <a:solidFill>
                  <a:schemeClr val="tx2"/>
                </a:solidFill>
              </a:rPr>
              <a:t>(1999), p. 74, TUA001. 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DE90436-B7B7-AE72-FB6A-4B0280E2BE44}"/>
              </a:ext>
            </a:extLst>
          </p:cNvPr>
          <p:cNvSpPr txBox="1"/>
          <p:nvPr/>
        </p:nvSpPr>
        <p:spPr>
          <a:xfrm>
            <a:off x="2543959" y="6346428"/>
            <a:ext cx="83887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0070C0"/>
                </a:solidFill>
              </a:rPr>
              <a:t>T. Kubo, </a:t>
            </a:r>
            <a:r>
              <a:rPr lang="en-US" altLang="ja-JP" sz="1400" dirty="0" err="1">
                <a:solidFill>
                  <a:srgbClr val="0070C0"/>
                </a:solidFill>
              </a:rPr>
              <a:t>Supercond</a:t>
            </a:r>
            <a:r>
              <a:rPr lang="en-US" altLang="ja-JP" sz="1400" dirty="0">
                <a:solidFill>
                  <a:srgbClr val="0070C0"/>
                </a:solidFill>
              </a:rPr>
              <a:t>. Sci. and Technol. </a:t>
            </a:r>
            <a:r>
              <a:rPr lang="en-US" altLang="ja-JP" sz="1400" b="1" dirty="0">
                <a:solidFill>
                  <a:srgbClr val="0070C0"/>
                </a:solidFill>
              </a:rPr>
              <a:t>30</a:t>
            </a:r>
            <a:r>
              <a:rPr lang="en-US" altLang="ja-JP" sz="1400" dirty="0">
                <a:solidFill>
                  <a:srgbClr val="0070C0"/>
                </a:solidFill>
              </a:rPr>
              <a:t>, 023001 (2017); Sci. and Technol. </a:t>
            </a:r>
            <a:r>
              <a:rPr lang="en-US" altLang="ja-JP" sz="1400" b="1" dirty="0">
                <a:solidFill>
                  <a:srgbClr val="0070C0"/>
                </a:solidFill>
              </a:rPr>
              <a:t>34</a:t>
            </a:r>
            <a:r>
              <a:rPr lang="en-US" altLang="ja-JP" sz="1400" dirty="0">
                <a:solidFill>
                  <a:srgbClr val="0070C0"/>
                </a:solidFill>
              </a:rPr>
              <a:t>, 045006 (2021)</a:t>
            </a:r>
          </a:p>
          <a:p>
            <a:r>
              <a:rPr lang="en-US" altLang="ja-JP" sz="1400" dirty="0">
                <a:solidFill>
                  <a:srgbClr val="0070C0"/>
                </a:solidFill>
              </a:rPr>
              <a:t>V. </a:t>
            </a:r>
            <a:r>
              <a:rPr lang="en-US" altLang="ja-JP" sz="1400" dirty="0" err="1">
                <a:solidFill>
                  <a:srgbClr val="0070C0"/>
                </a:solidFill>
              </a:rPr>
              <a:t>Ngampruetikorn</a:t>
            </a:r>
            <a:r>
              <a:rPr lang="en-US" altLang="ja-JP" sz="1400" dirty="0">
                <a:solidFill>
                  <a:srgbClr val="0070C0"/>
                </a:solidFill>
              </a:rPr>
              <a:t> and J. A. Sauls, Phys. Rev. Research </a:t>
            </a:r>
            <a:r>
              <a:rPr lang="en-US" altLang="ja-JP" sz="1400" b="1" dirty="0">
                <a:solidFill>
                  <a:srgbClr val="0070C0"/>
                </a:solidFill>
              </a:rPr>
              <a:t>1</a:t>
            </a:r>
            <a:r>
              <a:rPr lang="en-US" altLang="ja-JP" sz="1400" dirty="0">
                <a:solidFill>
                  <a:srgbClr val="0070C0"/>
                </a:solidFill>
              </a:rPr>
              <a:t>, 012015(R) (2019) </a:t>
            </a:r>
          </a:p>
        </p:txBody>
      </p:sp>
      <p:sp>
        <p:nvSpPr>
          <p:cNvPr id="16" name="右中かっこ 15">
            <a:extLst>
              <a:ext uri="{FF2B5EF4-FFF2-40B4-BE49-F238E27FC236}">
                <a16:creationId xmlns:a16="http://schemas.microsoft.com/office/drawing/2014/main" id="{41A8DBA0-C65D-6C09-FF3D-88895498D60F}"/>
              </a:ext>
            </a:extLst>
          </p:cNvPr>
          <p:cNvSpPr/>
          <p:nvPr/>
        </p:nvSpPr>
        <p:spPr>
          <a:xfrm rot="5400000">
            <a:off x="9148951" y="1436926"/>
            <a:ext cx="286848" cy="1238480"/>
          </a:xfrm>
          <a:prstGeom prst="rightBrace">
            <a:avLst>
              <a:gd name="adj1" fmla="val 53139"/>
              <a:gd name="adj2" fmla="val 42024"/>
            </a:avLst>
          </a:prstGeom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0B0EF36-2D87-3688-4124-ED59264D988A}"/>
              </a:ext>
            </a:extLst>
          </p:cNvPr>
          <p:cNvSpPr txBox="1"/>
          <p:nvPr/>
        </p:nvSpPr>
        <p:spPr>
          <a:xfrm>
            <a:off x="8542203" y="2263154"/>
            <a:ext cx="162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High field </a:t>
            </a:r>
          </a:p>
          <a:p>
            <a:pPr algn="ctr"/>
            <a:r>
              <a:rPr lang="en-US" altLang="ja-JP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Q-drop</a:t>
            </a:r>
            <a:endParaRPr lang="ja-JP" altLang="en-US" sz="2400" b="1" dirty="0">
              <a:solidFill>
                <a:srgbClr val="FF0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4686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1318-198F-8ADD-521B-A03E3EDB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5826329-B1B8-8625-49AB-48353EA2D8A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65" y="2751"/>
            <a:ext cx="1725318" cy="6852498"/>
          </a:xfrm>
          <a:prstGeom prst="rect">
            <a:avLst/>
          </a:prstGeom>
        </p:spPr>
      </p:pic>
      <p:sp>
        <p:nvSpPr>
          <p:cNvPr id="3" name="四角形: 角を丸くする 3">
            <a:extLst>
              <a:ext uri="{FF2B5EF4-FFF2-40B4-BE49-F238E27FC236}">
                <a16:creationId xmlns:a16="http://schemas.microsoft.com/office/drawing/2014/main" id="{C0F7CF9E-23F4-C59B-1583-AB6B57568D66}"/>
              </a:ext>
            </a:extLst>
          </p:cNvPr>
          <p:cNvSpPr/>
          <p:nvPr/>
        </p:nvSpPr>
        <p:spPr>
          <a:xfrm>
            <a:off x="112643" y="5400419"/>
            <a:ext cx="1584177" cy="692205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2050" name="Picture 2" descr="C:\Users\kubotaka\Desktop\スライド・会議メモ\国際会議・研究会等\2020\200915_JPSシンポジウム（オンライン）\P1077964.JPG-small（ベーキング）.jpg">
            <a:extLst>
              <a:ext uri="{FF2B5EF4-FFF2-40B4-BE49-F238E27FC236}">
                <a16:creationId xmlns:a16="http://schemas.microsoft.com/office/drawing/2014/main" id="{C84862CC-5A6C-8D52-91CB-84BC2A1B4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628" y="90497"/>
            <a:ext cx="3776439" cy="566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DAC4379-2CE9-92E3-9F07-99B4CFBD5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9299" y="5413752"/>
            <a:ext cx="2268416" cy="2462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ja-JP" altLang="ja-JP" sz="1000" b="1" dirty="0">
                <a:latin typeface="Arial Unicode MS" pitchFamily="50" charset="-128"/>
                <a:ea typeface="ＭＳ Ｐゴシック" pitchFamily="50" charset="-128"/>
                <a:cs typeface="ＭＳ Ｐゴシック" pitchFamily="50" charset="-128"/>
              </a:rPr>
              <a:t>Courtesy of Mathieu Omet (KEK)</a:t>
            </a:r>
            <a:r>
              <a:rPr lang="ja-JP" altLang="ja-JP" sz="600" b="1" dirty="0">
                <a:latin typeface="Arial" pitchFamily="34" charset="0"/>
                <a:ea typeface="ＭＳ Ｐゴシック" pitchFamily="50" charset="-128"/>
                <a:cs typeface="ＭＳ Ｐゴシック" pitchFamily="50" charset="-128"/>
              </a:rPr>
              <a:t> </a:t>
            </a:r>
            <a:endParaRPr lang="ja-JP" altLang="ja-JP" b="1" dirty="0">
              <a:latin typeface="Arial" pitchFamily="34" charset="0"/>
              <a:ea typeface="ＭＳ Ｐゴシック" pitchFamily="50" charset="-128"/>
              <a:cs typeface="ＭＳ Ｐゴシック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88BB8F-C2D2-DD24-FF12-426453387CE4}"/>
              </a:ext>
            </a:extLst>
          </p:cNvPr>
          <p:cNvSpPr txBox="1"/>
          <p:nvPr/>
        </p:nvSpPr>
        <p:spPr>
          <a:xfrm>
            <a:off x="2269776" y="122711"/>
            <a:ext cx="352051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</a:rPr>
              <a:t>120</a:t>
            </a:r>
            <a:r>
              <a:rPr lang="ja-JP" altLang="en-US" sz="3200" b="1" dirty="0">
                <a:solidFill>
                  <a:srgbClr val="FF0000"/>
                </a:solidFill>
              </a:rPr>
              <a:t>℃ー</a:t>
            </a:r>
            <a:r>
              <a:rPr lang="en-US" altLang="ja-JP" sz="3200" b="1" dirty="0">
                <a:solidFill>
                  <a:srgbClr val="FF0000"/>
                </a:solidFill>
              </a:rPr>
              <a:t>48h</a:t>
            </a:r>
            <a:r>
              <a:rPr lang="ja-JP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ja-JP" sz="3200" b="1" dirty="0">
                <a:solidFill>
                  <a:srgbClr val="FF0000"/>
                </a:solidFill>
              </a:rPr>
              <a:t>bake</a:t>
            </a:r>
            <a:endParaRPr lang="ja-JP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2ABD36-CA46-173C-B74F-77F5034171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2" t="19420" r="18221" b="19994"/>
          <a:stretch/>
        </p:blipFill>
        <p:spPr bwMode="auto">
          <a:xfrm>
            <a:off x="6252486" y="346828"/>
            <a:ext cx="3941574" cy="25697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CF7718E-9472-5EA6-7350-33AEBA18B7FA}"/>
              </a:ext>
            </a:extLst>
          </p:cNvPr>
          <p:cNvSpPr txBox="1"/>
          <p:nvPr/>
        </p:nvSpPr>
        <p:spPr>
          <a:xfrm>
            <a:off x="10207609" y="1100212"/>
            <a:ext cx="1908756" cy="86737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latin typeface="MV Boli" panose="02000500030200090000" pitchFamily="2" charset="0"/>
                <a:cs typeface="MV Boli" panose="02000500030200090000" pitchFamily="2" charset="0"/>
              </a:rPr>
              <a:t>Without baking</a:t>
            </a:r>
            <a:endParaRPr lang="ja-JP" alt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2AF4185C-4507-C138-F953-8809588124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5" t="14263" r="14897" b="15937"/>
          <a:stretch/>
        </p:blipFill>
        <p:spPr bwMode="auto">
          <a:xfrm>
            <a:off x="6179290" y="2984606"/>
            <a:ext cx="4087965" cy="277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BCB1D76-212A-96F9-646E-4EAB091B3F4F}"/>
              </a:ext>
            </a:extLst>
          </p:cNvPr>
          <p:cNvSpPr txBox="1"/>
          <p:nvPr/>
        </p:nvSpPr>
        <p:spPr>
          <a:xfrm>
            <a:off x="10452543" y="3881044"/>
            <a:ext cx="1189727" cy="954107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latin typeface="MV Boli" panose="02000500030200090000" pitchFamily="2" charset="0"/>
                <a:cs typeface="MV Boli" panose="02000500030200090000" pitchFamily="2" charset="0"/>
              </a:rPr>
              <a:t>With </a:t>
            </a:r>
          </a:p>
          <a:p>
            <a:pPr algn="ctr"/>
            <a:r>
              <a:rPr lang="en-US" altLang="ja-JP" sz="2800" dirty="0">
                <a:latin typeface="MV Boli" panose="02000500030200090000" pitchFamily="2" charset="0"/>
                <a:cs typeface="MV Boli" panose="02000500030200090000" pitchFamily="2" charset="0"/>
              </a:rPr>
              <a:t>baking</a:t>
            </a:r>
            <a:endParaRPr lang="ja-JP" alt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377D144-23F3-0B61-2C97-DF3FF2513104}"/>
              </a:ext>
            </a:extLst>
          </p:cNvPr>
          <p:cNvSpPr txBox="1"/>
          <p:nvPr/>
        </p:nvSpPr>
        <p:spPr>
          <a:xfrm>
            <a:off x="1987648" y="5732761"/>
            <a:ext cx="965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Spatial variation of the mean free path on the scale of the penetration depth suppresses the surface current, thereby increasing the maximum achievable field.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DB4884F-70A0-AE96-8E8D-2CA8D5EBB3D3}"/>
              </a:ext>
            </a:extLst>
          </p:cNvPr>
          <p:cNvSpPr/>
          <p:nvPr/>
        </p:nvSpPr>
        <p:spPr>
          <a:xfrm>
            <a:off x="5790292" y="288"/>
            <a:ext cx="633814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ja-JP" sz="1050" dirty="0">
                <a:solidFill>
                  <a:srgbClr val="0070C0"/>
                </a:solidFill>
              </a:rPr>
              <a:t>L. </a:t>
            </a:r>
            <a:r>
              <a:rPr lang="en-US" altLang="ja-JP" sz="1050" dirty="0" err="1">
                <a:solidFill>
                  <a:srgbClr val="0070C0"/>
                </a:solidFill>
              </a:rPr>
              <a:t>Lilje</a:t>
            </a:r>
            <a:r>
              <a:rPr lang="en-US" altLang="ja-JP" sz="1050" dirty="0">
                <a:solidFill>
                  <a:srgbClr val="0070C0"/>
                </a:solidFill>
              </a:rPr>
              <a:t> et al., in Proceedings of SRF1999, Santa Fe, New Mexico, USA</a:t>
            </a:r>
            <a:r>
              <a:rPr lang="ja-JP" altLang="en-US" sz="1050" dirty="0">
                <a:solidFill>
                  <a:srgbClr val="0070C0"/>
                </a:solidFill>
              </a:rPr>
              <a:t> </a:t>
            </a:r>
            <a:r>
              <a:rPr lang="en-US" altLang="ja-JP" sz="1050" dirty="0">
                <a:solidFill>
                  <a:srgbClr val="0070C0"/>
                </a:solidFill>
              </a:rPr>
              <a:t>(1999), p. 74, TUA001. 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F4B7AB3-B2CA-42AA-EEB3-FDB978F71F25}"/>
              </a:ext>
            </a:extLst>
          </p:cNvPr>
          <p:cNvSpPr txBox="1"/>
          <p:nvPr/>
        </p:nvSpPr>
        <p:spPr>
          <a:xfrm>
            <a:off x="2543959" y="6346428"/>
            <a:ext cx="83887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0070C0"/>
                </a:solidFill>
              </a:rPr>
              <a:t>T. Kubo, </a:t>
            </a:r>
            <a:r>
              <a:rPr lang="en-US" altLang="ja-JP" sz="1400" dirty="0" err="1">
                <a:solidFill>
                  <a:srgbClr val="0070C0"/>
                </a:solidFill>
              </a:rPr>
              <a:t>Supercond</a:t>
            </a:r>
            <a:r>
              <a:rPr lang="en-US" altLang="ja-JP" sz="1400" dirty="0">
                <a:solidFill>
                  <a:srgbClr val="0070C0"/>
                </a:solidFill>
              </a:rPr>
              <a:t>. Sci. and Technol. </a:t>
            </a:r>
            <a:r>
              <a:rPr lang="en-US" altLang="ja-JP" sz="1400" b="1" dirty="0">
                <a:solidFill>
                  <a:srgbClr val="0070C0"/>
                </a:solidFill>
              </a:rPr>
              <a:t>30</a:t>
            </a:r>
            <a:r>
              <a:rPr lang="en-US" altLang="ja-JP" sz="1400" dirty="0">
                <a:solidFill>
                  <a:srgbClr val="0070C0"/>
                </a:solidFill>
              </a:rPr>
              <a:t>, 023001 (2017); Sci. and Technol. </a:t>
            </a:r>
            <a:r>
              <a:rPr lang="en-US" altLang="ja-JP" sz="1400" b="1" dirty="0">
                <a:solidFill>
                  <a:srgbClr val="0070C0"/>
                </a:solidFill>
              </a:rPr>
              <a:t>34</a:t>
            </a:r>
            <a:r>
              <a:rPr lang="en-US" altLang="ja-JP" sz="1400" dirty="0">
                <a:solidFill>
                  <a:srgbClr val="0070C0"/>
                </a:solidFill>
              </a:rPr>
              <a:t>, 045006 (2021)</a:t>
            </a:r>
          </a:p>
          <a:p>
            <a:r>
              <a:rPr lang="en-US" altLang="ja-JP" sz="1400" dirty="0">
                <a:solidFill>
                  <a:srgbClr val="0070C0"/>
                </a:solidFill>
              </a:rPr>
              <a:t>V. </a:t>
            </a:r>
            <a:r>
              <a:rPr lang="en-US" altLang="ja-JP" sz="1400" dirty="0" err="1">
                <a:solidFill>
                  <a:srgbClr val="0070C0"/>
                </a:solidFill>
              </a:rPr>
              <a:t>Ngampruetikorn</a:t>
            </a:r>
            <a:r>
              <a:rPr lang="en-US" altLang="ja-JP" sz="1400" dirty="0">
                <a:solidFill>
                  <a:srgbClr val="0070C0"/>
                </a:solidFill>
              </a:rPr>
              <a:t> and J. A. Sauls, Phys. Rev. Research </a:t>
            </a:r>
            <a:r>
              <a:rPr lang="en-US" altLang="ja-JP" sz="1400" b="1" dirty="0">
                <a:solidFill>
                  <a:srgbClr val="0070C0"/>
                </a:solidFill>
              </a:rPr>
              <a:t>1</a:t>
            </a:r>
            <a:r>
              <a:rPr lang="en-US" altLang="ja-JP" sz="1400" dirty="0">
                <a:solidFill>
                  <a:srgbClr val="0070C0"/>
                </a:solidFill>
              </a:rPr>
              <a:t>, 012015(R) (2019) </a:t>
            </a:r>
          </a:p>
        </p:txBody>
      </p:sp>
      <p:sp>
        <p:nvSpPr>
          <p:cNvPr id="16" name="右中かっこ 15">
            <a:extLst>
              <a:ext uri="{FF2B5EF4-FFF2-40B4-BE49-F238E27FC236}">
                <a16:creationId xmlns:a16="http://schemas.microsoft.com/office/drawing/2014/main" id="{17065F72-A805-6217-6889-95A84657EBAF}"/>
              </a:ext>
            </a:extLst>
          </p:cNvPr>
          <p:cNvSpPr/>
          <p:nvPr/>
        </p:nvSpPr>
        <p:spPr>
          <a:xfrm rot="5400000">
            <a:off x="9148951" y="1436926"/>
            <a:ext cx="286848" cy="1238480"/>
          </a:xfrm>
          <a:prstGeom prst="rightBrace">
            <a:avLst>
              <a:gd name="adj1" fmla="val 53139"/>
              <a:gd name="adj2" fmla="val 42024"/>
            </a:avLst>
          </a:prstGeom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C17C3F8-4B02-32A5-ED89-3DF86C97BBF8}"/>
              </a:ext>
            </a:extLst>
          </p:cNvPr>
          <p:cNvSpPr txBox="1"/>
          <p:nvPr/>
        </p:nvSpPr>
        <p:spPr>
          <a:xfrm>
            <a:off x="8542203" y="2263154"/>
            <a:ext cx="162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High field </a:t>
            </a:r>
          </a:p>
          <a:p>
            <a:pPr algn="ctr"/>
            <a:r>
              <a:rPr lang="en-US" altLang="ja-JP" sz="24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Q-drop</a:t>
            </a:r>
            <a:endParaRPr lang="ja-JP" altLang="en-US" sz="2400" b="1" dirty="0">
              <a:solidFill>
                <a:srgbClr val="FF0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1C038A3-919F-F19B-153E-9CBB726A356F}"/>
              </a:ext>
            </a:extLst>
          </p:cNvPr>
          <p:cNvSpPr txBox="1"/>
          <p:nvPr/>
        </p:nvSpPr>
        <p:spPr>
          <a:xfrm>
            <a:off x="1898197" y="1113190"/>
            <a:ext cx="10204352" cy="378565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</a:rPr>
              <a:t>Labs in Japan and the US traditionally applied a 100</a:t>
            </a:r>
            <a:r>
              <a:rPr kumimoji="1" lang="ja-JP" altLang="en-US" sz="2400" b="1" dirty="0">
                <a:solidFill>
                  <a:schemeClr val="bg1"/>
                </a:solidFill>
              </a:rPr>
              <a:t>℃</a:t>
            </a:r>
            <a:r>
              <a:rPr kumimoji="1" lang="en-US" altLang="ja-JP" sz="2400" b="1" dirty="0">
                <a:solidFill>
                  <a:schemeClr val="bg1"/>
                </a:solidFill>
              </a:rPr>
              <a:t>  bake to remove residual water after high-pressure rinsing. In contrast, labs in Germany and France did not adopt this step — and continued to suffer from the so-called Q-drop. </a:t>
            </a:r>
          </a:p>
          <a:p>
            <a:endParaRPr kumimoji="1" lang="en-US" altLang="ja-JP" sz="2400" b="1" dirty="0">
              <a:solidFill>
                <a:schemeClr val="bg1"/>
              </a:solidFill>
            </a:endParaRPr>
          </a:p>
          <a:p>
            <a:r>
              <a:rPr kumimoji="1" lang="en-US" altLang="ja-JP" sz="2400" b="1" dirty="0">
                <a:solidFill>
                  <a:schemeClr val="bg1"/>
                </a:solidFill>
              </a:rPr>
              <a:t>At the time, the reason was unknown, and the phenomenon was even nicknamed the "European disease.“ It wasn’t until the late 1990s that the community realized the low-temperature bake was the key. This is a prime example of the serendipitous discoveries that have accumulated over the past few decades.</a:t>
            </a:r>
            <a:endParaRPr kumimoji="1" lang="ja-JP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503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E48E00E-1730-404E-862B-5D6CF7A1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45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90FF9E3-9991-4400-84C2-3E4EAC47329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88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D18EB7E-B8C6-4BBC-ACFD-1CD95DFBD8A2}"/>
              </a:ext>
            </a:extLst>
          </p:cNvPr>
          <p:cNvSpPr/>
          <p:nvPr/>
        </p:nvSpPr>
        <p:spPr>
          <a:xfrm>
            <a:off x="343846" y="6388144"/>
            <a:ext cx="1082014" cy="322919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5" name="Picture 2" descr="C:\Users\kubotaka\Desktop\Kenkyu\CFF_LG_and_seamless\140210頃【写真】VT準備\DSC05253.JPG">
            <a:extLst>
              <a:ext uri="{FF2B5EF4-FFF2-40B4-BE49-F238E27FC236}">
                <a16:creationId xmlns:a16="http://schemas.microsoft.com/office/drawing/2014/main" id="{816D7EE7-975F-44E2-8E7D-89FD5222F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77944" y="1"/>
            <a:ext cx="3210591" cy="685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kubotaka\Desktop\Kenkyu\CFF_LG_and_seamless\140210頃【写真】VT準備\DSC05242.JP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1241904" y="858661"/>
            <a:ext cx="6848242" cy="513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50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4EFC-FCEF-71DA-2130-B3BCF861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0F640D0-EC46-8402-745D-D5E70D84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46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82EE726-422C-B7B6-0E04-510F9EEA0FC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88" y="2751"/>
            <a:ext cx="1725318" cy="6852498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A5DFE1E-E5CC-50F0-FB5C-E1AD6D056BEA}"/>
              </a:ext>
            </a:extLst>
          </p:cNvPr>
          <p:cNvSpPr/>
          <p:nvPr/>
        </p:nvSpPr>
        <p:spPr>
          <a:xfrm>
            <a:off x="343846" y="6388144"/>
            <a:ext cx="1082014" cy="322919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5" name="Picture 2" descr="C:\Users\kubotaka\Desktop\Kenkyu\CFF_LG_and_seamless\140210頃【写真】VT準備\DSC05253.JPG">
            <a:extLst>
              <a:ext uri="{FF2B5EF4-FFF2-40B4-BE49-F238E27FC236}">
                <a16:creationId xmlns:a16="http://schemas.microsoft.com/office/drawing/2014/main" id="{6FC20072-525A-C88A-DBD2-1B540B5132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77944" y="1"/>
            <a:ext cx="3210591" cy="685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kubotaka\Desktop\Kenkyu\CFF_LG_and_seamless\140210頃【写真】VT準備\DSC05242.JPG">
            <a:extLst>
              <a:ext uri="{FF2B5EF4-FFF2-40B4-BE49-F238E27FC236}">
                <a16:creationId xmlns:a16="http://schemas.microsoft.com/office/drawing/2014/main" id="{E2D875AB-0E06-C6FB-ECE3-79A6A0E6F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1241904" y="858661"/>
            <a:ext cx="6848242" cy="513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1FCEC144-A41A-B140-7370-AC8ADF0935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2765040" y="1293393"/>
            <a:ext cx="7935164" cy="422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3FFD9B1-2D2D-FDF6-08BC-DCC412EFED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6184326" y="3083781"/>
            <a:ext cx="2550771" cy="204526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D314E6C-C07D-9DF8-059B-AFEDF62A7DF5}"/>
              </a:ext>
            </a:extLst>
          </p:cNvPr>
          <p:cNvSpPr txBox="1"/>
          <p:nvPr/>
        </p:nvSpPr>
        <p:spPr>
          <a:xfrm>
            <a:off x="2769508" y="5109751"/>
            <a:ext cx="5336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0070C0"/>
                </a:solidFill>
              </a:rPr>
              <a:t>T Kubo et al., IPAC2014, Dresden, Germany, WEPRI022, p.2519</a:t>
            </a:r>
          </a:p>
          <a:p>
            <a:r>
              <a:rPr lang="en-US" altLang="ja-JP" sz="1000" b="1" dirty="0">
                <a:solidFill>
                  <a:srgbClr val="6BA9DA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https://doi.org/10.18429/</a:t>
            </a:r>
            <a:r>
              <a:rPr lang="en-US" altLang="ja-JP" sz="1000" b="1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JACoW-IPAC2014-WEPRI022</a:t>
            </a:r>
            <a:r>
              <a:rPr lang="en-US" altLang="ja-JP" sz="1000" b="1" dirty="0">
                <a:solidFill>
                  <a:srgbClr val="0070C0"/>
                </a:solidFill>
              </a:rPr>
              <a:t>  </a:t>
            </a:r>
            <a:endParaRPr lang="ja-JP" altLang="en-US" sz="1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329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BEC30-4C6E-9F94-E980-2E039941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17324A-F4AF-438F-7C5E-E87395FFCD8A}"/>
              </a:ext>
            </a:extLst>
          </p:cNvPr>
          <p:cNvSpPr txBox="1"/>
          <p:nvPr/>
        </p:nvSpPr>
        <p:spPr>
          <a:xfrm>
            <a:off x="9189" y="9872"/>
            <a:ext cx="11725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Many modern recipes exist: N-doping, N-infusion, two-step bake, mid-T bakes, etc.</a:t>
            </a:r>
            <a:r>
              <a:rPr lang="en-US" altLang="ja-JP" sz="3200" dirty="0"/>
              <a:t> </a:t>
            </a:r>
            <a:r>
              <a:rPr kumimoji="1" lang="en-US" altLang="ja-JP" sz="3200" b="1" dirty="0"/>
              <a:t>They are all variants of the classical recipe</a:t>
            </a:r>
            <a:r>
              <a:rPr kumimoji="1" lang="en-US" altLang="ja-JP" sz="3200" dirty="0"/>
              <a:t>, with some steps replaced or modified.</a:t>
            </a:r>
            <a:endParaRPr kumimoji="1" lang="ja-JP" altLang="en-US" sz="32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E9069ED-028E-1753-36B7-7548B23241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44854" y="1622719"/>
            <a:ext cx="3793795" cy="3116095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F30DD28-FBFF-5E47-1201-97E4020866D8}"/>
              </a:ext>
            </a:extLst>
          </p:cNvPr>
          <p:cNvSpPr txBox="1"/>
          <p:nvPr/>
        </p:nvSpPr>
        <p:spPr>
          <a:xfrm>
            <a:off x="3564400" y="199932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2K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21C678E-4DF4-EEEA-9B78-578A1B16B8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33461" y="1616364"/>
            <a:ext cx="3930440" cy="3104562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ABC4661-F52B-E168-F0A5-37033B009F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16244" y="1892871"/>
            <a:ext cx="4317217" cy="2622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E21B3C-3CDC-D8C0-B58C-533A876D3B9B}"/>
              </a:ext>
            </a:extLst>
          </p:cNvPr>
          <p:cNvSpPr txBox="1"/>
          <p:nvPr/>
        </p:nvSpPr>
        <p:spPr>
          <a:xfrm>
            <a:off x="-31287" y="4542024"/>
            <a:ext cx="449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200" b="1" dirty="0">
                <a:hlinkClick r:id="rId5"/>
              </a:rPr>
              <a:t>https://doi.org/10.18429/JACoW-IPAC2014-WEPRI022</a:t>
            </a:r>
            <a:r>
              <a:rPr lang="en-US" altLang="ja-JP" sz="1200" b="1" dirty="0"/>
              <a:t> 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4AB660-D204-D3ED-3F97-0353E4339272}"/>
              </a:ext>
            </a:extLst>
          </p:cNvPr>
          <p:cNvSpPr txBox="1"/>
          <p:nvPr/>
        </p:nvSpPr>
        <p:spPr>
          <a:xfrm>
            <a:off x="4333461" y="4778327"/>
            <a:ext cx="39304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tx2"/>
                </a:solidFill>
              </a:rPr>
              <a:t>S. Posen et al., Ultralow Surface Resistance via Vacuum Heat Treatment of Superconducting Radio-Frequency Cavities,</a:t>
            </a:r>
          </a:p>
          <a:p>
            <a:r>
              <a:rPr kumimoji="1" lang="en-US" altLang="ja-JP" sz="1200" dirty="0">
                <a:solidFill>
                  <a:schemeClr val="tx2"/>
                </a:solidFill>
              </a:rPr>
              <a:t>Phys. Rev. Applied 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13</a:t>
            </a:r>
            <a:r>
              <a:rPr kumimoji="1" lang="en-US" altLang="ja-JP" sz="1200" dirty="0">
                <a:solidFill>
                  <a:schemeClr val="tx2"/>
                </a:solidFill>
              </a:rPr>
              <a:t>, 014024 (2020)</a:t>
            </a:r>
          </a:p>
          <a:p>
            <a:r>
              <a:rPr lang="en-US" altLang="ja-JP" sz="1200" dirty="0">
                <a:hlinkClick r:id="rId6"/>
              </a:rPr>
              <a:t>https://doi.org/10.1103/PhysRevApplied.13.014024</a:t>
            </a:r>
            <a:r>
              <a:rPr lang="en-US" altLang="ja-JP" sz="1200" dirty="0"/>
              <a:t> </a:t>
            </a:r>
            <a:endParaRPr kumimoji="1" lang="ja-JP" altLang="en-US" sz="1200" dirty="0">
              <a:solidFill>
                <a:srgbClr val="00B0F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B4CCF61-16C7-35F6-5182-A20117808A07}"/>
              </a:ext>
            </a:extLst>
          </p:cNvPr>
          <p:cNvSpPr txBox="1"/>
          <p:nvPr/>
        </p:nvSpPr>
        <p:spPr>
          <a:xfrm>
            <a:off x="8369127" y="4796215"/>
            <a:ext cx="34931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H. Ito et al., Influence of furnace baking on Q–E behavior of superconducting accelerating cavities,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Prog. Theor. Exp. Phys. </a:t>
            </a:r>
            <a:r>
              <a:rPr lang="en-US" altLang="ja-JP" sz="1200" b="1" dirty="0">
                <a:solidFill>
                  <a:schemeClr val="tx2"/>
                </a:solidFill>
              </a:rPr>
              <a:t>2021</a:t>
            </a:r>
            <a:r>
              <a:rPr lang="en-US" altLang="ja-JP" sz="1200" dirty="0">
                <a:solidFill>
                  <a:schemeClr val="tx2"/>
                </a:solidFill>
              </a:rPr>
              <a:t>, 071G01 (2021)</a:t>
            </a:r>
          </a:p>
          <a:p>
            <a:r>
              <a:rPr lang="en-US" altLang="ja-JP" sz="1200" dirty="0">
                <a:hlinkClick r:id="rId7"/>
              </a:rPr>
              <a:t>https://doi.org/10.1093/ptep/ptab056</a:t>
            </a:r>
            <a:r>
              <a:rPr lang="en-US" altLang="ja-JP" sz="1200" dirty="0"/>
              <a:t> </a:t>
            </a:r>
            <a:endParaRPr lang="ja-JP" altLang="en-US" sz="1200" dirty="0">
              <a:solidFill>
                <a:srgbClr val="00B0F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E5AAE5B-E31C-3721-E04C-7976AEDABDC0}"/>
              </a:ext>
            </a:extLst>
          </p:cNvPr>
          <p:cNvSpPr txBox="1"/>
          <p:nvPr/>
        </p:nvSpPr>
        <p:spPr>
          <a:xfrm>
            <a:off x="3564400" y="199932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2K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6F9087D-1552-E004-5CFD-9DA3B71E3390}"/>
              </a:ext>
            </a:extLst>
          </p:cNvPr>
          <p:cNvSpPr txBox="1"/>
          <p:nvPr/>
        </p:nvSpPr>
        <p:spPr>
          <a:xfrm>
            <a:off x="11013232" y="1645693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T=2K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FEFE607-D625-6EB7-6A3A-220DFF848AB2}"/>
              </a:ext>
            </a:extLst>
          </p:cNvPr>
          <p:cNvSpPr txBox="1"/>
          <p:nvPr/>
        </p:nvSpPr>
        <p:spPr>
          <a:xfrm>
            <a:off x="1909830" y="340912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ILC recipe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0936164-29D6-961B-3F29-5DE2C97FCA85}"/>
              </a:ext>
            </a:extLst>
          </p:cNvPr>
          <p:cNvSpPr txBox="1"/>
          <p:nvPr/>
        </p:nvSpPr>
        <p:spPr>
          <a:xfrm>
            <a:off x="5918474" y="1695876"/>
            <a:ext cx="1400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Mid-T bake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C0E1D76-2312-A4FC-BE6A-EF0F7026B908}"/>
              </a:ext>
            </a:extLst>
          </p:cNvPr>
          <p:cNvSpPr txBox="1"/>
          <p:nvPr/>
        </p:nvSpPr>
        <p:spPr>
          <a:xfrm>
            <a:off x="9610377" y="1649868"/>
            <a:ext cx="1400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Mid-T bake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127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B87A2-6385-EB8A-00F7-3F6FDBEE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AF2230C-216C-8A7F-C7F0-1B406675777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44854" y="1622719"/>
            <a:ext cx="3793795" cy="3116095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6EB2B46-F3AC-6ECE-738C-B8E72582BB9B}"/>
              </a:ext>
            </a:extLst>
          </p:cNvPr>
          <p:cNvSpPr txBox="1"/>
          <p:nvPr/>
        </p:nvSpPr>
        <p:spPr>
          <a:xfrm>
            <a:off x="3564400" y="199932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2K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B546897-21DF-E977-E66C-8CA09AAE89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33461" y="1616364"/>
            <a:ext cx="3930440" cy="3104562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1E23AF2-D5DB-E79D-D810-DEC4A9EB6CBC}"/>
              </a:ext>
            </a:extLst>
          </p:cNvPr>
          <p:cNvSpPr txBox="1"/>
          <p:nvPr/>
        </p:nvSpPr>
        <p:spPr>
          <a:xfrm>
            <a:off x="11013232" y="1645693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T=2K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1571589-58AF-33EC-39C4-296DA27DE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16244" y="1892871"/>
            <a:ext cx="4317217" cy="2622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446460-FAF1-73C1-7878-36B0C83776EC}"/>
              </a:ext>
            </a:extLst>
          </p:cNvPr>
          <p:cNvSpPr txBox="1"/>
          <p:nvPr/>
        </p:nvSpPr>
        <p:spPr>
          <a:xfrm>
            <a:off x="-31287" y="4542024"/>
            <a:ext cx="449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200" b="1" dirty="0">
                <a:hlinkClick r:id="rId5"/>
              </a:rPr>
              <a:t>https://doi.org/10.18429/JACoW-IPAC2014-WEPRI022</a:t>
            </a:r>
            <a:r>
              <a:rPr lang="en-US" altLang="ja-JP" sz="1200" b="1" dirty="0"/>
              <a:t> 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0B73A70-3B39-B367-B345-0B6E1161C3B8}"/>
                  </a:ext>
                </a:extLst>
              </p:cNvPr>
              <p:cNvSpPr txBox="1"/>
              <p:nvPr/>
            </p:nvSpPr>
            <p:spPr>
              <a:xfrm>
                <a:off x="0" y="6346"/>
                <a:ext cx="121920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600" dirty="0"/>
                  <a:t>The accelerator community can build </a:t>
                </a:r>
              </a:p>
              <a:p>
                <a:pPr algn="ctr"/>
                <a:r>
                  <a:rPr kumimoji="1" lang="en-US" altLang="ja-JP" sz="3600" b="1" dirty="0">
                    <a:solidFill>
                      <a:schemeClr val="tx2"/>
                    </a:solidFill>
                  </a:rPr>
                  <a:t>the best cavities on the planet </a:t>
                </a:r>
                <a:r>
                  <a:rPr kumimoji="1" lang="en-US" altLang="ja-JP" sz="3600" dirty="0"/>
                  <a:t>— achieving </a:t>
                </a:r>
                <a14:m>
                  <m:oMath xmlns:m="http://schemas.openxmlformats.org/officeDocument/2006/math">
                    <m:r>
                      <a:rPr kumimoji="1" lang="en-US" altLang="ja-JP" sz="3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ja-JP" sz="36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kumimoji="1" lang="en-US" altLang="ja-JP" sz="3600" dirty="0"/>
                  <a:t>.</a:t>
                </a: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0B73A70-3B39-B367-B345-0B6E1161C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46"/>
                <a:ext cx="12192001" cy="1200329"/>
              </a:xfrm>
              <a:prstGeom prst="rect">
                <a:avLst/>
              </a:prstGeom>
              <a:blipFill>
                <a:blip r:embed="rId6"/>
                <a:stretch>
                  <a:fillRect t="-8122" b="-182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90C472-A218-0F59-30E1-3F4E38EE4CC9}"/>
              </a:ext>
            </a:extLst>
          </p:cNvPr>
          <p:cNvSpPr txBox="1"/>
          <p:nvPr/>
        </p:nvSpPr>
        <p:spPr>
          <a:xfrm>
            <a:off x="0" y="5532120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000" dirty="0"/>
              <a:t>So why not make use of this technology </a:t>
            </a:r>
          </a:p>
          <a:p>
            <a:pPr algn="ctr"/>
            <a:r>
              <a:rPr kumimoji="1" lang="en-US" altLang="ja-JP" sz="4000" b="1" dirty="0">
                <a:solidFill>
                  <a:schemeClr val="tx2"/>
                </a:solidFill>
              </a:rPr>
              <a:t>in other applications?</a:t>
            </a:r>
            <a:endParaRPr kumimoji="1" lang="ja-JP" altLang="en-US" sz="4000" b="1" dirty="0">
              <a:solidFill>
                <a:schemeClr val="tx2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69DB28E-D989-B6E4-3C33-DDF1792123E5}"/>
              </a:ext>
            </a:extLst>
          </p:cNvPr>
          <p:cNvSpPr txBox="1"/>
          <p:nvPr/>
        </p:nvSpPr>
        <p:spPr>
          <a:xfrm>
            <a:off x="1909830" y="340912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ILC recipe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41136E0-55DE-ED25-BF2D-43B4765C9A23}"/>
              </a:ext>
            </a:extLst>
          </p:cNvPr>
          <p:cNvSpPr txBox="1"/>
          <p:nvPr/>
        </p:nvSpPr>
        <p:spPr>
          <a:xfrm>
            <a:off x="5918474" y="1695876"/>
            <a:ext cx="1400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Mid-T bake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3FF740E-15B7-77F1-FAD1-69D5497BF240}"/>
              </a:ext>
            </a:extLst>
          </p:cNvPr>
          <p:cNvSpPr txBox="1"/>
          <p:nvPr/>
        </p:nvSpPr>
        <p:spPr>
          <a:xfrm>
            <a:off x="9610377" y="1649868"/>
            <a:ext cx="1400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Mid-T bake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7F1C016-FCB7-C6DA-7AC4-F57E4CAF08EF}"/>
              </a:ext>
            </a:extLst>
          </p:cNvPr>
          <p:cNvSpPr txBox="1"/>
          <p:nvPr/>
        </p:nvSpPr>
        <p:spPr>
          <a:xfrm>
            <a:off x="4333461" y="4778327"/>
            <a:ext cx="39304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tx2"/>
                </a:solidFill>
              </a:rPr>
              <a:t>S. Posen et al., Ultralow Surface Resistance via Vacuum Heat Treatment of Superconducting Radio-Frequency Cavities,</a:t>
            </a:r>
          </a:p>
          <a:p>
            <a:r>
              <a:rPr kumimoji="1" lang="en-US" altLang="ja-JP" sz="1200" dirty="0">
                <a:solidFill>
                  <a:schemeClr val="tx2"/>
                </a:solidFill>
              </a:rPr>
              <a:t>Phys. Rev. Applied 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13</a:t>
            </a:r>
            <a:r>
              <a:rPr kumimoji="1" lang="en-US" altLang="ja-JP" sz="1200" dirty="0">
                <a:solidFill>
                  <a:schemeClr val="tx2"/>
                </a:solidFill>
              </a:rPr>
              <a:t>, 014024 (2020)</a:t>
            </a:r>
          </a:p>
          <a:p>
            <a:r>
              <a:rPr lang="en-US" altLang="ja-JP" sz="1200" dirty="0">
                <a:hlinkClick r:id="rId7"/>
              </a:rPr>
              <a:t>https://doi.org/10.1103/PhysRevApplied.13.014024</a:t>
            </a:r>
            <a:r>
              <a:rPr lang="en-US" altLang="ja-JP" sz="1200" dirty="0"/>
              <a:t> </a:t>
            </a:r>
            <a:endParaRPr kumimoji="1" lang="ja-JP" altLang="en-US" sz="1200" dirty="0">
              <a:solidFill>
                <a:srgbClr val="00B0F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4A665D-A570-ABF8-5365-BD090F7DE673}"/>
              </a:ext>
            </a:extLst>
          </p:cNvPr>
          <p:cNvSpPr txBox="1"/>
          <p:nvPr/>
        </p:nvSpPr>
        <p:spPr>
          <a:xfrm>
            <a:off x="8369127" y="4796215"/>
            <a:ext cx="34931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H. Ito et al., Influence of furnace baking on Q–E behavior of superconducting accelerating cavities,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Prog. Theor. Exp. Phys. </a:t>
            </a:r>
            <a:r>
              <a:rPr lang="en-US" altLang="ja-JP" sz="1200" b="1" dirty="0">
                <a:solidFill>
                  <a:schemeClr val="tx2"/>
                </a:solidFill>
              </a:rPr>
              <a:t>2021</a:t>
            </a:r>
            <a:r>
              <a:rPr lang="en-US" altLang="ja-JP" sz="1200" dirty="0">
                <a:solidFill>
                  <a:schemeClr val="tx2"/>
                </a:solidFill>
              </a:rPr>
              <a:t>, 071G01 (2021)</a:t>
            </a:r>
          </a:p>
          <a:p>
            <a:r>
              <a:rPr lang="en-US" altLang="ja-JP" sz="1200" dirty="0">
                <a:hlinkClick r:id="rId8"/>
              </a:rPr>
              <a:t>https://doi.org/10.1093/ptep/ptab056</a:t>
            </a:r>
            <a:r>
              <a:rPr lang="en-US" altLang="ja-JP" sz="1200" dirty="0"/>
              <a:t> </a:t>
            </a:r>
            <a:endParaRPr lang="ja-JP" altLang="en-US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8356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5AB4-AF3E-BDA2-87E1-DA01C46E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5FE171-49D7-331A-0223-564FAD589C7F}"/>
              </a:ext>
            </a:extLst>
          </p:cNvPr>
          <p:cNvSpPr txBox="1"/>
          <p:nvPr/>
        </p:nvSpPr>
        <p:spPr>
          <a:xfrm>
            <a:off x="1267277" y="1122891"/>
            <a:ext cx="10074867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4800" dirty="0">
                <a:solidFill>
                  <a:schemeClr val="bg1"/>
                </a:solidFill>
              </a:rPr>
              <a:t>Quantum applications</a:t>
            </a:r>
            <a:endParaRPr lang="ja-JP" altLang="en-US" sz="4800" dirty="0">
              <a:solidFill>
                <a:schemeClr val="bg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5A3B205-E3DF-E4AA-2F7F-52694BC4993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01552" y="3008688"/>
            <a:ext cx="3873772" cy="24746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EDDDCF-F97B-B18C-562E-890A95323A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63134" y="2997434"/>
            <a:ext cx="3436432" cy="235390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7317F5-57E3-0AF0-7072-EEF01B5EB25A}"/>
              </a:ext>
            </a:extLst>
          </p:cNvPr>
          <p:cNvSpPr txBox="1"/>
          <p:nvPr/>
        </p:nvSpPr>
        <p:spPr>
          <a:xfrm>
            <a:off x="1987035" y="2471097"/>
            <a:ext cx="318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Accelerator cavity</a:t>
            </a:r>
            <a:endParaRPr kumimoji="1"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52B13E-3EF3-6A35-AAC5-EEE66D5042D1}"/>
              </a:ext>
            </a:extLst>
          </p:cNvPr>
          <p:cNvSpPr txBox="1"/>
          <p:nvPr/>
        </p:nvSpPr>
        <p:spPr>
          <a:xfrm>
            <a:off x="7109277" y="2205278"/>
            <a:ext cx="36617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Quantum memory cavity</a:t>
            </a:r>
          </a:p>
          <a:p>
            <a:r>
              <a:rPr kumimoji="1" lang="en-US" altLang="ja-JP" sz="2400" dirty="0"/>
              <a:t>for quantum computing</a:t>
            </a:r>
            <a:endParaRPr kumimoji="1" lang="ja-JP" altLang="en-US" sz="2400" dirty="0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4D42147C-3032-64FD-C91C-10F058AF785A}"/>
              </a:ext>
            </a:extLst>
          </p:cNvPr>
          <p:cNvSpPr/>
          <p:nvPr/>
        </p:nvSpPr>
        <p:spPr>
          <a:xfrm>
            <a:off x="5627802" y="3634783"/>
            <a:ext cx="1141251" cy="1027522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E2B2EF-90C5-EEAC-14A8-0AA5A8166491}"/>
              </a:ext>
            </a:extLst>
          </p:cNvPr>
          <p:cNvSpPr txBox="1"/>
          <p:nvPr/>
        </p:nvSpPr>
        <p:spPr>
          <a:xfrm>
            <a:off x="6982096" y="5463854"/>
            <a:ext cx="46797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>
                <a:solidFill>
                  <a:schemeClr val="tx2"/>
                </a:solidFill>
              </a:rPr>
              <a:t>Brock et al., Nature </a:t>
            </a:r>
            <a:r>
              <a:rPr lang="fr-FR" altLang="ja-JP" sz="1400" b="1" dirty="0">
                <a:solidFill>
                  <a:schemeClr val="tx2"/>
                </a:solidFill>
              </a:rPr>
              <a:t>641</a:t>
            </a:r>
            <a:r>
              <a:rPr lang="fr-FR" altLang="ja-JP" sz="1400" dirty="0">
                <a:solidFill>
                  <a:schemeClr val="tx2"/>
                </a:solidFill>
              </a:rPr>
              <a:t>, 612 (2025)</a:t>
            </a:r>
          </a:p>
          <a:p>
            <a:r>
              <a:rPr lang="en-US" altLang="ja-JP" sz="1600" dirty="0">
                <a:hlinkClick r:id="rId4"/>
              </a:rPr>
              <a:t>https://doi.org/10.1038/s41586-025-08899-y</a:t>
            </a:r>
            <a:r>
              <a:rPr lang="en-US" altLang="ja-JP" sz="1600" dirty="0"/>
              <a:t>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084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0A047-D42A-A61B-D58F-661AC8817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ABA7D2-B612-3901-A35E-25A2E938A87A}"/>
              </a:ext>
            </a:extLst>
          </p:cNvPr>
          <p:cNvSpPr txBox="1"/>
          <p:nvPr/>
        </p:nvSpPr>
        <p:spPr>
          <a:xfrm>
            <a:off x="1" y="-9729"/>
            <a:ext cx="8245890" cy="2062103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rgbClr val="FFC000"/>
                </a:solidFill>
                <a:latin typeface="Arial Black" panose="020B0A04020102020204" pitchFamily="34" charset="0"/>
              </a:rPr>
              <a:t>High-Q superconducting cavities </a:t>
            </a:r>
            <a:r>
              <a:rPr kumimoji="1" lang="en-US" altLang="ja-JP" sz="3200" dirty="0">
                <a:latin typeface="Arial Black" panose="020B0A04020102020204" pitchFamily="34" charset="0"/>
              </a:rPr>
              <a:t>allow us to store quantum information redundantly, enabling bosonic error correction.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EAB9D19-46B9-30B5-C192-1BC82B91294A}"/>
                  </a:ext>
                </a:extLst>
              </p:cNvPr>
              <p:cNvSpPr txBox="1"/>
              <p:nvPr/>
            </p:nvSpPr>
            <p:spPr>
              <a:xfrm>
                <a:off x="62043" y="3041495"/>
                <a:ext cx="2999796" cy="903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1" lang="ja-JP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 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num>
                        <m:den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2405F4EA-82BC-DA37-C034-B63C15B77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3" y="3041495"/>
                <a:ext cx="2999796" cy="9035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F674A49-4F98-CC18-45B2-BC79F81FCA0B}"/>
                  </a:ext>
                </a:extLst>
              </p:cNvPr>
              <p:cNvSpPr txBox="1"/>
              <p:nvPr/>
            </p:nvSpPr>
            <p:spPr>
              <a:xfrm>
                <a:off x="62043" y="4504098"/>
                <a:ext cx="2921249" cy="903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1" lang="ja-JP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d>
                        </m:num>
                        <m:den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CA5F82F-DF3C-0B88-3CC7-2288E17BB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3" y="4504098"/>
                <a:ext cx="2921249" cy="9035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012F1A1E-5367-9859-EA51-498CB8C24FE1}"/>
                  </a:ext>
                </a:extLst>
              </p:cNvPr>
              <p:cNvSpPr txBox="1"/>
              <p:nvPr/>
            </p:nvSpPr>
            <p:spPr>
              <a:xfrm>
                <a:off x="5836935" y="3414029"/>
                <a:ext cx="5442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9106E28-53D9-8B83-3A43-FAB69B367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935" y="3414029"/>
                <a:ext cx="54425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C6D9649-D568-BFAD-AF23-70CA893E25F2}"/>
                  </a:ext>
                </a:extLst>
              </p:cNvPr>
              <p:cNvSpPr txBox="1"/>
              <p:nvPr/>
            </p:nvSpPr>
            <p:spPr>
              <a:xfrm>
                <a:off x="5328284" y="4518072"/>
                <a:ext cx="1413144" cy="914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EF815C4-63FB-A409-03B4-AEFD1610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284" y="4518072"/>
                <a:ext cx="1413144" cy="9144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0E4B39A-C420-3A10-8B6A-54E2ABCD95EE}"/>
                  </a:ext>
                </a:extLst>
              </p:cNvPr>
              <p:cNvSpPr txBox="1"/>
              <p:nvPr/>
            </p:nvSpPr>
            <p:spPr>
              <a:xfrm>
                <a:off x="10483523" y="3381719"/>
                <a:ext cx="5442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A0265EF9-EEDE-CED7-39C0-C782DB132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523" y="3381719"/>
                <a:ext cx="54425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8B1DCDB-FBD9-8889-9341-51C931F8BBA1}"/>
                  </a:ext>
                </a:extLst>
              </p:cNvPr>
              <p:cNvSpPr txBox="1"/>
              <p:nvPr/>
            </p:nvSpPr>
            <p:spPr>
              <a:xfrm>
                <a:off x="9949692" y="4522460"/>
                <a:ext cx="1611915" cy="914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8E5397F-7B87-AC77-EFCF-8906E997F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692" y="4522460"/>
                <a:ext cx="1611915" cy="9144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DB31BE6-B6B0-E231-1958-1A94FE8C018D}"/>
              </a:ext>
            </a:extLst>
          </p:cNvPr>
          <p:cNvSpPr/>
          <p:nvPr/>
        </p:nvSpPr>
        <p:spPr>
          <a:xfrm>
            <a:off x="91512" y="3029400"/>
            <a:ext cx="2955607" cy="2729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8921FE4-915C-9123-B953-9596D58A50E6}"/>
              </a:ext>
            </a:extLst>
          </p:cNvPr>
          <p:cNvSpPr/>
          <p:nvPr/>
        </p:nvSpPr>
        <p:spPr>
          <a:xfrm>
            <a:off x="4641245" y="3029398"/>
            <a:ext cx="2955607" cy="2729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C30DACB-8208-94FD-0881-FF0C0D1C0ACF}"/>
              </a:ext>
            </a:extLst>
          </p:cNvPr>
          <p:cNvSpPr/>
          <p:nvPr/>
        </p:nvSpPr>
        <p:spPr>
          <a:xfrm>
            <a:off x="9151599" y="3041494"/>
            <a:ext cx="2955607" cy="2717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E6F2512A-6DA3-C406-D94E-95A9A71F243D}"/>
              </a:ext>
            </a:extLst>
          </p:cNvPr>
          <p:cNvSpPr/>
          <p:nvPr/>
        </p:nvSpPr>
        <p:spPr>
          <a:xfrm>
            <a:off x="3335766" y="4788097"/>
            <a:ext cx="1774093" cy="3832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A39CB7F-868F-A43D-9FAB-8C4CD2DC8FAB}"/>
              </a:ext>
            </a:extLst>
          </p:cNvPr>
          <p:cNvSpPr txBox="1"/>
          <p:nvPr/>
        </p:nvSpPr>
        <p:spPr>
          <a:xfrm>
            <a:off x="3145083" y="4100512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1 photon loss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6C7B92A-7EBA-ED22-A291-A03DE72EFA93}"/>
              </a:ext>
            </a:extLst>
          </p:cNvPr>
          <p:cNvSpPr txBox="1"/>
          <p:nvPr/>
        </p:nvSpPr>
        <p:spPr>
          <a:xfrm>
            <a:off x="7576433" y="4137750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1 photon loss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8" name="矢印: 左カーブ 17">
            <a:extLst>
              <a:ext uri="{FF2B5EF4-FFF2-40B4-BE49-F238E27FC236}">
                <a16:creationId xmlns:a16="http://schemas.microsoft.com/office/drawing/2014/main" id="{1F6B0E61-D17A-25FB-4F3F-588DBCA5154F}"/>
              </a:ext>
            </a:extLst>
          </p:cNvPr>
          <p:cNvSpPr/>
          <p:nvPr/>
        </p:nvSpPr>
        <p:spPr>
          <a:xfrm rot="5400000">
            <a:off x="3384025" y="4490357"/>
            <a:ext cx="752352" cy="2665379"/>
          </a:xfrm>
          <a:prstGeom prst="curvedLef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矢印: 左カーブ 18">
            <a:extLst>
              <a:ext uri="{FF2B5EF4-FFF2-40B4-BE49-F238E27FC236}">
                <a16:creationId xmlns:a16="http://schemas.microsoft.com/office/drawing/2014/main" id="{9325D69D-801A-4896-E785-170A99400438}"/>
              </a:ext>
            </a:extLst>
          </p:cNvPr>
          <p:cNvSpPr/>
          <p:nvPr/>
        </p:nvSpPr>
        <p:spPr>
          <a:xfrm rot="5400000">
            <a:off x="5102116" y="1559255"/>
            <a:ext cx="914481" cy="8806449"/>
          </a:xfrm>
          <a:prstGeom prst="curvedLeftArrow">
            <a:avLst>
              <a:gd name="adj1" fmla="val 37891"/>
              <a:gd name="adj2" fmla="val 82069"/>
              <a:gd name="adj3" fmla="val 19681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A2F4F36-CF8C-9353-C980-ADA5ECE2AE1A}"/>
              </a:ext>
            </a:extLst>
          </p:cNvPr>
          <p:cNvSpPr txBox="1"/>
          <p:nvPr/>
        </p:nvSpPr>
        <p:spPr>
          <a:xfrm>
            <a:off x="5335137" y="5480114"/>
            <a:ext cx="250783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1" dirty="0">
                <a:solidFill>
                  <a:srgbClr val="00B0F0"/>
                </a:solidFill>
              </a:rPr>
              <a:t>a remainder of 2 </a:t>
            </a:r>
          </a:p>
          <a:p>
            <a:pPr algn="ctr"/>
            <a:r>
              <a:rPr lang="en-US" altLang="ja-JP" sz="1600" b="1" dirty="0">
                <a:solidFill>
                  <a:srgbClr val="00B0F0"/>
                </a:solidFill>
              </a:rPr>
              <a:t>when divided by 3</a:t>
            </a:r>
            <a:endParaRPr lang="ja-JP" altLang="en-US" sz="1600" b="1" dirty="0">
              <a:solidFill>
                <a:srgbClr val="00B0F0"/>
              </a:solidFill>
            </a:endParaRP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297213B8-F239-4592-8225-5728233760FD}"/>
              </a:ext>
            </a:extLst>
          </p:cNvPr>
          <p:cNvSpPr/>
          <p:nvPr/>
        </p:nvSpPr>
        <p:spPr>
          <a:xfrm>
            <a:off x="3263465" y="3399054"/>
            <a:ext cx="2361317" cy="3832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55739063-93AD-3390-30B8-4BDF430223C7}"/>
              </a:ext>
            </a:extLst>
          </p:cNvPr>
          <p:cNvSpPr/>
          <p:nvPr/>
        </p:nvSpPr>
        <p:spPr>
          <a:xfrm>
            <a:off x="6944969" y="3404317"/>
            <a:ext cx="2857194" cy="3832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791B9367-FBC9-772B-A295-1DEC02216D1F}"/>
              </a:ext>
            </a:extLst>
          </p:cNvPr>
          <p:cNvSpPr/>
          <p:nvPr/>
        </p:nvSpPr>
        <p:spPr>
          <a:xfrm>
            <a:off x="7055122" y="4763462"/>
            <a:ext cx="2597449" cy="3832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96CCEB2-4151-5F05-22B4-2135DE0F6629}"/>
              </a:ext>
            </a:extLst>
          </p:cNvPr>
          <p:cNvSpPr txBox="1"/>
          <p:nvPr/>
        </p:nvSpPr>
        <p:spPr>
          <a:xfrm>
            <a:off x="9764489" y="5477975"/>
            <a:ext cx="250783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1" dirty="0">
                <a:solidFill>
                  <a:srgbClr val="00B0F0"/>
                </a:solidFill>
              </a:rPr>
              <a:t>a remainder of 1 </a:t>
            </a:r>
          </a:p>
          <a:p>
            <a:pPr algn="ctr"/>
            <a:r>
              <a:rPr lang="en-US" altLang="ja-JP" sz="1600" b="1" dirty="0">
                <a:solidFill>
                  <a:srgbClr val="00B0F0"/>
                </a:solidFill>
              </a:rPr>
              <a:t>when divided by 3</a:t>
            </a:r>
            <a:endParaRPr lang="ja-JP" altLang="en-US" sz="1600" b="1" dirty="0">
              <a:solidFill>
                <a:srgbClr val="00B0F0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55A054E-0940-FF92-A542-1DD43AF17918}"/>
              </a:ext>
            </a:extLst>
          </p:cNvPr>
          <p:cNvSpPr txBox="1"/>
          <p:nvPr/>
        </p:nvSpPr>
        <p:spPr>
          <a:xfrm>
            <a:off x="3012522" y="5570288"/>
            <a:ext cx="1636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rgbClr val="00B0F0"/>
                </a:solidFill>
                <a:latin typeface="Arial Black" panose="020B0A04020102020204" pitchFamily="34" charset="0"/>
              </a:rPr>
              <a:t>correct</a:t>
            </a:r>
            <a:endParaRPr kumimoji="1" lang="ja-JP" altLang="en-US" sz="28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B3BC822-CFA6-098A-BDFE-CAB23D706B49}"/>
              </a:ext>
            </a:extLst>
          </p:cNvPr>
          <p:cNvSpPr txBox="1"/>
          <p:nvPr/>
        </p:nvSpPr>
        <p:spPr>
          <a:xfrm>
            <a:off x="4721349" y="6354984"/>
            <a:ext cx="1636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rgbClr val="00B0F0"/>
                </a:solidFill>
                <a:latin typeface="Arial Black" panose="020B0A04020102020204" pitchFamily="34" charset="0"/>
              </a:rPr>
              <a:t>correct</a:t>
            </a:r>
            <a:endParaRPr kumimoji="1" lang="ja-JP" altLang="en-US" sz="28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5DBCBB5E-9ECD-047B-2D2F-7457322A372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890" y="453675"/>
            <a:ext cx="3873772" cy="2474622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3FAEABE-22EE-FFD2-B8F8-204FEC75B657}"/>
              </a:ext>
            </a:extLst>
          </p:cNvPr>
          <p:cNvSpPr txBox="1"/>
          <p:nvPr/>
        </p:nvSpPr>
        <p:spPr>
          <a:xfrm>
            <a:off x="32860" y="1997440"/>
            <a:ext cx="8595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Known to reduce the required number of qubits by one to two orders of magnitude.</a:t>
            </a:r>
            <a:endParaRPr kumimoji="1" lang="ja-JP" altLang="en-US" sz="16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3ADD717-084B-3976-D138-8FE7ABD117CD}"/>
              </a:ext>
            </a:extLst>
          </p:cNvPr>
          <p:cNvSpPr txBox="1"/>
          <p:nvPr/>
        </p:nvSpPr>
        <p:spPr>
          <a:xfrm>
            <a:off x="62633" y="2490169"/>
            <a:ext cx="46701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00B0F0"/>
                </a:solidFill>
                <a:latin typeface="Arial Black" panose="020B0A04020102020204" pitchFamily="34" charset="0"/>
              </a:rPr>
              <a:t>e.g. binomial code</a:t>
            </a:r>
            <a:endParaRPr kumimoji="1" lang="ja-JP" altLang="en-US" sz="28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DCB5F73-D4CB-1120-E447-528A97D81095}"/>
              </a:ext>
            </a:extLst>
          </p:cNvPr>
          <p:cNvSpPr txBox="1"/>
          <p:nvPr/>
        </p:nvSpPr>
        <p:spPr>
          <a:xfrm>
            <a:off x="8254359" y="-1334"/>
            <a:ext cx="38675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200" dirty="0">
                <a:solidFill>
                  <a:schemeClr val="tx2"/>
                </a:solidFill>
              </a:rPr>
              <a:t>Brock et al., Nature </a:t>
            </a:r>
            <a:r>
              <a:rPr lang="fr-FR" altLang="ja-JP" sz="1200" b="1" dirty="0">
                <a:solidFill>
                  <a:schemeClr val="tx2"/>
                </a:solidFill>
              </a:rPr>
              <a:t>641</a:t>
            </a:r>
            <a:r>
              <a:rPr lang="fr-FR" altLang="ja-JP" sz="1200" dirty="0">
                <a:solidFill>
                  <a:schemeClr val="tx2"/>
                </a:solidFill>
              </a:rPr>
              <a:t>, 612 (2025)</a:t>
            </a:r>
          </a:p>
          <a:p>
            <a:r>
              <a:rPr lang="en-US" altLang="ja-JP" sz="1400" dirty="0">
                <a:hlinkClick r:id="rId9"/>
              </a:rPr>
              <a:t>https://doi.org/10.1038/s41586-025-08899-y</a:t>
            </a:r>
            <a:r>
              <a:rPr lang="en-US" altLang="ja-JP" sz="1400" dirty="0"/>
              <a:t> </a:t>
            </a:r>
            <a:endParaRPr lang="ja-JP" altLang="en-US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7545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2556-AC3F-EBE2-F98B-40DBB063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7B7BBF-C350-5D19-51CA-9C6E9A5DC84F}"/>
                  </a:ext>
                </a:extLst>
              </p:cNvPr>
              <p:cNvSpPr txBox="1"/>
              <p:nvPr/>
            </p:nvSpPr>
            <p:spPr>
              <a:xfrm>
                <a:off x="0" y="865764"/>
                <a:ext cx="7694579" cy="1328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kumimoji="1" lang="en-US" altLang="ja-JP" sz="2000" dirty="0">
                    <a:solidFill>
                      <a:schemeClr val="tx2"/>
                    </a:solidFill>
                  </a:rPr>
                  <a:t>Reagor et al., Phys. Rev. B </a:t>
                </a:r>
                <a:r>
                  <a:rPr kumimoji="1" lang="en-US" altLang="ja-JP" sz="2000" b="1" dirty="0">
                    <a:solidFill>
                      <a:schemeClr val="tx2"/>
                    </a:solidFill>
                  </a:rPr>
                  <a:t>94</a:t>
                </a:r>
                <a:r>
                  <a:rPr kumimoji="1" lang="en-US" altLang="ja-JP" sz="2000" dirty="0">
                    <a:solidFill>
                      <a:schemeClr val="tx2"/>
                    </a:solidFill>
                  </a:rPr>
                  <a:t>, 014506 (2016)</a:t>
                </a:r>
              </a:p>
              <a:p>
                <a:r>
                  <a:rPr lang="en-US" altLang="ja-JP" sz="2000" dirty="0">
                    <a:solidFill>
                      <a:schemeClr val="tx1"/>
                    </a:solidFill>
                  </a:rPr>
                  <a:t>    </a:t>
                </a:r>
                <a:r>
                  <a:rPr lang="en-US" altLang="ja-JP" sz="2000" b="1" dirty="0"/>
                  <a:t>Aluminum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endParaRPr lang="en-US" altLang="ja-JP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28AF4C2C-3C03-CA82-3FC1-A74B51E13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5764"/>
                <a:ext cx="7694579" cy="1328954"/>
              </a:xfrm>
              <a:prstGeom prst="rect">
                <a:avLst/>
              </a:prstGeom>
              <a:blipFill>
                <a:blip r:embed="rId2"/>
                <a:stretch>
                  <a:fillRect l="-713" t="-22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D3DA999-C5EA-0BDC-150C-375D3755829C}"/>
              </a:ext>
            </a:extLst>
          </p:cNvPr>
          <p:cNvSpPr txBox="1"/>
          <p:nvPr/>
        </p:nvSpPr>
        <p:spPr>
          <a:xfrm>
            <a:off x="0" y="0"/>
            <a:ext cx="6919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Arial Black" panose="020B0A04020102020204" pitchFamily="34" charset="0"/>
              </a:rPr>
              <a:t>3D coaxial cavity progress</a:t>
            </a:r>
            <a:endParaRPr kumimoji="1" lang="ja-JP" altLang="en-US" sz="3600" dirty="0">
              <a:latin typeface="Arial Black" panose="020B0A040201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A3E5CD-E84A-D911-CABA-159A16A18FA9}"/>
              </a:ext>
            </a:extLst>
          </p:cNvPr>
          <p:cNvSpPr txBox="1"/>
          <p:nvPr/>
        </p:nvSpPr>
        <p:spPr>
          <a:xfrm>
            <a:off x="5497433" y="830175"/>
            <a:ext cx="2280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Yale University</a:t>
            </a:r>
            <a:endParaRPr kumimoji="1" lang="ja-JP" altLang="en-US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0D332B3-1561-98EC-564E-74B1A7FF3A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890" y="453675"/>
            <a:ext cx="3873772" cy="247462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A790D4-87D5-9EA2-85B8-2679254719F6}"/>
              </a:ext>
            </a:extLst>
          </p:cNvPr>
          <p:cNvSpPr txBox="1"/>
          <p:nvPr/>
        </p:nvSpPr>
        <p:spPr>
          <a:xfrm>
            <a:off x="8254359" y="-1334"/>
            <a:ext cx="38675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200" dirty="0">
                <a:solidFill>
                  <a:schemeClr val="tx2"/>
                </a:solidFill>
              </a:rPr>
              <a:t>Brock et al., Nature </a:t>
            </a:r>
            <a:r>
              <a:rPr lang="fr-FR" altLang="ja-JP" sz="1200" b="1" dirty="0">
                <a:solidFill>
                  <a:schemeClr val="tx2"/>
                </a:solidFill>
              </a:rPr>
              <a:t>641</a:t>
            </a:r>
            <a:r>
              <a:rPr lang="fr-FR" altLang="ja-JP" sz="1200" dirty="0">
                <a:solidFill>
                  <a:schemeClr val="tx2"/>
                </a:solidFill>
              </a:rPr>
              <a:t>, 612 (2025)</a:t>
            </a:r>
          </a:p>
          <a:p>
            <a:r>
              <a:rPr lang="en-US" altLang="ja-JP" sz="1400" dirty="0">
                <a:hlinkClick r:id="rId4"/>
              </a:rPr>
              <a:t>https://doi.org/10.1038/s41586-025-08899-y</a:t>
            </a:r>
            <a:r>
              <a:rPr lang="en-US" altLang="ja-JP" sz="1400" dirty="0"/>
              <a:t> </a:t>
            </a:r>
            <a:endParaRPr lang="ja-JP" altLang="en-US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7456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709E-BBE6-3141-5647-682AF99B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5981AE3-909A-AE06-FED8-B03631C3B31F}"/>
                  </a:ext>
                </a:extLst>
              </p:cNvPr>
              <p:cNvSpPr txBox="1"/>
              <p:nvPr/>
            </p:nvSpPr>
            <p:spPr>
              <a:xfrm>
                <a:off x="0" y="865764"/>
                <a:ext cx="7694579" cy="2567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kumimoji="1" lang="en-US" altLang="ja-JP" sz="2000" dirty="0">
                    <a:solidFill>
                      <a:schemeClr val="tx2"/>
                    </a:solidFill>
                  </a:rPr>
                  <a:t>Reagor et al., Phys. Rev. B </a:t>
                </a:r>
                <a:r>
                  <a:rPr kumimoji="1" lang="en-US" altLang="ja-JP" sz="2000" b="1" dirty="0">
                    <a:solidFill>
                      <a:schemeClr val="tx2"/>
                    </a:solidFill>
                  </a:rPr>
                  <a:t>94</a:t>
                </a:r>
                <a:r>
                  <a:rPr kumimoji="1" lang="en-US" altLang="ja-JP" sz="2000" dirty="0">
                    <a:solidFill>
                      <a:schemeClr val="tx2"/>
                    </a:solidFill>
                  </a:rPr>
                  <a:t>, 014506 (2016)</a:t>
                </a:r>
              </a:p>
              <a:p>
                <a:r>
                  <a:rPr lang="en-US" altLang="ja-JP" sz="2000" dirty="0">
                    <a:solidFill>
                      <a:schemeClr val="tx1"/>
                    </a:solidFill>
                  </a:rPr>
                  <a:t>    </a:t>
                </a:r>
                <a:r>
                  <a:rPr lang="en-US" altLang="ja-JP" sz="2000" b="1" dirty="0"/>
                  <a:t>Aluminum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ja-JP" sz="2000" dirty="0">
                    <a:solidFill>
                      <a:schemeClr val="tx2"/>
                    </a:solidFill>
                  </a:rPr>
                  <a:t>Heidler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et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al.,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Phys.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Rev.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Applied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b="1" dirty="0">
                    <a:solidFill>
                      <a:schemeClr val="tx2"/>
                    </a:solidFill>
                  </a:rPr>
                  <a:t>16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,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034024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(2021)</a:t>
                </a:r>
              </a:p>
              <a:p>
                <a:r>
                  <a:rPr lang="en-US" altLang="ja-JP" sz="2000" dirty="0">
                    <a:solidFill>
                      <a:srgbClr val="0070C0"/>
                    </a:solidFill>
                  </a:rPr>
                  <a:t>    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Niobium 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(1:1:1 buffered chemical polishing at 0-5</a:t>
                </a:r>
                <a:r>
                  <a:rPr lang="ja-JP" altLang="en-US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)</a:t>
                </a:r>
                <a:r>
                  <a:rPr lang="en-US" altLang="ja-JP" sz="2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endParaRPr lang="en-US" altLang="ja-JP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4954FF4B-A6C2-3ED4-176C-C29B9DE0C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5764"/>
                <a:ext cx="7694579" cy="2567049"/>
              </a:xfrm>
              <a:prstGeom prst="rect">
                <a:avLst/>
              </a:prstGeom>
              <a:blipFill>
                <a:blip r:embed="rId2"/>
                <a:stretch>
                  <a:fillRect l="-713" t="-1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C08CD8A-850C-D5BF-4FD6-5E4ECC67C6FF}"/>
              </a:ext>
            </a:extLst>
          </p:cNvPr>
          <p:cNvSpPr txBox="1"/>
          <p:nvPr/>
        </p:nvSpPr>
        <p:spPr>
          <a:xfrm>
            <a:off x="0" y="0"/>
            <a:ext cx="6919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Arial Black" panose="020B0A04020102020204" pitchFamily="34" charset="0"/>
              </a:rPr>
              <a:t>3D coaxial cavity progress</a:t>
            </a:r>
            <a:endParaRPr kumimoji="1" lang="ja-JP" altLang="en-US" sz="3600" dirty="0">
              <a:latin typeface="Arial Black" panose="020B0A040201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C2BAB6-7C7A-0B65-CF94-DEF1661B9A54}"/>
              </a:ext>
            </a:extLst>
          </p:cNvPr>
          <p:cNvSpPr txBox="1"/>
          <p:nvPr/>
        </p:nvSpPr>
        <p:spPr>
          <a:xfrm>
            <a:off x="5497433" y="830175"/>
            <a:ext cx="2280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Yale University</a:t>
            </a:r>
            <a:endParaRPr kumimoji="1" lang="ja-JP" altLang="en-US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D5EA6D7-75D0-7E53-CD88-2F4C395AE9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890" y="453675"/>
            <a:ext cx="3873772" cy="247462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3D5DC3-A25A-0CD0-750F-03CB3F02053F}"/>
              </a:ext>
            </a:extLst>
          </p:cNvPr>
          <p:cNvSpPr txBox="1"/>
          <p:nvPr/>
        </p:nvSpPr>
        <p:spPr>
          <a:xfrm>
            <a:off x="8254359" y="-1334"/>
            <a:ext cx="38675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200" dirty="0">
                <a:solidFill>
                  <a:schemeClr val="tx2"/>
                </a:solidFill>
              </a:rPr>
              <a:t>Brock et al., Nature </a:t>
            </a:r>
            <a:r>
              <a:rPr lang="fr-FR" altLang="ja-JP" sz="1200" b="1" dirty="0">
                <a:solidFill>
                  <a:schemeClr val="tx2"/>
                </a:solidFill>
              </a:rPr>
              <a:t>641</a:t>
            </a:r>
            <a:r>
              <a:rPr lang="fr-FR" altLang="ja-JP" sz="1200" dirty="0">
                <a:solidFill>
                  <a:schemeClr val="tx2"/>
                </a:solidFill>
              </a:rPr>
              <a:t>, 612 (2025)</a:t>
            </a:r>
          </a:p>
          <a:p>
            <a:r>
              <a:rPr lang="en-US" altLang="ja-JP" sz="1400" dirty="0">
                <a:hlinkClick r:id="rId4"/>
              </a:rPr>
              <a:t>https://doi.org/10.1038/s41586-025-08899-y</a:t>
            </a:r>
            <a:r>
              <a:rPr lang="en-US" altLang="ja-JP" sz="1400" dirty="0"/>
              <a:t> </a:t>
            </a:r>
            <a:endParaRPr lang="ja-JP" altLang="en-US" sz="1100" dirty="0">
              <a:solidFill>
                <a:schemeClr val="tx2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887FC8-8F17-96AB-959A-73F5A7837B74}"/>
              </a:ext>
            </a:extLst>
          </p:cNvPr>
          <p:cNvSpPr txBox="1"/>
          <p:nvPr/>
        </p:nvSpPr>
        <p:spPr>
          <a:xfrm>
            <a:off x="6324347" y="2053877"/>
            <a:ext cx="19582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University of Innsbruck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003055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B317-DBC3-0229-C51A-C91A4111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A8A1975-1C24-2A9E-C900-977DB7495022}"/>
                  </a:ext>
                </a:extLst>
              </p:cNvPr>
              <p:cNvSpPr txBox="1"/>
              <p:nvPr/>
            </p:nvSpPr>
            <p:spPr>
              <a:xfrm>
                <a:off x="0" y="865764"/>
                <a:ext cx="7694579" cy="349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kumimoji="1" lang="en-US" altLang="ja-JP" sz="2000" dirty="0">
                    <a:solidFill>
                      <a:schemeClr val="tx2"/>
                    </a:solidFill>
                  </a:rPr>
                  <a:t>Reagor et al., Phys. Rev. B </a:t>
                </a:r>
                <a:r>
                  <a:rPr kumimoji="1" lang="en-US" altLang="ja-JP" sz="2000" b="1" dirty="0">
                    <a:solidFill>
                      <a:schemeClr val="tx2"/>
                    </a:solidFill>
                  </a:rPr>
                  <a:t>94</a:t>
                </a:r>
                <a:r>
                  <a:rPr kumimoji="1" lang="en-US" altLang="ja-JP" sz="2000" dirty="0">
                    <a:solidFill>
                      <a:schemeClr val="tx2"/>
                    </a:solidFill>
                  </a:rPr>
                  <a:t>, 014506 (2016)</a:t>
                </a:r>
              </a:p>
              <a:p>
                <a:r>
                  <a:rPr lang="en-US" altLang="ja-JP" sz="2000" dirty="0">
                    <a:solidFill>
                      <a:schemeClr val="tx1"/>
                    </a:solidFill>
                  </a:rPr>
                  <a:t>    </a:t>
                </a:r>
                <a:r>
                  <a:rPr lang="en-US" altLang="ja-JP" sz="2000" b="1" dirty="0"/>
                  <a:t>Aluminum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ja-JP" sz="2000" dirty="0">
                    <a:solidFill>
                      <a:schemeClr val="tx2"/>
                    </a:solidFill>
                  </a:rPr>
                  <a:t>Heidler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et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al.,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Phys.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Rev.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Applied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b="1" dirty="0">
                    <a:solidFill>
                      <a:schemeClr val="tx2"/>
                    </a:solidFill>
                  </a:rPr>
                  <a:t>16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,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034024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(2021)</a:t>
                </a:r>
              </a:p>
              <a:p>
                <a:r>
                  <a:rPr lang="en-US" altLang="ja-JP" sz="2000" dirty="0">
                    <a:solidFill>
                      <a:srgbClr val="0070C0"/>
                    </a:solidFill>
                  </a:rPr>
                  <a:t>    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Niobium 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(1:1:1 buffered chemical polishing at 0-5</a:t>
                </a:r>
                <a:r>
                  <a:rPr lang="ja-JP" altLang="en-US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)</a:t>
                </a:r>
                <a:r>
                  <a:rPr lang="en-US" altLang="ja-JP" sz="2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ja-JP" sz="2000" dirty="0">
                    <a:solidFill>
                      <a:schemeClr val="tx2"/>
                    </a:solidFill>
                  </a:rPr>
                  <a:t>Oriani et al., Phys. Rev. Applied </a:t>
                </a:r>
                <a:r>
                  <a:rPr lang="en-US" altLang="ja-JP" sz="2000" b="1" dirty="0">
                    <a:solidFill>
                      <a:schemeClr val="tx2"/>
                    </a:solidFill>
                  </a:rPr>
                  <a:t>24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, 044080 (2025)</a:t>
                </a:r>
              </a:p>
              <a:p>
                <a:r>
                  <a:rPr lang="en-US" altLang="ja-JP" sz="2000" dirty="0">
                    <a:solidFill>
                      <a:srgbClr val="0070C0"/>
                    </a:solidFill>
                  </a:rPr>
                  <a:t>    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Niobium 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(1:1:2 water buffered chemical polishing below 10</a:t>
                </a:r>
                <a:r>
                  <a:rPr lang="ja-JP" altLang="en-US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)</a:t>
                </a:r>
                <a:r>
                  <a:rPr lang="en-US" altLang="ja-JP" sz="2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24AC0DF3-A34B-0E14-E7FB-4C309D42B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5764"/>
                <a:ext cx="7694579" cy="3497368"/>
              </a:xfrm>
              <a:prstGeom prst="rect">
                <a:avLst/>
              </a:prstGeom>
              <a:blipFill>
                <a:blip r:embed="rId2"/>
                <a:stretch>
                  <a:fillRect l="-713" t="-871" b="-22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4679C7-5432-5E6F-20F5-42856E8411B3}"/>
              </a:ext>
            </a:extLst>
          </p:cNvPr>
          <p:cNvSpPr txBox="1"/>
          <p:nvPr/>
        </p:nvSpPr>
        <p:spPr>
          <a:xfrm>
            <a:off x="0" y="0"/>
            <a:ext cx="6919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Arial Black" panose="020B0A04020102020204" pitchFamily="34" charset="0"/>
              </a:rPr>
              <a:t>3D coaxial cavity progress</a:t>
            </a:r>
            <a:endParaRPr kumimoji="1" lang="ja-JP" altLang="en-US" sz="3600" dirty="0">
              <a:latin typeface="Arial Black" panose="020B0A040201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83D252-1105-2D25-2BFE-FD3DEC0A3D16}"/>
              </a:ext>
            </a:extLst>
          </p:cNvPr>
          <p:cNvSpPr txBox="1"/>
          <p:nvPr/>
        </p:nvSpPr>
        <p:spPr>
          <a:xfrm>
            <a:off x="1584600" y="4200901"/>
            <a:ext cx="75639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/>
              <a:t>↑</a:t>
            </a:r>
            <a:endParaRPr lang="en-US" altLang="ja-JP" sz="4000" b="1" dirty="0"/>
          </a:p>
          <a:p>
            <a:r>
              <a:rPr lang="en-US" altLang="ja-JP" sz="4000" b="1" dirty="0"/>
              <a:t>The world record (as of 2024)</a:t>
            </a:r>
            <a:endParaRPr lang="ja-JP" altLang="en-US" sz="4000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5DF2AB1-CE60-0AE4-BB4B-7FA95DCC719C}"/>
              </a:ext>
            </a:extLst>
          </p:cNvPr>
          <p:cNvSpPr txBox="1"/>
          <p:nvPr/>
        </p:nvSpPr>
        <p:spPr>
          <a:xfrm>
            <a:off x="5497433" y="830175"/>
            <a:ext cx="2280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Yale University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749BD7-3785-3D26-A5D2-9CFF82E86AC3}"/>
              </a:ext>
            </a:extLst>
          </p:cNvPr>
          <p:cNvSpPr txBox="1"/>
          <p:nvPr/>
        </p:nvSpPr>
        <p:spPr>
          <a:xfrm>
            <a:off x="6126198" y="3277571"/>
            <a:ext cx="3219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University of Chicago</a:t>
            </a:r>
            <a:endParaRPr kumimoji="1" lang="ja-JP" altLang="en-US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065A38-45A8-6EE3-3655-6F066A38D19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890" y="453675"/>
            <a:ext cx="3873772" cy="247462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FEB2B53-E987-5577-8826-4A271B679263}"/>
              </a:ext>
            </a:extLst>
          </p:cNvPr>
          <p:cNvSpPr txBox="1"/>
          <p:nvPr/>
        </p:nvSpPr>
        <p:spPr>
          <a:xfrm>
            <a:off x="8254359" y="-1334"/>
            <a:ext cx="38675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200" dirty="0">
                <a:solidFill>
                  <a:schemeClr val="tx2"/>
                </a:solidFill>
              </a:rPr>
              <a:t>Brock et al., Nature </a:t>
            </a:r>
            <a:r>
              <a:rPr lang="fr-FR" altLang="ja-JP" sz="1200" b="1" dirty="0">
                <a:solidFill>
                  <a:schemeClr val="tx2"/>
                </a:solidFill>
              </a:rPr>
              <a:t>641</a:t>
            </a:r>
            <a:r>
              <a:rPr lang="fr-FR" altLang="ja-JP" sz="1200" dirty="0">
                <a:solidFill>
                  <a:schemeClr val="tx2"/>
                </a:solidFill>
              </a:rPr>
              <a:t>, 612 (2025)</a:t>
            </a:r>
          </a:p>
          <a:p>
            <a:r>
              <a:rPr lang="en-US" altLang="ja-JP" sz="1400" dirty="0">
                <a:hlinkClick r:id="rId4"/>
              </a:rPr>
              <a:t>https://doi.org/10.1038/s41586-025-08899-y</a:t>
            </a:r>
            <a:r>
              <a:rPr lang="en-US" altLang="ja-JP" sz="1400" dirty="0"/>
              <a:t> </a:t>
            </a:r>
            <a:endParaRPr lang="ja-JP" altLang="en-US" sz="1100" dirty="0">
              <a:solidFill>
                <a:schemeClr val="tx2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7092651-8C05-65B2-4D11-37893DA67966}"/>
              </a:ext>
            </a:extLst>
          </p:cNvPr>
          <p:cNvSpPr txBox="1"/>
          <p:nvPr/>
        </p:nvSpPr>
        <p:spPr>
          <a:xfrm>
            <a:off x="6324347" y="2053877"/>
            <a:ext cx="19582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University of Innsbruck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801160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368D-01BF-98BB-0738-2F37959C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5081C883-9103-3845-D5FE-481DE36581C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918"/>
          <a:stretch>
            <a:fillRect/>
          </a:stretch>
        </p:blipFill>
        <p:spPr>
          <a:xfrm>
            <a:off x="434801" y="675054"/>
            <a:ext cx="4508061" cy="611661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52B6969-00CE-3264-F151-0AD8AE35F07A}"/>
              </a:ext>
            </a:extLst>
          </p:cNvPr>
          <p:cNvSpPr txBox="1"/>
          <p:nvPr/>
        </p:nvSpPr>
        <p:spPr>
          <a:xfrm>
            <a:off x="555163" y="1136826"/>
            <a:ext cx="1534570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/>
              <a:t>cavity</a:t>
            </a:r>
            <a:r>
              <a:rPr kumimoji="1" lang="ja-JP" altLang="en-US" sz="2400" b="1" dirty="0"/>
              <a:t>→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43386F-2127-E90D-B9DC-D6ED16E9081C}"/>
              </a:ext>
            </a:extLst>
          </p:cNvPr>
          <p:cNvSpPr txBox="1"/>
          <p:nvPr/>
        </p:nvSpPr>
        <p:spPr>
          <a:xfrm>
            <a:off x="116753" y="16962"/>
            <a:ext cx="6293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dirty="0"/>
              <a:t>Why don't we give it a shot?</a:t>
            </a:r>
            <a:endParaRPr lang="ja-JP" altLang="en-US" sz="3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5984D7-81BB-FDDD-E333-C85581298C72}"/>
              </a:ext>
            </a:extLst>
          </p:cNvPr>
          <p:cNvSpPr txBox="1"/>
          <p:nvPr/>
        </p:nvSpPr>
        <p:spPr>
          <a:xfrm>
            <a:off x="575667" y="2955275"/>
            <a:ext cx="1516377" cy="95410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b="1" dirty="0"/>
              <a:t>T. Kubo</a:t>
            </a:r>
          </a:p>
          <a:p>
            <a:pPr algn="ctr"/>
            <a:r>
              <a:rPr kumimoji="1" lang="ja-JP" altLang="en-US" sz="2800" b="1" dirty="0"/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15668666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878B-2A67-74B1-8820-80D075B32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742DB17-2E5F-1582-2909-75EA7F9835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918"/>
          <a:stretch>
            <a:fillRect/>
          </a:stretch>
        </p:blipFill>
        <p:spPr>
          <a:xfrm>
            <a:off x="434801" y="675054"/>
            <a:ext cx="4508061" cy="6116618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8FE4B6-2747-1B40-BAA7-155A39733BD4}"/>
              </a:ext>
            </a:extLst>
          </p:cNvPr>
          <p:cNvSpPr txBox="1"/>
          <p:nvPr/>
        </p:nvSpPr>
        <p:spPr>
          <a:xfrm>
            <a:off x="575667" y="2955275"/>
            <a:ext cx="1516377" cy="95410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b="1" dirty="0"/>
              <a:t>T. Kubo</a:t>
            </a:r>
          </a:p>
          <a:p>
            <a:pPr algn="ctr"/>
            <a:r>
              <a:rPr kumimoji="1" lang="ja-JP" altLang="en-US" sz="2800" b="1" dirty="0"/>
              <a:t>↓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290FA2-FE6C-9ADE-B3C7-EB2F65950275}"/>
              </a:ext>
            </a:extLst>
          </p:cNvPr>
          <p:cNvSpPr txBox="1"/>
          <p:nvPr/>
        </p:nvSpPr>
        <p:spPr>
          <a:xfrm>
            <a:off x="555163" y="1136826"/>
            <a:ext cx="1534570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/>
              <a:t>cavity</a:t>
            </a:r>
            <a:r>
              <a:rPr kumimoji="1" lang="ja-JP" altLang="en-US" sz="2400" b="1" dirty="0"/>
              <a:t>→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30038CD-0829-86CA-8D84-A356D1B41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3" b="46667"/>
          <a:stretch/>
        </p:blipFill>
        <p:spPr>
          <a:xfrm>
            <a:off x="5154518" y="1315040"/>
            <a:ext cx="5160385" cy="142304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80551DD-E130-011C-6BF4-E1912039E5CA}"/>
              </a:ext>
            </a:extLst>
          </p:cNvPr>
          <p:cNvSpPr txBox="1"/>
          <p:nvPr/>
        </p:nvSpPr>
        <p:spPr>
          <a:xfrm>
            <a:off x="5159706" y="814086"/>
            <a:ext cx="5160385" cy="338554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>
                <a:latin typeface="Arial Black" panose="020B0A04020102020204" pitchFamily="34" charset="0"/>
              </a:rPr>
              <a:t>Nb</a:t>
            </a:r>
            <a:r>
              <a:rPr kumimoji="1" lang="en-US" altLang="ja-JP" sz="1600" dirty="0">
                <a:latin typeface="Arial Black" panose="020B0A04020102020204" pitchFamily="34" charset="0"/>
              </a:rPr>
              <a:t> coaxial cavity of </a:t>
            </a:r>
            <a:r>
              <a:rPr kumimoji="1" lang="en-US" altLang="ja-JP" sz="1600" dirty="0">
                <a:solidFill>
                  <a:srgbClr val="FF0000"/>
                </a:solidFill>
                <a:latin typeface="Arial Black" panose="020B0A04020102020204" pitchFamily="34" charset="0"/>
              </a:rPr>
              <a:t>KEK-NTT</a:t>
            </a:r>
            <a:r>
              <a:rPr kumimoji="1" lang="en-US" altLang="ja-JP" sz="1600" dirty="0">
                <a:latin typeface="Arial Black" panose="020B0A04020102020204" pitchFamily="34" charset="0"/>
              </a:rPr>
              <a:t> collaboration</a:t>
            </a:r>
            <a:endParaRPr kumimoji="1" lang="ja-JP" altLang="en-US" sz="1600" dirty="0">
              <a:latin typeface="Arial Black" panose="020B0A04020102020204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D5AED6E-25D2-FE39-3BC1-1172B9C825C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09442" y="624788"/>
            <a:ext cx="1737556" cy="2182342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EE6FEAD-3A0E-17C8-EA9F-28B65D19D49D}"/>
              </a:ext>
            </a:extLst>
          </p:cNvPr>
          <p:cNvSpPr txBox="1"/>
          <p:nvPr/>
        </p:nvSpPr>
        <p:spPr>
          <a:xfrm>
            <a:off x="9896693" y="99596"/>
            <a:ext cx="229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Takenaka, T. Kubo et al., 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arXiv:2510.01819. 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C9BDCA-37DB-A626-4927-FEA5EF4E5409}"/>
              </a:ext>
            </a:extLst>
          </p:cNvPr>
          <p:cNvSpPr txBox="1"/>
          <p:nvPr/>
        </p:nvSpPr>
        <p:spPr>
          <a:xfrm>
            <a:off x="116753" y="16962"/>
            <a:ext cx="6293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dirty="0"/>
              <a:t>Why don't we give it a shot?</a:t>
            </a:r>
            <a:endParaRPr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226102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3BA7-FDCD-3FCA-7CD5-E284F9DB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1D765BA-23CD-FED1-10EA-876DE0B17C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918"/>
          <a:stretch>
            <a:fillRect/>
          </a:stretch>
        </p:blipFill>
        <p:spPr>
          <a:xfrm>
            <a:off x="434801" y="675054"/>
            <a:ext cx="4508061" cy="611661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00EC5A-397A-0A66-A608-860A0788479D}"/>
              </a:ext>
            </a:extLst>
          </p:cNvPr>
          <p:cNvSpPr txBox="1"/>
          <p:nvPr/>
        </p:nvSpPr>
        <p:spPr>
          <a:xfrm>
            <a:off x="555163" y="1136826"/>
            <a:ext cx="1534570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/>
              <a:t>cavity</a:t>
            </a:r>
            <a:r>
              <a:rPr kumimoji="1" lang="ja-JP" altLang="en-US" sz="2400" b="1" dirty="0"/>
              <a:t>→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F30C670-AE3B-6DDB-5C0C-E801766296D7}"/>
              </a:ext>
            </a:extLst>
          </p:cNvPr>
          <p:cNvSpPr txBox="1"/>
          <p:nvPr/>
        </p:nvSpPr>
        <p:spPr>
          <a:xfrm>
            <a:off x="5940094" y="4361958"/>
            <a:ext cx="21323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Corresponding to </a:t>
            </a:r>
          </a:p>
          <a:p>
            <a:r>
              <a:rPr kumimoji="1" lang="en-US" altLang="ja-JP" dirty="0"/>
              <a:t>photon lifetime of </a:t>
            </a:r>
          </a:p>
          <a:p>
            <a:r>
              <a:rPr kumimoji="1" lang="en-US" altLang="ja-JP" dirty="0"/>
              <a:t>~0.1 sec.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E2F33E7-8A04-28CF-6F06-86FA08E2E7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12869" y="3707599"/>
            <a:ext cx="3990405" cy="3116466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D505EB-518B-CA6C-BDD7-B8CAC28A6FFB}"/>
              </a:ext>
            </a:extLst>
          </p:cNvPr>
          <p:cNvSpPr txBox="1"/>
          <p:nvPr/>
        </p:nvSpPr>
        <p:spPr>
          <a:xfrm>
            <a:off x="8583072" y="5023678"/>
            <a:ext cx="3054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1E3CFF"/>
                </a:solidFill>
              </a:rPr>
              <a:t>T. Takenaka, T. Kubo et al., </a:t>
            </a:r>
          </a:p>
          <a:p>
            <a:r>
              <a:rPr lang="en-US" altLang="ja-JP" sz="1400" dirty="0">
                <a:solidFill>
                  <a:srgbClr val="1E3CFF"/>
                </a:solidFill>
              </a:rPr>
              <a:t>arXiv:2510.01819. 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DDB736-BF77-D973-7847-113F03D66240}"/>
              </a:ext>
            </a:extLst>
          </p:cNvPr>
          <p:cNvSpPr txBox="1"/>
          <p:nvPr/>
        </p:nvSpPr>
        <p:spPr>
          <a:xfrm>
            <a:off x="5009742" y="3389538"/>
            <a:ext cx="3409505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altLang="ja-JP" sz="2400" b="1" dirty="0"/>
              <a:t>We broke </a:t>
            </a:r>
          </a:p>
          <a:p>
            <a:r>
              <a:rPr lang="en-US" altLang="ja-JP" sz="2400" b="1" dirty="0"/>
              <a:t>the world record!!!</a:t>
            </a:r>
            <a:r>
              <a:rPr lang="ja-JP" altLang="en-US" sz="2400" b="1" dirty="0"/>
              <a:t>→</a:t>
            </a:r>
            <a:r>
              <a:rPr lang="en-US" altLang="ja-JP" sz="2400" b="1" dirty="0"/>
              <a:t> </a:t>
            </a:r>
            <a:endParaRPr lang="ja-JP" altLang="en-US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C700852-4BEB-C04B-8640-D59A2A9998B2}"/>
              </a:ext>
            </a:extLst>
          </p:cNvPr>
          <p:cNvSpPr txBox="1"/>
          <p:nvPr/>
        </p:nvSpPr>
        <p:spPr>
          <a:xfrm>
            <a:off x="8545708" y="3244334"/>
            <a:ext cx="3304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20mK &amp; Single photon level</a:t>
            </a:r>
            <a:endParaRPr kumimoji="1" lang="ja-JP" altLang="en-US" b="1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4E0A71F-66AD-0A5A-8B0A-3DFDBCFAD1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3" b="46667"/>
          <a:stretch/>
        </p:blipFill>
        <p:spPr>
          <a:xfrm>
            <a:off x="5154518" y="1315040"/>
            <a:ext cx="5160385" cy="1423049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266DB95-271D-97F5-5CE7-E57537C11998}"/>
              </a:ext>
            </a:extLst>
          </p:cNvPr>
          <p:cNvSpPr txBox="1"/>
          <p:nvPr/>
        </p:nvSpPr>
        <p:spPr>
          <a:xfrm>
            <a:off x="5159706" y="814086"/>
            <a:ext cx="5160385" cy="338554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>
                <a:latin typeface="Arial Black" panose="020B0A04020102020204" pitchFamily="34" charset="0"/>
              </a:rPr>
              <a:t>Nb</a:t>
            </a:r>
            <a:r>
              <a:rPr kumimoji="1" lang="en-US" altLang="ja-JP" sz="1600" dirty="0">
                <a:latin typeface="Arial Black" panose="020B0A04020102020204" pitchFamily="34" charset="0"/>
              </a:rPr>
              <a:t> coaxial cavity of </a:t>
            </a:r>
            <a:r>
              <a:rPr kumimoji="1" lang="en-US" altLang="ja-JP" sz="1600" dirty="0">
                <a:solidFill>
                  <a:srgbClr val="FF0000"/>
                </a:solidFill>
                <a:latin typeface="Arial Black" panose="020B0A04020102020204" pitchFamily="34" charset="0"/>
              </a:rPr>
              <a:t>KEK-NTT</a:t>
            </a:r>
            <a:r>
              <a:rPr kumimoji="1" lang="en-US" altLang="ja-JP" sz="1600" dirty="0">
                <a:latin typeface="Arial Black" panose="020B0A04020102020204" pitchFamily="34" charset="0"/>
              </a:rPr>
              <a:t> collaboration</a:t>
            </a:r>
            <a:endParaRPr kumimoji="1" lang="ja-JP" altLang="en-US" sz="1600" dirty="0">
              <a:latin typeface="Arial Black" panose="020B0A04020102020204" pitchFamily="34" charset="0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3CA647EA-A6AE-B743-1844-C5FB992431A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09442" y="624788"/>
            <a:ext cx="1737556" cy="2182342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CD55176-4805-114A-6767-EDB2901FFBE5}"/>
              </a:ext>
            </a:extLst>
          </p:cNvPr>
          <p:cNvSpPr txBox="1"/>
          <p:nvPr/>
        </p:nvSpPr>
        <p:spPr>
          <a:xfrm>
            <a:off x="9896693" y="99596"/>
            <a:ext cx="229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Takenaka, T. Kubo et al., 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arXiv:2510.01819. 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A29A28-E9B1-6DFD-32BC-C3B37ED09D7A}"/>
              </a:ext>
            </a:extLst>
          </p:cNvPr>
          <p:cNvSpPr txBox="1"/>
          <p:nvPr/>
        </p:nvSpPr>
        <p:spPr>
          <a:xfrm>
            <a:off x="116753" y="16962"/>
            <a:ext cx="6293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dirty="0"/>
              <a:t>Why don't we give it a shot?</a:t>
            </a:r>
            <a:endParaRPr lang="ja-JP" altLang="en-US" sz="36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83FB9DB-321E-7CD7-DB08-390C7255D4D9}"/>
              </a:ext>
            </a:extLst>
          </p:cNvPr>
          <p:cNvSpPr txBox="1"/>
          <p:nvPr/>
        </p:nvSpPr>
        <p:spPr>
          <a:xfrm>
            <a:off x="575667" y="2955275"/>
            <a:ext cx="1516377" cy="95410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b="1" dirty="0"/>
              <a:t>T. Kubo</a:t>
            </a:r>
          </a:p>
          <a:p>
            <a:pPr algn="ctr"/>
            <a:r>
              <a:rPr kumimoji="1" lang="ja-JP" altLang="en-US" sz="2800" b="1" dirty="0"/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21941991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7A1D-B65E-850B-7B45-48E98C316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A35686A-6A3E-B63B-8098-B8F09E8B2129}"/>
                  </a:ext>
                </a:extLst>
              </p:cNvPr>
              <p:cNvSpPr txBox="1"/>
              <p:nvPr/>
            </p:nvSpPr>
            <p:spPr>
              <a:xfrm>
                <a:off x="0" y="865764"/>
                <a:ext cx="7694579" cy="5528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kumimoji="1" lang="en-US" altLang="ja-JP" sz="2000" dirty="0">
                    <a:solidFill>
                      <a:schemeClr val="tx2"/>
                    </a:solidFill>
                  </a:rPr>
                  <a:t>Reagor et al., Phys. Rev. B </a:t>
                </a:r>
                <a:r>
                  <a:rPr kumimoji="1" lang="en-US" altLang="ja-JP" sz="2000" b="1" dirty="0">
                    <a:solidFill>
                      <a:schemeClr val="tx2"/>
                    </a:solidFill>
                  </a:rPr>
                  <a:t>94</a:t>
                </a:r>
                <a:r>
                  <a:rPr kumimoji="1" lang="en-US" altLang="ja-JP" sz="2000" dirty="0">
                    <a:solidFill>
                      <a:schemeClr val="tx2"/>
                    </a:solidFill>
                  </a:rPr>
                  <a:t>, 014506 (2016)</a:t>
                </a:r>
              </a:p>
              <a:p>
                <a:r>
                  <a:rPr lang="en-US" altLang="ja-JP" sz="2000" dirty="0">
                    <a:solidFill>
                      <a:schemeClr val="tx1"/>
                    </a:solidFill>
                  </a:rPr>
                  <a:t>    </a:t>
                </a:r>
                <a:r>
                  <a:rPr lang="en-US" altLang="ja-JP" sz="2000" b="1" dirty="0"/>
                  <a:t>Aluminum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ja-JP" sz="2000" dirty="0">
                    <a:solidFill>
                      <a:schemeClr val="tx2"/>
                    </a:solidFill>
                  </a:rPr>
                  <a:t>Heidler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et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al.,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Phys.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Rev.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Applied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b="1" dirty="0">
                    <a:solidFill>
                      <a:schemeClr val="tx2"/>
                    </a:solidFill>
                  </a:rPr>
                  <a:t>16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,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034024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(2021)</a:t>
                </a:r>
              </a:p>
              <a:p>
                <a:r>
                  <a:rPr lang="en-US" altLang="ja-JP" sz="2000" dirty="0">
                    <a:solidFill>
                      <a:srgbClr val="0070C0"/>
                    </a:solidFill>
                  </a:rPr>
                  <a:t>    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Niobium 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(1:1:1 buffered chemical polishing at 0-5</a:t>
                </a:r>
                <a:r>
                  <a:rPr lang="ja-JP" altLang="en-US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)</a:t>
                </a:r>
                <a:r>
                  <a:rPr lang="en-US" altLang="ja-JP" sz="2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endParaRPr lang="en-US" altLang="ja-JP" sz="2000" dirty="0">
                  <a:solidFill>
                    <a:srgbClr val="0070C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ja-JP" sz="2000" dirty="0">
                    <a:solidFill>
                      <a:schemeClr val="tx2"/>
                    </a:solidFill>
                  </a:rPr>
                  <a:t>Oriani et al., Phys. Rev. Applied </a:t>
                </a:r>
                <a:r>
                  <a:rPr lang="en-US" altLang="ja-JP" sz="2000" b="1" dirty="0">
                    <a:solidFill>
                      <a:schemeClr val="tx2"/>
                    </a:solidFill>
                  </a:rPr>
                  <a:t>24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, 044080 (2025)</a:t>
                </a:r>
              </a:p>
              <a:p>
                <a:r>
                  <a:rPr lang="en-US" altLang="ja-JP" sz="2000" dirty="0">
                    <a:solidFill>
                      <a:srgbClr val="0070C0"/>
                    </a:solidFill>
                  </a:rPr>
                  <a:t>    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Niobium 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(1:1:2 water buffered chemical polishing below 10</a:t>
                </a:r>
                <a:r>
                  <a:rPr lang="ja-JP" altLang="en-US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</a:t>
                </a:r>
                <a:r>
                  <a:rPr lang="en-US" altLang="ja-JP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)</a:t>
                </a:r>
                <a:r>
                  <a:rPr lang="en-US" altLang="ja-JP" sz="2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, </a:t>
                </a:r>
              </a:p>
              <a:p>
                <a:r>
                  <a:rPr lang="en-US" altLang="ja-JP" sz="2000" dirty="0"/>
                  <a:t>    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/>
                  <a:t>(single photon level)</a:t>
                </a:r>
              </a:p>
              <a:p>
                <a:endParaRPr lang="en-US" altLang="ja-JP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ja-JP" sz="2000" dirty="0">
                    <a:solidFill>
                      <a:schemeClr val="tx2"/>
                    </a:solidFill>
                  </a:rPr>
                  <a:t>T. Takenaka, T. Kubo et al., arXiv:2510.01819 (2025)</a:t>
                </a:r>
              </a:p>
              <a:p>
                <a:r>
                  <a:rPr lang="en-US" altLang="ja-JP" sz="2000" dirty="0">
                    <a:solidFill>
                      <a:srgbClr val="1E3CFF"/>
                    </a:solidFill>
                  </a:rPr>
                  <a:t>    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Niobium (1:1:1 BCP at 25</a:t>
                </a:r>
                <a:r>
                  <a:rPr lang="ja-JP" altLang="en-US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  +  900</a:t>
                </a:r>
                <a:r>
                  <a:rPr lang="ja-JP" altLang="en-US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 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anneal </a:t>
                </a:r>
              </a:p>
              <a:p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    + 1:1:1 BCP flush at 25</a:t>
                </a:r>
                <a:r>
                  <a:rPr lang="ja-JP" altLang="en-US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 + 600</a:t>
                </a:r>
                <a:r>
                  <a:rPr lang="ja-JP" altLang="en-US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℃ </a:t>
                </a:r>
                <a:r>
                  <a:rPr lang="en-US" altLang="ja-JP" sz="20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anneal)</a:t>
                </a:r>
              </a:p>
              <a:p>
                <a:r>
                  <a:rPr lang="en-US" altLang="ja-JP" sz="2000" b="1" dirty="0">
                    <a:solidFill>
                      <a:srgbClr val="00B050"/>
                    </a:solidFill>
                  </a:rPr>
                  <a:t>    </a:t>
                </a:r>
                <a:r>
                  <a:rPr lang="en-US" altLang="ja-JP" sz="3200" b="1" dirty="0"/>
                  <a:t>Q=3×10</a:t>
                </a:r>
                <a:r>
                  <a:rPr lang="en-US" altLang="ja-JP" sz="3200" b="1" baseline="30000" dirty="0"/>
                  <a:t>9</a:t>
                </a:r>
                <a:r>
                  <a:rPr lang="en-US" altLang="ja-JP" sz="3200" b="1" dirty="0"/>
                  <a:t> </a:t>
                </a:r>
                <a:r>
                  <a:rPr lang="en-US" altLang="ja-JP" sz="2000" dirty="0"/>
                  <a:t>(single photon level)</a:t>
                </a:r>
              </a:p>
              <a:p>
                <a:endParaRPr lang="en-US" altLang="ja-JP" sz="20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23EB9D8-43CC-5121-F90E-B99DF62B1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5764"/>
                <a:ext cx="7694579" cy="5528693"/>
              </a:xfrm>
              <a:prstGeom prst="rect">
                <a:avLst/>
              </a:prstGeom>
              <a:blipFill>
                <a:blip r:embed="rId2"/>
                <a:stretch>
                  <a:fillRect l="-713" t="-5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A7C180C-2D3D-1B43-23AE-12558B9B74EA}"/>
              </a:ext>
            </a:extLst>
          </p:cNvPr>
          <p:cNvSpPr txBox="1"/>
          <p:nvPr/>
        </p:nvSpPr>
        <p:spPr>
          <a:xfrm>
            <a:off x="0" y="0"/>
            <a:ext cx="6919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Arial Black" panose="020B0A04020102020204" pitchFamily="34" charset="0"/>
              </a:rPr>
              <a:t>3D coaxial cavity progress</a:t>
            </a:r>
            <a:endParaRPr kumimoji="1" lang="ja-JP" altLang="en-US" sz="3600" dirty="0">
              <a:latin typeface="Arial Black" panose="020B0A040201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363ACA-BBF3-F350-B3E7-89126183DF13}"/>
              </a:ext>
            </a:extLst>
          </p:cNvPr>
          <p:cNvSpPr txBox="1"/>
          <p:nvPr/>
        </p:nvSpPr>
        <p:spPr>
          <a:xfrm>
            <a:off x="5497433" y="830175"/>
            <a:ext cx="2280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Yale University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D37D7F-F5A4-457A-5D13-AD75506B0916}"/>
              </a:ext>
            </a:extLst>
          </p:cNvPr>
          <p:cNvSpPr txBox="1"/>
          <p:nvPr/>
        </p:nvSpPr>
        <p:spPr>
          <a:xfrm>
            <a:off x="6324347" y="2053877"/>
            <a:ext cx="19582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University of Innsbruck</a:t>
            </a:r>
            <a:endParaRPr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8DF62C-302A-5E08-77DD-40459F3C7FE4}"/>
              </a:ext>
            </a:extLst>
          </p:cNvPr>
          <p:cNvSpPr txBox="1"/>
          <p:nvPr/>
        </p:nvSpPr>
        <p:spPr>
          <a:xfrm>
            <a:off x="6126198" y="3277571"/>
            <a:ext cx="3219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University of Chicago</a:t>
            </a:r>
            <a:endParaRPr kumimoji="1" lang="ja-JP" altLang="en-US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73EA2EB-1B05-87F6-B63C-9D3772589F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12869" y="3707599"/>
            <a:ext cx="3990405" cy="311646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AA1B40D-1772-32D8-D501-2B3AA6226B47}"/>
              </a:ext>
            </a:extLst>
          </p:cNvPr>
          <p:cNvSpPr txBox="1"/>
          <p:nvPr/>
        </p:nvSpPr>
        <p:spPr>
          <a:xfrm>
            <a:off x="8583072" y="5023678"/>
            <a:ext cx="3054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1E3CFF"/>
                </a:solidFill>
              </a:rPr>
              <a:t>T. Takenaka, T. Kubo et al., </a:t>
            </a:r>
          </a:p>
          <a:p>
            <a:r>
              <a:rPr lang="en-US" altLang="ja-JP" sz="1400" dirty="0">
                <a:solidFill>
                  <a:srgbClr val="1E3CFF"/>
                </a:solidFill>
              </a:rPr>
              <a:t>arXiv:2510.01819. 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554F6E8-7C4D-780A-9703-97C313888212}"/>
              </a:ext>
            </a:extLst>
          </p:cNvPr>
          <p:cNvSpPr txBox="1"/>
          <p:nvPr/>
        </p:nvSpPr>
        <p:spPr>
          <a:xfrm>
            <a:off x="6301344" y="4462357"/>
            <a:ext cx="1770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KEK&amp;NTT</a:t>
            </a:r>
            <a:endParaRPr kumimoji="1" lang="ja-JP" altLang="en-US" sz="2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D0FF805-4FCD-8628-CA93-E1E4F6059CF2}"/>
              </a:ext>
            </a:extLst>
          </p:cNvPr>
          <p:cNvSpPr txBox="1"/>
          <p:nvPr/>
        </p:nvSpPr>
        <p:spPr>
          <a:xfrm>
            <a:off x="264028" y="6040514"/>
            <a:ext cx="46966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 dirty="0"/>
              <a:t>The world record</a:t>
            </a:r>
            <a:endParaRPr lang="ja-JP" altLang="en-US" sz="4000" b="1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3ACAAFA-7213-3126-018A-F0D6CEEA97D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890" y="453675"/>
            <a:ext cx="3873772" cy="247462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718D435-B1C1-3A62-7EBC-4093AFCB6333}"/>
              </a:ext>
            </a:extLst>
          </p:cNvPr>
          <p:cNvSpPr txBox="1"/>
          <p:nvPr/>
        </p:nvSpPr>
        <p:spPr>
          <a:xfrm>
            <a:off x="8254359" y="-1334"/>
            <a:ext cx="38675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200" dirty="0">
                <a:solidFill>
                  <a:schemeClr val="tx2"/>
                </a:solidFill>
              </a:rPr>
              <a:t>Brock et al., Nature </a:t>
            </a:r>
            <a:r>
              <a:rPr lang="fr-FR" altLang="ja-JP" sz="1200" b="1" dirty="0">
                <a:solidFill>
                  <a:schemeClr val="tx2"/>
                </a:solidFill>
              </a:rPr>
              <a:t>641</a:t>
            </a:r>
            <a:r>
              <a:rPr lang="fr-FR" altLang="ja-JP" sz="1200" dirty="0">
                <a:solidFill>
                  <a:schemeClr val="tx2"/>
                </a:solidFill>
              </a:rPr>
              <a:t>, 612 (2025)</a:t>
            </a:r>
          </a:p>
          <a:p>
            <a:r>
              <a:rPr lang="en-US" altLang="ja-JP" sz="1400" dirty="0">
                <a:hlinkClick r:id="rId5"/>
              </a:rPr>
              <a:t>https://doi.org/10.1038/s41586-025-08899-y</a:t>
            </a:r>
            <a:r>
              <a:rPr lang="en-US" altLang="ja-JP" sz="1400" dirty="0"/>
              <a:t> </a:t>
            </a:r>
            <a:endParaRPr lang="ja-JP" altLang="en-US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0897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F9AA5AD-9253-8506-2D3A-5544960F1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472" y="2951901"/>
            <a:ext cx="4220065" cy="380678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D1BF63-B6A0-77CD-77A5-0632E613CDF7}"/>
              </a:ext>
            </a:extLst>
          </p:cNvPr>
          <p:cNvSpPr txBox="1"/>
          <p:nvPr/>
        </p:nvSpPr>
        <p:spPr>
          <a:xfrm>
            <a:off x="301487" y="2045256"/>
            <a:ext cx="11589026" cy="707886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b="1" dirty="0">
                <a:solidFill>
                  <a:schemeClr val="bg1"/>
                </a:solidFill>
              </a:rPr>
              <a:t>Understanding more about physics of Q factor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4758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A9C8E288-B3D8-A3D6-8D87-5368C1BFC0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5774581" y="1368212"/>
            <a:ext cx="6311402" cy="422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E685CDA-654B-E6C9-C2B3-12E694A23D7E}"/>
              </a:ext>
            </a:extLst>
          </p:cNvPr>
          <p:cNvSpPr txBox="1"/>
          <p:nvPr/>
        </p:nvSpPr>
        <p:spPr>
          <a:xfrm>
            <a:off x="7631779" y="5638598"/>
            <a:ext cx="449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200" b="1" dirty="0">
                <a:hlinkClick r:id="rId3"/>
              </a:rPr>
              <a:t>https://doi.org/10.18429/JACoW-IPAC2014-WEPRI022</a:t>
            </a:r>
            <a:r>
              <a:rPr lang="en-US" altLang="ja-JP" sz="1200" b="1" dirty="0"/>
              <a:t> 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2495F7F-C7AF-9DEC-3754-037882D61341}"/>
              </a:ext>
            </a:extLst>
          </p:cNvPr>
          <p:cNvCxnSpPr>
            <a:cxnSpLocks/>
          </p:cNvCxnSpPr>
          <p:nvPr/>
        </p:nvCxnSpPr>
        <p:spPr>
          <a:xfrm flipH="1" flipV="1">
            <a:off x="8900465" y="3027941"/>
            <a:ext cx="188844" cy="828145"/>
          </a:xfrm>
          <a:prstGeom prst="straightConnector1">
            <a:avLst/>
          </a:prstGeom>
          <a:ln w="825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FE45C60-AD07-FEB9-A6D9-BF6F963A7B36}"/>
                  </a:ext>
                </a:extLst>
              </p:cNvPr>
              <p:cNvSpPr txBox="1"/>
              <p:nvPr/>
            </p:nvSpPr>
            <p:spPr>
              <a:xfrm>
                <a:off x="8771237" y="3770666"/>
                <a:ext cx="1646796" cy="553998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en-US" altLang="ja-JP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FE45C60-AD07-FEB9-A6D9-BF6F963A7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237" y="3770666"/>
                <a:ext cx="164679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図 23">
            <a:extLst>
              <a:ext uri="{FF2B5EF4-FFF2-40B4-BE49-F238E27FC236}">
                <a16:creationId xmlns:a16="http://schemas.microsoft.com/office/drawing/2014/main" id="{DADF18D9-4107-E47A-6AF5-5E59C1575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10721526" y="1443455"/>
            <a:ext cx="1308949" cy="1049545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1305B96-80A1-C218-9E09-C4075485E6FE}"/>
              </a:ext>
            </a:extLst>
          </p:cNvPr>
          <p:cNvSpPr txBox="1"/>
          <p:nvPr/>
        </p:nvSpPr>
        <p:spPr>
          <a:xfrm>
            <a:off x="8197725" y="4256926"/>
            <a:ext cx="2855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Thermally excited </a:t>
            </a:r>
          </a:p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quasiparticles dominate  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1541F04-717D-9044-D293-62186BC90837}"/>
                  </a:ext>
                </a:extLst>
              </p:cNvPr>
              <p:cNvSpPr txBox="1"/>
              <p:nvPr/>
            </p:nvSpPr>
            <p:spPr>
              <a:xfrm>
                <a:off x="262609" y="2351782"/>
                <a:ext cx="5030595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ja-JP" sz="2800" b="0" dirty="0">
                    <a:latin typeface="Cambria Math" panose="02040503050406030204" pitchFamily="18" charset="0"/>
                  </a:rPr>
                  <a:t>Dissipation mainly comes from </a:t>
                </a:r>
                <a:r>
                  <a:rPr kumimoji="1" lang="en-US" altLang="ja-JP" sz="2800" b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t</a:t>
                </a:r>
                <a:r>
                  <a:rPr kumimoji="1" lang="en-US" altLang="ja-JP" sz="2800" dirty="0">
                    <a:solidFill>
                      <a:srgbClr val="FF0000"/>
                    </a:solidFill>
                  </a:rPr>
                  <a:t>hermally excited quasiparticles at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kumimoji="1" lang="en-US" altLang="ja-JP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ja-JP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ja-JP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kumimoji="1" lang="en-US" altLang="ja-JP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1541F04-717D-9044-D293-62186BC90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9" y="2351782"/>
                <a:ext cx="5030595" cy="1292662"/>
              </a:xfrm>
              <a:prstGeom prst="rect">
                <a:avLst/>
              </a:prstGeom>
              <a:blipFill>
                <a:blip r:embed="rId6"/>
                <a:stretch>
                  <a:fillRect l="-848" t="-8491" r="-2424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0557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AD86-D8BC-CC57-0071-8907549AC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CEDCCB40-FC41-8E65-EB09-6F482D7D28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5774581" y="1368212"/>
            <a:ext cx="6311402" cy="422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6FB2C5-D9BD-4C1C-904E-EEB666A48905}"/>
              </a:ext>
            </a:extLst>
          </p:cNvPr>
          <p:cNvSpPr txBox="1"/>
          <p:nvPr/>
        </p:nvSpPr>
        <p:spPr>
          <a:xfrm>
            <a:off x="7631779" y="5638598"/>
            <a:ext cx="449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200" b="1" dirty="0">
                <a:hlinkClick r:id="rId3"/>
              </a:rPr>
              <a:t>https://doi.org/10.18429/JACoW-IPAC2014-WEPRI022</a:t>
            </a:r>
            <a:r>
              <a:rPr lang="en-US" altLang="ja-JP" sz="1200" b="1" dirty="0"/>
              <a:t> 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FF125B4C-0F07-A3B7-0C39-2CBCBE3F43C3}"/>
              </a:ext>
            </a:extLst>
          </p:cNvPr>
          <p:cNvCxnSpPr>
            <a:cxnSpLocks/>
          </p:cNvCxnSpPr>
          <p:nvPr/>
        </p:nvCxnSpPr>
        <p:spPr>
          <a:xfrm flipH="1">
            <a:off x="9322904" y="863600"/>
            <a:ext cx="227496" cy="848632"/>
          </a:xfrm>
          <a:prstGeom prst="straightConnector1">
            <a:avLst/>
          </a:prstGeom>
          <a:ln w="825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D63878B-ABD4-1464-457E-352074316F29}"/>
                  </a:ext>
                </a:extLst>
              </p:cNvPr>
              <p:cNvSpPr txBox="1"/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noFill/>
              <a:ln w="25400"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D63878B-ABD4-1464-457E-352074316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2DD7B0C-CA81-2AF0-8389-7F4A94AA8613}"/>
              </a:ext>
            </a:extLst>
          </p:cNvPr>
          <p:cNvCxnSpPr>
            <a:cxnSpLocks/>
          </p:cNvCxnSpPr>
          <p:nvPr/>
        </p:nvCxnSpPr>
        <p:spPr>
          <a:xfrm flipH="1" flipV="1">
            <a:off x="8900465" y="3027941"/>
            <a:ext cx="188844" cy="828145"/>
          </a:xfrm>
          <a:prstGeom prst="straightConnector1">
            <a:avLst/>
          </a:prstGeom>
          <a:ln w="825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AC576142-1CBE-E708-176D-D9AF2FA75866}"/>
                  </a:ext>
                </a:extLst>
              </p:cNvPr>
              <p:cNvSpPr txBox="1"/>
              <p:nvPr/>
            </p:nvSpPr>
            <p:spPr>
              <a:xfrm>
                <a:off x="8771237" y="3770666"/>
                <a:ext cx="164679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en-US" altLang="ja-JP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FE45C60-AD07-FEB9-A6D9-BF6F963A7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237" y="3770666"/>
                <a:ext cx="164679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図 23">
            <a:extLst>
              <a:ext uri="{FF2B5EF4-FFF2-40B4-BE49-F238E27FC236}">
                <a16:creationId xmlns:a16="http://schemas.microsoft.com/office/drawing/2014/main" id="{B29EFBF6-F4B7-405C-FEE8-8F3DEE0531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10721526" y="1443455"/>
            <a:ext cx="1308949" cy="1049545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2691AC5-0CCD-0E2D-5E27-1F1B198CBF30}"/>
              </a:ext>
            </a:extLst>
          </p:cNvPr>
          <p:cNvSpPr txBox="1"/>
          <p:nvPr/>
        </p:nvSpPr>
        <p:spPr>
          <a:xfrm>
            <a:off x="8197725" y="4256926"/>
            <a:ext cx="2855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Thermally excited </a:t>
            </a:r>
          </a:p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quasiparticles dominate  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BC503995-072A-A1BD-714E-1EC5798EFBD1}"/>
                  </a:ext>
                </a:extLst>
              </p:cNvPr>
              <p:cNvSpPr txBox="1"/>
              <p:nvPr/>
            </p:nvSpPr>
            <p:spPr>
              <a:xfrm>
                <a:off x="262609" y="2351782"/>
                <a:ext cx="5030595" cy="2154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ja-JP" sz="2800" b="0" dirty="0">
                    <a:latin typeface="Cambria Math" panose="02040503050406030204" pitchFamily="18" charset="0"/>
                  </a:rPr>
                  <a:t>Dissipation mainly comes from </a:t>
                </a:r>
                <a:r>
                  <a:rPr kumimoji="1" lang="en-US" altLang="ja-JP" sz="2800" b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t</a:t>
                </a:r>
                <a:r>
                  <a:rPr kumimoji="1" lang="en-US" altLang="ja-JP" sz="2800" dirty="0">
                    <a:solidFill>
                      <a:srgbClr val="FF0000"/>
                    </a:solidFill>
                  </a:rPr>
                  <a:t>hermally excited quasiparticles at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kumimoji="1" lang="en-US" altLang="ja-JP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ja-JP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ja-JP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kumimoji="1" lang="en-US" altLang="ja-JP" sz="2800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ctr"/>
                <a:r>
                  <a:rPr kumimoji="1" lang="en-US" altLang="ja-JP" sz="2800" dirty="0"/>
                  <a:t>and</a:t>
                </a:r>
                <a:r>
                  <a:rPr kumimoji="1" lang="en-US" altLang="ja-JP" sz="2800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ctr"/>
                <a:r>
                  <a:rPr kumimoji="1" lang="en-US" altLang="ja-JP" sz="2800" dirty="0">
                    <a:solidFill>
                      <a:schemeClr val="tx2"/>
                    </a:solidFill>
                  </a:rPr>
                  <a:t>some others at </a:t>
                </a:r>
                <a14:m>
                  <m:oMath xmlns:m="http://schemas.openxmlformats.org/officeDocument/2006/math">
                    <m:r>
                      <a:rPr kumimoji="1" lang="en-US" altLang="ja-JP" sz="2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≲</m:t>
                    </m:r>
                    <m:r>
                      <a:rPr kumimoji="1" lang="en-US" altLang="ja-JP" sz="280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ja-JP" sz="280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ja-JP" sz="280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kumimoji="1" lang="en-US" altLang="ja-JP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1541F04-717D-9044-D293-62186BC90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9" y="2351782"/>
                <a:ext cx="5030595" cy="2154436"/>
              </a:xfrm>
              <a:prstGeom prst="rect">
                <a:avLst/>
              </a:prstGeom>
              <a:blipFill>
                <a:blip r:embed="rId7"/>
                <a:stretch>
                  <a:fillRect l="-848" t="-5099" r="-2424" b="-87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8099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81C0-1590-FA73-D83C-EA8A2BDF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B64D31BE-6DE8-0D76-E3B1-6227E52D25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5774581" y="1368212"/>
            <a:ext cx="6311402" cy="422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F47874-B39B-8E3E-2AF2-309573A4D4D3}"/>
              </a:ext>
            </a:extLst>
          </p:cNvPr>
          <p:cNvSpPr txBox="1"/>
          <p:nvPr/>
        </p:nvSpPr>
        <p:spPr>
          <a:xfrm>
            <a:off x="7631779" y="5638598"/>
            <a:ext cx="449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200" b="1" dirty="0">
                <a:hlinkClick r:id="rId3"/>
              </a:rPr>
              <a:t>https://doi.org/10.18429/JACoW-IPAC2014-WEPRI022</a:t>
            </a:r>
            <a:r>
              <a:rPr lang="en-US" altLang="ja-JP" sz="1200" b="1" dirty="0"/>
              <a:t> 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70FB7A65-35AD-36B1-CA18-8A365DA5074C}"/>
              </a:ext>
            </a:extLst>
          </p:cNvPr>
          <p:cNvCxnSpPr>
            <a:cxnSpLocks/>
          </p:cNvCxnSpPr>
          <p:nvPr/>
        </p:nvCxnSpPr>
        <p:spPr>
          <a:xfrm flipH="1">
            <a:off x="9322904" y="863600"/>
            <a:ext cx="227496" cy="848632"/>
          </a:xfrm>
          <a:prstGeom prst="straightConnector1">
            <a:avLst/>
          </a:prstGeom>
          <a:ln w="825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5C4F349E-C0D6-C6B0-E69D-7B67843684AC}"/>
                  </a:ext>
                </a:extLst>
              </p:cNvPr>
              <p:cNvSpPr txBox="1"/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noFill/>
              <a:ln w="57150"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5C4F349E-C0D6-C6B0-E69D-7B6784368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6A54634-B746-3505-FAB1-F20977C44209}"/>
              </a:ext>
            </a:extLst>
          </p:cNvPr>
          <p:cNvCxnSpPr>
            <a:cxnSpLocks/>
          </p:cNvCxnSpPr>
          <p:nvPr/>
        </p:nvCxnSpPr>
        <p:spPr>
          <a:xfrm flipH="1" flipV="1">
            <a:off x="8900465" y="3027941"/>
            <a:ext cx="188844" cy="828145"/>
          </a:xfrm>
          <a:prstGeom prst="straightConnector1">
            <a:avLst/>
          </a:prstGeom>
          <a:ln w="8255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CCDD6A8-67B7-A25F-D5A2-E432D35F01AE}"/>
                  </a:ext>
                </a:extLst>
              </p:cNvPr>
              <p:cNvSpPr txBox="1"/>
              <p:nvPr/>
            </p:nvSpPr>
            <p:spPr>
              <a:xfrm>
                <a:off x="8771237" y="3770666"/>
                <a:ext cx="164679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en-US" altLang="ja-JP" sz="3600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CCDD6A8-67B7-A25F-D5A2-E432D35F0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237" y="3770666"/>
                <a:ext cx="164679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A06397F-A6D3-3644-11E1-DFFC75B6FA87}"/>
              </a:ext>
            </a:extLst>
          </p:cNvPr>
          <p:cNvSpPr txBox="1"/>
          <p:nvPr/>
        </p:nvSpPr>
        <p:spPr>
          <a:xfrm>
            <a:off x="231396" y="5707936"/>
            <a:ext cx="5042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tx2"/>
                </a:solidFill>
              </a:rPr>
              <a:t>A. Romanenko and D. I. Schuster, Understanding Quality Factor Degradation in Superconducting Niobium Cavities at Low Microwave Field Amplitudes, Phys. Rev. Lett. 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119</a:t>
            </a:r>
            <a:r>
              <a:rPr kumimoji="1" lang="en-US" altLang="ja-JP" sz="1200" dirty="0">
                <a:solidFill>
                  <a:schemeClr val="tx2"/>
                </a:solidFill>
              </a:rPr>
              <a:t>, 264801 (2017)</a:t>
            </a:r>
          </a:p>
          <a:p>
            <a:r>
              <a:rPr kumimoji="1" lang="en-US" altLang="ja-JP" sz="1200" dirty="0">
                <a:hlinkClick r:id="rId6"/>
              </a:rPr>
              <a:t>https://doi.org/10.1103/PhysRevLett.119.264801</a:t>
            </a:r>
            <a:r>
              <a:rPr kumimoji="1" lang="en-US" altLang="ja-JP" sz="1200" dirty="0"/>
              <a:t> </a:t>
            </a:r>
            <a:endParaRPr kumimoji="1" lang="ja-JP" altLang="en-US" sz="1200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C44D22D3-F9C7-2AEB-A4FA-BC389FF008E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176" y="1385712"/>
            <a:ext cx="5315186" cy="4172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18B70F74-D0F9-4B97-116D-7093AA307639}"/>
                  </a:ext>
                </a:extLst>
              </p:cNvPr>
              <p:cNvSpPr txBox="1"/>
              <p:nvPr/>
            </p:nvSpPr>
            <p:spPr>
              <a:xfrm>
                <a:off x="1441074" y="1428282"/>
                <a:ext cx="20986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18B70F74-D0F9-4B97-116D-7093AA307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074" y="1428282"/>
                <a:ext cx="2098651" cy="369332"/>
              </a:xfrm>
              <a:prstGeom prst="rect">
                <a:avLst/>
              </a:prstGeom>
              <a:blipFill>
                <a:blip r:embed="rId8"/>
                <a:stretch>
                  <a:fillRect l="-2609" r="-2609" b="-98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図 23">
            <a:extLst>
              <a:ext uri="{FF2B5EF4-FFF2-40B4-BE49-F238E27FC236}">
                <a16:creationId xmlns:a16="http://schemas.microsoft.com/office/drawing/2014/main" id="{29A05E30-C65F-82E5-6013-099910BE45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10721526" y="1443455"/>
            <a:ext cx="1308949" cy="1049545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FEBB120-471C-3740-F3D1-D76798B0016E}"/>
              </a:ext>
            </a:extLst>
          </p:cNvPr>
          <p:cNvSpPr txBox="1"/>
          <p:nvPr/>
        </p:nvSpPr>
        <p:spPr>
          <a:xfrm>
            <a:off x="32614" y="35010"/>
            <a:ext cx="63114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TLS model explains low-T and low-</a:t>
            </a:r>
            <a:r>
              <a:rPr kumimoji="1" lang="en-US" altLang="ja-JP" sz="3200" dirty="0" err="1"/>
              <a:t>E</a:t>
            </a:r>
            <a:r>
              <a:rPr kumimoji="1" lang="en-US" altLang="ja-JP" sz="3200" baseline="-25000" dirty="0" err="1"/>
              <a:t>acc</a:t>
            </a:r>
            <a:r>
              <a:rPr kumimoji="1" lang="en-US" altLang="ja-JP" sz="3200" dirty="0"/>
              <a:t> nonlinear Q evolution.</a:t>
            </a:r>
            <a:endParaRPr kumimoji="1" lang="ja-JP" altLang="en-US" sz="32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07DD960-6B05-B68A-C0C2-614DAEFC95A6}"/>
              </a:ext>
            </a:extLst>
          </p:cNvPr>
          <p:cNvSpPr txBox="1"/>
          <p:nvPr/>
        </p:nvSpPr>
        <p:spPr>
          <a:xfrm>
            <a:off x="8197725" y="4256926"/>
            <a:ext cx="2855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Thermally excited </a:t>
            </a:r>
          </a:p>
          <a:p>
            <a:pPr algn="ctr"/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quasiparticles dominate  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17465F6-2789-7B48-93CB-BD9E42EEA0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6325" y="26053"/>
            <a:ext cx="2059870" cy="12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129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DB88-B5D8-F405-1380-3129A7F68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593D056F-9528-1C32-EF33-CE02CB7478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5774581" y="1368212"/>
            <a:ext cx="6311402" cy="422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C576D0-319B-8076-E4AF-C6DDABDA4819}"/>
              </a:ext>
            </a:extLst>
          </p:cNvPr>
          <p:cNvSpPr txBox="1"/>
          <p:nvPr/>
        </p:nvSpPr>
        <p:spPr>
          <a:xfrm>
            <a:off x="7631779" y="5638598"/>
            <a:ext cx="449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200" b="1" dirty="0">
                <a:hlinkClick r:id="rId3"/>
              </a:rPr>
              <a:t>https://doi.org/10.18429/JACoW-IPAC2014-WEPRI022</a:t>
            </a:r>
            <a:r>
              <a:rPr lang="en-US" altLang="ja-JP" sz="1200" b="1" dirty="0"/>
              <a:t> 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F07B5A0-5D7E-15B4-9F93-FB75C8A6D1AA}"/>
              </a:ext>
            </a:extLst>
          </p:cNvPr>
          <p:cNvCxnSpPr>
            <a:cxnSpLocks/>
          </p:cNvCxnSpPr>
          <p:nvPr/>
        </p:nvCxnSpPr>
        <p:spPr>
          <a:xfrm flipH="1">
            <a:off x="9322904" y="863600"/>
            <a:ext cx="227496" cy="848632"/>
          </a:xfrm>
          <a:prstGeom prst="straightConnector1">
            <a:avLst/>
          </a:prstGeom>
          <a:ln w="825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1AC24DB-8E8A-A797-3D55-AB0DFFD7526B}"/>
                  </a:ext>
                </a:extLst>
              </p:cNvPr>
              <p:cNvSpPr txBox="1"/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noFill/>
              <a:ln w="57150"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1AC24DB-8E8A-A797-3D55-AB0DFFD75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972A751-F3AB-5373-D3C7-8151222285C0}"/>
              </a:ext>
            </a:extLst>
          </p:cNvPr>
          <p:cNvCxnSpPr>
            <a:cxnSpLocks/>
          </p:cNvCxnSpPr>
          <p:nvPr/>
        </p:nvCxnSpPr>
        <p:spPr>
          <a:xfrm flipH="1" flipV="1">
            <a:off x="8900465" y="3027941"/>
            <a:ext cx="188844" cy="828145"/>
          </a:xfrm>
          <a:prstGeom prst="straightConnector1">
            <a:avLst/>
          </a:prstGeom>
          <a:ln w="8255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0B025310-C26C-5A86-48EE-7DA866B14585}"/>
                  </a:ext>
                </a:extLst>
              </p:cNvPr>
              <p:cNvSpPr txBox="1"/>
              <p:nvPr/>
            </p:nvSpPr>
            <p:spPr>
              <a:xfrm>
                <a:off x="8771237" y="3770666"/>
                <a:ext cx="164679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en-US" altLang="ja-JP" sz="3600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0B025310-C26C-5A86-48EE-7DA866B14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237" y="3770666"/>
                <a:ext cx="164679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図 23">
            <a:extLst>
              <a:ext uri="{FF2B5EF4-FFF2-40B4-BE49-F238E27FC236}">
                <a16:creationId xmlns:a16="http://schemas.microsoft.com/office/drawing/2014/main" id="{00B19DBC-11AD-A75F-0853-9B82C02626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10721526" y="1443455"/>
            <a:ext cx="1308949" cy="1049545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82A5D0B-D441-A450-77D4-832B25CD498C}"/>
              </a:ext>
            </a:extLst>
          </p:cNvPr>
          <p:cNvSpPr txBox="1"/>
          <p:nvPr/>
        </p:nvSpPr>
        <p:spPr>
          <a:xfrm>
            <a:off x="32614" y="35010"/>
            <a:ext cx="63114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TLS model explains low-T and low-</a:t>
            </a:r>
            <a:r>
              <a:rPr kumimoji="1" lang="en-US" altLang="ja-JP" sz="3200" dirty="0" err="1"/>
              <a:t>E</a:t>
            </a:r>
            <a:r>
              <a:rPr kumimoji="1" lang="en-US" altLang="ja-JP" sz="3200" baseline="-25000" dirty="0" err="1"/>
              <a:t>acc</a:t>
            </a:r>
            <a:r>
              <a:rPr kumimoji="1" lang="en-US" altLang="ja-JP" sz="3200" dirty="0"/>
              <a:t> nonlinear Q evolution.</a:t>
            </a:r>
            <a:endParaRPr kumimoji="1" lang="ja-JP" altLang="en-US" sz="32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DC05996-D84E-B1D6-0456-66410C7AB0F9}"/>
              </a:ext>
            </a:extLst>
          </p:cNvPr>
          <p:cNvSpPr txBox="1"/>
          <p:nvPr/>
        </p:nvSpPr>
        <p:spPr>
          <a:xfrm>
            <a:off x="8197725" y="4256926"/>
            <a:ext cx="2855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Thermally excited </a:t>
            </a:r>
          </a:p>
          <a:p>
            <a:pPr algn="ctr"/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quasiparticles dominate  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D6550BB-BE66-2BF0-764C-46C2D01C814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3580" y="1858243"/>
            <a:ext cx="4883965" cy="393814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65F7F6-FDE1-F648-2D30-5E9B0907EBE4}"/>
              </a:ext>
            </a:extLst>
          </p:cNvPr>
          <p:cNvSpPr txBox="1"/>
          <p:nvPr/>
        </p:nvSpPr>
        <p:spPr>
          <a:xfrm>
            <a:off x="221456" y="5738488"/>
            <a:ext cx="3937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Takenaka, T. Kubo et al., arXiv:2510.01819. </a:t>
            </a:r>
          </a:p>
          <a:p>
            <a:r>
              <a:rPr lang="en-US" altLang="ja-JP" sz="1200" dirty="0">
                <a:solidFill>
                  <a:schemeClr val="tx2"/>
                </a:solidFill>
                <a:hlinkClick r:id="rId8"/>
              </a:rPr>
              <a:t>https://doi.org/10.48550/arXiv.2510.01819</a:t>
            </a:r>
            <a:r>
              <a:rPr lang="en-US" altLang="ja-JP" sz="1200" dirty="0">
                <a:solidFill>
                  <a:schemeClr val="tx2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A842F92-CEA0-DB43-B2E9-72ACC3E4521E}"/>
                  </a:ext>
                </a:extLst>
              </p:cNvPr>
              <p:cNvSpPr txBox="1"/>
              <p:nvPr/>
            </p:nvSpPr>
            <p:spPr>
              <a:xfrm>
                <a:off x="161822" y="1129451"/>
                <a:ext cx="574196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000" dirty="0">
                    <a:solidFill>
                      <a:schemeClr val="tx2"/>
                    </a:solidFill>
                  </a:rPr>
                  <a:t>The same is true for the quantum regime</a:t>
                </a:r>
              </a:p>
              <a:p>
                <a:r>
                  <a:rPr kumimoji="1" lang="en-US" altLang="ja-JP" sz="2000" dirty="0">
                    <a:solidFill>
                      <a:schemeClr val="tx2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ja-JP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kumimoji="1" lang="en-US" altLang="ja-JP" sz="2000" dirty="0">
                    <a:solidFill>
                      <a:schemeClr val="tx2"/>
                    </a:solidFill>
                  </a:rPr>
                  <a:t> </a:t>
                </a:r>
                <a:r>
                  <a:rPr kumimoji="1" lang="en-US" altLang="ja-JP" sz="2000" dirty="0" err="1">
                    <a:solidFill>
                      <a:schemeClr val="tx2"/>
                    </a:solidFill>
                  </a:rPr>
                  <a:t>mK</a:t>
                </a:r>
                <a:r>
                  <a:rPr kumimoji="1" lang="en-US" altLang="ja-JP" sz="2000" dirty="0">
                    <a:solidFill>
                      <a:schemeClr val="tx2"/>
                    </a:solidFill>
                  </a:rPr>
                  <a:t> and a tiny photon number)</a:t>
                </a:r>
                <a:endParaRPr kumimoji="1" lang="ja-JP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A842F92-CEA0-DB43-B2E9-72ACC3E45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22" y="1129451"/>
                <a:ext cx="5741967" cy="707886"/>
              </a:xfrm>
              <a:prstGeom prst="rect">
                <a:avLst/>
              </a:prstGeom>
              <a:blipFill>
                <a:blip r:embed="rId9"/>
                <a:stretch>
                  <a:fillRect l="-1169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C50865-276A-AAF9-E9ED-F1B9269942EC}"/>
              </a:ext>
            </a:extLst>
          </p:cNvPr>
          <p:cNvSpPr txBox="1"/>
          <p:nvPr/>
        </p:nvSpPr>
        <p:spPr>
          <a:xfrm rot="21435003">
            <a:off x="387513" y="4155368"/>
            <a:ext cx="1037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</a:rPr>
              <a:t>TLS fit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C6687A3-2254-0540-0BCC-24DFE430E7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6325" y="26053"/>
            <a:ext cx="2059870" cy="12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940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EF209-DADE-2B20-80B4-40C7E20E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3700DD47-EAC9-184E-3338-012895BA1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5774581" y="1368212"/>
            <a:ext cx="6311402" cy="422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EC677C-00D0-FEB9-9320-E5A40900C3B1}"/>
              </a:ext>
            </a:extLst>
          </p:cNvPr>
          <p:cNvSpPr txBox="1"/>
          <p:nvPr/>
        </p:nvSpPr>
        <p:spPr>
          <a:xfrm>
            <a:off x="7631779" y="5638598"/>
            <a:ext cx="449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200" b="1" dirty="0">
                <a:hlinkClick r:id="rId3"/>
              </a:rPr>
              <a:t>https://doi.org/10.18429/JACoW-IPAC2014-WEPRI022</a:t>
            </a:r>
            <a:r>
              <a:rPr lang="en-US" altLang="ja-JP" sz="1200" b="1" dirty="0"/>
              <a:t> 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D23FD62-7D84-6ED9-1234-2AEEA1C4A263}"/>
              </a:ext>
            </a:extLst>
          </p:cNvPr>
          <p:cNvCxnSpPr>
            <a:cxnSpLocks/>
          </p:cNvCxnSpPr>
          <p:nvPr/>
        </p:nvCxnSpPr>
        <p:spPr>
          <a:xfrm flipH="1">
            <a:off x="9322904" y="863600"/>
            <a:ext cx="227496" cy="848632"/>
          </a:xfrm>
          <a:prstGeom prst="straightConnector1">
            <a:avLst/>
          </a:prstGeom>
          <a:ln w="8255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3F0B717-046C-DB8F-1C2D-D74487BF73C4}"/>
                  </a:ext>
                </a:extLst>
              </p:cNvPr>
              <p:cNvSpPr txBox="1"/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1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sz="36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3F0B717-046C-DB8F-1C2D-D74487BF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E17D0C9-E66B-40C6-2563-1FC9A1838EBF}"/>
              </a:ext>
            </a:extLst>
          </p:cNvPr>
          <p:cNvCxnSpPr>
            <a:cxnSpLocks/>
          </p:cNvCxnSpPr>
          <p:nvPr/>
        </p:nvCxnSpPr>
        <p:spPr>
          <a:xfrm flipH="1" flipV="1">
            <a:off x="8900465" y="3027941"/>
            <a:ext cx="188844" cy="828145"/>
          </a:xfrm>
          <a:prstGeom prst="straightConnector1">
            <a:avLst/>
          </a:prstGeom>
          <a:ln w="825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EA343056-7CDB-EF51-DA00-C5C2883CFB3A}"/>
                  </a:ext>
                </a:extLst>
              </p:cNvPr>
              <p:cNvSpPr txBox="1"/>
              <p:nvPr/>
            </p:nvSpPr>
            <p:spPr>
              <a:xfrm>
                <a:off x="8771237" y="3790544"/>
                <a:ext cx="1646796" cy="553998"/>
              </a:xfrm>
              <a:prstGeom prst="rect">
                <a:avLst/>
              </a:prstGeom>
              <a:noFill/>
              <a:ln w="508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en-US" altLang="ja-JP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EA343056-7CDB-EF51-DA00-C5C2883CF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237" y="3790544"/>
                <a:ext cx="164679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08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図 23">
            <a:extLst>
              <a:ext uri="{FF2B5EF4-FFF2-40B4-BE49-F238E27FC236}">
                <a16:creationId xmlns:a16="http://schemas.microsoft.com/office/drawing/2014/main" id="{6DBD171D-DE63-E9CC-915B-C1A1C59DB7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10721526" y="1443455"/>
            <a:ext cx="1308949" cy="1049545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9F1A19B-ECB9-4068-4FD2-0CCA6E3D1AE6}"/>
              </a:ext>
            </a:extLst>
          </p:cNvPr>
          <p:cNvSpPr txBox="1"/>
          <p:nvPr/>
        </p:nvSpPr>
        <p:spPr>
          <a:xfrm>
            <a:off x="8197725" y="4256926"/>
            <a:ext cx="2855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Thermally excited </a:t>
            </a:r>
          </a:p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quasiparticles dominate  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8687549-794F-2335-3CFD-C16DFF6712EA}"/>
              </a:ext>
            </a:extLst>
          </p:cNvPr>
          <p:cNvSpPr txBox="1"/>
          <p:nvPr/>
        </p:nvSpPr>
        <p:spPr>
          <a:xfrm>
            <a:off x="262609" y="121137"/>
            <a:ext cx="5030595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ja-JP" sz="3200" dirty="0">
                <a:latin typeface="Cambria Math" panose="02040503050406030204" pitchFamily="18" charset="0"/>
              </a:rPr>
              <a:t>What about the dissipation mechanisms inherent to superconductors?</a:t>
            </a:r>
            <a:endParaRPr kumimoji="1" lang="en-US" altLang="ja-JP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0511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871F4-DDB5-AD7C-90EB-3E5EE7A6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3D64AE10-8BAE-843E-DBD9-1D985A1EA2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5774581" y="1368212"/>
            <a:ext cx="6311402" cy="422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909A1E-1A2B-CF9B-35C7-8C76C334663B}"/>
              </a:ext>
            </a:extLst>
          </p:cNvPr>
          <p:cNvSpPr txBox="1"/>
          <p:nvPr/>
        </p:nvSpPr>
        <p:spPr>
          <a:xfrm>
            <a:off x="7631779" y="5638598"/>
            <a:ext cx="449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 Kubo et al., In-house production of a large-grain single-cell cavity at cavity fabrication facility and results of performance tests, IPAC2014, Dresden, Germany, WEPRI022, p.2519</a:t>
            </a:r>
          </a:p>
          <a:p>
            <a:r>
              <a:rPr lang="en-US" altLang="ja-JP" sz="1200" b="1" dirty="0">
                <a:hlinkClick r:id="rId3"/>
              </a:rPr>
              <a:t>https://doi.org/10.18429/JACoW-IPAC2014-WEPRI022</a:t>
            </a:r>
            <a:r>
              <a:rPr lang="en-US" altLang="ja-JP" sz="1200" b="1" dirty="0"/>
              <a:t> 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0DAA79B-3DD2-22E6-72C1-46F3217D9B24}"/>
              </a:ext>
            </a:extLst>
          </p:cNvPr>
          <p:cNvCxnSpPr>
            <a:cxnSpLocks/>
          </p:cNvCxnSpPr>
          <p:nvPr/>
        </p:nvCxnSpPr>
        <p:spPr>
          <a:xfrm flipH="1">
            <a:off x="9322904" y="863600"/>
            <a:ext cx="227496" cy="848632"/>
          </a:xfrm>
          <a:prstGeom prst="straightConnector1">
            <a:avLst/>
          </a:prstGeom>
          <a:ln w="8255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2D296EE-63C2-5402-E139-ED78BC6EFCF2}"/>
                  </a:ext>
                </a:extLst>
              </p:cNvPr>
              <p:cNvSpPr txBox="1"/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1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chemeClr val="tx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ja-JP" altLang="en-US" sz="36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3F0B717-046C-DB8F-1C2D-D74487BF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707" y="209250"/>
                <a:ext cx="199785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15F1788-0BEE-A704-E1DB-C27C10C3E1B5}"/>
              </a:ext>
            </a:extLst>
          </p:cNvPr>
          <p:cNvCxnSpPr>
            <a:cxnSpLocks/>
          </p:cNvCxnSpPr>
          <p:nvPr/>
        </p:nvCxnSpPr>
        <p:spPr>
          <a:xfrm flipH="1" flipV="1">
            <a:off x="8900465" y="3027941"/>
            <a:ext cx="188844" cy="828145"/>
          </a:xfrm>
          <a:prstGeom prst="straightConnector1">
            <a:avLst/>
          </a:prstGeom>
          <a:ln w="825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6F922C3B-58DD-EA5B-77D2-FE6F200AAF3D}"/>
                  </a:ext>
                </a:extLst>
              </p:cNvPr>
              <p:cNvSpPr txBox="1"/>
              <p:nvPr/>
            </p:nvSpPr>
            <p:spPr>
              <a:xfrm>
                <a:off x="8771237" y="3790544"/>
                <a:ext cx="1646796" cy="553998"/>
              </a:xfrm>
              <a:prstGeom prst="rect">
                <a:avLst/>
              </a:prstGeom>
              <a:noFill/>
              <a:ln w="508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kumimoji="1" lang="en-US" altLang="ja-JP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EA343056-7CDB-EF51-DA00-C5C2883CF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237" y="3790544"/>
                <a:ext cx="164679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08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図 23">
            <a:extLst>
              <a:ext uri="{FF2B5EF4-FFF2-40B4-BE49-F238E27FC236}">
                <a16:creationId xmlns:a16="http://schemas.microsoft.com/office/drawing/2014/main" id="{76C7D4E8-F3E5-CBC8-7AFF-187D69DBEB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10721526" y="1443455"/>
            <a:ext cx="1308949" cy="1049545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A4E97D4-694A-C52D-287E-41D41834B07A}"/>
              </a:ext>
            </a:extLst>
          </p:cNvPr>
          <p:cNvSpPr txBox="1"/>
          <p:nvPr/>
        </p:nvSpPr>
        <p:spPr>
          <a:xfrm>
            <a:off x="8197725" y="4256926"/>
            <a:ext cx="2855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Thermally excited </a:t>
            </a:r>
          </a:p>
          <a:p>
            <a:pPr algn="ctr"/>
            <a:r>
              <a:rPr kumimoji="1" lang="en-US" altLang="ja-JP" dirty="0">
                <a:solidFill>
                  <a:srgbClr val="FF0000"/>
                </a:solidFill>
              </a:rPr>
              <a:t>quasiparticles dominate  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16EB98C-D1CE-4F3C-BD6F-FE84BFA100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72" r="3365" b="14934"/>
          <a:stretch>
            <a:fillRect/>
          </a:stretch>
        </p:blipFill>
        <p:spPr>
          <a:xfrm>
            <a:off x="817080" y="1644920"/>
            <a:ext cx="4311374" cy="368909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E065D8-0169-07CD-AF6F-FCF7A4CAB742}"/>
              </a:ext>
            </a:extLst>
          </p:cNvPr>
          <p:cNvSpPr txBox="1"/>
          <p:nvPr/>
        </p:nvSpPr>
        <p:spPr>
          <a:xfrm>
            <a:off x="1083964" y="5311152"/>
            <a:ext cx="4104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M. Martinello et al., Phys. Rev. Lett. </a:t>
            </a:r>
            <a:r>
              <a:rPr lang="en-US" altLang="ja-JP" sz="1200" b="1" dirty="0">
                <a:solidFill>
                  <a:schemeClr val="tx2"/>
                </a:solidFill>
              </a:rPr>
              <a:t>121</a:t>
            </a:r>
            <a:r>
              <a:rPr lang="en-US" altLang="ja-JP" sz="1200" dirty="0">
                <a:solidFill>
                  <a:schemeClr val="tx2"/>
                </a:solidFill>
              </a:rPr>
              <a:t>, 224801 (2018)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DOI: </a:t>
            </a:r>
            <a:r>
              <a:rPr lang="en-US" altLang="ja-JP" sz="1200" dirty="0">
                <a:solidFill>
                  <a:schemeClr val="tx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https://doi.org/10.1103/PhysRevLett.121.224801</a:t>
            </a:r>
            <a:r>
              <a:rPr lang="en-US" altLang="ja-JP" sz="1200" dirty="0">
                <a:solidFill>
                  <a:schemeClr val="tx2"/>
                </a:solidFill>
              </a:rPr>
              <a:t>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60DE372-294B-2BE5-AF65-6C757E13F246}"/>
              </a:ext>
            </a:extLst>
          </p:cNvPr>
          <p:cNvSpPr txBox="1"/>
          <p:nvPr/>
        </p:nvSpPr>
        <p:spPr>
          <a:xfrm>
            <a:off x="262609" y="121137"/>
            <a:ext cx="5030595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ja-JP" sz="3200" dirty="0">
                <a:latin typeface="Cambria Math" panose="02040503050406030204" pitchFamily="18" charset="0"/>
              </a:rPr>
              <a:t>What about the dissipation mechanisms inherent to superconductors?</a:t>
            </a:r>
            <a:endParaRPr kumimoji="1" lang="en-US" altLang="ja-JP" sz="32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0508462-F655-F899-61AF-E5903C32A3D5}"/>
              </a:ext>
            </a:extLst>
          </p:cNvPr>
          <p:cNvSpPr txBox="1"/>
          <p:nvPr/>
        </p:nvSpPr>
        <p:spPr>
          <a:xfrm>
            <a:off x="10116508" y="1443455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1.3GHz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BED0FD3-9B3D-65E4-2324-CA96E96226B9}"/>
                  </a:ext>
                </a:extLst>
              </p:cNvPr>
              <p:cNvSpPr txBox="1"/>
              <p:nvPr/>
            </p:nvSpPr>
            <p:spPr>
              <a:xfrm>
                <a:off x="3498574" y="4941820"/>
                <a:ext cx="890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BED0FD3-9B3D-65E4-2324-CA96E9622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74" y="4941820"/>
                <a:ext cx="89088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EA14648-3CDE-FC69-0C11-21C09C7BF6D9}"/>
                  </a:ext>
                </a:extLst>
              </p:cNvPr>
              <p:cNvSpPr txBox="1"/>
              <p:nvPr/>
            </p:nvSpPr>
            <p:spPr>
              <a:xfrm rot="16200000">
                <a:off x="505703" y="2423768"/>
                <a:ext cx="8726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EA14648-3CDE-FC69-0C11-21C09C7BF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5703" y="2423768"/>
                <a:ext cx="872675" cy="369332"/>
              </a:xfrm>
              <a:prstGeom prst="rect">
                <a:avLst/>
              </a:prstGeom>
              <a:blipFill>
                <a:blip r:embed="rId10"/>
                <a:stretch>
                  <a:fillRect r="-14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2825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D507-9433-917E-9E04-73BE7BBD3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EFA94CA3-C198-DA3C-D071-9FAF7DC72AF7}"/>
              </a:ext>
            </a:extLst>
          </p:cNvPr>
          <p:cNvCxnSpPr/>
          <p:nvPr/>
        </p:nvCxnSpPr>
        <p:spPr>
          <a:xfrm>
            <a:off x="618646" y="5846323"/>
            <a:ext cx="942067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884FE1C-1F61-455A-C5D2-700D63EC88D7}"/>
              </a:ext>
            </a:extLst>
          </p:cNvPr>
          <p:cNvCxnSpPr>
            <a:cxnSpLocks/>
          </p:cNvCxnSpPr>
          <p:nvPr/>
        </p:nvCxnSpPr>
        <p:spPr>
          <a:xfrm flipV="1">
            <a:off x="1099225" y="706795"/>
            <a:ext cx="0" cy="600862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01F122B-4BED-53AD-969C-97F0723DEF2C}"/>
              </a:ext>
            </a:extLst>
          </p:cNvPr>
          <p:cNvSpPr txBox="1"/>
          <p:nvPr/>
        </p:nvSpPr>
        <p:spPr>
          <a:xfrm>
            <a:off x="10131313" y="4871459"/>
            <a:ext cx="14782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600" dirty="0"/>
              <a:t>Mean</a:t>
            </a:r>
            <a:r>
              <a:rPr kumimoji="1" lang="ja-JP" altLang="en-US" sz="3600" dirty="0"/>
              <a:t> </a:t>
            </a:r>
            <a:endParaRPr kumimoji="1" lang="en-US" altLang="ja-JP" sz="3600" dirty="0"/>
          </a:p>
          <a:p>
            <a:pPr algn="ctr"/>
            <a:r>
              <a:rPr kumimoji="1" lang="en-US" altLang="ja-JP" sz="3600" dirty="0"/>
              <a:t>free</a:t>
            </a:r>
            <a:r>
              <a:rPr kumimoji="1" lang="ja-JP" altLang="en-US" sz="3600" dirty="0"/>
              <a:t> </a:t>
            </a:r>
            <a:endParaRPr kumimoji="1" lang="en-US" altLang="ja-JP" sz="3600" dirty="0"/>
          </a:p>
          <a:p>
            <a:pPr algn="ctr"/>
            <a:r>
              <a:rPr kumimoji="1" lang="en-US" altLang="ja-JP" sz="3600" dirty="0"/>
              <a:t>path</a:t>
            </a:r>
            <a:endParaRPr kumimoji="1" lang="ja-JP" altLang="en-US" sz="3600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B7E0A8D-2841-7D7D-6F40-E01EFE1407C4}"/>
              </a:ext>
            </a:extLst>
          </p:cNvPr>
          <p:cNvCxnSpPr/>
          <p:nvPr/>
        </p:nvCxnSpPr>
        <p:spPr>
          <a:xfrm>
            <a:off x="5718090" y="5564220"/>
            <a:ext cx="0" cy="60311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7EC5A01-CE73-DB39-46D5-5671AB90D136}"/>
              </a:ext>
            </a:extLst>
          </p:cNvPr>
          <p:cNvSpPr txBox="1"/>
          <p:nvPr/>
        </p:nvSpPr>
        <p:spPr>
          <a:xfrm>
            <a:off x="627511" y="5748622"/>
            <a:ext cx="461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0</a:t>
            </a:r>
            <a:endParaRPr kumimoji="1" lang="ja-JP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BBB9559-C0F5-54D9-94E5-8B873119B0AE}"/>
                  </a:ext>
                </a:extLst>
              </p:cNvPr>
              <p:cNvSpPr txBox="1"/>
              <p:nvPr/>
            </p:nvSpPr>
            <p:spPr>
              <a:xfrm>
                <a:off x="5452355" y="6141661"/>
                <a:ext cx="59574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B1ECDD0-7E33-5410-6421-8C4B5AD89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355" y="6141661"/>
                <a:ext cx="595740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D3BDC3-D246-70E4-1A39-E0FF0281ADFC}"/>
              </a:ext>
            </a:extLst>
          </p:cNvPr>
          <p:cNvSpPr txBox="1"/>
          <p:nvPr/>
        </p:nvSpPr>
        <p:spPr>
          <a:xfrm>
            <a:off x="26301" y="191335"/>
            <a:ext cx="2603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Temperature</a:t>
            </a:r>
            <a:endParaRPr kumimoji="1" lang="ja-JP" altLang="en-US" sz="3200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47DA3B4-DA55-7FE6-E03B-1ECBDBFA3662}"/>
              </a:ext>
            </a:extLst>
          </p:cNvPr>
          <p:cNvCxnSpPr>
            <a:cxnSpLocks/>
          </p:cNvCxnSpPr>
          <p:nvPr/>
        </p:nvCxnSpPr>
        <p:spPr>
          <a:xfrm>
            <a:off x="787940" y="1776919"/>
            <a:ext cx="60703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3950B7CA-BF50-4881-7BD8-7A574C54164B}"/>
                  </a:ext>
                </a:extLst>
              </p:cNvPr>
              <p:cNvSpPr txBox="1"/>
              <p:nvPr/>
            </p:nvSpPr>
            <p:spPr>
              <a:xfrm>
                <a:off x="146726" y="1390853"/>
                <a:ext cx="5849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FFD2352-697A-099E-8A18-1D5337E4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26" y="1390853"/>
                <a:ext cx="58496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1498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B81C3-C158-52A9-8BCE-A59DFD84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6D53CFC-3C3F-ED20-7F08-2C7F201B9770}"/>
              </a:ext>
            </a:extLst>
          </p:cNvPr>
          <p:cNvCxnSpPr/>
          <p:nvPr/>
        </p:nvCxnSpPr>
        <p:spPr>
          <a:xfrm>
            <a:off x="618646" y="5846323"/>
            <a:ext cx="942067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46F0566-FA42-9EFA-878A-E2785C80F62A}"/>
              </a:ext>
            </a:extLst>
          </p:cNvPr>
          <p:cNvCxnSpPr>
            <a:cxnSpLocks/>
          </p:cNvCxnSpPr>
          <p:nvPr/>
        </p:nvCxnSpPr>
        <p:spPr>
          <a:xfrm flipV="1">
            <a:off x="1099225" y="706795"/>
            <a:ext cx="0" cy="600862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90E388-9AB0-E9C9-7BB0-E74D06326987}"/>
              </a:ext>
            </a:extLst>
          </p:cNvPr>
          <p:cNvSpPr txBox="1"/>
          <p:nvPr/>
        </p:nvSpPr>
        <p:spPr>
          <a:xfrm>
            <a:off x="10131313" y="4871459"/>
            <a:ext cx="14782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600" dirty="0"/>
              <a:t>Mean</a:t>
            </a:r>
            <a:r>
              <a:rPr kumimoji="1" lang="ja-JP" altLang="en-US" sz="3600" dirty="0"/>
              <a:t> </a:t>
            </a:r>
            <a:endParaRPr kumimoji="1" lang="en-US" altLang="ja-JP" sz="3600" dirty="0"/>
          </a:p>
          <a:p>
            <a:pPr algn="ctr"/>
            <a:r>
              <a:rPr kumimoji="1" lang="en-US" altLang="ja-JP" sz="3600" dirty="0"/>
              <a:t>free</a:t>
            </a:r>
            <a:r>
              <a:rPr kumimoji="1" lang="ja-JP" altLang="en-US" sz="3600" dirty="0"/>
              <a:t> </a:t>
            </a:r>
            <a:endParaRPr kumimoji="1" lang="en-US" altLang="ja-JP" sz="3600" dirty="0"/>
          </a:p>
          <a:p>
            <a:pPr algn="ctr"/>
            <a:r>
              <a:rPr kumimoji="1" lang="en-US" altLang="ja-JP" sz="3600" dirty="0"/>
              <a:t>path</a:t>
            </a:r>
            <a:endParaRPr kumimoji="1" lang="ja-JP" altLang="en-US" sz="3600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1A7BF9B-6800-16C6-64F3-7CE3D70D51EF}"/>
              </a:ext>
            </a:extLst>
          </p:cNvPr>
          <p:cNvCxnSpPr/>
          <p:nvPr/>
        </p:nvCxnSpPr>
        <p:spPr>
          <a:xfrm>
            <a:off x="5718090" y="5564220"/>
            <a:ext cx="0" cy="60311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7C1B82-3659-F22E-C7CE-B468C2FB49D0}"/>
              </a:ext>
            </a:extLst>
          </p:cNvPr>
          <p:cNvSpPr txBox="1"/>
          <p:nvPr/>
        </p:nvSpPr>
        <p:spPr>
          <a:xfrm>
            <a:off x="627511" y="5748622"/>
            <a:ext cx="461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0</a:t>
            </a:r>
            <a:endParaRPr kumimoji="1" lang="ja-JP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74BAD5E-B21D-0126-DB22-B31B098CB60D}"/>
                  </a:ext>
                </a:extLst>
              </p:cNvPr>
              <p:cNvSpPr txBox="1"/>
              <p:nvPr/>
            </p:nvSpPr>
            <p:spPr>
              <a:xfrm>
                <a:off x="5452355" y="6141661"/>
                <a:ext cx="59574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B1ECDD0-7E33-5410-6421-8C4B5AD89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355" y="6141661"/>
                <a:ext cx="595740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7DDB88-00AF-F443-58F2-F9DE4F0194CF}"/>
              </a:ext>
            </a:extLst>
          </p:cNvPr>
          <p:cNvSpPr txBox="1"/>
          <p:nvPr/>
        </p:nvSpPr>
        <p:spPr>
          <a:xfrm>
            <a:off x="26301" y="191335"/>
            <a:ext cx="2603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Temperature</a:t>
            </a:r>
            <a:endParaRPr kumimoji="1" lang="ja-JP" altLang="en-US" sz="3200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0F13E86-DB8E-15FF-CFA2-B8D6347E5CA0}"/>
              </a:ext>
            </a:extLst>
          </p:cNvPr>
          <p:cNvCxnSpPr>
            <a:cxnSpLocks/>
          </p:cNvCxnSpPr>
          <p:nvPr/>
        </p:nvCxnSpPr>
        <p:spPr>
          <a:xfrm>
            <a:off x="787940" y="1776919"/>
            <a:ext cx="60703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325C95-EF0E-9AD0-7499-AA93C7FB9CA0}"/>
                  </a:ext>
                </a:extLst>
              </p:cNvPr>
              <p:cNvSpPr txBox="1"/>
              <p:nvPr/>
            </p:nvSpPr>
            <p:spPr>
              <a:xfrm>
                <a:off x="146726" y="1390853"/>
                <a:ext cx="5849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FFD2352-697A-099E-8A18-1D5337E4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26" y="1390853"/>
                <a:ext cx="58496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A14A83A-253F-8956-6DC8-A81C7BAD612A}"/>
                  </a:ext>
                </a:extLst>
              </p:cNvPr>
              <p:cNvSpPr txBox="1"/>
              <p:nvPr/>
            </p:nvSpPr>
            <p:spPr>
              <a:xfrm>
                <a:off x="3338186" y="1744796"/>
                <a:ext cx="44315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/>
                  <a:t>Ginzburg-Landau (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60B459D-3E07-47CA-45EE-1A627E518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186" y="1744796"/>
                <a:ext cx="4431534" cy="523220"/>
              </a:xfrm>
              <a:prstGeom prst="rect">
                <a:avLst/>
              </a:prstGeom>
              <a:blipFill>
                <a:blip r:embed="rId4"/>
                <a:stretch>
                  <a:fillRect l="-2889" t="-12791" r="-1788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楕円 17">
            <a:extLst>
              <a:ext uri="{FF2B5EF4-FFF2-40B4-BE49-F238E27FC236}">
                <a16:creationId xmlns:a16="http://schemas.microsoft.com/office/drawing/2014/main" id="{2F4CE2E4-22FE-CDCD-F074-479319C4291B}"/>
              </a:ext>
            </a:extLst>
          </p:cNvPr>
          <p:cNvSpPr/>
          <p:nvPr/>
        </p:nvSpPr>
        <p:spPr>
          <a:xfrm>
            <a:off x="1509902" y="1533469"/>
            <a:ext cx="7497911" cy="992424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38231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8059B-2946-6223-963C-C0E5E0F0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C104A665-93AE-C87D-C77D-393CEE286CC8}"/>
              </a:ext>
            </a:extLst>
          </p:cNvPr>
          <p:cNvCxnSpPr/>
          <p:nvPr/>
        </p:nvCxnSpPr>
        <p:spPr>
          <a:xfrm>
            <a:off x="618646" y="5846323"/>
            <a:ext cx="942067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FABEB30-1E25-203C-ECEE-ECC28EB79B85}"/>
              </a:ext>
            </a:extLst>
          </p:cNvPr>
          <p:cNvCxnSpPr>
            <a:cxnSpLocks/>
          </p:cNvCxnSpPr>
          <p:nvPr/>
        </p:nvCxnSpPr>
        <p:spPr>
          <a:xfrm flipV="1">
            <a:off x="1099225" y="706795"/>
            <a:ext cx="0" cy="600862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959C1F4-801C-6D15-6C2C-54C25A88AE05}"/>
              </a:ext>
            </a:extLst>
          </p:cNvPr>
          <p:cNvSpPr txBox="1"/>
          <p:nvPr/>
        </p:nvSpPr>
        <p:spPr>
          <a:xfrm>
            <a:off x="10131313" y="4871459"/>
            <a:ext cx="14782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600" dirty="0"/>
              <a:t>Mean</a:t>
            </a:r>
            <a:r>
              <a:rPr kumimoji="1" lang="ja-JP" altLang="en-US" sz="3600" dirty="0"/>
              <a:t> </a:t>
            </a:r>
            <a:endParaRPr kumimoji="1" lang="en-US" altLang="ja-JP" sz="3600" dirty="0"/>
          </a:p>
          <a:p>
            <a:pPr algn="ctr"/>
            <a:r>
              <a:rPr kumimoji="1" lang="en-US" altLang="ja-JP" sz="3600" dirty="0"/>
              <a:t>free</a:t>
            </a:r>
            <a:r>
              <a:rPr kumimoji="1" lang="ja-JP" altLang="en-US" sz="3600" dirty="0"/>
              <a:t> </a:t>
            </a:r>
            <a:endParaRPr kumimoji="1" lang="en-US" altLang="ja-JP" sz="3600" dirty="0"/>
          </a:p>
          <a:p>
            <a:pPr algn="ctr"/>
            <a:r>
              <a:rPr kumimoji="1" lang="en-US" altLang="ja-JP" sz="3600" dirty="0"/>
              <a:t>path</a:t>
            </a:r>
            <a:endParaRPr kumimoji="1" lang="ja-JP" altLang="en-US" sz="3600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59CA70A-FF62-6C64-786B-55E2295367C3}"/>
              </a:ext>
            </a:extLst>
          </p:cNvPr>
          <p:cNvCxnSpPr/>
          <p:nvPr/>
        </p:nvCxnSpPr>
        <p:spPr>
          <a:xfrm>
            <a:off x="5718090" y="5564220"/>
            <a:ext cx="0" cy="60311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AAAD2D5-76B4-C10D-1BDF-6D155F502E4B}"/>
              </a:ext>
            </a:extLst>
          </p:cNvPr>
          <p:cNvSpPr txBox="1"/>
          <p:nvPr/>
        </p:nvSpPr>
        <p:spPr>
          <a:xfrm>
            <a:off x="627511" y="5748622"/>
            <a:ext cx="461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0</a:t>
            </a:r>
            <a:endParaRPr kumimoji="1" lang="ja-JP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1ACF81B-15A6-7AE4-398E-7FAD0DCBF03A}"/>
                  </a:ext>
                </a:extLst>
              </p:cNvPr>
              <p:cNvSpPr txBox="1"/>
              <p:nvPr/>
            </p:nvSpPr>
            <p:spPr>
              <a:xfrm>
                <a:off x="5452355" y="6141661"/>
                <a:ext cx="59574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B1ECDD0-7E33-5410-6421-8C4B5AD89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355" y="6141661"/>
                <a:ext cx="595740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0EEB35-D312-68C8-D18E-7A9D6DB1A212}"/>
              </a:ext>
            </a:extLst>
          </p:cNvPr>
          <p:cNvSpPr txBox="1"/>
          <p:nvPr/>
        </p:nvSpPr>
        <p:spPr>
          <a:xfrm>
            <a:off x="26301" y="191335"/>
            <a:ext cx="2603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Temperature</a:t>
            </a:r>
            <a:endParaRPr kumimoji="1" lang="ja-JP" altLang="en-US" sz="3200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FB59333-3607-7CCF-40AE-A88EFFE91C8C}"/>
              </a:ext>
            </a:extLst>
          </p:cNvPr>
          <p:cNvCxnSpPr>
            <a:cxnSpLocks/>
          </p:cNvCxnSpPr>
          <p:nvPr/>
        </p:nvCxnSpPr>
        <p:spPr>
          <a:xfrm>
            <a:off x="787940" y="1776919"/>
            <a:ext cx="60703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E5EE8149-5D18-0D44-CB40-8B50A816DE97}"/>
                  </a:ext>
                </a:extLst>
              </p:cNvPr>
              <p:cNvSpPr txBox="1"/>
              <p:nvPr/>
            </p:nvSpPr>
            <p:spPr>
              <a:xfrm>
                <a:off x="146726" y="1390853"/>
                <a:ext cx="5849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FFD2352-697A-099E-8A18-1D5337E4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26" y="1390853"/>
                <a:ext cx="58496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D0FF2A6-B662-12B1-7CFD-70EC0D60BE69}"/>
                  </a:ext>
                </a:extLst>
              </p:cNvPr>
              <p:cNvSpPr txBox="1"/>
              <p:nvPr/>
            </p:nvSpPr>
            <p:spPr>
              <a:xfrm>
                <a:off x="3338186" y="1744796"/>
                <a:ext cx="44315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/>
                  <a:t>Ginzburg-Landau (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60B459D-3E07-47CA-45EE-1A627E518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186" y="1744796"/>
                <a:ext cx="4431534" cy="523220"/>
              </a:xfrm>
              <a:prstGeom prst="rect">
                <a:avLst/>
              </a:prstGeom>
              <a:blipFill>
                <a:blip r:embed="rId4"/>
                <a:stretch>
                  <a:fillRect l="-2889" t="-12791" r="-1788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楕円 17">
            <a:extLst>
              <a:ext uri="{FF2B5EF4-FFF2-40B4-BE49-F238E27FC236}">
                <a16:creationId xmlns:a16="http://schemas.microsoft.com/office/drawing/2014/main" id="{4CDE6C1B-F121-0324-64A9-BABA6A556A25}"/>
              </a:ext>
            </a:extLst>
          </p:cNvPr>
          <p:cNvSpPr/>
          <p:nvPr/>
        </p:nvSpPr>
        <p:spPr>
          <a:xfrm>
            <a:off x="1509902" y="1533469"/>
            <a:ext cx="7497911" cy="992424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E9A220B-FF44-0EE7-27E1-B667B3FD113B}"/>
              </a:ext>
            </a:extLst>
          </p:cNvPr>
          <p:cNvSpPr txBox="1"/>
          <p:nvPr/>
        </p:nvSpPr>
        <p:spPr>
          <a:xfrm>
            <a:off x="6199977" y="3012537"/>
            <a:ext cx="258737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</a:p>
          <a:p>
            <a:pPr algn="ctr"/>
            <a:r>
              <a:rPr kumimoji="1" lang="en-US" altLang="ja-JP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Formalism </a:t>
            </a:r>
          </a:p>
          <a:p>
            <a:pPr algn="ctr"/>
            <a:r>
              <a:rPr kumimoji="1" lang="en-US" altLang="ja-JP" dirty="0"/>
              <a:t>Applicable to</a:t>
            </a:r>
          </a:p>
          <a:p>
            <a:pPr algn="ctr"/>
            <a:r>
              <a:rPr kumimoji="1" lang="en-US" altLang="ja-JP" dirty="0"/>
              <a:t>Any temperature</a:t>
            </a:r>
          </a:p>
          <a:p>
            <a:pPr algn="ctr"/>
            <a:r>
              <a:rPr kumimoji="1" lang="en-US" altLang="ja-JP" dirty="0"/>
              <a:t>Any mean free path</a:t>
            </a:r>
            <a:endParaRPr kumimoji="1" lang="ja-JP" altLang="en-US" dirty="0"/>
          </a:p>
          <a:p>
            <a:pPr algn="ctr"/>
            <a:endParaRPr kumimoji="1" lang="ja-JP" altLang="en-US" sz="32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F79BDB5-7936-29EA-2D66-5DF839A98D0B}"/>
              </a:ext>
            </a:extLst>
          </p:cNvPr>
          <p:cNvSpPr/>
          <p:nvPr/>
        </p:nvSpPr>
        <p:spPr>
          <a:xfrm>
            <a:off x="1264590" y="1390852"/>
            <a:ext cx="8328519" cy="4270799"/>
          </a:xfrm>
          <a:prstGeom prst="roundRect">
            <a:avLst/>
          </a:prstGeom>
          <a:noFill/>
          <a:ln w="793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2849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8828-1562-5AC6-A2F3-33D5B6E9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1EA7A5E-9BE9-42CB-7D3C-B1DC661C4DA8}"/>
              </a:ext>
            </a:extLst>
          </p:cNvPr>
          <p:cNvCxnSpPr/>
          <p:nvPr/>
        </p:nvCxnSpPr>
        <p:spPr>
          <a:xfrm>
            <a:off x="618646" y="5846323"/>
            <a:ext cx="942067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5675EC5A-3ACA-5786-3FD3-B4C31C7B6698}"/>
              </a:ext>
            </a:extLst>
          </p:cNvPr>
          <p:cNvCxnSpPr>
            <a:cxnSpLocks/>
          </p:cNvCxnSpPr>
          <p:nvPr/>
        </p:nvCxnSpPr>
        <p:spPr>
          <a:xfrm flipV="1">
            <a:off x="1099225" y="706795"/>
            <a:ext cx="0" cy="600862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50E254-8195-C40C-5D6A-42F12594CBE8}"/>
              </a:ext>
            </a:extLst>
          </p:cNvPr>
          <p:cNvSpPr txBox="1"/>
          <p:nvPr/>
        </p:nvSpPr>
        <p:spPr>
          <a:xfrm>
            <a:off x="10131313" y="4871459"/>
            <a:ext cx="14782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600" dirty="0"/>
              <a:t>Mean</a:t>
            </a:r>
            <a:r>
              <a:rPr kumimoji="1" lang="ja-JP" altLang="en-US" sz="3600" dirty="0"/>
              <a:t> </a:t>
            </a:r>
            <a:endParaRPr kumimoji="1" lang="en-US" altLang="ja-JP" sz="3600" dirty="0"/>
          </a:p>
          <a:p>
            <a:pPr algn="ctr"/>
            <a:r>
              <a:rPr kumimoji="1" lang="en-US" altLang="ja-JP" sz="3600" dirty="0"/>
              <a:t>free</a:t>
            </a:r>
            <a:r>
              <a:rPr kumimoji="1" lang="ja-JP" altLang="en-US" sz="3600" dirty="0"/>
              <a:t> </a:t>
            </a:r>
            <a:endParaRPr kumimoji="1" lang="en-US" altLang="ja-JP" sz="3600" dirty="0"/>
          </a:p>
          <a:p>
            <a:pPr algn="ctr"/>
            <a:r>
              <a:rPr kumimoji="1" lang="en-US" altLang="ja-JP" sz="3600" dirty="0"/>
              <a:t>path</a:t>
            </a:r>
            <a:endParaRPr kumimoji="1" lang="ja-JP" altLang="en-US" sz="3600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347FEE1-A6B4-7C70-CDA3-2161F2530D79}"/>
              </a:ext>
            </a:extLst>
          </p:cNvPr>
          <p:cNvCxnSpPr/>
          <p:nvPr/>
        </p:nvCxnSpPr>
        <p:spPr>
          <a:xfrm>
            <a:off x="5718090" y="5564220"/>
            <a:ext cx="0" cy="60311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B0D6B78-AAB7-084E-A4EF-A540BCE6D634}"/>
              </a:ext>
            </a:extLst>
          </p:cNvPr>
          <p:cNvSpPr txBox="1"/>
          <p:nvPr/>
        </p:nvSpPr>
        <p:spPr>
          <a:xfrm>
            <a:off x="627511" y="5748622"/>
            <a:ext cx="461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0</a:t>
            </a:r>
            <a:endParaRPr kumimoji="1" lang="ja-JP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D1F9407-BBD6-5904-9373-DA3DD6DC4EFA}"/>
                  </a:ext>
                </a:extLst>
              </p:cNvPr>
              <p:cNvSpPr txBox="1"/>
              <p:nvPr/>
            </p:nvSpPr>
            <p:spPr>
              <a:xfrm>
                <a:off x="5452355" y="6141661"/>
                <a:ext cx="59574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B1ECDD0-7E33-5410-6421-8C4B5AD89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355" y="6141661"/>
                <a:ext cx="595740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9A38D6-1235-9509-15B4-F02DF2895F98}"/>
              </a:ext>
            </a:extLst>
          </p:cNvPr>
          <p:cNvSpPr txBox="1"/>
          <p:nvPr/>
        </p:nvSpPr>
        <p:spPr>
          <a:xfrm>
            <a:off x="26301" y="191335"/>
            <a:ext cx="2603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Temperature</a:t>
            </a:r>
            <a:endParaRPr kumimoji="1" lang="ja-JP" altLang="en-US" sz="3200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76E458A-3DB7-623A-1B6B-FD89447F1155}"/>
              </a:ext>
            </a:extLst>
          </p:cNvPr>
          <p:cNvCxnSpPr>
            <a:cxnSpLocks/>
          </p:cNvCxnSpPr>
          <p:nvPr/>
        </p:nvCxnSpPr>
        <p:spPr>
          <a:xfrm>
            <a:off x="787940" y="1776919"/>
            <a:ext cx="60703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C84B0EC1-D4EF-A160-795A-DCB809770457}"/>
                  </a:ext>
                </a:extLst>
              </p:cNvPr>
              <p:cNvSpPr txBox="1"/>
              <p:nvPr/>
            </p:nvSpPr>
            <p:spPr>
              <a:xfrm>
                <a:off x="146726" y="1390853"/>
                <a:ext cx="5849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FFD2352-697A-099E-8A18-1D5337E4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26" y="1390853"/>
                <a:ext cx="58496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CD0D302-347A-697F-E12D-8DA08EAB80A9}"/>
                  </a:ext>
                </a:extLst>
              </p:cNvPr>
              <p:cNvSpPr txBox="1"/>
              <p:nvPr/>
            </p:nvSpPr>
            <p:spPr>
              <a:xfrm>
                <a:off x="3338186" y="1744796"/>
                <a:ext cx="44315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/>
                  <a:t>Ginzburg-Landau (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60B459D-3E07-47CA-45EE-1A627E518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186" y="1744796"/>
                <a:ext cx="4431534" cy="523220"/>
              </a:xfrm>
              <a:prstGeom prst="rect">
                <a:avLst/>
              </a:prstGeom>
              <a:blipFill>
                <a:blip r:embed="rId4"/>
                <a:stretch>
                  <a:fillRect l="-2889" t="-12791" r="-1788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楕円 17">
            <a:extLst>
              <a:ext uri="{FF2B5EF4-FFF2-40B4-BE49-F238E27FC236}">
                <a16:creationId xmlns:a16="http://schemas.microsoft.com/office/drawing/2014/main" id="{BFF042D7-413C-4CC4-AC4A-E9F417386A65}"/>
              </a:ext>
            </a:extLst>
          </p:cNvPr>
          <p:cNvSpPr/>
          <p:nvPr/>
        </p:nvSpPr>
        <p:spPr>
          <a:xfrm>
            <a:off x="1509902" y="1533469"/>
            <a:ext cx="7497911" cy="992424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1F886FC-8714-22A6-D99D-8DAF26E76B48}"/>
              </a:ext>
            </a:extLst>
          </p:cNvPr>
          <p:cNvSpPr txBox="1"/>
          <p:nvPr/>
        </p:nvSpPr>
        <p:spPr>
          <a:xfrm>
            <a:off x="6199977" y="3012537"/>
            <a:ext cx="258737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</a:p>
          <a:p>
            <a:pPr algn="ctr"/>
            <a:r>
              <a:rPr kumimoji="1" lang="en-US" altLang="ja-JP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Formalism </a:t>
            </a:r>
          </a:p>
          <a:p>
            <a:pPr algn="ctr"/>
            <a:r>
              <a:rPr kumimoji="1" lang="en-US" altLang="ja-JP" dirty="0"/>
              <a:t>Applicable to</a:t>
            </a:r>
          </a:p>
          <a:p>
            <a:pPr algn="ctr"/>
            <a:r>
              <a:rPr kumimoji="1" lang="en-US" altLang="ja-JP" dirty="0"/>
              <a:t>Any temperature</a:t>
            </a:r>
          </a:p>
          <a:p>
            <a:pPr algn="ctr"/>
            <a:r>
              <a:rPr kumimoji="1" lang="en-US" altLang="ja-JP" dirty="0"/>
              <a:t>Any mean free path</a:t>
            </a:r>
            <a:endParaRPr kumimoji="1" lang="ja-JP" altLang="en-US" dirty="0"/>
          </a:p>
          <a:p>
            <a:pPr algn="ctr"/>
            <a:endParaRPr kumimoji="1" lang="ja-JP" altLang="en-US" sz="32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6088256-59D2-5F86-061A-8F8EB3C81DA4}"/>
              </a:ext>
            </a:extLst>
          </p:cNvPr>
          <p:cNvSpPr/>
          <p:nvPr/>
        </p:nvSpPr>
        <p:spPr>
          <a:xfrm>
            <a:off x="1264590" y="1390852"/>
            <a:ext cx="8328519" cy="4270799"/>
          </a:xfrm>
          <a:prstGeom prst="roundRect">
            <a:avLst/>
          </a:prstGeom>
          <a:noFill/>
          <a:ln w="793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6A31D2F0-A916-4FB7-387E-F06DD21A9975}"/>
              </a:ext>
            </a:extLst>
          </p:cNvPr>
          <p:cNvSpPr/>
          <p:nvPr/>
        </p:nvSpPr>
        <p:spPr>
          <a:xfrm>
            <a:off x="1342855" y="1533470"/>
            <a:ext cx="3520975" cy="4017516"/>
          </a:xfrm>
          <a:prstGeom prst="roundRect">
            <a:avLst/>
          </a:prstGeom>
          <a:noFill/>
          <a:ln w="79375">
            <a:solidFill>
              <a:srgbClr val="FF006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E84630C6-BB40-C748-3663-2A138DAB03ED}"/>
                  </a:ext>
                </a:extLst>
              </p:cNvPr>
              <p:cNvSpPr txBox="1"/>
              <p:nvPr/>
            </p:nvSpPr>
            <p:spPr>
              <a:xfrm>
                <a:off x="2083806" y="2987642"/>
                <a:ext cx="2403414" cy="20005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3200" b="1" dirty="0">
                    <a:solidFill>
                      <a:srgbClr val="FF0066"/>
                    </a:solidFill>
                  </a:rPr>
                  <a:t>Usade</a:t>
                </a:r>
                <a:r>
                  <a:rPr kumimoji="1" lang="en-US" altLang="ja-JP" sz="3200" b="1" dirty="0" err="1">
                    <a:solidFill>
                      <a:srgbClr val="FF0066"/>
                    </a:solidFill>
                  </a:rPr>
                  <a:t>l</a:t>
                </a:r>
                <a:endParaRPr kumimoji="1" lang="en-US" altLang="ja-JP" sz="3200" b="1" dirty="0">
                  <a:solidFill>
                    <a:srgbClr val="FF0066"/>
                  </a:solidFill>
                </a:endParaRPr>
              </a:p>
              <a:p>
                <a:pPr algn="ctr"/>
                <a:r>
                  <a:rPr kumimoji="1" lang="en-US" altLang="ja-JP" sz="3200" b="1" dirty="0">
                    <a:solidFill>
                      <a:srgbClr val="FF0066"/>
                    </a:solidFill>
                  </a:rPr>
                  <a:t>Formalism</a:t>
                </a:r>
              </a:p>
              <a:p>
                <a:pPr algn="ctr"/>
                <a:r>
                  <a:rPr kumimoji="1" lang="en-US" altLang="ja-JP" dirty="0"/>
                  <a:t>Applicable to</a:t>
                </a:r>
              </a:p>
              <a:p>
                <a:pPr algn="ctr"/>
                <a:r>
                  <a:rPr kumimoji="1" lang="en-US" altLang="ja-JP" dirty="0"/>
                  <a:t>Any temperature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𝑚𝑓𝑝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3200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A09816F-73E3-A403-D61B-62AA5911F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806" y="2987642"/>
                <a:ext cx="2403414" cy="2000548"/>
              </a:xfrm>
              <a:prstGeom prst="rect">
                <a:avLst/>
              </a:prstGeom>
              <a:blipFill>
                <a:blip r:embed="rId5"/>
                <a:stretch>
                  <a:fillRect l="-6091" t="-4268" r="-5838" b="-36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0810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ADD5D-FB94-62C3-A5BB-C4DD5A89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E2FB23-C2DB-A3EC-6874-88F65F15E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753009C-80D7-0A95-10AF-EC87DE2EBAAA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0CBE40B-3F33-E1D0-C7AE-4C1BD6FC9308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B91FBB-8B47-04F9-B07B-4FB0C909D2E6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B365EB-6DD4-8E07-658A-D039776934B2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</p:spTree>
    <p:extLst>
      <p:ext uri="{BB962C8B-B14F-4D97-AF65-F5344CB8AC3E}">
        <p14:creationId xmlns:p14="http://schemas.microsoft.com/office/powerpoint/2010/main" val="6873564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87112-4B32-460D-31C0-41A65911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24ABDC0-1F4F-9803-B50C-4EDBC5DF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635D9EC-0B6E-1DAA-1C77-9770E5BB479A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3B03D1BE-CFE0-E255-E422-2E3B0A1472F9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2D1603F-8C60-AF5D-B1CC-8747362165EE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3ACB27-DF01-1C0C-CADA-61E6A725B1DA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EC94F67-14F6-76A9-8935-5DE99D3F9A7A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D662D6-BF8B-7D99-E9A1-B263647938B3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507286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7956-78CD-DB22-1D5B-7EAD7987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22C9E46-02AB-6679-726F-68DE96188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3AEF30A-CEBB-C1F7-6AE9-D28F6A52BF52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AADDA958-C7E3-201F-413D-C52729E23EED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695AA8C-0AFD-430A-AD52-82B075719F19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12146C-9513-E19D-1C95-07D0D2AA1100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B2B488-48AC-3A05-1325-5541256447E1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4A20D5F-7984-4DE2-72AD-4CB29B6C2C53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332D83E-00D3-2366-9CA3-9CA7788364D7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D99C0641-20F6-9803-7915-5FBF194F24CC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8539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A5110-9796-5DDB-C8EE-18F2B9C8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F130E3-4B2B-A9BC-431D-7285C0B33477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D86FF8E-2C4B-15B1-3E60-6A6E4117E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6DE65FD-9406-A810-69F2-5C77E092A0DD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4CF2BF98-DE28-97CB-EC1F-D88B57CDD0EE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F0736BB-7187-9520-FE8E-4355E66748E9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B997163D-76AB-4C7B-A7BD-7E7DDE1CB946}"/>
              </a:ext>
            </a:extLst>
          </p:cNvPr>
          <p:cNvSpPr/>
          <p:nvPr/>
        </p:nvSpPr>
        <p:spPr>
          <a:xfrm rot="14554498">
            <a:off x="2468911" y="694963"/>
            <a:ext cx="784757" cy="5533948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CE24241-23B1-2DC6-E782-F6931F26AB9B}"/>
              </a:ext>
            </a:extLst>
          </p:cNvPr>
          <p:cNvSpPr txBox="1"/>
          <p:nvPr/>
        </p:nvSpPr>
        <p:spPr>
          <a:xfrm rot="19962522">
            <a:off x="144799" y="199302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F24C6D-1B6A-0F40-DF9B-595F0021C557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C909ED-BDEC-AA4F-B2C2-BD70350D71F1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ACE47A0-D7D4-5AB6-B286-4159283FEDD8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33393A53-2BA1-2F7E-5F35-AB86AAF96A76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8771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59355-B84B-585F-FF52-35D073EC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80AA1E-6A2B-7940-614E-8DF06E3F4F0B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300C331-6908-CF1F-ACE4-AE9C7473A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005B29E-17BE-5DD5-642E-0EEDD754A4CF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43FCC77D-9685-928F-2657-0EB5DD9D1427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AB545A-09BD-C817-726B-466C672FFFCF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28D7D2CA-F296-E723-49E4-9E7A87257897}"/>
              </a:ext>
            </a:extLst>
          </p:cNvPr>
          <p:cNvSpPr/>
          <p:nvPr/>
        </p:nvSpPr>
        <p:spPr>
          <a:xfrm rot="14554498">
            <a:off x="2468911" y="694963"/>
            <a:ext cx="784757" cy="5533948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FBBC3BA-2D3E-FA9D-1DC9-3470307745F3}"/>
              </a:ext>
            </a:extLst>
          </p:cNvPr>
          <p:cNvSpPr txBox="1"/>
          <p:nvPr/>
        </p:nvSpPr>
        <p:spPr>
          <a:xfrm rot="19962522">
            <a:off x="144799" y="199302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02DDA26-B016-D13E-53FE-B35E0B47780A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EE8423-DB44-7DCD-9BCD-A2C7632AC1E7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CA8CE7F-7681-FDC6-0340-EFDFFDC945A5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7F2D23AA-DDA1-CCDA-8621-5E72CB4CD3D5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BE2C45-FDBA-8289-785D-0009D638350D}"/>
              </a:ext>
            </a:extLst>
          </p:cNvPr>
          <p:cNvSpPr txBox="1"/>
          <p:nvPr/>
        </p:nvSpPr>
        <p:spPr>
          <a:xfrm rot="20023386">
            <a:off x="-359924" y="913383"/>
            <a:ext cx="4265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Unfortunately, this is </a:t>
            </a:r>
          </a:p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the </a:t>
            </a:r>
            <a:r>
              <a:rPr kumimoji="1" lang="en-US" altLang="ja-JP" sz="3200" b="1" dirty="0">
                <a:solidFill>
                  <a:schemeClr val="tx2"/>
                </a:solidFill>
              </a:rPr>
              <a:t>SRF</a:t>
            </a:r>
            <a:r>
              <a:rPr kumimoji="1" lang="en-US" altLang="ja-JP" sz="2400" dirty="0">
                <a:solidFill>
                  <a:schemeClr val="tx2"/>
                </a:solidFill>
              </a:rPr>
              <a:t> accelerator regime</a:t>
            </a:r>
            <a:endParaRPr kumimoji="1" lang="ja-JP" altLang="en-US" sz="2400" dirty="0">
              <a:solidFill>
                <a:schemeClr val="tx2"/>
              </a:solidFill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DF8235B5-FC3E-D7F0-2DC5-3B88A29DC738}"/>
              </a:ext>
            </a:extLst>
          </p:cNvPr>
          <p:cNvSpPr/>
          <p:nvPr/>
        </p:nvSpPr>
        <p:spPr>
          <a:xfrm rot="14363153">
            <a:off x="1723820" y="1698533"/>
            <a:ext cx="496957" cy="535353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87801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D9F0C-A03C-79D8-7FC5-897276A5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996932-1757-F8E4-94CA-33FDEC245CCA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6A127648-303A-E6B4-FC8A-5E040B7BB547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03963CE-56BF-1A1F-BCA0-EFA6C790E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649EEC3-C3EA-5D2A-07BB-28B2C6090E18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867FB1EF-EBF2-9E7F-BA98-E177812778DA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D3FD687-4FF6-46D6-FE53-ECC52E363E19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BBF07877-DA11-AB25-FED9-B5CA2840CC20}"/>
              </a:ext>
            </a:extLst>
          </p:cNvPr>
          <p:cNvSpPr/>
          <p:nvPr/>
        </p:nvSpPr>
        <p:spPr>
          <a:xfrm rot="14554498">
            <a:off x="2468911" y="694963"/>
            <a:ext cx="784757" cy="5533948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4025F9A-EC54-200C-7BBE-D2DC0DFD541C}"/>
              </a:ext>
            </a:extLst>
          </p:cNvPr>
          <p:cNvSpPr txBox="1"/>
          <p:nvPr/>
        </p:nvSpPr>
        <p:spPr>
          <a:xfrm rot="19962522">
            <a:off x="144798" y="199302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DAEE86-B442-54D5-49A1-E8341D28EDB4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535DB5-B6FF-CBAB-EEA9-12E13BF9F29C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035298A-B5BF-ADE3-F547-1EE9ACD64F7B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A6EDBB5F-F692-6007-D11A-DC1DB9025BEB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326298CC-86D3-D4AB-050F-833170F35C0D}"/>
              </a:ext>
            </a:extLst>
          </p:cNvPr>
          <p:cNvSpPr/>
          <p:nvPr/>
        </p:nvSpPr>
        <p:spPr>
          <a:xfrm rot="14363153">
            <a:off x="1723820" y="1698533"/>
            <a:ext cx="496957" cy="535353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93814B7-86A8-1CF1-1186-6A7539561FE1}"/>
              </a:ext>
            </a:extLst>
          </p:cNvPr>
          <p:cNvSpPr txBox="1"/>
          <p:nvPr/>
        </p:nvSpPr>
        <p:spPr>
          <a:xfrm rot="20023386">
            <a:off x="-359924" y="913383"/>
            <a:ext cx="4265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Unfortunately, this is </a:t>
            </a:r>
          </a:p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the </a:t>
            </a:r>
            <a:r>
              <a:rPr kumimoji="1" lang="en-US" altLang="ja-JP" sz="3200" b="1" dirty="0">
                <a:solidFill>
                  <a:schemeClr val="tx2"/>
                </a:solidFill>
              </a:rPr>
              <a:t>SRF</a:t>
            </a:r>
            <a:r>
              <a:rPr kumimoji="1" lang="en-US" altLang="ja-JP" sz="2400" dirty="0">
                <a:solidFill>
                  <a:schemeClr val="tx2"/>
                </a:solidFill>
              </a:rPr>
              <a:t> accelerator regime</a:t>
            </a:r>
            <a:endParaRPr kumimoji="1" lang="ja-JP" alt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6030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7E0A0-FBDF-162F-AB41-2CA7BEF2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C95D335-A349-2623-34BC-B5BA1937C60F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72A15EA-DAC0-3523-F9EA-A0A8539CC05E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E0C91AAE-CC2E-FC80-DC50-1350E16C08B5}"/>
              </a:ext>
            </a:extLst>
          </p:cNvPr>
          <p:cNvSpPr/>
          <p:nvPr/>
        </p:nvSpPr>
        <p:spPr>
          <a:xfrm>
            <a:off x="3138792" y="2078480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A88A616-B0F4-8A13-B66C-85B09F0FC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BE9EB56-F36F-2364-8F66-BCD3E39D0AA2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6AF0B5CB-9A98-B592-59C2-05482DBA6DB6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B53B740-FA4B-3C31-8FD8-0A1FC717AF2F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25366D4F-F0F1-C075-491C-2804BF87EC35}"/>
              </a:ext>
            </a:extLst>
          </p:cNvPr>
          <p:cNvSpPr/>
          <p:nvPr/>
        </p:nvSpPr>
        <p:spPr>
          <a:xfrm rot="14554498">
            <a:off x="2468911" y="694963"/>
            <a:ext cx="784757" cy="5533948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B74FB4D-87E7-A807-611B-61CD55BA57FD}"/>
              </a:ext>
            </a:extLst>
          </p:cNvPr>
          <p:cNvSpPr txBox="1"/>
          <p:nvPr/>
        </p:nvSpPr>
        <p:spPr>
          <a:xfrm rot="19962522">
            <a:off x="144798" y="199302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A8BCCA-FB24-215F-9932-C1960704F812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B29E87-C78B-6BFB-B688-E2FE5181EA58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5FB435-AD23-0B42-DCBA-87BCE0FB549A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32F2523E-9B05-3AC8-7814-30F00DE5B852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FCEC0374-196E-BF7C-DDD1-042C1E14966A}"/>
              </a:ext>
            </a:extLst>
          </p:cNvPr>
          <p:cNvSpPr/>
          <p:nvPr/>
        </p:nvSpPr>
        <p:spPr>
          <a:xfrm rot="14363153">
            <a:off x="1723820" y="1698533"/>
            <a:ext cx="496957" cy="535353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976A9B-29FD-42AA-3C8A-DFEB86CC50A1}"/>
              </a:ext>
            </a:extLst>
          </p:cNvPr>
          <p:cNvSpPr txBox="1"/>
          <p:nvPr/>
        </p:nvSpPr>
        <p:spPr>
          <a:xfrm rot="20023386">
            <a:off x="-359924" y="913383"/>
            <a:ext cx="4265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Unfortunately, this is </a:t>
            </a:r>
          </a:p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the </a:t>
            </a:r>
            <a:r>
              <a:rPr kumimoji="1" lang="en-US" altLang="ja-JP" sz="3200" b="1" dirty="0">
                <a:solidFill>
                  <a:schemeClr val="tx2"/>
                </a:solidFill>
              </a:rPr>
              <a:t>SRF</a:t>
            </a:r>
            <a:r>
              <a:rPr kumimoji="1" lang="en-US" altLang="ja-JP" sz="2400" dirty="0">
                <a:solidFill>
                  <a:schemeClr val="tx2"/>
                </a:solidFill>
              </a:rPr>
              <a:t> accelerator regime</a:t>
            </a:r>
            <a:endParaRPr kumimoji="1" lang="ja-JP" alt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9322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FB68A-8443-27E9-4965-4C3B55EB8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2C98D94-63F5-7C81-05E1-29AD3FC2F46B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3AE8EB4D-7CED-67A8-DF04-B4A0A779D483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9D9F2C-8D10-9F40-E52D-13A4655B9447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60D2005-B06D-6431-F50E-DAC00917FE8A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06F5C2D6-F2F6-AF7B-AC3F-08BF41264BDF}"/>
              </a:ext>
            </a:extLst>
          </p:cNvPr>
          <p:cNvSpPr/>
          <p:nvPr/>
        </p:nvSpPr>
        <p:spPr>
          <a:xfrm>
            <a:off x="3138792" y="2078480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467FCC94-82D0-C4CC-9890-9C0A51305FB8}"/>
              </a:ext>
            </a:extLst>
          </p:cNvPr>
          <p:cNvSpPr/>
          <p:nvPr/>
        </p:nvSpPr>
        <p:spPr>
          <a:xfrm>
            <a:off x="3138792" y="891696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95C20B-498B-0B06-1D64-5214BB633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CAD7C8B-2371-DC13-22F9-368F74DAC3F0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108E56FB-A682-878C-51F9-C12E09C692B0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9EA4498-0CCA-5CAF-AC1A-32CA02360B5B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0392808B-DB00-5173-EA88-A90E7DA21D88}"/>
              </a:ext>
            </a:extLst>
          </p:cNvPr>
          <p:cNvSpPr/>
          <p:nvPr/>
        </p:nvSpPr>
        <p:spPr>
          <a:xfrm rot="14554498">
            <a:off x="2468911" y="694963"/>
            <a:ext cx="784757" cy="5533948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8028062-2278-A904-4EF6-EFABDEFA0F4B}"/>
              </a:ext>
            </a:extLst>
          </p:cNvPr>
          <p:cNvSpPr txBox="1"/>
          <p:nvPr/>
        </p:nvSpPr>
        <p:spPr>
          <a:xfrm rot="19962522">
            <a:off x="144798" y="199302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9B963C-8841-983D-16FB-A433282F3816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F2CF21-07AD-1F5D-6578-76F58850039C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580B9538-5CAC-76A7-C555-14613EEB7ED4}"/>
              </a:ext>
            </a:extLst>
          </p:cNvPr>
          <p:cNvSpPr/>
          <p:nvPr/>
        </p:nvSpPr>
        <p:spPr>
          <a:xfrm rot="14363153">
            <a:off x="1723820" y="1698533"/>
            <a:ext cx="496957" cy="535353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57F5B39-A6E9-80CB-15BA-3AB5E50346BF}"/>
              </a:ext>
            </a:extLst>
          </p:cNvPr>
          <p:cNvSpPr txBox="1"/>
          <p:nvPr/>
        </p:nvSpPr>
        <p:spPr>
          <a:xfrm rot="20023386">
            <a:off x="-359924" y="913383"/>
            <a:ext cx="4265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Unfortunately, this is </a:t>
            </a:r>
          </a:p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the </a:t>
            </a:r>
            <a:r>
              <a:rPr kumimoji="1" lang="en-US" altLang="ja-JP" sz="3200" b="1" dirty="0">
                <a:solidFill>
                  <a:schemeClr val="tx2"/>
                </a:solidFill>
              </a:rPr>
              <a:t>SRF</a:t>
            </a:r>
            <a:r>
              <a:rPr kumimoji="1" lang="en-US" altLang="ja-JP" sz="2400" dirty="0">
                <a:solidFill>
                  <a:schemeClr val="tx2"/>
                </a:solidFill>
              </a:rPr>
              <a:t> accelerator regime</a:t>
            </a:r>
            <a:endParaRPr kumimoji="1" lang="ja-JP" alt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4072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8ECF-91D1-12B6-4C95-CC59A5E9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F48C6A-CBF0-E2EA-21BA-0AAF374F11D1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243A75CC-F002-AF5E-6ADB-ECD76E9E816D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C3FE8B-7A11-74EC-AA61-FDF4632CF792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606B9D2-709E-B03E-1E45-47E6B6190977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A6865827-C2CE-1D53-EACF-949A1864F2FE}"/>
              </a:ext>
            </a:extLst>
          </p:cNvPr>
          <p:cNvSpPr/>
          <p:nvPr/>
        </p:nvSpPr>
        <p:spPr>
          <a:xfrm>
            <a:off x="3138792" y="2078480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BDE67ED2-B8C2-0845-CF5F-809A9DA60839}"/>
              </a:ext>
            </a:extLst>
          </p:cNvPr>
          <p:cNvSpPr/>
          <p:nvPr/>
        </p:nvSpPr>
        <p:spPr>
          <a:xfrm>
            <a:off x="3138792" y="891696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C7C81F-B547-D668-BB74-99D67D935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A091CB8-1B3C-4AFA-C7F2-12EDEB2F1ED2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F873DD4F-E031-AA84-C079-D0CC3DAD82AF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05C4388-5011-73C6-C4AC-2D2E8EC4D666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9E586D7A-368A-A010-CEDB-E36858CA0DA1}"/>
              </a:ext>
            </a:extLst>
          </p:cNvPr>
          <p:cNvSpPr/>
          <p:nvPr/>
        </p:nvSpPr>
        <p:spPr>
          <a:xfrm rot="14554498">
            <a:off x="2468911" y="694963"/>
            <a:ext cx="784757" cy="5533948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5DACC85-DCE0-FAE2-0667-ED56178FEA3D}"/>
              </a:ext>
            </a:extLst>
          </p:cNvPr>
          <p:cNvSpPr txBox="1"/>
          <p:nvPr/>
        </p:nvSpPr>
        <p:spPr>
          <a:xfrm rot="19962522">
            <a:off x="144798" y="199302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62F4326-2858-A0F2-D8CD-CAF03AF4679C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6F372B9-0D4B-F7A1-BFEE-8637CF4BE7AB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B3D47D-CDA2-6CF8-E62F-232DEE675E5A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51ECD5AE-67B1-D975-351E-9424076C8B08}"/>
              </a:ext>
            </a:extLst>
          </p:cNvPr>
          <p:cNvSpPr/>
          <p:nvPr/>
        </p:nvSpPr>
        <p:spPr>
          <a:xfrm rot="14363153">
            <a:off x="1723820" y="1698533"/>
            <a:ext cx="496957" cy="535353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1669E1E-BDD3-B828-B14F-BE1122EC706F}"/>
              </a:ext>
            </a:extLst>
          </p:cNvPr>
          <p:cNvSpPr txBox="1"/>
          <p:nvPr/>
        </p:nvSpPr>
        <p:spPr>
          <a:xfrm rot="20023386">
            <a:off x="-359924" y="913383"/>
            <a:ext cx="4265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Unfortunately, this is </a:t>
            </a:r>
          </a:p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the </a:t>
            </a:r>
            <a:r>
              <a:rPr kumimoji="1" lang="en-US" altLang="ja-JP" sz="3200" b="1" dirty="0">
                <a:solidFill>
                  <a:schemeClr val="tx2"/>
                </a:solidFill>
              </a:rPr>
              <a:t>SRF</a:t>
            </a:r>
            <a:r>
              <a:rPr kumimoji="1" lang="en-US" altLang="ja-JP" sz="2400" dirty="0">
                <a:solidFill>
                  <a:schemeClr val="tx2"/>
                </a:solidFill>
              </a:rPr>
              <a:t> accelerator regime</a:t>
            </a:r>
            <a:endParaRPr kumimoji="1" lang="ja-JP" alt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6118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FECD-C276-5203-BC23-136B5FAD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1FA460-EF8B-062B-2A0E-CC5E8E68EE3D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9B264916-E9E6-2B2C-A25F-360F510C2DF0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3C23C5-ABDA-5118-F2B0-D98D49D870B4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607F241-5669-EF22-0036-54CBB9F6F0D5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821ACCB0-754A-AE86-68EB-A71441A3130D}"/>
              </a:ext>
            </a:extLst>
          </p:cNvPr>
          <p:cNvSpPr/>
          <p:nvPr/>
        </p:nvSpPr>
        <p:spPr>
          <a:xfrm>
            <a:off x="3138792" y="2078480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93C58244-0E37-6AD5-285B-B2361B085822}"/>
              </a:ext>
            </a:extLst>
          </p:cNvPr>
          <p:cNvSpPr/>
          <p:nvPr/>
        </p:nvSpPr>
        <p:spPr>
          <a:xfrm>
            <a:off x="3138792" y="891696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7235AE8-8F3D-1E5D-1EEC-C877C8AE0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6FB2A4E-BA09-2F6D-A7F7-B1F5E1B3C24F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A0711FD8-B183-B524-5E46-6835D2DF36AD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C7B6F7A-A5EC-61BA-C7C9-063A0C57AEFE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23F0D219-85D1-C4DD-54AB-57DFB9057558}"/>
              </a:ext>
            </a:extLst>
          </p:cNvPr>
          <p:cNvSpPr/>
          <p:nvPr/>
        </p:nvSpPr>
        <p:spPr>
          <a:xfrm rot="14554498">
            <a:off x="2468911" y="694963"/>
            <a:ext cx="784757" cy="5533948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38A47C7-61B2-0EF8-A108-C0DBB1FD29CD}"/>
              </a:ext>
            </a:extLst>
          </p:cNvPr>
          <p:cNvSpPr txBox="1"/>
          <p:nvPr/>
        </p:nvSpPr>
        <p:spPr>
          <a:xfrm rot="19962522">
            <a:off x="144798" y="199302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4B33ADE-B502-1DC5-AB97-5D53A1156187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4AA0A10-26B9-F991-BE65-B67E9D2BB071}"/>
              </a:ext>
            </a:extLst>
          </p:cNvPr>
          <p:cNvSpPr/>
          <p:nvPr/>
        </p:nvSpPr>
        <p:spPr>
          <a:xfrm>
            <a:off x="2535680" y="2817784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ysDash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 dirty="0">
              <a:solidFill>
                <a:srgbClr val="FF0066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4672D6-C4EC-1551-A389-5B5737F97CF6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3A91B9-BC9A-88D1-6871-75CD71400694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6D7966CA-56E2-0A7B-89CA-95016AD743D5}"/>
              </a:ext>
            </a:extLst>
          </p:cNvPr>
          <p:cNvSpPr/>
          <p:nvPr/>
        </p:nvSpPr>
        <p:spPr>
          <a:xfrm rot="14363153">
            <a:off x="1723820" y="1698533"/>
            <a:ext cx="496957" cy="535353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02A37B-DDA7-5C77-EEFA-99E1216C570C}"/>
              </a:ext>
            </a:extLst>
          </p:cNvPr>
          <p:cNvSpPr txBox="1"/>
          <p:nvPr/>
        </p:nvSpPr>
        <p:spPr>
          <a:xfrm rot="20023386">
            <a:off x="-359924" y="913383"/>
            <a:ext cx="4265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Unfortunately, this is </a:t>
            </a:r>
          </a:p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the </a:t>
            </a:r>
            <a:r>
              <a:rPr kumimoji="1" lang="en-US" altLang="ja-JP" sz="3200" b="1" dirty="0">
                <a:solidFill>
                  <a:schemeClr val="tx2"/>
                </a:solidFill>
              </a:rPr>
              <a:t>SRF</a:t>
            </a:r>
            <a:r>
              <a:rPr kumimoji="1" lang="en-US" altLang="ja-JP" sz="2400" dirty="0">
                <a:solidFill>
                  <a:schemeClr val="tx2"/>
                </a:solidFill>
              </a:rPr>
              <a:t> accelerator regime</a:t>
            </a:r>
            <a:endParaRPr kumimoji="1" lang="ja-JP" alt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0174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68023-7EFA-77E4-5B38-68A85CA4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0803FD-328C-747E-94FD-0B83CD5836C6}"/>
              </a:ext>
            </a:extLst>
          </p:cNvPr>
          <p:cNvSpPr txBox="1"/>
          <p:nvPr/>
        </p:nvSpPr>
        <p:spPr>
          <a:xfrm rot="19992388">
            <a:off x="4367454" y="1186795"/>
            <a:ext cx="24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Mattis-Bardeen </a:t>
            </a:r>
          </a:p>
          <a:p>
            <a:pPr algn="ctr"/>
            <a:r>
              <a:rPr kumimoji="1" lang="en-US" altLang="ja-JP" sz="2400" dirty="0">
                <a:solidFill>
                  <a:srgbClr val="92D050"/>
                </a:solidFill>
              </a:rPr>
              <a:t>Theory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AA51E54E-4E68-CE9D-51C2-C3B5206E5A9D}"/>
              </a:ext>
            </a:extLst>
          </p:cNvPr>
          <p:cNvSpPr/>
          <p:nvPr/>
        </p:nvSpPr>
        <p:spPr>
          <a:xfrm rot="14363153">
            <a:off x="5631892" y="1843325"/>
            <a:ext cx="496957" cy="535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0B359F2D-6208-91AD-8F87-0F4E0854C51C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59CD1932-A8CC-F022-8689-0BEFC8834959}"/>
              </a:ext>
            </a:extLst>
          </p:cNvPr>
          <p:cNvSpPr/>
          <p:nvPr/>
        </p:nvSpPr>
        <p:spPr>
          <a:xfrm>
            <a:off x="3138792" y="2078480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C699B908-84B7-1E97-2775-A04F62BF3AC6}"/>
              </a:ext>
            </a:extLst>
          </p:cNvPr>
          <p:cNvSpPr/>
          <p:nvPr/>
        </p:nvSpPr>
        <p:spPr>
          <a:xfrm>
            <a:off x="3138792" y="891696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80DBFE7-71A1-DFC0-655E-DA5C1A3F6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6D237DC-C676-A645-9E67-5CE68C05C172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09E698F-E483-9F6B-D397-1EE442A7AAE8}"/>
              </a:ext>
            </a:extLst>
          </p:cNvPr>
          <p:cNvSpPr txBox="1"/>
          <p:nvPr/>
        </p:nvSpPr>
        <p:spPr>
          <a:xfrm rot="19836122">
            <a:off x="264579" y="4455391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Driving force of </a:t>
            </a:r>
          </a:p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37F0DD37-AD10-47D0-C584-4F211B4E0A29}"/>
              </a:ext>
            </a:extLst>
          </p:cNvPr>
          <p:cNvSpPr/>
          <p:nvPr/>
        </p:nvSpPr>
        <p:spPr>
          <a:xfrm rot="14804118">
            <a:off x="6117709" y="2737596"/>
            <a:ext cx="434552" cy="7748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B4B6BBB-BCB6-CF1D-E166-7B5DA79FAAF3}"/>
              </a:ext>
            </a:extLst>
          </p:cNvPr>
          <p:cNvSpPr txBox="1"/>
          <p:nvPr/>
        </p:nvSpPr>
        <p:spPr>
          <a:xfrm rot="20091856">
            <a:off x="4977965" y="2255504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1EF90790-2B7C-F843-1591-F55BA0B9B44B}"/>
              </a:ext>
            </a:extLst>
          </p:cNvPr>
          <p:cNvSpPr/>
          <p:nvPr/>
        </p:nvSpPr>
        <p:spPr>
          <a:xfrm rot="14554498">
            <a:off x="2468911" y="694963"/>
            <a:ext cx="784757" cy="5533948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2028619-C091-981E-0BE9-FF6B7444B629}"/>
              </a:ext>
            </a:extLst>
          </p:cNvPr>
          <p:cNvSpPr txBox="1"/>
          <p:nvPr/>
        </p:nvSpPr>
        <p:spPr>
          <a:xfrm rot="19962522">
            <a:off x="144798" y="199302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7CDF8665-600C-A3E1-9CAF-08B5890BBAB3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FE1BBCD-0C04-A2F7-8BA8-7E1ED6B7EBE8}"/>
              </a:ext>
            </a:extLst>
          </p:cNvPr>
          <p:cNvSpPr/>
          <p:nvPr/>
        </p:nvSpPr>
        <p:spPr>
          <a:xfrm>
            <a:off x="2535680" y="2817784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ysDash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 dirty="0">
              <a:solidFill>
                <a:srgbClr val="FF0066"/>
              </a:solidFill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E6FA1C9-771E-AC41-E54A-7388B62A128C}"/>
              </a:ext>
            </a:extLst>
          </p:cNvPr>
          <p:cNvSpPr/>
          <p:nvPr/>
        </p:nvSpPr>
        <p:spPr>
          <a:xfrm>
            <a:off x="2561620" y="1715314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FE73AC-BF7A-C49C-9AEA-298275EFF8E8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4630F1-4F2A-70F1-AEC0-FBCCA9D4F7DE}"/>
              </a:ext>
            </a:extLst>
          </p:cNvPr>
          <p:cNvSpPr txBox="1"/>
          <p:nvPr/>
        </p:nvSpPr>
        <p:spPr>
          <a:xfrm>
            <a:off x="21052" y="0"/>
            <a:ext cx="3969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Under the ac field</a:t>
            </a:r>
            <a:endParaRPr kumimoji="1" lang="ja-JP" altLang="en-US" sz="3600" dirty="0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88FDBC11-3E77-0FF0-F6B1-B286974CA637}"/>
              </a:ext>
            </a:extLst>
          </p:cNvPr>
          <p:cNvSpPr/>
          <p:nvPr/>
        </p:nvSpPr>
        <p:spPr>
          <a:xfrm rot="14363153">
            <a:off x="1723820" y="1698533"/>
            <a:ext cx="496957" cy="535353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48E9A70-CBA4-CBC6-1AD3-44E2D7265950}"/>
              </a:ext>
            </a:extLst>
          </p:cNvPr>
          <p:cNvSpPr txBox="1"/>
          <p:nvPr/>
        </p:nvSpPr>
        <p:spPr>
          <a:xfrm rot="20023386">
            <a:off x="-359924" y="913383"/>
            <a:ext cx="4265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Unfortunately, this is </a:t>
            </a:r>
          </a:p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the </a:t>
            </a:r>
            <a:r>
              <a:rPr kumimoji="1" lang="en-US" altLang="ja-JP" sz="3200" b="1" dirty="0">
                <a:solidFill>
                  <a:schemeClr val="tx2"/>
                </a:solidFill>
              </a:rPr>
              <a:t>SRF</a:t>
            </a:r>
            <a:r>
              <a:rPr kumimoji="1" lang="en-US" altLang="ja-JP" sz="2400" dirty="0">
                <a:solidFill>
                  <a:schemeClr val="tx2"/>
                </a:solidFill>
              </a:rPr>
              <a:t> accelerator regime</a:t>
            </a:r>
            <a:endParaRPr kumimoji="1" lang="ja-JP" alt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889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9240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970A2-8040-B741-BD10-112B1DA0E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4239BBAF-1EA9-05E1-AE71-A5DFB35E774A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C170258-7C44-E51A-FFAF-E18EC415B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DD79D45-3333-0B20-4250-3FE10FEC2EF6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7DAE2D8-485F-1DB7-3254-23D5B75E73C6}"/>
              </a:ext>
            </a:extLst>
          </p:cNvPr>
          <p:cNvSpPr txBox="1"/>
          <p:nvPr/>
        </p:nvSpPr>
        <p:spPr>
          <a:xfrm rot="19836122">
            <a:off x="340778" y="4821032"/>
            <a:ext cx="31242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1B6C6CE9-3059-DF46-7532-7DF2D49A2746}"/>
              </a:ext>
            </a:extLst>
          </p:cNvPr>
          <p:cNvSpPr/>
          <p:nvPr/>
        </p:nvSpPr>
        <p:spPr>
          <a:xfrm rot="15160983">
            <a:off x="5421382" y="1403791"/>
            <a:ext cx="434552" cy="11344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B75BF6E-5272-CCA0-57D7-4A8807976CCE}"/>
              </a:ext>
            </a:extLst>
          </p:cNvPr>
          <p:cNvSpPr txBox="1"/>
          <p:nvPr/>
        </p:nvSpPr>
        <p:spPr>
          <a:xfrm rot="20724338">
            <a:off x="4440517" y="1048373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855B3E85-8839-64D7-6FC9-2A1F04DA073E}"/>
              </a:ext>
            </a:extLst>
          </p:cNvPr>
          <p:cNvSpPr/>
          <p:nvPr/>
        </p:nvSpPr>
        <p:spPr>
          <a:xfrm rot="15117123">
            <a:off x="2567110" y="585813"/>
            <a:ext cx="713415" cy="4398099"/>
          </a:xfrm>
          <a:prstGeom prst="rightBrace">
            <a:avLst>
              <a:gd name="adj1" fmla="val 50112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E33B6B5-6BC4-E96F-A71F-FF14530568FF}"/>
              </a:ext>
            </a:extLst>
          </p:cNvPr>
          <p:cNvSpPr txBox="1"/>
          <p:nvPr/>
        </p:nvSpPr>
        <p:spPr>
          <a:xfrm rot="20559970">
            <a:off x="615572" y="1326218"/>
            <a:ext cx="4238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response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Regime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8F110D22-3435-9BA9-BCCB-06F96671F178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3C2AD3-9AC7-0676-B1D3-8E8D9E2438F5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2644C7F0-480D-F3B7-6730-535678F3711F}"/>
              </a:ext>
            </a:extLst>
          </p:cNvPr>
          <p:cNvSpPr/>
          <p:nvPr/>
        </p:nvSpPr>
        <p:spPr>
          <a:xfrm>
            <a:off x="7572738" y="-696502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24BFC511-355F-2641-DB48-A7FF2BD78E67}"/>
              </a:ext>
            </a:extLst>
          </p:cNvPr>
          <p:cNvSpPr/>
          <p:nvPr/>
        </p:nvSpPr>
        <p:spPr>
          <a:xfrm>
            <a:off x="8833323" y="-696749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方体 11">
            <a:extLst>
              <a:ext uri="{FF2B5EF4-FFF2-40B4-BE49-F238E27FC236}">
                <a16:creationId xmlns:a16="http://schemas.microsoft.com/office/drawing/2014/main" id="{D8F18DD1-4D2A-7A72-4698-43BBB56087A3}"/>
              </a:ext>
            </a:extLst>
          </p:cNvPr>
          <p:cNvSpPr/>
          <p:nvPr/>
        </p:nvSpPr>
        <p:spPr>
          <a:xfrm>
            <a:off x="5607517" y="2946742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60E972C-E9B0-707B-AFC8-591576C2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19803" y="2558502"/>
            <a:ext cx="910275" cy="194449"/>
          </a:xfrm>
          <a:prstGeom prst="rect">
            <a:avLst/>
          </a:prstGeom>
        </p:spPr>
      </p:pic>
      <p:sp>
        <p:nvSpPr>
          <p:cNvPr id="15" name="直方体 14">
            <a:extLst>
              <a:ext uri="{FF2B5EF4-FFF2-40B4-BE49-F238E27FC236}">
                <a16:creationId xmlns:a16="http://schemas.microsoft.com/office/drawing/2014/main" id="{D0EF678A-8F2C-2933-EC95-0EA085D22B19}"/>
              </a:ext>
            </a:extLst>
          </p:cNvPr>
          <p:cNvSpPr/>
          <p:nvPr/>
        </p:nvSpPr>
        <p:spPr>
          <a:xfrm>
            <a:off x="4272977" y="3374823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AF1AC39-76B3-7A3F-B11E-99F967A80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423363" y="3024683"/>
            <a:ext cx="910275" cy="19444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79D4ED99-1B88-9154-F9F6-E662E5459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56663" y="3034208"/>
            <a:ext cx="910275" cy="194449"/>
          </a:xfrm>
          <a:prstGeom prst="rect">
            <a:avLst/>
          </a:prstGeom>
        </p:spPr>
      </p:pic>
      <p:sp>
        <p:nvSpPr>
          <p:cNvPr id="20" name="直方体 19">
            <a:extLst>
              <a:ext uri="{FF2B5EF4-FFF2-40B4-BE49-F238E27FC236}">
                <a16:creationId xmlns:a16="http://schemas.microsoft.com/office/drawing/2014/main" id="{4B92EC46-1EB7-FA09-ACFE-8C5487819B53}"/>
              </a:ext>
            </a:extLst>
          </p:cNvPr>
          <p:cNvSpPr/>
          <p:nvPr/>
        </p:nvSpPr>
        <p:spPr>
          <a:xfrm>
            <a:off x="2912155" y="3838080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469A179C-BD2C-761A-488A-97CA2D4BE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24441" y="3554615"/>
            <a:ext cx="910275" cy="19444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A747E8C6-3865-2D0E-2F24-8A45F9459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24391" y="3592715"/>
            <a:ext cx="910275" cy="19444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61E2E58D-D184-EA06-33BE-1532CC38C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34016" y="3326015"/>
            <a:ext cx="910275" cy="194449"/>
          </a:xfrm>
          <a:prstGeom prst="rect">
            <a:avLst/>
          </a:prstGeom>
        </p:spPr>
      </p:pic>
      <p:sp>
        <p:nvSpPr>
          <p:cNvPr id="24" name="直方体 23">
            <a:extLst>
              <a:ext uri="{FF2B5EF4-FFF2-40B4-BE49-F238E27FC236}">
                <a16:creationId xmlns:a16="http://schemas.microsoft.com/office/drawing/2014/main" id="{5B1772E4-37D7-6F33-0519-463FF59C15D9}"/>
              </a:ext>
            </a:extLst>
          </p:cNvPr>
          <p:cNvSpPr/>
          <p:nvPr/>
        </p:nvSpPr>
        <p:spPr>
          <a:xfrm>
            <a:off x="1510476" y="4262114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CD838DD8-C619-6BF3-36C9-C89A35473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98962" y="3873874"/>
            <a:ext cx="910275" cy="194449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EAE187E6-2DC0-86E3-ADEC-C174C320C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51312" y="3921499"/>
            <a:ext cx="910275" cy="194449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440B42C2-503C-067F-9F73-48E0D980C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27562" y="3854824"/>
            <a:ext cx="910275" cy="194449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91454CC8-FF82-649C-A794-145D1256E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22712" y="3950074"/>
            <a:ext cx="910275" cy="194449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877900B5-E5F8-45DE-D157-6DCEA6842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0538" y="2948483"/>
            <a:ext cx="910275" cy="19444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A54FE52-6140-C6C5-7D7A-30FB7CCAE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832688" y="3415208"/>
            <a:ext cx="910275" cy="19444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FA2A98D-A435-794F-521B-B33B68927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584913" y="3920033"/>
            <a:ext cx="910275" cy="1944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D7550BE-36BC-36A1-DEF0-D3C57D67E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14941" y="3516515"/>
            <a:ext cx="910275" cy="19444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6A8A5AF-E859-DFA4-4EDC-6CE78F772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19516" y="3973715"/>
            <a:ext cx="910275" cy="194449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1B99015-F2EC-E738-5FB6-FC47736D7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76616" y="3973715"/>
            <a:ext cx="910275" cy="19444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5FCE99-B7DD-2F0D-DA84-D7752479E45C}"/>
              </a:ext>
            </a:extLst>
          </p:cNvPr>
          <p:cNvSpPr txBox="1"/>
          <p:nvPr/>
        </p:nvSpPr>
        <p:spPr>
          <a:xfrm rot="20643932">
            <a:off x="214421" y="982169"/>
            <a:ext cx="4353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2"/>
                </a:solidFill>
              </a:rPr>
              <a:t>The </a:t>
            </a:r>
            <a:r>
              <a:rPr kumimoji="1" lang="en-US" altLang="ja-JP" sz="3200" b="1" dirty="0">
                <a:solidFill>
                  <a:schemeClr val="tx2"/>
                </a:solidFill>
              </a:rPr>
              <a:t>SRF</a:t>
            </a:r>
            <a:r>
              <a:rPr kumimoji="1" lang="en-US" altLang="ja-JP" sz="2400" dirty="0">
                <a:solidFill>
                  <a:schemeClr val="tx2"/>
                </a:solidFill>
              </a:rPr>
              <a:t> accelerator regime</a:t>
            </a:r>
            <a:endParaRPr kumimoji="1" lang="ja-JP" alt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9541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5C19-5518-75EF-9588-44D54B04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269CC280-35D7-A61D-AC7F-3E1469F4F2A6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A267B82-AFB3-8C1A-CEB3-3F98607D1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266AABF-9221-F35A-30BF-7B577C8B8683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3742451-52D5-9F4D-95B6-0668941CBDF7}"/>
              </a:ext>
            </a:extLst>
          </p:cNvPr>
          <p:cNvSpPr txBox="1"/>
          <p:nvPr/>
        </p:nvSpPr>
        <p:spPr>
          <a:xfrm rot="19836122">
            <a:off x="340778" y="4821032"/>
            <a:ext cx="31242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5EF24517-6B28-154C-AE20-8551C2DCD5E9}"/>
              </a:ext>
            </a:extLst>
          </p:cNvPr>
          <p:cNvSpPr/>
          <p:nvPr/>
        </p:nvSpPr>
        <p:spPr>
          <a:xfrm rot="15160983">
            <a:off x="5421382" y="1403791"/>
            <a:ext cx="434552" cy="11344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BE27B37-A4A8-49F8-426A-1B3701076FB8}"/>
              </a:ext>
            </a:extLst>
          </p:cNvPr>
          <p:cNvSpPr txBox="1"/>
          <p:nvPr/>
        </p:nvSpPr>
        <p:spPr>
          <a:xfrm rot="20724338">
            <a:off x="4440517" y="1048373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BC10EEE3-06DB-B10C-46A8-794B5ECCDCA8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ABD7C0-A8D2-3053-4A6F-2E6252D658E8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1F14CA87-F1EE-4B08-A584-F3AD6776D335}"/>
              </a:ext>
            </a:extLst>
          </p:cNvPr>
          <p:cNvSpPr/>
          <p:nvPr/>
        </p:nvSpPr>
        <p:spPr>
          <a:xfrm>
            <a:off x="7572738" y="-696502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4CC116A9-4D36-AFD1-C0DF-DA9523E58C5B}"/>
              </a:ext>
            </a:extLst>
          </p:cNvPr>
          <p:cNvSpPr/>
          <p:nvPr/>
        </p:nvSpPr>
        <p:spPr>
          <a:xfrm>
            <a:off x="8833323" y="-696749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方体 11">
            <a:extLst>
              <a:ext uri="{FF2B5EF4-FFF2-40B4-BE49-F238E27FC236}">
                <a16:creationId xmlns:a16="http://schemas.microsoft.com/office/drawing/2014/main" id="{870FB9B9-230D-8722-00E7-ECDBBF966799}"/>
              </a:ext>
            </a:extLst>
          </p:cNvPr>
          <p:cNvSpPr/>
          <p:nvPr/>
        </p:nvSpPr>
        <p:spPr>
          <a:xfrm>
            <a:off x="5607517" y="2946742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709E00BE-C727-DE3E-B708-CB7CDDFF6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19803" y="2558502"/>
            <a:ext cx="910275" cy="19444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390164-5030-4D5C-C5E4-D8AD8F839E86}"/>
              </a:ext>
            </a:extLst>
          </p:cNvPr>
          <p:cNvSpPr txBox="1"/>
          <p:nvPr/>
        </p:nvSpPr>
        <p:spPr>
          <a:xfrm>
            <a:off x="0" y="0"/>
            <a:ext cx="47068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Let us start from </a:t>
            </a:r>
          </a:p>
          <a:p>
            <a:r>
              <a:rPr kumimoji="1" lang="en-US" altLang="ja-JP" sz="4000" dirty="0"/>
              <a:t>the linear response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830478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B7983495-82EB-3188-42A5-99F0802696A8}"/>
                  </a:ext>
                </a:extLst>
              </p:cNvPr>
              <p:cNvSpPr txBox="1"/>
              <p:nvPr/>
            </p:nvSpPr>
            <p:spPr>
              <a:xfrm>
                <a:off x="1" y="0"/>
                <a:ext cx="121920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dirty="0"/>
                  <a:t>Start from the </a:t>
                </a:r>
                <a:r>
                  <a:rPr kumimoji="1" lang="en-US" altLang="ja-JP" sz="2800" dirty="0" err="1"/>
                  <a:t>Keldysh</a:t>
                </a:r>
                <a:r>
                  <a:rPr kumimoji="1" lang="en-US" altLang="ja-JP" sz="2800" dirty="0"/>
                  <a:t>-Eilenberger equations (a set of equations for Green‘s functions and pair potential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B7983495-82EB-3188-42A5-99F080269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0"/>
                <a:ext cx="12192000" cy="954107"/>
              </a:xfrm>
              <a:prstGeom prst="rect">
                <a:avLst/>
              </a:prstGeom>
              <a:blipFill>
                <a:blip r:embed="rId2"/>
                <a:stretch>
                  <a:fillRect l="-1000" t="-7006" b="-15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CB8AFE8-67D2-6EC7-52A4-7B1AF8A7AEFC}"/>
              </a:ext>
            </a:extLst>
          </p:cNvPr>
          <p:cNvSpPr txBox="1"/>
          <p:nvPr/>
        </p:nvSpPr>
        <p:spPr>
          <a:xfrm>
            <a:off x="6487687" y="447869"/>
            <a:ext cx="56945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400" dirty="0">
                <a:solidFill>
                  <a:schemeClr val="tx2"/>
                </a:solidFill>
              </a:rPr>
              <a:t>D. Rainer and J. A. Sauls, </a:t>
            </a:r>
          </a:p>
          <a:p>
            <a:r>
              <a:rPr kumimoji="1" lang="en-US" altLang="ja-JP" sz="1400" dirty="0">
                <a:solidFill>
                  <a:schemeClr val="tx2"/>
                </a:solidFill>
              </a:rPr>
              <a:t>Strong coupling theory of superconductivity, in Superconductivity: From Basic Physics to the Latest Developments, edited by P. N. Butcher and Y. Lu (World </a:t>
            </a:r>
            <a:r>
              <a:rPr kumimoji="1" lang="en-US" altLang="ja-JP" sz="1400" dirty="0" err="1">
                <a:solidFill>
                  <a:schemeClr val="tx2"/>
                </a:solidFill>
              </a:rPr>
              <a:t>Scientic</a:t>
            </a:r>
            <a:r>
              <a:rPr kumimoji="1" lang="en-US" altLang="ja-JP" sz="1400" dirty="0">
                <a:solidFill>
                  <a:schemeClr val="tx2"/>
                </a:solidFill>
              </a:rPr>
              <a:t>, Singapore, 1995), p. 45.</a:t>
            </a:r>
            <a:endParaRPr kumimoji="1" lang="ja-JP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9192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68D5-39F5-7142-9EDB-BF1B7FF6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C1A5E7F-46B5-9C80-0EDE-E06F21850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683" y="2841357"/>
            <a:ext cx="1167363" cy="2092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D89F5C5-CF18-5E8E-F4DD-A52A1C8B505F}"/>
                  </a:ext>
                </a:extLst>
              </p:cNvPr>
              <p:cNvSpPr txBox="1"/>
              <p:nvPr/>
            </p:nvSpPr>
            <p:spPr>
              <a:xfrm>
                <a:off x="6441020" y="2984062"/>
                <a:ext cx="6936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D89F5C5-CF18-5E8E-F4DD-A52A1C8B5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20" y="2984062"/>
                <a:ext cx="6936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楕円 6">
            <a:extLst>
              <a:ext uri="{FF2B5EF4-FFF2-40B4-BE49-F238E27FC236}">
                <a16:creationId xmlns:a16="http://schemas.microsoft.com/office/drawing/2014/main" id="{A856E855-5238-DF1B-13AF-845B1266B2B9}"/>
              </a:ext>
            </a:extLst>
          </p:cNvPr>
          <p:cNvSpPr>
            <a:spLocks noChangeAspect="1"/>
          </p:cNvSpPr>
          <p:nvPr/>
        </p:nvSpPr>
        <p:spPr>
          <a:xfrm>
            <a:off x="7408950" y="2689764"/>
            <a:ext cx="517263" cy="517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F1C35D2-11C0-A25D-0E3A-DF324274ACDE}"/>
              </a:ext>
            </a:extLst>
          </p:cNvPr>
          <p:cNvSpPr/>
          <p:nvPr/>
        </p:nvSpPr>
        <p:spPr>
          <a:xfrm>
            <a:off x="6487687" y="2352023"/>
            <a:ext cx="1643298" cy="1264078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20B925F-C629-4C3C-CEF5-610265BC26A3}"/>
                  </a:ext>
                </a:extLst>
              </p:cNvPr>
              <p:cNvSpPr txBox="1"/>
              <p:nvPr/>
            </p:nvSpPr>
            <p:spPr>
              <a:xfrm>
                <a:off x="3867748" y="2653029"/>
                <a:ext cx="256070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●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20B925F-C629-4C3C-CEF5-610265BC2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748" y="2653029"/>
                <a:ext cx="2560701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矢印: 下 9">
            <a:extLst>
              <a:ext uri="{FF2B5EF4-FFF2-40B4-BE49-F238E27FC236}">
                <a16:creationId xmlns:a16="http://schemas.microsoft.com/office/drawing/2014/main" id="{A76D186B-06F7-63C4-2577-917CFB55AB8C}"/>
              </a:ext>
            </a:extLst>
          </p:cNvPr>
          <p:cNvSpPr/>
          <p:nvPr/>
        </p:nvSpPr>
        <p:spPr>
          <a:xfrm>
            <a:off x="5311301" y="913363"/>
            <a:ext cx="1050587" cy="8073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7DE46A-7359-9B22-4DE9-75D8E957150E}"/>
              </a:ext>
            </a:extLst>
          </p:cNvPr>
          <p:cNvSpPr txBox="1"/>
          <p:nvPr/>
        </p:nvSpPr>
        <p:spPr>
          <a:xfrm>
            <a:off x="6487687" y="447869"/>
            <a:ext cx="56945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400" dirty="0">
                <a:solidFill>
                  <a:schemeClr val="tx2"/>
                </a:solidFill>
              </a:rPr>
              <a:t>D. Rainer and J. A. Sauls, </a:t>
            </a:r>
          </a:p>
          <a:p>
            <a:r>
              <a:rPr kumimoji="1" lang="en-US" altLang="ja-JP" sz="1400" dirty="0">
                <a:solidFill>
                  <a:schemeClr val="tx2"/>
                </a:solidFill>
              </a:rPr>
              <a:t>Strong coupling theory of superconductivity, in Superconductivity: From Basic Physics to the Latest Developments, edited by P. N. Butcher and Y. Lu (World </a:t>
            </a:r>
            <a:r>
              <a:rPr kumimoji="1" lang="en-US" altLang="ja-JP" sz="1400" dirty="0" err="1">
                <a:solidFill>
                  <a:schemeClr val="tx2"/>
                </a:solidFill>
              </a:rPr>
              <a:t>Scientic</a:t>
            </a:r>
            <a:r>
              <a:rPr kumimoji="1" lang="en-US" altLang="ja-JP" sz="1400" dirty="0">
                <a:solidFill>
                  <a:schemeClr val="tx2"/>
                </a:solidFill>
              </a:rPr>
              <a:t>, Singapore, 1995), p. 45.</a:t>
            </a:r>
            <a:endParaRPr kumimoji="1" lang="ja-JP" altLang="en-US" sz="14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6DA1233-FD6E-173F-EBD6-8225B0A91AE1}"/>
                  </a:ext>
                </a:extLst>
              </p:cNvPr>
              <p:cNvSpPr txBox="1"/>
              <p:nvPr/>
            </p:nvSpPr>
            <p:spPr>
              <a:xfrm>
                <a:off x="1" y="0"/>
                <a:ext cx="121920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dirty="0"/>
                  <a:t>Start from the </a:t>
                </a:r>
                <a:r>
                  <a:rPr kumimoji="1" lang="en-US" altLang="ja-JP" sz="2800" dirty="0" err="1"/>
                  <a:t>Keldysh</a:t>
                </a:r>
                <a:r>
                  <a:rPr kumimoji="1" lang="en-US" altLang="ja-JP" sz="2800" dirty="0"/>
                  <a:t>-Eilenberger equations (a set of equations for Green‘s functions and pair potential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6DA1233-FD6E-173F-EBD6-8225B0A91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0"/>
                <a:ext cx="12192000" cy="954107"/>
              </a:xfrm>
              <a:prstGeom prst="rect">
                <a:avLst/>
              </a:prstGeom>
              <a:blipFill>
                <a:blip r:embed="rId6"/>
                <a:stretch>
                  <a:fillRect l="-1000" t="-7006" b="-15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F5C7153-7C37-6DC8-DCE8-C5AE4359310F}"/>
              </a:ext>
            </a:extLst>
          </p:cNvPr>
          <p:cNvSpPr txBox="1"/>
          <p:nvPr/>
        </p:nvSpPr>
        <p:spPr>
          <a:xfrm>
            <a:off x="1" y="1750981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We apply a small ac electromagnetic field and calculate the first-order perturbation to the current.</a:t>
            </a:r>
            <a:endParaRPr kumimoji="1" lang="ja-JP" altLang="en-US" sz="2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0288507-F2A9-2BA8-0922-D8EAEED3CB69}"/>
              </a:ext>
            </a:extLst>
          </p:cNvPr>
          <p:cNvSpPr txBox="1"/>
          <p:nvPr/>
        </p:nvSpPr>
        <p:spPr>
          <a:xfrm>
            <a:off x="7395213" y="2712049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Some </a:t>
            </a:r>
          </a:p>
          <a:p>
            <a:r>
              <a:rPr kumimoji="1" lang="en-US" altLang="ja-JP" sz="1200" dirty="0">
                <a:solidFill>
                  <a:schemeClr val="bg1"/>
                </a:solidFill>
              </a:rPr>
              <a:t>factor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82346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9A8E-B7F5-7649-B7FA-C11AD810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28BBAD-C861-DFF0-BF3E-4FC1F784D242}"/>
              </a:ext>
            </a:extLst>
          </p:cNvPr>
          <p:cNvSpPr txBox="1"/>
          <p:nvPr/>
        </p:nvSpPr>
        <p:spPr>
          <a:xfrm>
            <a:off x="1" y="1750981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We apply a small ac electromagnetic field and calculate the first-order perturbation to the current.</a:t>
            </a:r>
            <a:endParaRPr kumimoji="1" lang="ja-JP" altLang="en-US" sz="28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45B451B-7AB6-120A-9F69-A0CBF5347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683" y="2841357"/>
            <a:ext cx="1167363" cy="2092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F42DA21-C78B-2343-E9FF-95C5991C4473}"/>
                  </a:ext>
                </a:extLst>
              </p:cNvPr>
              <p:cNvSpPr txBox="1"/>
              <p:nvPr/>
            </p:nvSpPr>
            <p:spPr>
              <a:xfrm>
                <a:off x="6441020" y="2984062"/>
                <a:ext cx="6936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F42DA21-C78B-2343-E9FF-95C5991C4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20" y="2984062"/>
                <a:ext cx="6936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楕円 6">
            <a:extLst>
              <a:ext uri="{FF2B5EF4-FFF2-40B4-BE49-F238E27FC236}">
                <a16:creationId xmlns:a16="http://schemas.microsoft.com/office/drawing/2014/main" id="{E5C9977C-B16A-D171-DD41-79C347A7CBC2}"/>
              </a:ext>
            </a:extLst>
          </p:cNvPr>
          <p:cNvSpPr>
            <a:spLocks noChangeAspect="1"/>
          </p:cNvSpPr>
          <p:nvPr/>
        </p:nvSpPr>
        <p:spPr>
          <a:xfrm>
            <a:off x="7408950" y="2689764"/>
            <a:ext cx="517263" cy="517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5C0E61-108B-4C2E-50EC-A5C8A0AAC3D2}"/>
              </a:ext>
            </a:extLst>
          </p:cNvPr>
          <p:cNvSpPr/>
          <p:nvPr/>
        </p:nvSpPr>
        <p:spPr>
          <a:xfrm>
            <a:off x="6487687" y="2352023"/>
            <a:ext cx="1643298" cy="1264078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933543FF-2BD8-C197-9525-DC53455D7A7E}"/>
                  </a:ext>
                </a:extLst>
              </p:cNvPr>
              <p:cNvSpPr txBox="1"/>
              <p:nvPr/>
            </p:nvSpPr>
            <p:spPr>
              <a:xfrm>
                <a:off x="3867748" y="2653029"/>
                <a:ext cx="256070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●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933543FF-2BD8-C197-9525-DC53455D7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748" y="2653029"/>
                <a:ext cx="2560701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矢印: 下 9">
            <a:extLst>
              <a:ext uri="{FF2B5EF4-FFF2-40B4-BE49-F238E27FC236}">
                <a16:creationId xmlns:a16="http://schemas.microsoft.com/office/drawing/2014/main" id="{109AEF58-B195-E5DD-87D0-AB7F6E02D008}"/>
              </a:ext>
            </a:extLst>
          </p:cNvPr>
          <p:cNvSpPr/>
          <p:nvPr/>
        </p:nvSpPr>
        <p:spPr>
          <a:xfrm>
            <a:off x="5311301" y="913363"/>
            <a:ext cx="1050587" cy="8073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BF795415-8196-7C65-AA57-7E2E3C015004}"/>
              </a:ext>
            </a:extLst>
          </p:cNvPr>
          <p:cNvSpPr/>
          <p:nvPr/>
        </p:nvSpPr>
        <p:spPr>
          <a:xfrm>
            <a:off x="5311300" y="3594953"/>
            <a:ext cx="1050587" cy="8073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11BD36-8861-70F5-89A5-3666E600AEF5}"/>
                  </a:ext>
                </a:extLst>
              </p:cNvPr>
              <p:cNvSpPr txBox="1"/>
              <p:nvPr/>
            </p:nvSpPr>
            <p:spPr>
              <a:xfrm>
                <a:off x="557457" y="5224332"/>
                <a:ext cx="10816260" cy="1355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∼</m:t>
                      </m:r>
                      <m:f>
                        <m:fPr>
                          <m:ctrlP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                 </m:t>
                          </m:r>
                        </m:num>
                        <m:den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ja-JP" altLang="en-US" sz="44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11BD36-8861-70F5-89A5-3666E600A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57" y="5224332"/>
                <a:ext cx="10816260" cy="13555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8AC3FE-DFB4-9DAC-5F9C-D5E6801D1875}"/>
              </a:ext>
            </a:extLst>
          </p:cNvPr>
          <p:cNvSpPr txBox="1"/>
          <p:nvPr/>
        </p:nvSpPr>
        <p:spPr>
          <a:xfrm>
            <a:off x="14002" y="4194319"/>
            <a:ext cx="62188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Then, </a:t>
            </a:r>
          </a:p>
          <a:p>
            <a:r>
              <a:rPr kumimoji="1" lang="en-US" altLang="ja-JP" sz="2800" dirty="0"/>
              <a:t>the complex conductivity is given by</a:t>
            </a:r>
            <a:endParaRPr kumimoji="1" lang="ja-JP" altLang="en-US" sz="28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8D4171E-7F0E-355A-1ECD-1D62DF32B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911" y="5072102"/>
            <a:ext cx="1167363" cy="2092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B00DEC9-C7E2-6AB6-550A-3427E9A01D0F}"/>
                  </a:ext>
                </a:extLst>
              </p:cNvPr>
              <p:cNvSpPr txBox="1"/>
              <p:nvPr/>
            </p:nvSpPr>
            <p:spPr>
              <a:xfrm>
                <a:off x="6236248" y="5214807"/>
                <a:ext cx="6936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B00DEC9-C7E2-6AB6-550A-3427E9A01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248" y="5214807"/>
                <a:ext cx="6936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楕円 15">
            <a:extLst>
              <a:ext uri="{FF2B5EF4-FFF2-40B4-BE49-F238E27FC236}">
                <a16:creationId xmlns:a16="http://schemas.microsoft.com/office/drawing/2014/main" id="{FEE735E1-04EC-02BB-AC82-D97FC344FBAA}"/>
              </a:ext>
            </a:extLst>
          </p:cNvPr>
          <p:cNvSpPr>
            <a:spLocks noChangeAspect="1"/>
          </p:cNvSpPr>
          <p:nvPr/>
        </p:nvSpPr>
        <p:spPr>
          <a:xfrm>
            <a:off x="7204178" y="4920509"/>
            <a:ext cx="517263" cy="517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0E1A8F1-1C2E-2927-C8C1-2F7C0A44E6C3}"/>
              </a:ext>
            </a:extLst>
          </p:cNvPr>
          <p:cNvSpPr/>
          <p:nvPr/>
        </p:nvSpPr>
        <p:spPr>
          <a:xfrm>
            <a:off x="6282915" y="4582768"/>
            <a:ext cx="1643298" cy="1264078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21484F-D5EA-ACA2-D104-F7CA7AE816E0}"/>
              </a:ext>
            </a:extLst>
          </p:cNvPr>
          <p:cNvSpPr txBox="1"/>
          <p:nvPr/>
        </p:nvSpPr>
        <p:spPr>
          <a:xfrm>
            <a:off x="6487687" y="447869"/>
            <a:ext cx="56945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400" dirty="0">
                <a:solidFill>
                  <a:schemeClr val="tx2"/>
                </a:solidFill>
              </a:rPr>
              <a:t>D. Rainer and J. A. Sauls, </a:t>
            </a:r>
          </a:p>
          <a:p>
            <a:r>
              <a:rPr kumimoji="1" lang="en-US" altLang="ja-JP" sz="1400" dirty="0">
                <a:solidFill>
                  <a:schemeClr val="tx2"/>
                </a:solidFill>
              </a:rPr>
              <a:t>Strong coupling theory of superconductivity, in Superconductivity: From Basic Physics to the Latest Developments, edited by P. N. Butcher and Y. Lu (World </a:t>
            </a:r>
            <a:r>
              <a:rPr kumimoji="1" lang="en-US" altLang="ja-JP" sz="1400" dirty="0" err="1">
                <a:solidFill>
                  <a:schemeClr val="tx2"/>
                </a:solidFill>
              </a:rPr>
              <a:t>Scientic</a:t>
            </a:r>
            <a:r>
              <a:rPr kumimoji="1" lang="en-US" altLang="ja-JP" sz="1400" dirty="0">
                <a:solidFill>
                  <a:schemeClr val="tx2"/>
                </a:solidFill>
              </a:rPr>
              <a:t>, Singapore, 1995), p. 45.</a:t>
            </a:r>
            <a:endParaRPr kumimoji="1" lang="ja-JP" altLang="en-US" sz="14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8D494B98-7E72-FF6B-B2F1-A0BFAAC047F9}"/>
                  </a:ext>
                </a:extLst>
              </p:cNvPr>
              <p:cNvSpPr txBox="1"/>
              <p:nvPr/>
            </p:nvSpPr>
            <p:spPr>
              <a:xfrm>
                <a:off x="1" y="0"/>
                <a:ext cx="121920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dirty="0"/>
                  <a:t>Start from the </a:t>
                </a:r>
                <a:r>
                  <a:rPr kumimoji="1" lang="en-US" altLang="ja-JP" sz="2800" dirty="0" err="1"/>
                  <a:t>Keldysh</a:t>
                </a:r>
                <a:r>
                  <a:rPr kumimoji="1" lang="en-US" altLang="ja-JP" sz="2800" dirty="0"/>
                  <a:t>-Eilenberger equations (a set of equations for Green‘s functions and pair potential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8D494B98-7E72-FF6B-B2F1-A0BFAAC04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0"/>
                <a:ext cx="12192000" cy="954107"/>
              </a:xfrm>
              <a:prstGeom prst="rect">
                <a:avLst/>
              </a:prstGeom>
              <a:blipFill>
                <a:blip r:embed="rId8"/>
                <a:stretch>
                  <a:fillRect l="-1000" t="-7006" b="-15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F15884F-CB0C-900B-078A-7636FB4C55CA}"/>
              </a:ext>
            </a:extLst>
          </p:cNvPr>
          <p:cNvSpPr txBox="1"/>
          <p:nvPr/>
        </p:nvSpPr>
        <p:spPr>
          <a:xfrm>
            <a:off x="7395213" y="2712049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Some </a:t>
            </a:r>
          </a:p>
          <a:p>
            <a:r>
              <a:rPr kumimoji="1" lang="en-US" altLang="ja-JP" sz="1200" dirty="0">
                <a:solidFill>
                  <a:schemeClr val="bg1"/>
                </a:solidFill>
              </a:rPr>
              <a:t>factor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6FDB216-9341-7898-CD44-A6B7D965EC41}"/>
              </a:ext>
            </a:extLst>
          </p:cNvPr>
          <p:cNvSpPr txBox="1"/>
          <p:nvPr/>
        </p:nvSpPr>
        <p:spPr>
          <a:xfrm>
            <a:off x="7166613" y="4950424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Some </a:t>
            </a:r>
          </a:p>
          <a:p>
            <a:r>
              <a:rPr kumimoji="1" lang="en-US" altLang="ja-JP" sz="1200" dirty="0">
                <a:solidFill>
                  <a:schemeClr val="bg1"/>
                </a:solidFill>
              </a:rPr>
              <a:t>factor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8975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82832-5EAD-F6F9-55A6-185F7C11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767F0C-C9DF-E4DC-F3E1-F8BD832B765C}"/>
              </a:ext>
            </a:extLst>
          </p:cNvPr>
          <p:cNvSpPr txBox="1"/>
          <p:nvPr/>
        </p:nvSpPr>
        <p:spPr>
          <a:xfrm>
            <a:off x="252920" y="2785494"/>
            <a:ext cx="116440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2"/>
                </a:solidFill>
              </a:rPr>
              <a:t>W. Zimmermann, E. Brandt, M. Bauer, E. Seider, and L. Genzel, Optical conductivity of BCS superconductors with arbitrary purity, Physica C 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183</a:t>
            </a:r>
            <a:r>
              <a:rPr kumimoji="1" lang="en-US" altLang="ja-JP" sz="1200" dirty="0">
                <a:solidFill>
                  <a:schemeClr val="tx2"/>
                </a:solidFill>
              </a:rPr>
              <a:t>, 99 (1991).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2"/>
                </a:solidFill>
              </a:rPr>
              <a:t>D. Rainer and J. A. Sauls, Strong coupling theory of superconductivity, in Superconductivity: From Basic Physics to the Latest Developments, edited by P. N. Butcher and Y. Lu (World </a:t>
            </a:r>
            <a:r>
              <a:rPr kumimoji="1" lang="en-US" altLang="ja-JP" sz="1200" dirty="0" err="1">
                <a:solidFill>
                  <a:schemeClr val="tx2"/>
                </a:solidFill>
              </a:rPr>
              <a:t>Scientic</a:t>
            </a:r>
            <a:r>
              <a:rPr kumimoji="1" lang="en-US" altLang="ja-JP" sz="1200" dirty="0">
                <a:solidFill>
                  <a:schemeClr val="tx2"/>
                </a:solidFill>
              </a:rPr>
              <a:t>, Singapore, 1995), p. 45.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2"/>
                </a:solidFill>
              </a:rPr>
              <a:t>T. Kubo, Effects of Nonmagnetic Impurities and </a:t>
            </a:r>
            <a:r>
              <a:rPr kumimoji="1" lang="en-US" altLang="ja-JP" sz="1200" dirty="0" err="1">
                <a:solidFill>
                  <a:schemeClr val="tx2"/>
                </a:solidFill>
              </a:rPr>
              <a:t>Subgap</a:t>
            </a:r>
            <a:r>
              <a:rPr kumimoji="1" lang="en-US" altLang="ja-JP" sz="1200" dirty="0">
                <a:solidFill>
                  <a:schemeClr val="tx2"/>
                </a:solidFill>
              </a:rPr>
              <a:t> States on the Kinetic Inductance, Complex Conductivity, Quality Factor, and </a:t>
            </a:r>
            <a:r>
              <a:rPr kumimoji="1" lang="en-US" altLang="ja-JP" sz="1200" dirty="0" err="1">
                <a:solidFill>
                  <a:schemeClr val="tx2"/>
                </a:solidFill>
              </a:rPr>
              <a:t>Depairing</a:t>
            </a:r>
            <a:r>
              <a:rPr kumimoji="1" lang="en-US" altLang="ja-JP" sz="1200" dirty="0">
                <a:solidFill>
                  <a:schemeClr val="tx2"/>
                </a:solidFill>
              </a:rPr>
              <a:t> Current Density, Physical Review Applied 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17</a:t>
            </a:r>
            <a:r>
              <a:rPr kumimoji="1" lang="en-US" altLang="ja-JP" sz="1200" dirty="0">
                <a:solidFill>
                  <a:schemeClr val="tx2"/>
                </a:solidFill>
              </a:rPr>
              <a:t>, 014018 (2022)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02E285D-9E87-B599-3E80-3E0D1681C8C3}"/>
                  </a:ext>
                </a:extLst>
              </p:cNvPr>
              <p:cNvSpPr txBox="1"/>
              <p:nvPr/>
            </p:nvSpPr>
            <p:spPr>
              <a:xfrm>
                <a:off x="0" y="17723"/>
                <a:ext cx="12192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/>
                  <a:t>Complex conductivity formula for arbitrary MFP</a:t>
                </a:r>
                <a:r>
                  <a:rPr kumimoji="1" lang="en-US" altLang="ja-JP" sz="2400" dirty="0"/>
                  <a:t> (for</a:t>
                </a:r>
                <a:r>
                  <a:rPr kumimoji="1"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≫</m:t>
                    </m:r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kumimoji="1" lang="en-US" altLang="ja-JP" sz="2400" dirty="0"/>
                  <a:t>)</a:t>
                </a:r>
                <a:endParaRPr kumimoji="1" lang="ja-JP" altLang="en-US" sz="32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02E285D-9E87-B599-3E80-3E0D1681C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723"/>
                <a:ext cx="12192000" cy="584775"/>
              </a:xfrm>
              <a:prstGeom prst="rect">
                <a:avLst/>
              </a:prstGeom>
              <a:blipFill>
                <a:blip r:embed="rId2"/>
                <a:stretch>
                  <a:fillRect l="-1250" t="-14583" b="-322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図 21">
            <a:extLst>
              <a:ext uri="{FF2B5EF4-FFF2-40B4-BE49-F238E27FC236}">
                <a16:creationId xmlns:a16="http://schemas.microsoft.com/office/drawing/2014/main" id="{698CB274-99EB-3E09-52E3-3BD8DD5950A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1458" y="829272"/>
            <a:ext cx="4797284" cy="1375104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E25097C2-493C-A5FD-6276-C4A508AAA2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88784" y="708768"/>
            <a:ext cx="4229364" cy="1995957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248B052-8982-9100-BA63-5A32DA186FD4}"/>
              </a:ext>
            </a:extLst>
          </p:cNvPr>
          <p:cNvSpPr/>
          <p:nvPr/>
        </p:nvSpPr>
        <p:spPr>
          <a:xfrm>
            <a:off x="1389053" y="612226"/>
            <a:ext cx="4416647" cy="2182996"/>
          </a:xfrm>
          <a:prstGeom prst="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12580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0E21-45AC-3816-E111-AE7DFFD2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3B75C4-76E5-7C3F-CD4E-E8F72EE59F45}"/>
              </a:ext>
            </a:extLst>
          </p:cNvPr>
          <p:cNvSpPr txBox="1"/>
          <p:nvPr/>
        </p:nvSpPr>
        <p:spPr>
          <a:xfrm>
            <a:off x="252920" y="2785494"/>
            <a:ext cx="116440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2"/>
                </a:solidFill>
              </a:rPr>
              <a:t>W. Zimmermann, E. Brandt, M. Bauer, E. Seider, and L. Genzel, Optical conductivity of BCS superconductors with arbitrary purity, Physica C 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183</a:t>
            </a:r>
            <a:r>
              <a:rPr kumimoji="1" lang="en-US" altLang="ja-JP" sz="1200" dirty="0">
                <a:solidFill>
                  <a:schemeClr val="tx2"/>
                </a:solidFill>
              </a:rPr>
              <a:t>, 99 (1991).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2"/>
                </a:solidFill>
              </a:rPr>
              <a:t>D. Rainer and J. A. Sauls, Strong coupling theory of superconductivity, in Superconductivity: From Basic Physics to the Latest Developments, edited by P. N. Butcher and Y. Lu (World </a:t>
            </a:r>
            <a:r>
              <a:rPr kumimoji="1" lang="en-US" altLang="ja-JP" sz="1200" dirty="0" err="1">
                <a:solidFill>
                  <a:schemeClr val="tx2"/>
                </a:solidFill>
              </a:rPr>
              <a:t>Scientic</a:t>
            </a:r>
            <a:r>
              <a:rPr kumimoji="1" lang="en-US" altLang="ja-JP" sz="1200" dirty="0">
                <a:solidFill>
                  <a:schemeClr val="tx2"/>
                </a:solidFill>
              </a:rPr>
              <a:t>, Singapore, 1995), p. 45.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2"/>
                </a:solidFill>
              </a:rPr>
              <a:t>T. Kubo, Effects of Nonmagnetic Impurities and </a:t>
            </a:r>
            <a:r>
              <a:rPr kumimoji="1" lang="en-US" altLang="ja-JP" sz="1200" dirty="0" err="1">
                <a:solidFill>
                  <a:schemeClr val="tx2"/>
                </a:solidFill>
              </a:rPr>
              <a:t>Subgap</a:t>
            </a:r>
            <a:r>
              <a:rPr kumimoji="1" lang="en-US" altLang="ja-JP" sz="1200" dirty="0">
                <a:solidFill>
                  <a:schemeClr val="tx2"/>
                </a:solidFill>
              </a:rPr>
              <a:t> States on the Kinetic Inductance, Complex Conductivity, Quality Factor, and </a:t>
            </a:r>
            <a:r>
              <a:rPr kumimoji="1" lang="en-US" altLang="ja-JP" sz="1200" dirty="0" err="1">
                <a:solidFill>
                  <a:schemeClr val="tx2"/>
                </a:solidFill>
              </a:rPr>
              <a:t>Depairing</a:t>
            </a:r>
            <a:r>
              <a:rPr kumimoji="1" lang="en-US" altLang="ja-JP" sz="1200" dirty="0">
                <a:solidFill>
                  <a:schemeClr val="tx2"/>
                </a:solidFill>
              </a:rPr>
              <a:t> Current Density, Physical Review Applied </a:t>
            </a:r>
            <a:r>
              <a:rPr kumimoji="1" lang="en-US" altLang="ja-JP" sz="1200" b="1" dirty="0">
                <a:solidFill>
                  <a:schemeClr val="tx2"/>
                </a:solidFill>
              </a:rPr>
              <a:t>17</a:t>
            </a:r>
            <a:r>
              <a:rPr kumimoji="1" lang="en-US" altLang="ja-JP" sz="1200" dirty="0">
                <a:solidFill>
                  <a:schemeClr val="tx2"/>
                </a:solidFill>
              </a:rPr>
              <a:t>, 014018 (2022)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C060C1F-7D82-F9AD-B3F6-B42C15361971}"/>
                  </a:ext>
                </a:extLst>
              </p:cNvPr>
              <p:cNvSpPr txBox="1"/>
              <p:nvPr/>
            </p:nvSpPr>
            <p:spPr>
              <a:xfrm>
                <a:off x="0" y="17723"/>
                <a:ext cx="121920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/>
                  <a:t>Complex conductivity formula for arbitrary MFP</a:t>
                </a:r>
                <a:r>
                  <a:rPr kumimoji="1" lang="en-US" altLang="ja-JP" sz="2400" dirty="0"/>
                  <a:t> (for</a:t>
                </a:r>
                <a:r>
                  <a:rPr kumimoji="1"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kumimoji="1" lang="en-US" altLang="ja-JP" sz="2400" dirty="0"/>
                  <a:t>)</a:t>
                </a:r>
                <a:endParaRPr kumimoji="1" lang="ja-JP" altLang="en-US" sz="32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C060C1F-7D82-F9AD-B3F6-B42C15361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723"/>
                <a:ext cx="12192000" cy="584775"/>
              </a:xfrm>
              <a:prstGeom prst="rect">
                <a:avLst/>
              </a:prstGeom>
              <a:blipFill>
                <a:blip r:embed="rId2"/>
                <a:stretch>
                  <a:fillRect l="-1250" t="-14583" b="-322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矢印: 下 12">
            <a:extLst>
              <a:ext uri="{FF2B5EF4-FFF2-40B4-BE49-F238E27FC236}">
                <a16:creationId xmlns:a16="http://schemas.microsoft.com/office/drawing/2014/main" id="{B182F09B-8E8B-12A7-8E09-7E458F6AA7EC}"/>
              </a:ext>
            </a:extLst>
          </p:cNvPr>
          <p:cNvSpPr/>
          <p:nvPr/>
        </p:nvSpPr>
        <p:spPr>
          <a:xfrm>
            <a:off x="5045413" y="3832710"/>
            <a:ext cx="1050587" cy="807396"/>
          </a:xfrm>
          <a:prstGeom prst="downArrow">
            <a:avLst/>
          </a:prstGeom>
          <a:solidFill>
            <a:srgbClr val="FF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9AE608B0-04CD-255F-9CCA-0638EA5004DC}"/>
                  </a:ext>
                </a:extLst>
              </p:cNvPr>
              <p:cNvSpPr txBox="1"/>
              <p:nvPr/>
            </p:nvSpPr>
            <p:spPr>
              <a:xfrm>
                <a:off x="2467118" y="3861082"/>
                <a:ext cx="234102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000" b="1" dirty="0">
                    <a:solidFill>
                      <a:srgbClr val="FF0066"/>
                    </a:solidFill>
                  </a:rPr>
                  <a:t>In the dirty limit </a:t>
                </a:r>
              </a:p>
              <a:p>
                <a:r>
                  <a:rPr kumimoji="1" lang="en-US" altLang="ja-JP" sz="2000" b="1" dirty="0">
                    <a:solidFill>
                      <a:srgbClr val="FF0066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ja-JP" sz="2000" b="1" i="0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𝐦𝐟𝐩</m:t>
                    </m:r>
                    <m:r>
                      <a:rPr kumimoji="1" lang="en-US" altLang="ja-JP" sz="2000" b="1" i="1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kumimoji="1" lang="en-US" altLang="ja-JP" sz="2000" b="1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1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kumimoji="1" lang="en-US" altLang="ja-JP" sz="2000" b="1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ja-JP" sz="2000" b="1" dirty="0">
                    <a:solidFill>
                      <a:srgbClr val="FF0066"/>
                    </a:solidFill>
                  </a:rPr>
                  <a:t>)</a:t>
                </a:r>
                <a:endParaRPr kumimoji="1" lang="ja-JP" altLang="en-US" sz="2000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9AE608B0-04CD-255F-9CCA-0638EA500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118" y="3861082"/>
                <a:ext cx="2341025" cy="707886"/>
              </a:xfrm>
              <a:prstGeom prst="rect">
                <a:avLst/>
              </a:prstGeom>
              <a:blipFill>
                <a:blip r:embed="rId3"/>
                <a:stretch>
                  <a:fillRect l="-2865" t="-4274" r="-1563" b="-136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8F7CAEC-5E10-A77D-EB2F-09DF33B9851C}"/>
                  </a:ext>
                </a:extLst>
              </p:cNvPr>
              <p:cNvSpPr txBox="1"/>
              <p:nvPr/>
            </p:nvSpPr>
            <p:spPr>
              <a:xfrm>
                <a:off x="8775159" y="6338084"/>
                <a:ext cx="150435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ℏ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ja-JP" altLang="en-US" sz="1600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8F7CAEC-5E10-A77D-EB2F-09DF33B98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159" y="6338084"/>
                <a:ext cx="1504356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図 14">
            <a:extLst>
              <a:ext uri="{FF2B5EF4-FFF2-40B4-BE49-F238E27FC236}">
                <a16:creationId xmlns:a16="http://schemas.microsoft.com/office/drawing/2014/main" id="{9BADB785-412C-B099-C283-530EF48B3A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88784" y="708768"/>
            <a:ext cx="4229364" cy="199595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B2C731AB-B377-11D2-39DD-A9730565957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11458" y="829272"/>
            <a:ext cx="4797284" cy="1375104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2579B4AE-6AD7-18C3-5216-17070E9B382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4633" y="4716621"/>
            <a:ext cx="4448606" cy="993979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AB56F357-4635-6450-1487-D73D3F1AE24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4633" y="5753365"/>
            <a:ext cx="4082339" cy="923273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304C4D-D53D-1E7A-DC3A-3ACB746CEC34}"/>
              </a:ext>
            </a:extLst>
          </p:cNvPr>
          <p:cNvSpPr/>
          <p:nvPr/>
        </p:nvSpPr>
        <p:spPr>
          <a:xfrm>
            <a:off x="1389053" y="612226"/>
            <a:ext cx="4416647" cy="2182996"/>
          </a:xfrm>
          <a:prstGeom prst="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C029D6E-391A-E8E5-6D96-F44DDA311AE2}"/>
              </a:ext>
            </a:extLst>
          </p:cNvPr>
          <p:cNvSpPr/>
          <p:nvPr/>
        </p:nvSpPr>
        <p:spPr>
          <a:xfrm>
            <a:off x="4110365" y="4628097"/>
            <a:ext cx="4664794" cy="2103442"/>
          </a:xfrm>
          <a:prstGeom prst="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0130645-A230-D933-3D07-D99E33F62356}"/>
              </a:ext>
            </a:extLst>
          </p:cNvPr>
          <p:cNvSpPr txBox="1"/>
          <p:nvPr/>
        </p:nvSpPr>
        <p:spPr>
          <a:xfrm>
            <a:off x="0" y="5276267"/>
            <a:ext cx="4192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The well-known</a:t>
            </a:r>
          </a:p>
          <a:p>
            <a:r>
              <a:rPr kumimoji="1" lang="en-US" altLang="ja-JP" sz="2000" dirty="0"/>
              <a:t>dirty-limit Mattis-Bardeen formula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845994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91A8E-165D-3635-32F4-6EF46B2A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5ABD977-5A74-A06A-0C0F-81F44B9B4FCD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F9AC898-35D3-C5AD-F713-F38CF0A8B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3E2B644-1F2A-EA61-DE62-69E063E6131C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50ED7F8-0F41-E8F7-F032-B16152885F3F}"/>
              </a:ext>
            </a:extLst>
          </p:cNvPr>
          <p:cNvSpPr txBox="1"/>
          <p:nvPr/>
        </p:nvSpPr>
        <p:spPr>
          <a:xfrm rot="19836122">
            <a:off x="340778" y="4821032"/>
            <a:ext cx="31242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60ABCEC7-2838-22DC-7D95-C5DD4522DAAC}"/>
              </a:ext>
            </a:extLst>
          </p:cNvPr>
          <p:cNvSpPr/>
          <p:nvPr/>
        </p:nvSpPr>
        <p:spPr>
          <a:xfrm rot="15160983">
            <a:off x="5421382" y="1403791"/>
            <a:ext cx="434552" cy="11344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73A41EB-F656-D74F-6BE5-9D8BCFF880A9}"/>
              </a:ext>
            </a:extLst>
          </p:cNvPr>
          <p:cNvSpPr txBox="1"/>
          <p:nvPr/>
        </p:nvSpPr>
        <p:spPr>
          <a:xfrm rot="20724338">
            <a:off x="4440517" y="1048373"/>
            <a:ext cx="21387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response </a:t>
            </a:r>
          </a:p>
          <a:p>
            <a:pPr algn="ctr"/>
            <a:r>
              <a:rPr kumimoji="1" lang="en-US" altLang="ja-JP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13C78AFE-E453-9E27-6801-E069722AF48A}"/>
              </a:ext>
            </a:extLst>
          </p:cNvPr>
          <p:cNvSpPr/>
          <p:nvPr/>
        </p:nvSpPr>
        <p:spPr>
          <a:xfrm rot="15117123">
            <a:off x="4196336" y="1885100"/>
            <a:ext cx="466969" cy="889772"/>
          </a:xfrm>
          <a:prstGeom prst="rightBrace">
            <a:avLst>
              <a:gd name="adj1" fmla="val 24889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5EDD919-B5F2-3963-9A05-ECE3A2622CE9}"/>
              </a:ext>
            </a:extLst>
          </p:cNvPr>
          <p:cNvSpPr txBox="1"/>
          <p:nvPr/>
        </p:nvSpPr>
        <p:spPr>
          <a:xfrm rot="20559970">
            <a:off x="1803255" y="759207"/>
            <a:ext cx="31406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Leading order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nonlinear </a:t>
            </a:r>
          </a:p>
          <a:p>
            <a:pPr algn="ctr"/>
            <a:r>
              <a:rPr kumimoji="1" lang="en-US" altLang="ja-JP" sz="3200" b="1" dirty="0">
                <a:solidFill>
                  <a:srgbClr val="FF0000"/>
                </a:solidFill>
              </a:rPr>
              <a:t>correction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99C97AA-EB0D-B08E-A661-3D8E7873B330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718752-9059-5CE9-2EA9-3656ADB8F40E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CA9BAEA1-E624-1C86-3378-8DD60498E1F5}"/>
              </a:ext>
            </a:extLst>
          </p:cNvPr>
          <p:cNvSpPr/>
          <p:nvPr/>
        </p:nvSpPr>
        <p:spPr>
          <a:xfrm>
            <a:off x="7572738" y="-696502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319332C2-8DDB-9290-079F-88C3A6C67866}"/>
              </a:ext>
            </a:extLst>
          </p:cNvPr>
          <p:cNvSpPr/>
          <p:nvPr/>
        </p:nvSpPr>
        <p:spPr>
          <a:xfrm>
            <a:off x="8833323" y="-696749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方体 11">
            <a:extLst>
              <a:ext uri="{FF2B5EF4-FFF2-40B4-BE49-F238E27FC236}">
                <a16:creationId xmlns:a16="http://schemas.microsoft.com/office/drawing/2014/main" id="{E47115B5-2017-3D9C-F659-1117D635C2D1}"/>
              </a:ext>
            </a:extLst>
          </p:cNvPr>
          <p:cNvSpPr/>
          <p:nvPr/>
        </p:nvSpPr>
        <p:spPr>
          <a:xfrm>
            <a:off x="5607517" y="2946742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5369513-F21C-5642-63EC-5C2FE9522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19803" y="2558502"/>
            <a:ext cx="910275" cy="194449"/>
          </a:xfrm>
          <a:prstGeom prst="rect">
            <a:avLst/>
          </a:prstGeom>
        </p:spPr>
      </p:pic>
      <p:sp>
        <p:nvSpPr>
          <p:cNvPr id="6" name="直方体 5">
            <a:extLst>
              <a:ext uri="{FF2B5EF4-FFF2-40B4-BE49-F238E27FC236}">
                <a16:creationId xmlns:a16="http://schemas.microsoft.com/office/drawing/2014/main" id="{D788E6A6-2637-E7B9-DF63-176597BCC866}"/>
              </a:ext>
            </a:extLst>
          </p:cNvPr>
          <p:cNvSpPr/>
          <p:nvPr/>
        </p:nvSpPr>
        <p:spPr>
          <a:xfrm>
            <a:off x="4272977" y="3374823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BC31935-F600-82B9-8FA9-791055C4F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423363" y="3024683"/>
            <a:ext cx="910275" cy="1944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37EE7E1-EF33-A7D7-9621-6E3137DCF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56663" y="3034208"/>
            <a:ext cx="910275" cy="19444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ADE7D71-1F55-6D23-4D71-C6BDE84F6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0538" y="2948483"/>
            <a:ext cx="910275" cy="1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6421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A69C-FD63-8504-6CE3-001C036B0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0049A7D-0100-2489-BC20-29FDB3CF4D59}"/>
              </a:ext>
            </a:extLst>
          </p:cNvPr>
          <p:cNvSpPr txBox="1"/>
          <p:nvPr/>
        </p:nvSpPr>
        <p:spPr>
          <a:xfrm>
            <a:off x="10160" y="0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 err="1"/>
              <a:t>Keldysh</a:t>
            </a:r>
            <a:r>
              <a:rPr lang="en-US" altLang="ja-JP" sz="3200" dirty="0"/>
              <a:t>–</a:t>
            </a:r>
            <a:r>
              <a:rPr lang="en-US" altLang="ja-JP" sz="3200" dirty="0" err="1"/>
              <a:t>Usadel</a:t>
            </a:r>
            <a:r>
              <a:rPr lang="en-US" altLang="ja-JP" sz="3200" dirty="0"/>
              <a:t> Equation for SC under a strong ac field</a:t>
            </a:r>
            <a:endParaRPr lang="ja-JP" altLang="en-US" sz="32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5B9E743-1D9A-D333-CC11-237893B0C0CE}"/>
              </a:ext>
            </a:extLst>
          </p:cNvPr>
          <p:cNvSpPr/>
          <p:nvPr/>
        </p:nvSpPr>
        <p:spPr>
          <a:xfrm>
            <a:off x="2376849" y="589728"/>
            <a:ext cx="7491313" cy="3078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935FDC0-0255-1465-8468-64A31868E6CF}"/>
                  </a:ext>
                </a:extLst>
              </p:cNvPr>
              <p:cNvSpPr txBox="1"/>
              <p:nvPr/>
            </p:nvSpPr>
            <p:spPr>
              <a:xfrm>
                <a:off x="10160" y="3739046"/>
                <a:ext cx="12181840" cy="524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We solve these equations to obtain the </a:t>
                </a:r>
                <a:r>
                  <a:rPr lang="en-US" altLang="ja-JP" sz="2000" b="1" dirty="0">
                    <a:solidFill>
                      <a:srgbClr val="FEB6AA"/>
                    </a:solidFill>
                  </a:rPr>
                  <a:t>nonequilibrium corrections </a:t>
                </a:r>
                <a:r>
                  <a:rPr lang="en-US" altLang="ja-JP" sz="20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𝛿</m:t>
                    </m:r>
                    <m:sSup>
                      <m:sSup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altLang="ja-JP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8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).</a:t>
                </a:r>
                <a:endParaRPr lang="ja-JP" altLang="en-US" sz="20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935FDC0-0255-1465-8468-64A31868E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" y="3739046"/>
                <a:ext cx="12181840" cy="524374"/>
              </a:xfrm>
              <a:prstGeom prst="rect">
                <a:avLst/>
              </a:prstGeom>
              <a:blipFill>
                <a:blip r:embed="rId3"/>
                <a:stretch>
                  <a:fillRect l="-551" b="-16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F7589D6F-EA69-28C5-BC8A-C49D085DAD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30119" y="3115131"/>
            <a:ext cx="3130172" cy="43123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C57C70C9-3C05-C737-9A46-97FD1CEB9A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10442839" y="22567"/>
            <a:ext cx="1742211" cy="139694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34BDBE63-4B37-3D49-81D6-15E958BA6FA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59196" y="637443"/>
            <a:ext cx="3651786" cy="2369207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0CAE1A3-DE9D-B407-7516-3C2CED335F5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48603" y="659883"/>
            <a:ext cx="3381937" cy="289850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5D73CC-0F54-5A1D-D793-F507E86B8946}"/>
              </a:ext>
            </a:extLst>
          </p:cNvPr>
          <p:cNvSpPr txBox="1"/>
          <p:nvPr/>
        </p:nvSpPr>
        <p:spPr>
          <a:xfrm>
            <a:off x="14530" y="571851"/>
            <a:ext cx="257594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2"/>
                </a:solidFill>
              </a:rPr>
              <a:t>arXiv:2509.09766	</a:t>
            </a:r>
            <a:endParaRPr lang="ja-JP" altLang="en-US" dirty="0">
              <a:solidFill>
                <a:schemeClr val="tx2"/>
              </a:solidFill>
            </a:endParaRPr>
          </a:p>
          <a:p>
            <a:r>
              <a:rPr lang="en-US" altLang="ja-JP" dirty="0">
                <a:solidFill>
                  <a:schemeClr val="tx2"/>
                </a:solidFill>
              </a:rPr>
              <a:t>To be published in Phys. Rev. Applied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en-US" altLang="ja-JP" sz="1100" dirty="0">
                <a:solidFill>
                  <a:schemeClr val="tx2"/>
                </a:solidFill>
                <a:hlinkClick r:id="rId8"/>
              </a:rPr>
              <a:t>https://doi.org/10.1103/8fh8-nknj</a:t>
            </a:r>
            <a:r>
              <a:rPr lang="en-US" altLang="ja-JP" sz="1100" dirty="0">
                <a:solidFill>
                  <a:schemeClr val="tx2"/>
                </a:solidFill>
              </a:rPr>
              <a:t> </a:t>
            </a:r>
            <a:endParaRPr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9031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5BFA-9066-146F-3316-B749B252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5A515E4-BBE2-8193-6ED3-5C75A33FEFF2}"/>
              </a:ext>
            </a:extLst>
          </p:cNvPr>
          <p:cNvSpPr txBox="1"/>
          <p:nvPr/>
        </p:nvSpPr>
        <p:spPr>
          <a:xfrm>
            <a:off x="10160" y="0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 err="1"/>
              <a:t>Keldysh</a:t>
            </a:r>
            <a:r>
              <a:rPr lang="en-US" altLang="ja-JP" sz="3200" dirty="0"/>
              <a:t>–</a:t>
            </a:r>
            <a:r>
              <a:rPr lang="en-US" altLang="ja-JP" sz="3200" dirty="0" err="1"/>
              <a:t>Usadel</a:t>
            </a:r>
            <a:r>
              <a:rPr lang="en-US" altLang="ja-JP" sz="3200" dirty="0"/>
              <a:t> Equation for SC under a strong ac field</a:t>
            </a:r>
            <a:endParaRPr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9347338-3444-6753-8818-4B2CFED54B1C}"/>
                  </a:ext>
                </a:extLst>
              </p:cNvPr>
              <p:cNvSpPr txBox="1"/>
              <p:nvPr/>
            </p:nvSpPr>
            <p:spPr>
              <a:xfrm>
                <a:off x="1017597" y="4982895"/>
                <a:ext cx="3518990" cy="1016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To obtain the current response, </a:t>
                </a:r>
              </a:p>
              <a:p>
                <a:r>
                  <a:rPr kumimoji="1" lang="en-US" altLang="ja-JP" dirty="0"/>
                  <a:t>we substitute the solutions (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𝛿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,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4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ja-JP" dirty="0"/>
                  <a:t>) into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90155F9-F63A-A422-B33F-E67EDC01B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597" y="4982895"/>
                <a:ext cx="3518990" cy="1016625"/>
              </a:xfrm>
              <a:prstGeom prst="rect">
                <a:avLst/>
              </a:prstGeom>
              <a:blipFill>
                <a:blip r:embed="rId2"/>
                <a:stretch>
                  <a:fillRect l="-1560" t="-2994" r="-520" b="-125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038D4CE-B8A3-9A66-EC41-C87AB5C9B8E3}"/>
              </a:ext>
            </a:extLst>
          </p:cNvPr>
          <p:cNvSpPr/>
          <p:nvPr/>
        </p:nvSpPr>
        <p:spPr>
          <a:xfrm>
            <a:off x="2376849" y="589728"/>
            <a:ext cx="7491313" cy="3078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CC21C46-7DE3-11AD-8AE8-DE3FEB66FDCD}"/>
              </a:ext>
            </a:extLst>
          </p:cNvPr>
          <p:cNvSpPr/>
          <p:nvPr/>
        </p:nvSpPr>
        <p:spPr>
          <a:xfrm>
            <a:off x="983973" y="4530292"/>
            <a:ext cx="9551505" cy="2116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下 22">
            <a:extLst>
              <a:ext uri="{FF2B5EF4-FFF2-40B4-BE49-F238E27FC236}">
                <a16:creationId xmlns:a16="http://schemas.microsoft.com/office/drawing/2014/main" id="{D279D8EF-BD94-291A-9761-86CCF96B5959}"/>
              </a:ext>
            </a:extLst>
          </p:cNvPr>
          <p:cNvSpPr/>
          <p:nvPr/>
        </p:nvSpPr>
        <p:spPr>
          <a:xfrm>
            <a:off x="3474866" y="4218440"/>
            <a:ext cx="1061721" cy="793374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9AB7F1B2-2E85-A455-BB40-F4AFBCD48AA6}"/>
              </a:ext>
            </a:extLst>
          </p:cNvPr>
          <p:cNvSpPr/>
          <p:nvPr/>
        </p:nvSpPr>
        <p:spPr>
          <a:xfrm>
            <a:off x="3474866" y="6048119"/>
            <a:ext cx="1061721" cy="793374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ACDE1ADC-0B54-93E3-DF34-C0C8E96C1590}"/>
                  </a:ext>
                </a:extLst>
              </p:cNvPr>
              <p:cNvSpPr txBox="1"/>
              <p:nvPr/>
            </p:nvSpPr>
            <p:spPr>
              <a:xfrm>
                <a:off x="10160" y="3739046"/>
                <a:ext cx="12181840" cy="524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We solve these equations to obtain the </a:t>
                </a:r>
                <a:r>
                  <a:rPr lang="en-US" altLang="ja-JP" sz="2000" b="1" dirty="0">
                    <a:solidFill>
                      <a:srgbClr val="FEB6AA"/>
                    </a:solidFill>
                  </a:rPr>
                  <a:t>nonequilibrium corrections </a:t>
                </a:r>
                <a:r>
                  <a:rPr lang="en-US" altLang="ja-JP" sz="20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𝛿</m:t>
                    </m:r>
                    <m:sSup>
                      <m:sSup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altLang="ja-JP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8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).</a:t>
                </a:r>
                <a:endParaRPr lang="ja-JP" altLang="en-US" sz="20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935FDC0-0255-1465-8468-64A31868E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" y="3739046"/>
                <a:ext cx="12181840" cy="524374"/>
              </a:xfrm>
              <a:prstGeom prst="rect">
                <a:avLst/>
              </a:prstGeom>
              <a:blipFill>
                <a:blip r:embed="rId3"/>
                <a:stretch>
                  <a:fillRect l="-551" b="-16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6116BF63-9FDB-A88B-95FD-F20BFECB91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30119" y="3115131"/>
            <a:ext cx="3130172" cy="43123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21EF006-9269-4BF9-5910-31D4213356B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38114" y="4633812"/>
            <a:ext cx="3907145" cy="79699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FF6CB53-C80D-736F-5353-8E905E3770E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38114" y="5478089"/>
            <a:ext cx="4694549" cy="110030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1DF5BAF-1BCA-4201-D54C-007D58F664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t="26425" r="23055" b="9022"/>
          <a:stretch/>
        </p:blipFill>
        <p:spPr>
          <a:xfrm>
            <a:off x="10442839" y="22567"/>
            <a:ext cx="1742211" cy="139694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0645D2E3-1820-7B81-5158-028076CFA94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59196" y="637443"/>
            <a:ext cx="3651786" cy="2369207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F580828D-15D2-2152-46EA-F0B476F5EF7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48603" y="659883"/>
            <a:ext cx="3381937" cy="2898505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7C2C9E3-480B-E5D2-A930-4CD0B7AAEB97}"/>
              </a:ext>
            </a:extLst>
          </p:cNvPr>
          <p:cNvSpPr txBox="1"/>
          <p:nvPr/>
        </p:nvSpPr>
        <p:spPr>
          <a:xfrm>
            <a:off x="9305674" y="5530760"/>
            <a:ext cx="2175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← </a:t>
            </a:r>
            <a:r>
              <a:rPr kumimoji="1" lang="en-US" altLang="ja-JP" dirty="0"/>
              <a:t>Linear response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4F489C8F-9E06-696E-86C4-E140C380E351}"/>
                  </a:ext>
                </a:extLst>
              </p:cNvPr>
              <p:cNvSpPr txBox="1"/>
              <p:nvPr/>
            </p:nvSpPr>
            <p:spPr>
              <a:xfrm>
                <a:off x="9305674" y="5987835"/>
                <a:ext cx="28793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b="1" dirty="0"/>
                  <a:t>← </a:t>
                </a:r>
                <a:r>
                  <a:rPr kumimoji="1" lang="en-US" altLang="ja-JP" b="1" dirty="0"/>
                  <a:t>Nonl</a:t>
                </a:r>
                <a:r>
                  <a:rPr kumimoji="1" lang="en-US" altLang="ja-JP" dirty="0"/>
                  <a:t>inear correction of </a:t>
                </a:r>
                <a14:m>
                  <m:oMath xmlns:m="http://schemas.openxmlformats.org/officeDocument/2006/math">
                    <m:r>
                      <a:rPr kumimoji="1" lang="ja-JP" altLang="en-US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AECF8246-A98E-F274-7899-38E57D09E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674" y="5987835"/>
                <a:ext cx="2879376" cy="646331"/>
              </a:xfrm>
              <a:prstGeom prst="rect">
                <a:avLst/>
              </a:prstGeom>
              <a:blipFill>
                <a:blip r:embed="rId10"/>
                <a:stretch>
                  <a:fillRect l="-1907" t="-4717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ED7B90-16D8-C778-26BD-D35E83FFD082}"/>
              </a:ext>
            </a:extLst>
          </p:cNvPr>
          <p:cNvSpPr txBox="1"/>
          <p:nvPr/>
        </p:nvSpPr>
        <p:spPr>
          <a:xfrm>
            <a:off x="14530" y="571851"/>
            <a:ext cx="257594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2"/>
                </a:solidFill>
              </a:rPr>
              <a:t>arXiv:2509.09766	</a:t>
            </a:r>
            <a:endParaRPr lang="ja-JP" altLang="en-US" dirty="0">
              <a:solidFill>
                <a:schemeClr val="tx2"/>
              </a:solidFill>
            </a:endParaRPr>
          </a:p>
          <a:p>
            <a:r>
              <a:rPr lang="en-US" altLang="ja-JP" dirty="0">
                <a:solidFill>
                  <a:schemeClr val="tx2"/>
                </a:solidFill>
              </a:rPr>
              <a:t>To be published in Phys. Rev. Applied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en-US" altLang="ja-JP" sz="1100" dirty="0">
                <a:solidFill>
                  <a:schemeClr val="tx2"/>
                </a:solidFill>
                <a:hlinkClick r:id="rId11"/>
              </a:rPr>
              <a:t>https://doi.org/10.1103/8fh8-nknj</a:t>
            </a:r>
            <a:r>
              <a:rPr lang="en-US" altLang="ja-JP" sz="1100" dirty="0">
                <a:solidFill>
                  <a:schemeClr val="tx2"/>
                </a:solidFill>
              </a:rPr>
              <a:t> </a:t>
            </a:r>
            <a:endParaRPr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0460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0E47-71C3-B805-8A87-0A3F602C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31D0CF7-45F9-1FB5-3C4C-0706102917AE}"/>
              </a:ext>
            </a:extLst>
          </p:cNvPr>
          <p:cNvSpPr txBox="1"/>
          <p:nvPr/>
        </p:nvSpPr>
        <p:spPr>
          <a:xfrm>
            <a:off x="13298" y="0"/>
            <a:ext cx="7684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Schematically, the results can be illustrated as</a:t>
            </a:r>
            <a:endParaRPr kumimoji="1" lang="ja-JP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05F75E12-2D26-651F-5351-C1145C7311AD}"/>
                  </a:ext>
                </a:extLst>
              </p:cNvPr>
              <p:cNvSpPr txBox="1"/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4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05F75E12-2D26-651F-5351-C1145C731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29F02A2-0D1D-8D2E-CA2D-4F829E0090A8}"/>
              </a:ext>
            </a:extLst>
          </p:cNvPr>
          <p:cNvSpPr txBox="1"/>
          <p:nvPr/>
        </p:nvSpPr>
        <p:spPr>
          <a:xfrm>
            <a:off x="3387168" y="1516300"/>
            <a:ext cx="1263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Linear </a:t>
            </a:r>
          </a:p>
          <a:p>
            <a:r>
              <a:rPr kumimoji="1" lang="en-US" altLang="ja-JP" sz="2000" dirty="0"/>
              <a:t>response</a:t>
            </a:r>
            <a:endParaRPr kumimoji="1" lang="ja-JP" altLang="en-US" sz="2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D2AFEE6-3777-0579-EC78-334FA4DEF1CB}"/>
              </a:ext>
            </a:extLst>
          </p:cNvPr>
          <p:cNvSpPr txBox="1"/>
          <p:nvPr/>
        </p:nvSpPr>
        <p:spPr>
          <a:xfrm>
            <a:off x="5033403" y="1547253"/>
            <a:ext cx="3331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Nonlinear corrections </a:t>
            </a:r>
            <a:endParaRPr kumimoji="1" lang="ja-JP" altLang="en-US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8C28C25-5B8D-0046-68FF-D9B6E62215B0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38114" y="4633812"/>
            <a:ext cx="3907145" cy="79699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1D8856D-AF47-D6A6-80FB-C548C8321254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38114" y="5478089"/>
            <a:ext cx="4694549" cy="1100303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3889BA4-5E09-54F2-79F6-62CECA0D75DE}"/>
              </a:ext>
            </a:extLst>
          </p:cNvPr>
          <p:cNvSpPr txBox="1"/>
          <p:nvPr/>
        </p:nvSpPr>
        <p:spPr>
          <a:xfrm>
            <a:off x="9305674" y="5530760"/>
            <a:ext cx="2175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← </a:t>
            </a:r>
            <a:r>
              <a:rPr kumimoji="1" lang="en-US" altLang="ja-JP" dirty="0"/>
              <a:t>Linear response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60BE77-FF92-C323-CA89-CF98426070C4}"/>
                  </a:ext>
                </a:extLst>
              </p:cNvPr>
              <p:cNvSpPr txBox="1"/>
              <p:nvPr/>
            </p:nvSpPr>
            <p:spPr>
              <a:xfrm>
                <a:off x="9305674" y="5987835"/>
                <a:ext cx="28793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b="1" dirty="0"/>
                  <a:t>← </a:t>
                </a:r>
                <a:r>
                  <a:rPr kumimoji="1" lang="en-US" altLang="ja-JP" b="1" dirty="0"/>
                  <a:t>Nonl</a:t>
                </a:r>
                <a:r>
                  <a:rPr kumimoji="1" lang="en-US" altLang="ja-JP" dirty="0"/>
                  <a:t>inear correction of </a:t>
                </a:r>
                <a14:m>
                  <m:oMath xmlns:m="http://schemas.openxmlformats.org/officeDocument/2006/math">
                    <m:r>
                      <a:rPr kumimoji="1" lang="ja-JP" altLang="en-US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60BE77-FF92-C323-CA89-CF9842607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674" y="5987835"/>
                <a:ext cx="2879376" cy="646331"/>
              </a:xfrm>
              <a:prstGeom prst="rect">
                <a:avLst/>
              </a:prstGeom>
              <a:blipFill>
                <a:blip r:embed="rId14"/>
                <a:stretch>
                  <a:fillRect l="-1907" t="-4717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2F6879F5-5523-280A-2CDB-950C5D216242}"/>
              </a:ext>
            </a:extLst>
          </p:cNvPr>
          <p:cNvCxnSpPr/>
          <p:nvPr/>
        </p:nvCxnSpPr>
        <p:spPr>
          <a:xfrm rot="16200000" flipV="1">
            <a:off x="2614332" y="3576918"/>
            <a:ext cx="3295650" cy="751914"/>
          </a:xfrm>
          <a:prstGeom prst="bentConnector3">
            <a:avLst>
              <a:gd name="adj1" fmla="val 289"/>
            </a:avLst>
          </a:prstGeom>
          <a:ln w="1047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74016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5BA1-78D5-3610-9B6E-C2B576AD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42B3A88-F8B4-D300-A374-91324B24EFBC}"/>
              </a:ext>
            </a:extLst>
          </p:cNvPr>
          <p:cNvSpPr txBox="1"/>
          <p:nvPr/>
        </p:nvSpPr>
        <p:spPr>
          <a:xfrm>
            <a:off x="13298" y="0"/>
            <a:ext cx="7684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Schematically, the results can be illustrated as</a:t>
            </a:r>
            <a:endParaRPr kumimoji="1" lang="ja-JP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38E6A90-7A46-E5B5-AE4E-F6473F6383D5}"/>
                  </a:ext>
                </a:extLst>
              </p:cNvPr>
              <p:cNvSpPr txBox="1"/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4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05F75E12-2D26-651F-5351-C1145C731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9CCD541-9650-D8EB-C43E-E09F7528F61F}"/>
              </a:ext>
            </a:extLst>
          </p:cNvPr>
          <p:cNvSpPr txBox="1"/>
          <p:nvPr/>
        </p:nvSpPr>
        <p:spPr>
          <a:xfrm>
            <a:off x="3387168" y="1516300"/>
            <a:ext cx="1263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Linear </a:t>
            </a:r>
          </a:p>
          <a:p>
            <a:r>
              <a:rPr kumimoji="1" lang="en-US" altLang="ja-JP" sz="2000" dirty="0"/>
              <a:t>response</a:t>
            </a:r>
            <a:endParaRPr kumimoji="1" lang="ja-JP" altLang="en-US" sz="2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275DD7-FDF9-3D8A-3D8F-AF1D3FF32C5E}"/>
              </a:ext>
            </a:extLst>
          </p:cNvPr>
          <p:cNvSpPr txBox="1"/>
          <p:nvPr/>
        </p:nvSpPr>
        <p:spPr>
          <a:xfrm>
            <a:off x="5033403" y="1547253"/>
            <a:ext cx="3331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Nonlinear corrections </a:t>
            </a:r>
            <a:endParaRPr kumimoji="1" lang="ja-JP" altLang="en-US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090C673-D6E3-9EED-DF4C-EC40E8968BE6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38114" y="4633812"/>
            <a:ext cx="3907145" cy="79699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6615E31-3A80-1CD2-0116-36C05E764BA2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38114" y="5478089"/>
            <a:ext cx="4694549" cy="1100303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EA4D113-A423-578B-E8A8-D13B66BC0C57}"/>
              </a:ext>
            </a:extLst>
          </p:cNvPr>
          <p:cNvSpPr txBox="1"/>
          <p:nvPr/>
        </p:nvSpPr>
        <p:spPr>
          <a:xfrm>
            <a:off x="9305674" y="5530760"/>
            <a:ext cx="2175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← </a:t>
            </a:r>
            <a:r>
              <a:rPr kumimoji="1" lang="en-US" altLang="ja-JP" dirty="0"/>
              <a:t>Linear response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E7FDCF0-D642-7A48-9A6F-B30268806E68}"/>
                  </a:ext>
                </a:extLst>
              </p:cNvPr>
              <p:cNvSpPr txBox="1"/>
              <p:nvPr/>
            </p:nvSpPr>
            <p:spPr>
              <a:xfrm>
                <a:off x="9305674" y="5987835"/>
                <a:ext cx="28793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b="1" dirty="0"/>
                  <a:t>← </a:t>
                </a:r>
                <a:r>
                  <a:rPr kumimoji="1" lang="en-US" altLang="ja-JP" b="1" dirty="0"/>
                  <a:t>Nonl</a:t>
                </a:r>
                <a:r>
                  <a:rPr kumimoji="1" lang="en-US" altLang="ja-JP" dirty="0"/>
                  <a:t>inear correction of </a:t>
                </a:r>
                <a14:m>
                  <m:oMath xmlns:m="http://schemas.openxmlformats.org/officeDocument/2006/math">
                    <m:r>
                      <a:rPr kumimoji="1" lang="ja-JP" altLang="en-US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60BE77-FF92-C323-CA89-CF9842607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674" y="5987835"/>
                <a:ext cx="2879376" cy="646331"/>
              </a:xfrm>
              <a:prstGeom prst="rect">
                <a:avLst/>
              </a:prstGeom>
              <a:blipFill>
                <a:blip r:embed="rId14"/>
                <a:stretch>
                  <a:fillRect l="-1907" t="-4717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5F643703-9C11-A446-2259-055B4B377CBD}"/>
              </a:ext>
            </a:extLst>
          </p:cNvPr>
          <p:cNvCxnSpPr/>
          <p:nvPr/>
        </p:nvCxnSpPr>
        <p:spPr>
          <a:xfrm rot="16200000" flipV="1">
            <a:off x="2614332" y="3576918"/>
            <a:ext cx="3295650" cy="751914"/>
          </a:xfrm>
          <a:prstGeom prst="bentConnector3">
            <a:avLst>
              <a:gd name="adj1" fmla="val 289"/>
            </a:avLst>
          </a:prstGeom>
          <a:ln w="1047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BD9D74D3-7593-F8A7-DC9A-4381A81BA84A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 flipH="1">
            <a:off x="4638113" y="2056203"/>
            <a:ext cx="1673549" cy="3972038"/>
          </a:xfrm>
          <a:prstGeom prst="bentConnector4">
            <a:avLst>
              <a:gd name="adj1" fmla="val -13660"/>
              <a:gd name="adj2" fmla="val 56925"/>
            </a:avLst>
          </a:prstGeom>
          <a:ln w="1047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6692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74FE5-9D87-1E77-FE25-F345421D1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0EDDF21-40FF-5F81-3CD6-9EC2FA75405E}"/>
              </a:ext>
            </a:extLst>
          </p:cNvPr>
          <p:cNvSpPr txBox="1"/>
          <p:nvPr/>
        </p:nvSpPr>
        <p:spPr>
          <a:xfrm>
            <a:off x="13298" y="0"/>
            <a:ext cx="7684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Schematically, the results can be illustrated as</a:t>
            </a:r>
            <a:endParaRPr kumimoji="1" lang="ja-JP" altLang="en-US" sz="2800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6B5F0C7-0116-2BC7-88EC-27A25B12A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96" y="2218046"/>
            <a:ext cx="1585097" cy="1208221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4D663C5-35B5-BD6E-8526-446B6AD31BC2}"/>
              </a:ext>
            </a:extLst>
          </p:cNvPr>
          <p:cNvSpPr txBox="1"/>
          <p:nvPr/>
        </p:nvSpPr>
        <p:spPr>
          <a:xfrm>
            <a:off x="3387168" y="1516300"/>
            <a:ext cx="1263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Linear </a:t>
            </a:r>
          </a:p>
          <a:p>
            <a:r>
              <a:rPr kumimoji="1" lang="en-US" altLang="ja-JP" sz="2000" dirty="0"/>
              <a:t>response</a:t>
            </a:r>
            <a:endParaRPr kumimoji="1" lang="ja-JP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4B571C37-05AF-025D-2F28-3D0EB7C56771}"/>
                  </a:ext>
                </a:extLst>
              </p:cNvPr>
              <p:cNvSpPr txBox="1"/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4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05F75E12-2D26-651F-5351-C1145C731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8F54AC5-A395-BAF9-5115-B25364A141EE}"/>
              </a:ext>
            </a:extLst>
          </p:cNvPr>
          <p:cNvSpPr/>
          <p:nvPr/>
        </p:nvSpPr>
        <p:spPr>
          <a:xfrm>
            <a:off x="3342831" y="634175"/>
            <a:ext cx="1234635" cy="86338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D16FC2-17D6-89C5-3EB6-86385CE26FC6}"/>
              </a:ext>
            </a:extLst>
          </p:cNvPr>
          <p:cNvSpPr txBox="1"/>
          <p:nvPr/>
        </p:nvSpPr>
        <p:spPr>
          <a:xfrm>
            <a:off x="5033403" y="1547253"/>
            <a:ext cx="3331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Nonlinear corrections 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999858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0FE8D-48F1-FA60-B1D6-37306C69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CF3FF65-C8B8-F3BD-11AB-B8CF1C362DBC}"/>
              </a:ext>
            </a:extLst>
          </p:cNvPr>
          <p:cNvSpPr txBox="1"/>
          <p:nvPr/>
        </p:nvSpPr>
        <p:spPr>
          <a:xfrm>
            <a:off x="13298" y="0"/>
            <a:ext cx="7684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Schematically, the results can be illustrated as</a:t>
            </a:r>
            <a:endParaRPr kumimoji="1" lang="ja-JP" altLang="en-US" sz="2800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9F7DCE48-14A5-87F7-A670-6608A2AAB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96" y="2218046"/>
            <a:ext cx="1585097" cy="1208221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FCDB4DA-236D-29A3-E81F-2CBC52397234}"/>
              </a:ext>
            </a:extLst>
          </p:cNvPr>
          <p:cNvSpPr txBox="1"/>
          <p:nvPr/>
        </p:nvSpPr>
        <p:spPr>
          <a:xfrm>
            <a:off x="3387168" y="1516300"/>
            <a:ext cx="1263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Linear </a:t>
            </a:r>
          </a:p>
          <a:p>
            <a:r>
              <a:rPr kumimoji="1" lang="en-US" altLang="ja-JP" sz="2000" dirty="0"/>
              <a:t>response</a:t>
            </a:r>
            <a:endParaRPr kumimoji="1" lang="ja-JP" altLang="en-US" sz="20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627D5E0-AC97-4841-F2C5-1EB178B7292B}"/>
              </a:ext>
            </a:extLst>
          </p:cNvPr>
          <p:cNvSpPr txBox="1"/>
          <p:nvPr/>
        </p:nvSpPr>
        <p:spPr>
          <a:xfrm>
            <a:off x="5033403" y="1547253"/>
            <a:ext cx="3331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Nonlinear corrections 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740EFC3-29CF-C7BE-B608-7EFD0E328E5E}"/>
                  </a:ext>
                </a:extLst>
              </p:cNvPr>
              <p:cNvSpPr txBox="1"/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4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05F75E12-2D26-651F-5351-C1145C731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CC78BE0-6297-6D02-3782-6DB45629C0AE}"/>
              </a:ext>
            </a:extLst>
          </p:cNvPr>
          <p:cNvSpPr/>
          <p:nvPr/>
        </p:nvSpPr>
        <p:spPr>
          <a:xfrm>
            <a:off x="3342831" y="634175"/>
            <a:ext cx="1234635" cy="86338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9FBA2BAD-FD86-05E3-F6F4-F3817BF5688F}"/>
                  </a:ext>
                </a:extLst>
              </p:cNvPr>
              <p:cNvSpPr txBox="1"/>
              <p:nvPr/>
            </p:nvSpPr>
            <p:spPr>
              <a:xfrm>
                <a:off x="6883954" y="707050"/>
                <a:ext cx="4617166" cy="639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ja-JP" altLang="en-US" sz="2400" dirty="0">
                    <a:solidFill>
                      <a:srgbClr val="FFFF00"/>
                    </a:solidFill>
                  </a:rPr>
                  <a:t>   </a:t>
                </a:r>
                <a:r>
                  <a:rPr kumimoji="1" lang="en-US" altLang="ja-JP" sz="2400" dirty="0"/>
                  <a:t>and</a:t>
                </a:r>
                <a:r>
                  <a:rPr kumimoji="1" lang="en-US" altLang="ja-JP" sz="2400" dirty="0">
                    <a:solidFill>
                      <a:srgbClr val="FFFF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kumimoji="1" lang="en-US" altLang="ja-JP" sz="2400" dirty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kumimoji="1" lang="en-US" altLang="ja-JP" sz="2400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ja-JP" altLang="en-US" sz="2400" dirty="0">
                  <a:solidFill>
                    <a:srgbClr val="92D050"/>
                  </a:solidFill>
                </a:endParaRPr>
              </a:p>
              <a:p>
                <a:endParaRPr lang="ja-JP" altLang="en-US" sz="11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765EE6C2-27E5-E4F5-3792-EE8CC2F20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954" y="707050"/>
                <a:ext cx="4617166" cy="639278"/>
              </a:xfrm>
              <a:prstGeom prst="rect">
                <a:avLst/>
              </a:prstGeom>
              <a:blipFill>
                <a:blip r:embed="rId12"/>
                <a:stretch>
                  <a:fillRect l="-1055" t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6D23797-B588-D34C-6E0A-7B4F7ABDD18B}"/>
              </a:ext>
            </a:extLst>
          </p:cNvPr>
          <p:cNvSpPr/>
          <p:nvPr/>
        </p:nvSpPr>
        <p:spPr>
          <a:xfrm>
            <a:off x="5084139" y="626922"/>
            <a:ext cx="1643300" cy="830997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03069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B5BA-DD45-8F6B-C26A-98507973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0656501-4A7E-CFD1-9735-A2CD708CEB57}"/>
              </a:ext>
            </a:extLst>
          </p:cNvPr>
          <p:cNvSpPr txBox="1"/>
          <p:nvPr/>
        </p:nvSpPr>
        <p:spPr>
          <a:xfrm>
            <a:off x="13298" y="0"/>
            <a:ext cx="7684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Schematically, the results can be illustrated as</a:t>
            </a:r>
            <a:endParaRPr kumimoji="1" lang="ja-JP" altLang="en-US" sz="28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A5E3EF5-AAFA-809E-6C33-3C57C746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794" y="2235788"/>
            <a:ext cx="2932430" cy="191431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8000EC0-DCFB-9A67-C791-13A0B9309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720" y="2227826"/>
            <a:ext cx="2932430" cy="1908213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16FC1C64-992D-50BA-2794-5241C3DA2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396" y="2218046"/>
            <a:ext cx="1585097" cy="1208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188807C8-70A8-5624-9D92-FF27C84CD0D6}"/>
                  </a:ext>
                </a:extLst>
              </p:cNvPr>
              <p:cNvSpPr txBox="1"/>
              <p:nvPr/>
            </p:nvSpPr>
            <p:spPr>
              <a:xfrm>
                <a:off x="8164614" y="2678366"/>
                <a:ext cx="56783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8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4800" dirty="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DC2BE4DB-294E-3226-CD60-1E79A8E29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614" y="2678366"/>
                <a:ext cx="567835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2C52A19-4F5D-ACFE-0665-118A11901AC7}"/>
              </a:ext>
            </a:extLst>
          </p:cNvPr>
          <p:cNvSpPr txBox="1"/>
          <p:nvPr/>
        </p:nvSpPr>
        <p:spPr>
          <a:xfrm>
            <a:off x="3387168" y="1516300"/>
            <a:ext cx="1263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Linear </a:t>
            </a:r>
          </a:p>
          <a:p>
            <a:r>
              <a:rPr kumimoji="1" lang="en-US" altLang="ja-JP" sz="2000" dirty="0"/>
              <a:t>response</a:t>
            </a:r>
            <a:endParaRPr kumimoji="1" lang="ja-JP" altLang="en-US" sz="20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51DE483-F375-DD63-CFD1-E97E3660A0ED}"/>
              </a:ext>
            </a:extLst>
          </p:cNvPr>
          <p:cNvSpPr txBox="1"/>
          <p:nvPr/>
        </p:nvSpPr>
        <p:spPr>
          <a:xfrm>
            <a:off x="5033403" y="1547253"/>
            <a:ext cx="3331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Nonlinear corrections 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DFDE3B2A-953C-D400-D9C1-ABE9041D96FF}"/>
                  </a:ext>
                </a:extLst>
              </p:cNvPr>
              <p:cNvSpPr txBox="1"/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4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05F75E12-2D26-651F-5351-C1145C731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17737CF-28CF-97F1-CE7E-D3E97B6C9061}"/>
              </a:ext>
            </a:extLst>
          </p:cNvPr>
          <p:cNvSpPr/>
          <p:nvPr/>
        </p:nvSpPr>
        <p:spPr>
          <a:xfrm>
            <a:off x="3342831" y="634175"/>
            <a:ext cx="1234635" cy="86338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5884D6AF-9DB2-A9D3-BDCB-2075680DA932}"/>
                  </a:ext>
                </a:extLst>
              </p:cNvPr>
              <p:cNvSpPr txBox="1"/>
              <p:nvPr/>
            </p:nvSpPr>
            <p:spPr>
              <a:xfrm>
                <a:off x="6883954" y="707050"/>
                <a:ext cx="4617166" cy="639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ja-JP" altLang="en-US" sz="2400" dirty="0">
                    <a:solidFill>
                      <a:srgbClr val="FFFF00"/>
                    </a:solidFill>
                  </a:rPr>
                  <a:t>   </a:t>
                </a:r>
                <a:r>
                  <a:rPr kumimoji="1" lang="en-US" altLang="ja-JP" sz="2400" dirty="0"/>
                  <a:t>and</a:t>
                </a:r>
                <a:r>
                  <a:rPr kumimoji="1" lang="en-US" altLang="ja-JP" sz="2400" dirty="0">
                    <a:solidFill>
                      <a:srgbClr val="FFFF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kumimoji="1" lang="en-US" altLang="ja-JP" sz="2400" dirty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kumimoji="1" lang="en-US" altLang="ja-JP" sz="2400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ja-JP" altLang="en-US" sz="2400" dirty="0">
                  <a:solidFill>
                    <a:srgbClr val="92D050"/>
                  </a:solidFill>
                </a:endParaRPr>
              </a:p>
              <a:p>
                <a:endParaRPr lang="ja-JP" altLang="en-US" sz="11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765EE6C2-27E5-E4F5-3792-EE8CC2F20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954" y="707050"/>
                <a:ext cx="4617166" cy="639278"/>
              </a:xfrm>
              <a:prstGeom prst="rect">
                <a:avLst/>
              </a:prstGeom>
              <a:blipFill>
                <a:blip r:embed="rId12"/>
                <a:stretch>
                  <a:fillRect l="-1055" t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60A674A-53EE-F259-8374-A3AC0F6EAF4D}"/>
              </a:ext>
            </a:extLst>
          </p:cNvPr>
          <p:cNvSpPr/>
          <p:nvPr/>
        </p:nvSpPr>
        <p:spPr>
          <a:xfrm>
            <a:off x="5084139" y="626922"/>
            <a:ext cx="1643300" cy="830997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99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DA28E17-3EB5-3860-F176-E18E9C9DB37A}"/>
              </a:ext>
            </a:extLst>
          </p:cNvPr>
          <p:cNvSpPr/>
          <p:nvPr/>
        </p:nvSpPr>
        <p:spPr>
          <a:xfrm>
            <a:off x="5033403" y="2128147"/>
            <a:ext cx="7011055" cy="2115857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99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74B0C0-762E-9C79-1ABF-349EFD006145}"/>
              </a:ext>
            </a:extLst>
          </p:cNvPr>
          <p:cNvSpPr txBox="1"/>
          <p:nvPr/>
        </p:nvSpPr>
        <p:spPr>
          <a:xfrm>
            <a:off x="5167630" y="3764076"/>
            <a:ext cx="1818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AAA contribution</a:t>
            </a:r>
            <a:endParaRPr kumimoji="1" lang="ja-JP" altLang="en-US" sz="1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C118C6-1ABD-B8A2-C1EA-0A8654873780}"/>
              </a:ext>
            </a:extLst>
          </p:cNvPr>
          <p:cNvSpPr txBox="1"/>
          <p:nvPr/>
        </p:nvSpPr>
        <p:spPr>
          <a:xfrm>
            <a:off x="9018199" y="3499978"/>
            <a:ext cx="170271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Contribution mediated </a:t>
            </a:r>
          </a:p>
          <a:p>
            <a:r>
              <a:rPr kumimoji="1" lang="en-US" altLang="ja-JP" sz="1100" dirty="0"/>
              <a:t>by the nonequilibrium </a:t>
            </a:r>
          </a:p>
          <a:p>
            <a:r>
              <a:rPr kumimoji="1" lang="en-US" altLang="ja-JP" sz="1100" dirty="0"/>
              <a:t>pair-potential variation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690279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A9B1-8748-137A-81F2-871797C84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87E328F-547C-4066-E32F-1893A918C032}"/>
              </a:ext>
            </a:extLst>
          </p:cNvPr>
          <p:cNvSpPr txBox="1"/>
          <p:nvPr/>
        </p:nvSpPr>
        <p:spPr>
          <a:xfrm>
            <a:off x="13298" y="0"/>
            <a:ext cx="7684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Schematically, the results can be illustrated as</a:t>
            </a:r>
            <a:endParaRPr kumimoji="1" lang="ja-JP" altLang="en-US" sz="28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526A111-914B-0C7F-F24D-7C8FF014F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794" y="2235788"/>
            <a:ext cx="2932430" cy="191431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EA98A0F-F458-33D8-ED7E-D8FC58DE6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720" y="2227826"/>
            <a:ext cx="2932430" cy="1908213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FBDF5CB3-DA40-CD00-41A7-F823F3307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396" y="2218046"/>
            <a:ext cx="1585097" cy="1208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E5610A06-B1A6-30E8-BFD2-89157E30EDF4}"/>
                  </a:ext>
                </a:extLst>
              </p:cNvPr>
              <p:cNvSpPr txBox="1"/>
              <p:nvPr/>
            </p:nvSpPr>
            <p:spPr>
              <a:xfrm>
                <a:off x="8164614" y="2678366"/>
                <a:ext cx="56783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8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4800" dirty="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D7284ADE-3E40-753A-9690-564F88CA6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614" y="2678366"/>
                <a:ext cx="567835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C7210A4-B03B-0770-F53D-26036D271AA9}"/>
              </a:ext>
            </a:extLst>
          </p:cNvPr>
          <p:cNvSpPr txBox="1"/>
          <p:nvPr/>
        </p:nvSpPr>
        <p:spPr>
          <a:xfrm>
            <a:off x="3387168" y="1516300"/>
            <a:ext cx="1263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Linear </a:t>
            </a:r>
          </a:p>
          <a:p>
            <a:r>
              <a:rPr kumimoji="1" lang="en-US" altLang="ja-JP" sz="2000" dirty="0"/>
              <a:t>response</a:t>
            </a:r>
            <a:endParaRPr kumimoji="1" lang="ja-JP" altLang="en-US" sz="20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F560D58-3C7A-0377-BCAB-FA2B88CF5DB6}"/>
              </a:ext>
            </a:extLst>
          </p:cNvPr>
          <p:cNvSpPr txBox="1"/>
          <p:nvPr/>
        </p:nvSpPr>
        <p:spPr>
          <a:xfrm>
            <a:off x="5033403" y="1547253"/>
            <a:ext cx="3331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Nonlinear corrections 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DDC49C9C-9AB3-245F-2CCD-D02E9B228C8D}"/>
                  </a:ext>
                </a:extLst>
              </p:cNvPr>
              <p:cNvSpPr txBox="1"/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𝐴𝑔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4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54541A15-C6FF-D4E1-23B6-FBC0E411F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89" y="677182"/>
                <a:ext cx="4170822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BCE8E8E-D643-5DFD-7202-A8ABE8444CA9}"/>
              </a:ext>
            </a:extLst>
          </p:cNvPr>
          <p:cNvSpPr/>
          <p:nvPr/>
        </p:nvSpPr>
        <p:spPr>
          <a:xfrm>
            <a:off x="3342831" y="634175"/>
            <a:ext cx="1234635" cy="86338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64A11F98-6D82-573E-6AAA-8D4CB0C8AE8B}"/>
                  </a:ext>
                </a:extLst>
              </p:cNvPr>
              <p:cNvSpPr txBox="1"/>
              <p:nvPr/>
            </p:nvSpPr>
            <p:spPr>
              <a:xfrm>
                <a:off x="6883954" y="707050"/>
                <a:ext cx="4617166" cy="639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ja-JP" altLang="en-US" sz="2400" dirty="0">
                    <a:solidFill>
                      <a:srgbClr val="FFFF00"/>
                    </a:solidFill>
                  </a:rPr>
                  <a:t>   </a:t>
                </a:r>
                <a:r>
                  <a:rPr kumimoji="1" lang="en-US" altLang="ja-JP" sz="2400" dirty="0"/>
                  <a:t>and</a:t>
                </a:r>
                <a:r>
                  <a:rPr kumimoji="1" lang="en-US" altLang="ja-JP" sz="2400" dirty="0">
                    <a:solidFill>
                      <a:srgbClr val="FFFF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kumimoji="1" lang="en-US" altLang="ja-JP" sz="2400" dirty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kumimoji="1" lang="en-US" altLang="ja-JP" sz="2400" b="1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ja-JP" altLang="en-US" sz="2400" dirty="0">
                  <a:solidFill>
                    <a:srgbClr val="92D050"/>
                  </a:solidFill>
                </a:endParaRPr>
              </a:p>
              <a:p>
                <a:endParaRPr lang="ja-JP" altLang="en-US" sz="11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39B29559-9BE2-5D0D-B6DB-9CAF8CEF0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954" y="707050"/>
                <a:ext cx="4617166" cy="639278"/>
              </a:xfrm>
              <a:prstGeom prst="rect">
                <a:avLst/>
              </a:prstGeom>
              <a:blipFill>
                <a:blip r:embed="rId7"/>
                <a:stretch>
                  <a:fillRect l="-1055" t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3AD3974-7382-CE0E-D1F8-E2BBD7A7CD71}"/>
              </a:ext>
            </a:extLst>
          </p:cNvPr>
          <p:cNvSpPr/>
          <p:nvPr/>
        </p:nvSpPr>
        <p:spPr>
          <a:xfrm>
            <a:off x="5084139" y="626922"/>
            <a:ext cx="1643300" cy="830997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99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C67E6A61-DBAF-321A-14A5-51CEBAAD5A30}"/>
              </a:ext>
            </a:extLst>
          </p:cNvPr>
          <p:cNvSpPr/>
          <p:nvPr/>
        </p:nvSpPr>
        <p:spPr>
          <a:xfrm>
            <a:off x="5033403" y="2128147"/>
            <a:ext cx="7011055" cy="2115857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F43D04C9-939F-D2D1-4BA9-8D0C224205BE}"/>
                  </a:ext>
                </a:extLst>
              </p:cNvPr>
              <p:cNvSpPr txBox="1"/>
              <p:nvPr/>
            </p:nvSpPr>
            <p:spPr>
              <a:xfrm>
                <a:off x="8940720" y="5452305"/>
                <a:ext cx="3055644" cy="1015663"/>
              </a:xfrm>
              <a:prstGeom prst="rect">
                <a:avLst/>
              </a:prstGeom>
              <a:noFill/>
              <a:ln w="50800">
                <a:solidFill>
                  <a:srgbClr val="92D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400" dirty="0"/>
                  <a:t>Time dependent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ja-JP" sz="2400" b="1" dirty="0"/>
                  <a:t>:</a:t>
                </a:r>
              </a:p>
              <a:p>
                <a:pPr algn="ctr"/>
                <a:r>
                  <a:rPr kumimoji="1" lang="en-US" altLang="ja-JP" sz="3600" b="1" dirty="0"/>
                  <a:t>Higgs</a:t>
                </a: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327544D-ADAD-60EF-2E7B-4DC7B9468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720" y="5452305"/>
                <a:ext cx="3055644" cy="1015663"/>
              </a:xfrm>
              <a:prstGeom prst="rect">
                <a:avLst/>
              </a:prstGeom>
              <a:blipFill>
                <a:blip r:embed="rId9"/>
                <a:stretch>
                  <a:fillRect l="-1965" t="-2857" r="-1768" b="-17714"/>
                </a:stretch>
              </a:blipFill>
              <a:ln w="5080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20B4B65F-D502-D82A-CFC3-EE51D1857D67}"/>
                  </a:ext>
                </a:extLst>
              </p:cNvPr>
              <p:cNvSpPr txBox="1"/>
              <p:nvPr/>
            </p:nvSpPr>
            <p:spPr>
              <a:xfrm>
                <a:off x="5333098" y="5442444"/>
                <a:ext cx="3403881" cy="954107"/>
              </a:xfrm>
              <a:prstGeom prst="rect">
                <a:avLst/>
              </a:prstGeom>
              <a:noFill/>
              <a:ln w="50800">
                <a:solidFill>
                  <a:srgbClr val="92D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400" dirty="0"/>
                  <a:t>Time averaged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ja-JP" sz="2400" dirty="0"/>
                  <a:t>:</a:t>
                </a:r>
              </a:p>
              <a:p>
                <a:pPr algn="ctr"/>
                <a:r>
                  <a:rPr kumimoji="1" lang="en-US" altLang="ja-JP" sz="3200" dirty="0" err="1"/>
                  <a:t>Eliashberg</a:t>
                </a:r>
                <a:r>
                  <a:rPr kumimoji="1" lang="en-US" altLang="ja-JP" sz="3200" dirty="0"/>
                  <a:t> effect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BAA2434-98A6-53E3-071F-801BD7949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098" y="5442444"/>
                <a:ext cx="3403881" cy="954107"/>
              </a:xfrm>
              <a:prstGeom prst="rect">
                <a:avLst/>
              </a:prstGeom>
              <a:blipFill>
                <a:blip r:embed="rId10"/>
                <a:stretch>
                  <a:fillRect l="-3534" t="-3049" r="-3357" b="-16463"/>
                </a:stretch>
              </a:blipFill>
              <a:ln w="5080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5BA73EC4-0012-06FC-1D60-39CD42EA0442}"/>
              </a:ext>
            </a:extLst>
          </p:cNvPr>
          <p:cNvCxnSpPr>
            <a:cxnSpLocks/>
          </p:cNvCxnSpPr>
          <p:nvPr/>
        </p:nvCxnSpPr>
        <p:spPr>
          <a:xfrm flipH="1">
            <a:off x="8065224" y="4150098"/>
            <a:ext cx="1210856" cy="1169305"/>
          </a:xfrm>
          <a:prstGeom prst="straightConnector1">
            <a:avLst/>
          </a:prstGeom>
          <a:ln w="1016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033FF87-B163-8573-B645-BD456F32D6CF}"/>
              </a:ext>
            </a:extLst>
          </p:cNvPr>
          <p:cNvCxnSpPr>
            <a:cxnSpLocks/>
          </p:cNvCxnSpPr>
          <p:nvPr/>
        </p:nvCxnSpPr>
        <p:spPr>
          <a:xfrm>
            <a:off x="9276080" y="4150098"/>
            <a:ext cx="382684" cy="1216802"/>
          </a:xfrm>
          <a:prstGeom prst="straightConnector1">
            <a:avLst/>
          </a:prstGeom>
          <a:ln w="1016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9B3AF8-4C9D-CDA6-7D1C-61619C1FEE22}"/>
              </a:ext>
            </a:extLst>
          </p:cNvPr>
          <p:cNvSpPr txBox="1"/>
          <p:nvPr/>
        </p:nvSpPr>
        <p:spPr>
          <a:xfrm>
            <a:off x="31391" y="4869242"/>
            <a:ext cx="50020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Note: This theory automatically includes </a:t>
            </a:r>
          </a:p>
          <a:p>
            <a:r>
              <a:rPr lang="en-US" altLang="ja-JP" sz="2000" dirty="0"/>
              <a:t>the </a:t>
            </a:r>
            <a:r>
              <a:rPr lang="en-US" altLang="ja-JP" sz="2400" b="1" dirty="0" err="1">
                <a:solidFill>
                  <a:schemeClr val="tx2"/>
                </a:solidFill>
              </a:rPr>
              <a:t>Eliashberg</a:t>
            </a:r>
            <a:r>
              <a:rPr lang="en-US" altLang="ja-JP" sz="2400" b="1" dirty="0">
                <a:solidFill>
                  <a:schemeClr val="tx2"/>
                </a:solidFill>
              </a:rPr>
              <a:t> effect </a:t>
            </a:r>
            <a:r>
              <a:rPr lang="en-US" altLang="ja-JP" sz="2000" dirty="0"/>
              <a:t>(microwave-induced gap enhancement) as well as the </a:t>
            </a:r>
            <a:r>
              <a:rPr lang="en-US" altLang="ja-JP" sz="2400" b="1" dirty="0">
                <a:solidFill>
                  <a:schemeClr val="tx2"/>
                </a:solidFill>
              </a:rPr>
              <a:t>Higgs-mode</a:t>
            </a:r>
            <a:r>
              <a:rPr lang="en-US" altLang="ja-JP" sz="2000" dirty="0"/>
              <a:t> contribution.</a:t>
            </a:r>
            <a:endParaRPr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26113F-0EF6-675C-387C-ACD4D7DE46B5}"/>
              </a:ext>
            </a:extLst>
          </p:cNvPr>
          <p:cNvSpPr txBox="1"/>
          <p:nvPr/>
        </p:nvSpPr>
        <p:spPr>
          <a:xfrm>
            <a:off x="5167630" y="3764076"/>
            <a:ext cx="1818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AAA contribution</a:t>
            </a:r>
            <a:endParaRPr kumimoji="1" lang="ja-JP" altLang="en-US" sz="16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B7288F2-12CC-2C94-3F40-248C60666B9A}"/>
              </a:ext>
            </a:extLst>
          </p:cNvPr>
          <p:cNvSpPr txBox="1"/>
          <p:nvPr/>
        </p:nvSpPr>
        <p:spPr>
          <a:xfrm>
            <a:off x="9018199" y="3499978"/>
            <a:ext cx="170271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Contribution mediated </a:t>
            </a:r>
          </a:p>
          <a:p>
            <a:r>
              <a:rPr kumimoji="1" lang="en-US" altLang="ja-JP" sz="1100" dirty="0"/>
              <a:t>by the nonequilibrium </a:t>
            </a:r>
          </a:p>
          <a:p>
            <a:r>
              <a:rPr kumimoji="1" lang="en-US" altLang="ja-JP" sz="1100" dirty="0"/>
              <a:t>pair-potential variation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784412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467D55E-A840-BD45-C445-73BD57507986}"/>
              </a:ext>
            </a:extLst>
          </p:cNvPr>
          <p:cNvSpPr txBox="1"/>
          <p:nvPr/>
        </p:nvSpPr>
        <p:spPr>
          <a:xfrm>
            <a:off x="361951" y="31761"/>
            <a:ext cx="545302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400" b="1" dirty="0" err="1"/>
              <a:t>Eliashberg</a:t>
            </a:r>
            <a:r>
              <a:rPr kumimoji="1" lang="en-US" altLang="ja-JP" sz="4400" b="1" dirty="0"/>
              <a:t> effect?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B8113A4F-E9B7-CC93-BAD7-98430A89B654}"/>
              </a:ext>
            </a:extLst>
          </p:cNvPr>
          <p:cNvSpPr txBox="1"/>
          <p:nvPr/>
        </p:nvSpPr>
        <p:spPr>
          <a:xfrm>
            <a:off x="6339919" y="21140"/>
            <a:ext cx="2114169" cy="76944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4400" b="1" dirty="0"/>
              <a:t>Higgs?</a:t>
            </a:r>
            <a:endParaRPr kumimoji="1" lang="ja-JP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02043048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06F70-AF67-0DDD-4760-063F5BF0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BC9C2C-4CEE-E90E-A561-1C6FCACA53FD}"/>
              </a:ext>
            </a:extLst>
          </p:cNvPr>
          <p:cNvSpPr txBox="1"/>
          <p:nvPr/>
        </p:nvSpPr>
        <p:spPr>
          <a:xfrm>
            <a:off x="361951" y="31761"/>
            <a:ext cx="545302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400" b="1" dirty="0" err="1"/>
              <a:t>Eliashberg</a:t>
            </a:r>
            <a:r>
              <a:rPr kumimoji="1" lang="en-US" altLang="ja-JP" sz="4400" b="1" dirty="0"/>
              <a:t> effect?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D9F1C4FC-C2DA-EF07-EFCE-F997C778F368}"/>
              </a:ext>
            </a:extLst>
          </p:cNvPr>
          <p:cNvSpPr txBox="1"/>
          <p:nvPr/>
        </p:nvSpPr>
        <p:spPr>
          <a:xfrm>
            <a:off x="6339919" y="21140"/>
            <a:ext cx="2114169" cy="76944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4400" b="1" dirty="0"/>
              <a:t>Higgs?</a:t>
            </a:r>
            <a:endParaRPr kumimoji="1" lang="ja-JP" altLang="en-US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C3457617-0B64-BD66-CA09-5DAB1597B42E}"/>
                  </a:ext>
                </a:extLst>
              </p:cNvPr>
              <p:cNvSpPr txBox="1"/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The variation of order parameter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does not appear in standard linear-response theories such as Mattis–Bardeen theory because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is an </a:t>
                </a:r>
                <a14:m>
                  <m:oMath xmlns:m="http://schemas.openxmlformats.org/officeDocument/2006/math">
                    <m:r>
                      <a:rPr kumimoji="1" lang="ja-JP" altLang="en-US" sz="2000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000" dirty="0"/>
                  <a:t> effect, but it does emerge in nonlinear response. </a:t>
                </a: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C3457617-0B64-BD66-CA09-5DAB1597B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blipFill>
                <a:blip r:embed="rId2"/>
                <a:stretch>
                  <a:fillRect l="-500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495F83DE-174B-1B3A-FE47-198E8D338483}"/>
                  </a:ext>
                </a:extLst>
              </p:cNvPr>
              <p:cNvSpPr txBox="1"/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6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sz="3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ja-JP" sz="3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36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en-US" altLang="ja-JP" sz="3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495F83DE-174B-1B3A-FE47-198E8D338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66459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EAA6D-5A06-A4F3-CAB1-5C5D1374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4F1856-97A7-A803-0851-13BF78CDB4B5}"/>
              </a:ext>
            </a:extLst>
          </p:cNvPr>
          <p:cNvSpPr txBox="1"/>
          <p:nvPr/>
        </p:nvSpPr>
        <p:spPr>
          <a:xfrm>
            <a:off x="361951" y="31761"/>
            <a:ext cx="545302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400" b="1" dirty="0" err="1"/>
              <a:t>Eliashberg</a:t>
            </a:r>
            <a:r>
              <a:rPr kumimoji="1" lang="en-US" altLang="ja-JP" sz="4400" b="1" dirty="0"/>
              <a:t> effect?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C8D974F8-AC74-5770-4F30-5BF676BDF194}"/>
              </a:ext>
            </a:extLst>
          </p:cNvPr>
          <p:cNvSpPr txBox="1"/>
          <p:nvPr/>
        </p:nvSpPr>
        <p:spPr>
          <a:xfrm>
            <a:off x="6339919" y="21140"/>
            <a:ext cx="2114169" cy="76944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4400" b="1" dirty="0"/>
              <a:t>Higgs?</a:t>
            </a:r>
            <a:endParaRPr kumimoji="1" lang="ja-JP" altLang="en-US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1E027D69-EEB5-C03B-D505-0CCBF50FD047}"/>
                  </a:ext>
                </a:extLst>
              </p:cNvPr>
              <p:cNvSpPr txBox="1"/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The variation of order parameter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does not appear in standard linear-response theories such as Mattis–Bardeen theory because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is an </a:t>
                </a:r>
                <a14:m>
                  <m:oMath xmlns:m="http://schemas.openxmlformats.org/officeDocument/2006/math">
                    <m:r>
                      <a:rPr kumimoji="1" lang="ja-JP" altLang="en-US" sz="2000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000" dirty="0"/>
                  <a:t> effect, but it does emerge in nonlinear response. </a:t>
                </a: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1E027D69-EEB5-C03B-D505-0CCBF50FD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blipFill>
                <a:blip r:embed="rId2"/>
                <a:stretch>
                  <a:fillRect l="-500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037ECEF8-6865-D367-386A-8D18C31902C0}"/>
                  </a:ext>
                </a:extLst>
              </p:cNvPr>
              <p:cNvSpPr txBox="1"/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6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sz="3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ja-JP" sz="3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36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en-US" altLang="ja-JP" sz="3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037ECEF8-6865-D367-386A-8D18C3190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C689A552-4277-B214-55F5-8B9073120233}"/>
                  </a:ext>
                </a:extLst>
              </p:cNvPr>
              <p:cNvSpPr txBox="1"/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4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4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C689A552-4277-B214-55F5-8B9073120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93927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E03B0-327F-DC7F-FCD5-20A76A3A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4F051FD-DA49-6963-314C-7D0DD43E107A}"/>
              </a:ext>
            </a:extLst>
          </p:cNvPr>
          <p:cNvSpPr txBox="1"/>
          <p:nvPr/>
        </p:nvSpPr>
        <p:spPr>
          <a:xfrm>
            <a:off x="361951" y="31761"/>
            <a:ext cx="545302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400" b="1" dirty="0" err="1"/>
              <a:t>Eliashberg</a:t>
            </a:r>
            <a:r>
              <a:rPr kumimoji="1" lang="en-US" altLang="ja-JP" sz="4400" b="1" dirty="0"/>
              <a:t> effect?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E08AB3A2-B26F-75EC-8E87-00F494F5AF85}"/>
              </a:ext>
            </a:extLst>
          </p:cNvPr>
          <p:cNvSpPr txBox="1"/>
          <p:nvPr/>
        </p:nvSpPr>
        <p:spPr>
          <a:xfrm>
            <a:off x="6339919" y="21140"/>
            <a:ext cx="2114169" cy="76944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4400" b="1" dirty="0"/>
              <a:t>Higgs?</a:t>
            </a:r>
            <a:endParaRPr kumimoji="1" lang="ja-JP" altLang="en-US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117BDF79-639B-B9C6-E3FF-474CC07C30B2}"/>
                  </a:ext>
                </a:extLst>
              </p:cNvPr>
              <p:cNvSpPr txBox="1"/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The variation of order parameter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does not appear in standard linear-response theories such as Mattis–Bardeen theory because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is an </a:t>
                </a:r>
                <a14:m>
                  <m:oMath xmlns:m="http://schemas.openxmlformats.org/officeDocument/2006/math">
                    <m:r>
                      <a:rPr kumimoji="1" lang="ja-JP" altLang="en-US" sz="2000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000" dirty="0"/>
                  <a:t> effect, but it does emerge in nonlinear response. </a:t>
                </a: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117BDF79-639B-B9C6-E3FF-474CC07C3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blipFill>
                <a:blip r:embed="rId2"/>
                <a:stretch>
                  <a:fillRect l="-500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161AD8D3-DE23-34C0-80B5-AD0A52069642}"/>
                  </a:ext>
                </a:extLst>
              </p:cNvPr>
              <p:cNvSpPr txBox="1"/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6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sz="3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ja-JP" sz="3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36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en-US" altLang="ja-JP" sz="3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161AD8D3-DE23-34C0-80B5-AD0A52069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B7645DCE-F78D-31AA-0B57-4360726F3E8D}"/>
              </a:ext>
            </a:extLst>
          </p:cNvPr>
          <p:cNvSpPr txBox="1"/>
          <p:nvPr/>
        </p:nvSpPr>
        <p:spPr>
          <a:xfrm>
            <a:off x="9127" y="2314527"/>
            <a:ext cx="5622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Time-averaged</a:t>
            </a:r>
            <a:r>
              <a:rPr kumimoji="1" lang="en-US" altLang="ja-JP" sz="2000" dirty="0"/>
              <a:t> nonequilibrium gap variation</a:t>
            </a:r>
            <a:endParaRPr kumimoji="1" lang="ja-JP" altLang="en-US" sz="2000" dirty="0"/>
          </a:p>
        </p:txBody>
      </p:sp>
      <p:sp>
        <p:nvSpPr>
          <p:cNvPr id="88" name="吹き出し: 四角形 87">
            <a:extLst>
              <a:ext uri="{FF2B5EF4-FFF2-40B4-BE49-F238E27FC236}">
                <a16:creationId xmlns:a16="http://schemas.microsoft.com/office/drawing/2014/main" id="{86D9B2D2-CDB6-2253-F268-2E52909505B0}"/>
              </a:ext>
            </a:extLst>
          </p:cNvPr>
          <p:cNvSpPr/>
          <p:nvPr/>
        </p:nvSpPr>
        <p:spPr>
          <a:xfrm>
            <a:off x="5524500" y="1377358"/>
            <a:ext cx="388300" cy="739579"/>
          </a:xfrm>
          <a:prstGeom prst="wedgeRectCallout">
            <a:avLst>
              <a:gd name="adj1" fmla="val -950520"/>
              <a:gd name="adj2" fmla="val 85682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6991DCBF-1600-915E-0D07-8B270F6942A1}"/>
                  </a:ext>
                </a:extLst>
              </p:cNvPr>
              <p:cNvSpPr txBox="1"/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4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4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6991DCBF-1600-915E-0D07-8B270F694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57816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E9F5-E41E-9B62-5D3C-1044C6F5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F4BAA3-6419-2EC5-74CE-2CBC7C4CC375}"/>
              </a:ext>
            </a:extLst>
          </p:cNvPr>
          <p:cNvSpPr txBox="1"/>
          <p:nvPr/>
        </p:nvSpPr>
        <p:spPr>
          <a:xfrm>
            <a:off x="361951" y="31761"/>
            <a:ext cx="545302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400" b="1" dirty="0" err="1"/>
              <a:t>Eliashberg</a:t>
            </a:r>
            <a:r>
              <a:rPr kumimoji="1" lang="en-US" altLang="ja-JP" sz="4400" b="1" dirty="0"/>
              <a:t> effect?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5A8E2AD-2782-E272-EF0D-980CEE65EC74}"/>
              </a:ext>
            </a:extLst>
          </p:cNvPr>
          <p:cNvSpPr txBox="1"/>
          <p:nvPr/>
        </p:nvSpPr>
        <p:spPr>
          <a:xfrm>
            <a:off x="6339919" y="21140"/>
            <a:ext cx="2114169" cy="76944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4400" b="1" dirty="0"/>
              <a:t>Higgs?</a:t>
            </a:r>
            <a:endParaRPr kumimoji="1" lang="ja-JP" altLang="en-US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CAD330E8-2964-237B-B7C5-C280CC388B23}"/>
                  </a:ext>
                </a:extLst>
              </p:cNvPr>
              <p:cNvSpPr txBox="1"/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The variation of order parameter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does not appear in standard linear-response theories such as Mattis–Bardeen theory because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is an </a:t>
                </a:r>
                <a14:m>
                  <m:oMath xmlns:m="http://schemas.openxmlformats.org/officeDocument/2006/math">
                    <m:r>
                      <a:rPr kumimoji="1" lang="ja-JP" altLang="en-US" sz="2000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000" dirty="0"/>
                  <a:t> effect, but it does emerge in nonlinear response. </a:t>
                </a: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CAD330E8-2964-237B-B7C5-C280CC388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blipFill>
                <a:blip r:embed="rId2"/>
                <a:stretch>
                  <a:fillRect l="-500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739B604E-A0A1-628D-4E8C-BC106FA399B6}"/>
                  </a:ext>
                </a:extLst>
              </p:cNvPr>
              <p:cNvSpPr txBox="1"/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6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sz="3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ja-JP" sz="3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36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en-US" altLang="ja-JP" sz="3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739B604E-A0A1-628D-4E8C-BC106FA39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0B5FC104-FCC3-5D65-F01D-25475597FD80}"/>
              </a:ext>
            </a:extLst>
          </p:cNvPr>
          <p:cNvSpPr txBox="1"/>
          <p:nvPr/>
        </p:nvSpPr>
        <p:spPr>
          <a:xfrm>
            <a:off x="9127" y="2314527"/>
            <a:ext cx="5622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Time-averaged</a:t>
            </a:r>
            <a:r>
              <a:rPr kumimoji="1" lang="en-US" altLang="ja-JP" sz="2000" dirty="0"/>
              <a:t> nonequilibrium gap variation</a:t>
            </a:r>
            <a:endParaRPr kumimoji="1" lang="ja-JP" altLang="en-US" sz="2000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A88A4A93-3164-D7AB-F7AF-518ADA9D150D}"/>
              </a:ext>
            </a:extLst>
          </p:cNvPr>
          <p:cNvSpPr txBox="1"/>
          <p:nvPr/>
        </p:nvSpPr>
        <p:spPr>
          <a:xfrm>
            <a:off x="6408818" y="2308533"/>
            <a:ext cx="5765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 dependent </a:t>
            </a:r>
            <a:r>
              <a:rPr kumimoji="1" lang="en-US" altLang="ja-JP" sz="2000" dirty="0"/>
              <a:t>nonequilibrium gap variation</a:t>
            </a:r>
            <a:endParaRPr kumimoji="1" lang="ja-JP" altLang="en-US" sz="2000" dirty="0"/>
          </a:p>
        </p:txBody>
      </p:sp>
      <p:sp>
        <p:nvSpPr>
          <p:cNvPr id="88" name="吹き出し: 四角形 87">
            <a:extLst>
              <a:ext uri="{FF2B5EF4-FFF2-40B4-BE49-F238E27FC236}">
                <a16:creationId xmlns:a16="http://schemas.microsoft.com/office/drawing/2014/main" id="{C6A322E1-4D6A-9075-0A56-F9492F9366FC}"/>
              </a:ext>
            </a:extLst>
          </p:cNvPr>
          <p:cNvSpPr/>
          <p:nvPr/>
        </p:nvSpPr>
        <p:spPr>
          <a:xfrm>
            <a:off x="5524500" y="1377358"/>
            <a:ext cx="388300" cy="739579"/>
          </a:xfrm>
          <a:prstGeom prst="wedgeRectCallout">
            <a:avLst>
              <a:gd name="adj1" fmla="val -950520"/>
              <a:gd name="adj2" fmla="val 85682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吹き出し: 四角形 88">
            <a:extLst>
              <a:ext uri="{FF2B5EF4-FFF2-40B4-BE49-F238E27FC236}">
                <a16:creationId xmlns:a16="http://schemas.microsoft.com/office/drawing/2014/main" id="{8D8D4A32-0E04-470A-8BAA-B034D406B4D5}"/>
              </a:ext>
            </a:extLst>
          </p:cNvPr>
          <p:cNvSpPr/>
          <p:nvPr/>
        </p:nvSpPr>
        <p:spPr>
          <a:xfrm>
            <a:off x="6391275" y="1387979"/>
            <a:ext cx="1819275" cy="739579"/>
          </a:xfrm>
          <a:prstGeom prst="wedgeRectCallout">
            <a:avLst>
              <a:gd name="adj1" fmla="val 49863"/>
              <a:gd name="adj2" fmla="val 88258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DC3488E3-F089-E77A-A1D5-A79BB6186E21}"/>
                  </a:ext>
                </a:extLst>
              </p:cNvPr>
              <p:cNvSpPr txBox="1"/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4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4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DC3488E3-F089-E77A-A1D5-A79BB618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09273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CA72-7F74-94CC-C942-D31CE40AC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8745F68-C1F2-8046-7D0B-40C1BDB7C644}"/>
              </a:ext>
            </a:extLst>
          </p:cNvPr>
          <p:cNvSpPr txBox="1"/>
          <p:nvPr/>
        </p:nvSpPr>
        <p:spPr>
          <a:xfrm>
            <a:off x="361951" y="31761"/>
            <a:ext cx="545302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400" b="1" dirty="0" err="1"/>
              <a:t>Eliashberg</a:t>
            </a:r>
            <a:r>
              <a:rPr kumimoji="1" lang="en-US" altLang="ja-JP" sz="4400" b="1" dirty="0"/>
              <a:t> effect?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E5D0A013-BE99-CCD2-0022-6DFDCA2AAC84}"/>
              </a:ext>
            </a:extLst>
          </p:cNvPr>
          <p:cNvSpPr txBox="1"/>
          <p:nvPr/>
        </p:nvSpPr>
        <p:spPr>
          <a:xfrm>
            <a:off x="6339919" y="21140"/>
            <a:ext cx="2114169" cy="76944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4400" b="1" dirty="0"/>
              <a:t>Higgs?</a:t>
            </a:r>
            <a:endParaRPr kumimoji="1" lang="ja-JP" altLang="en-US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43649239-6E63-E6CC-227A-325731D0F313}"/>
                  </a:ext>
                </a:extLst>
              </p:cNvPr>
              <p:cNvSpPr txBox="1"/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The variation of order parameter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does not appear in standard linear-response theories such as Mattis–Bardeen theory because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is an </a:t>
                </a:r>
                <a14:m>
                  <m:oMath xmlns:m="http://schemas.openxmlformats.org/officeDocument/2006/math">
                    <m:r>
                      <a:rPr kumimoji="1" lang="ja-JP" altLang="en-US" sz="2000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000" dirty="0"/>
                  <a:t> effect, but it does emerge in nonlinear response. </a:t>
                </a: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43649239-6E63-E6CC-227A-325731D0F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blipFill>
                <a:blip r:embed="rId2"/>
                <a:stretch>
                  <a:fillRect l="-500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F5CA8C0E-685E-C218-0FE2-D001D9EA45BE}"/>
                  </a:ext>
                </a:extLst>
              </p:cNvPr>
              <p:cNvSpPr txBox="1"/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6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sz="3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ja-JP" sz="3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36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en-US" altLang="ja-JP" sz="3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F5CA8C0E-685E-C218-0FE2-D001D9EA4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96DF384F-7E3A-91D9-08AB-951338862DF6}"/>
              </a:ext>
            </a:extLst>
          </p:cNvPr>
          <p:cNvSpPr txBox="1"/>
          <p:nvPr/>
        </p:nvSpPr>
        <p:spPr>
          <a:xfrm>
            <a:off x="9127" y="2314527"/>
            <a:ext cx="5622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Time-averaged</a:t>
            </a:r>
            <a:r>
              <a:rPr kumimoji="1" lang="en-US" altLang="ja-JP" sz="2000" dirty="0"/>
              <a:t> nonequilibrium gap variation</a:t>
            </a:r>
            <a:endParaRPr kumimoji="1" lang="ja-JP" altLang="en-US" sz="2000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A8DD6F6D-5339-24C5-8483-53A7F4018D1E}"/>
              </a:ext>
            </a:extLst>
          </p:cNvPr>
          <p:cNvSpPr txBox="1"/>
          <p:nvPr/>
        </p:nvSpPr>
        <p:spPr>
          <a:xfrm>
            <a:off x="6408818" y="2308533"/>
            <a:ext cx="5765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 dependent </a:t>
            </a:r>
            <a:r>
              <a:rPr kumimoji="1" lang="en-US" altLang="ja-JP" sz="2000" dirty="0"/>
              <a:t>nonequilibrium gap variation</a:t>
            </a:r>
            <a:endParaRPr kumimoji="1" lang="ja-JP" altLang="en-US" sz="2000" dirty="0"/>
          </a:p>
        </p:txBody>
      </p:sp>
      <p:sp>
        <p:nvSpPr>
          <p:cNvPr id="88" name="吹き出し: 四角形 87">
            <a:extLst>
              <a:ext uri="{FF2B5EF4-FFF2-40B4-BE49-F238E27FC236}">
                <a16:creationId xmlns:a16="http://schemas.microsoft.com/office/drawing/2014/main" id="{FE3479CC-78DF-495B-3E7A-CE2ACF2F2111}"/>
              </a:ext>
            </a:extLst>
          </p:cNvPr>
          <p:cNvSpPr/>
          <p:nvPr/>
        </p:nvSpPr>
        <p:spPr>
          <a:xfrm>
            <a:off x="5524500" y="1377358"/>
            <a:ext cx="388300" cy="739579"/>
          </a:xfrm>
          <a:prstGeom prst="wedgeRectCallout">
            <a:avLst>
              <a:gd name="adj1" fmla="val -950520"/>
              <a:gd name="adj2" fmla="val 85682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吹き出し: 四角形 88">
            <a:extLst>
              <a:ext uri="{FF2B5EF4-FFF2-40B4-BE49-F238E27FC236}">
                <a16:creationId xmlns:a16="http://schemas.microsoft.com/office/drawing/2014/main" id="{40C341AE-0596-77FB-A619-9AAD58F71D39}"/>
              </a:ext>
            </a:extLst>
          </p:cNvPr>
          <p:cNvSpPr/>
          <p:nvPr/>
        </p:nvSpPr>
        <p:spPr>
          <a:xfrm>
            <a:off x="6391275" y="1387979"/>
            <a:ext cx="1819275" cy="739579"/>
          </a:xfrm>
          <a:prstGeom prst="wedgeRectCallout">
            <a:avLst>
              <a:gd name="adj1" fmla="val 49863"/>
              <a:gd name="adj2" fmla="val 88258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92336190-823A-E6B7-7C10-6162B467A4A0}"/>
                  </a:ext>
                </a:extLst>
              </p:cNvPr>
              <p:cNvSpPr txBox="1"/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4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4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92336190-823A-E6B7-7C10-6162B467A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BB9CF5E9-3B49-7E3B-017E-88795B5654D6}"/>
              </a:ext>
            </a:extLst>
          </p:cNvPr>
          <p:cNvCxnSpPr/>
          <p:nvPr/>
        </p:nvCxnSpPr>
        <p:spPr>
          <a:xfrm>
            <a:off x="47625" y="5486400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6B619CA4-C665-8073-B006-4AAA5B7A8B8D}"/>
              </a:ext>
            </a:extLst>
          </p:cNvPr>
          <p:cNvCxnSpPr/>
          <p:nvPr/>
        </p:nvCxnSpPr>
        <p:spPr>
          <a:xfrm>
            <a:off x="47625" y="6400800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A1F108B3-CBB3-8AA8-161C-29B7FF22E9BA}"/>
              </a:ext>
            </a:extLst>
          </p:cNvPr>
          <p:cNvCxnSpPr>
            <a:cxnSpLocks/>
          </p:cNvCxnSpPr>
          <p:nvPr/>
        </p:nvCxnSpPr>
        <p:spPr>
          <a:xfrm flipV="1">
            <a:off x="733425" y="5486400"/>
            <a:ext cx="0" cy="914400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E061D2D2-C6EC-E606-5850-2670C1DC1A6B}"/>
                  </a:ext>
                </a:extLst>
              </p:cNvPr>
              <p:cNvSpPr txBox="1"/>
              <p:nvPr/>
            </p:nvSpPr>
            <p:spPr>
              <a:xfrm>
                <a:off x="800100" y="5691187"/>
                <a:ext cx="3478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200" b="0" i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E061D2D2-C6EC-E606-5850-2670C1DC1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5691187"/>
                <a:ext cx="347852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楕円 94">
            <a:extLst>
              <a:ext uri="{FF2B5EF4-FFF2-40B4-BE49-F238E27FC236}">
                <a16:creationId xmlns:a16="http://schemas.microsoft.com/office/drawing/2014/main" id="{A41C49E9-028A-EA57-2C38-2B134B867080}"/>
              </a:ext>
            </a:extLst>
          </p:cNvPr>
          <p:cNvSpPr>
            <a:spLocks noChangeAspect="1"/>
          </p:cNvSpPr>
          <p:nvPr/>
        </p:nvSpPr>
        <p:spPr>
          <a:xfrm>
            <a:off x="447675" y="5165176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CC5A5390-15F6-0430-D09D-322AF8998588}"/>
              </a:ext>
            </a:extLst>
          </p:cNvPr>
          <p:cNvSpPr>
            <a:spLocks noChangeAspect="1"/>
          </p:cNvSpPr>
          <p:nvPr/>
        </p:nvSpPr>
        <p:spPr>
          <a:xfrm>
            <a:off x="1128902" y="5155651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B1D221C9-7EE0-E292-4A7E-D25856FD37C3}"/>
              </a:ext>
            </a:extLst>
          </p:cNvPr>
          <p:cNvSpPr>
            <a:spLocks noChangeAspect="1"/>
          </p:cNvSpPr>
          <p:nvPr/>
        </p:nvSpPr>
        <p:spPr>
          <a:xfrm>
            <a:off x="1481706" y="4966751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楕円 97">
            <a:extLst>
              <a:ext uri="{FF2B5EF4-FFF2-40B4-BE49-F238E27FC236}">
                <a16:creationId xmlns:a16="http://schemas.microsoft.com/office/drawing/2014/main" id="{0C6F4A24-D48A-71B2-5D05-2492AA6C4C3D}"/>
              </a:ext>
            </a:extLst>
          </p:cNvPr>
          <p:cNvSpPr>
            <a:spLocks noChangeAspect="1"/>
          </p:cNvSpPr>
          <p:nvPr/>
        </p:nvSpPr>
        <p:spPr>
          <a:xfrm>
            <a:off x="800100" y="4961344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楕円 98">
            <a:extLst>
              <a:ext uri="{FF2B5EF4-FFF2-40B4-BE49-F238E27FC236}">
                <a16:creationId xmlns:a16="http://schemas.microsoft.com/office/drawing/2014/main" id="{EAFC1518-C27D-7A6B-DF1D-A446A60B864B}"/>
              </a:ext>
            </a:extLst>
          </p:cNvPr>
          <p:cNvSpPr>
            <a:spLocks noChangeAspect="1"/>
          </p:cNvSpPr>
          <p:nvPr/>
        </p:nvSpPr>
        <p:spPr>
          <a:xfrm>
            <a:off x="316422" y="481641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楕円 99">
            <a:extLst>
              <a:ext uri="{FF2B5EF4-FFF2-40B4-BE49-F238E27FC236}">
                <a16:creationId xmlns:a16="http://schemas.microsoft.com/office/drawing/2014/main" id="{FC79EE45-0AB3-1C72-8092-6A24C6763A86}"/>
              </a:ext>
            </a:extLst>
          </p:cNvPr>
          <p:cNvSpPr>
            <a:spLocks noChangeAspect="1"/>
          </p:cNvSpPr>
          <p:nvPr/>
        </p:nvSpPr>
        <p:spPr>
          <a:xfrm>
            <a:off x="1147952" y="479648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楕円 100">
            <a:extLst>
              <a:ext uri="{FF2B5EF4-FFF2-40B4-BE49-F238E27FC236}">
                <a16:creationId xmlns:a16="http://schemas.microsoft.com/office/drawing/2014/main" id="{8A9F8A51-62F2-91E4-0DB4-21623F74D290}"/>
              </a:ext>
            </a:extLst>
          </p:cNvPr>
          <p:cNvSpPr>
            <a:spLocks noChangeAspect="1"/>
          </p:cNvSpPr>
          <p:nvPr/>
        </p:nvSpPr>
        <p:spPr>
          <a:xfrm>
            <a:off x="1836607" y="489055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楕円 101">
            <a:extLst>
              <a:ext uri="{FF2B5EF4-FFF2-40B4-BE49-F238E27FC236}">
                <a16:creationId xmlns:a16="http://schemas.microsoft.com/office/drawing/2014/main" id="{CF120B38-8F65-E218-2927-5ED4B074ED49}"/>
              </a:ext>
            </a:extLst>
          </p:cNvPr>
          <p:cNvSpPr>
            <a:spLocks noChangeAspect="1"/>
          </p:cNvSpPr>
          <p:nvPr/>
        </p:nvSpPr>
        <p:spPr>
          <a:xfrm>
            <a:off x="2059655" y="509381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331320-E29E-29D0-5AD7-1DCE98A30EE6}"/>
              </a:ext>
            </a:extLst>
          </p:cNvPr>
          <p:cNvSpPr txBox="1"/>
          <p:nvPr/>
        </p:nvSpPr>
        <p:spPr>
          <a:xfrm>
            <a:off x="341539" y="4467910"/>
            <a:ext cx="1680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</a:rPr>
              <a:t>qausiparticles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2139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818A-8EA1-3F58-DF41-FCF1755B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2006E32-4364-4540-9941-62382B5835A4}"/>
              </a:ext>
            </a:extLst>
          </p:cNvPr>
          <p:cNvSpPr txBox="1"/>
          <p:nvPr/>
        </p:nvSpPr>
        <p:spPr>
          <a:xfrm>
            <a:off x="361951" y="31761"/>
            <a:ext cx="545302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400" b="1" dirty="0" err="1"/>
              <a:t>Eliashberg</a:t>
            </a:r>
            <a:r>
              <a:rPr kumimoji="1" lang="en-US" altLang="ja-JP" sz="4400" b="1" dirty="0"/>
              <a:t> effect?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33300AD-1943-D6CA-FE4B-B16556C032A6}"/>
              </a:ext>
            </a:extLst>
          </p:cNvPr>
          <p:cNvSpPr txBox="1"/>
          <p:nvPr/>
        </p:nvSpPr>
        <p:spPr>
          <a:xfrm>
            <a:off x="6339919" y="21140"/>
            <a:ext cx="2114169" cy="76944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4400" b="1" dirty="0"/>
              <a:t>Higgs?</a:t>
            </a:r>
            <a:endParaRPr kumimoji="1" lang="ja-JP" altLang="en-US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5AEC203F-CCE6-FC1D-5505-D643FF69F336}"/>
                  </a:ext>
                </a:extLst>
              </p:cNvPr>
              <p:cNvSpPr txBox="1"/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The variation of order parameter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does not appear in standard linear-response theories such as Mattis–Bardeen theory because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is an </a:t>
                </a:r>
                <a14:m>
                  <m:oMath xmlns:m="http://schemas.openxmlformats.org/officeDocument/2006/math">
                    <m:r>
                      <a:rPr kumimoji="1" lang="ja-JP" altLang="en-US" sz="2000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000" dirty="0"/>
                  <a:t> effect, but it does emerge in nonlinear response. </a:t>
                </a: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5AEC203F-CCE6-FC1D-5505-D643FF69F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blipFill>
                <a:blip r:embed="rId2"/>
                <a:stretch>
                  <a:fillRect l="-500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35D4791B-18E6-ABF4-CF3C-DA4610A78AB9}"/>
                  </a:ext>
                </a:extLst>
              </p:cNvPr>
              <p:cNvSpPr txBox="1"/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6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sz="3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ja-JP" sz="3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36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en-US" altLang="ja-JP" sz="3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35D4791B-18E6-ABF4-CF3C-DA4610A78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C9F8826D-7843-C6A7-6EFA-040FB3FC2953}"/>
              </a:ext>
            </a:extLst>
          </p:cNvPr>
          <p:cNvSpPr txBox="1"/>
          <p:nvPr/>
        </p:nvSpPr>
        <p:spPr>
          <a:xfrm>
            <a:off x="9127" y="2314527"/>
            <a:ext cx="5622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Time-averaged</a:t>
            </a:r>
            <a:r>
              <a:rPr kumimoji="1" lang="en-US" altLang="ja-JP" sz="2000" dirty="0"/>
              <a:t> nonequilibrium gap variation</a:t>
            </a:r>
            <a:endParaRPr kumimoji="1" lang="ja-JP" altLang="en-US" sz="2000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8D578610-09A3-DAD9-86D4-B1938C0742C8}"/>
              </a:ext>
            </a:extLst>
          </p:cNvPr>
          <p:cNvSpPr txBox="1"/>
          <p:nvPr/>
        </p:nvSpPr>
        <p:spPr>
          <a:xfrm>
            <a:off x="6408818" y="2308533"/>
            <a:ext cx="5765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 dependent </a:t>
            </a:r>
            <a:r>
              <a:rPr kumimoji="1" lang="en-US" altLang="ja-JP" sz="2000" dirty="0"/>
              <a:t>nonequilibrium gap variation</a:t>
            </a:r>
            <a:endParaRPr kumimoji="1" lang="ja-JP" altLang="en-US" sz="2000" dirty="0"/>
          </a:p>
        </p:txBody>
      </p:sp>
      <p:sp>
        <p:nvSpPr>
          <p:cNvPr id="88" name="吹き出し: 四角形 87">
            <a:extLst>
              <a:ext uri="{FF2B5EF4-FFF2-40B4-BE49-F238E27FC236}">
                <a16:creationId xmlns:a16="http://schemas.microsoft.com/office/drawing/2014/main" id="{40E72EA1-A05A-1C21-351A-398039A81B43}"/>
              </a:ext>
            </a:extLst>
          </p:cNvPr>
          <p:cNvSpPr/>
          <p:nvPr/>
        </p:nvSpPr>
        <p:spPr>
          <a:xfrm>
            <a:off x="5524500" y="1377358"/>
            <a:ext cx="388300" cy="739579"/>
          </a:xfrm>
          <a:prstGeom prst="wedgeRectCallout">
            <a:avLst>
              <a:gd name="adj1" fmla="val -950520"/>
              <a:gd name="adj2" fmla="val 85682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吹き出し: 四角形 88">
            <a:extLst>
              <a:ext uri="{FF2B5EF4-FFF2-40B4-BE49-F238E27FC236}">
                <a16:creationId xmlns:a16="http://schemas.microsoft.com/office/drawing/2014/main" id="{16CFE7C4-5C77-AA60-C37D-3C355AA2C120}"/>
              </a:ext>
            </a:extLst>
          </p:cNvPr>
          <p:cNvSpPr/>
          <p:nvPr/>
        </p:nvSpPr>
        <p:spPr>
          <a:xfrm>
            <a:off x="6391275" y="1387979"/>
            <a:ext cx="1819275" cy="739579"/>
          </a:xfrm>
          <a:prstGeom prst="wedgeRectCallout">
            <a:avLst>
              <a:gd name="adj1" fmla="val 49863"/>
              <a:gd name="adj2" fmla="val 88258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260DA5E0-F207-5D33-D4B8-CA8B063DF050}"/>
                  </a:ext>
                </a:extLst>
              </p:cNvPr>
              <p:cNvSpPr txBox="1"/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4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4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260DA5E0-F207-5D33-D4B8-CA8B063DF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11F3342A-6755-47A1-EB44-39F5281E4AE9}"/>
              </a:ext>
            </a:extLst>
          </p:cNvPr>
          <p:cNvCxnSpPr/>
          <p:nvPr/>
        </p:nvCxnSpPr>
        <p:spPr>
          <a:xfrm>
            <a:off x="47625" y="5486400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1AD0D2F1-325F-3F6D-6211-6089788FAD01}"/>
              </a:ext>
            </a:extLst>
          </p:cNvPr>
          <p:cNvCxnSpPr/>
          <p:nvPr/>
        </p:nvCxnSpPr>
        <p:spPr>
          <a:xfrm>
            <a:off x="47625" y="6400800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BA36AC0B-735A-125B-B99E-A66645C7A3BB}"/>
              </a:ext>
            </a:extLst>
          </p:cNvPr>
          <p:cNvCxnSpPr>
            <a:cxnSpLocks/>
          </p:cNvCxnSpPr>
          <p:nvPr/>
        </p:nvCxnSpPr>
        <p:spPr>
          <a:xfrm flipV="1">
            <a:off x="733425" y="5486400"/>
            <a:ext cx="0" cy="914400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B29231BB-3A12-DA06-DD86-2C75A071483F}"/>
                  </a:ext>
                </a:extLst>
              </p:cNvPr>
              <p:cNvSpPr txBox="1"/>
              <p:nvPr/>
            </p:nvSpPr>
            <p:spPr>
              <a:xfrm>
                <a:off x="800100" y="5691187"/>
                <a:ext cx="3478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200" b="0" i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B29231BB-3A12-DA06-DD86-2C75A0714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5691187"/>
                <a:ext cx="347852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楕円 94">
            <a:extLst>
              <a:ext uri="{FF2B5EF4-FFF2-40B4-BE49-F238E27FC236}">
                <a16:creationId xmlns:a16="http://schemas.microsoft.com/office/drawing/2014/main" id="{F016CBE0-299E-C012-D243-365B6F16099B}"/>
              </a:ext>
            </a:extLst>
          </p:cNvPr>
          <p:cNvSpPr>
            <a:spLocks noChangeAspect="1"/>
          </p:cNvSpPr>
          <p:nvPr/>
        </p:nvSpPr>
        <p:spPr>
          <a:xfrm>
            <a:off x="447675" y="5165176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56B665CA-6699-1074-F6F7-A6592CCB2CAD}"/>
              </a:ext>
            </a:extLst>
          </p:cNvPr>
          <p:cNvSpPr>
            <a:spLocks noChangeAspect="1"/>
          </p:cNvSpPr>
          <p:nvPr/>
        </p:nvSpPr>
        <p:spPr>
          <a:xfrm>
            <a:off x="1128902" y="5155651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22F36EB4-AA22-3E13-6004-5690EA6B1150}"/>
              </a:ext>
            </a:extLst>
          </p:cNvPr>
          <p:cNvSpPr>
            <a:spLocks noChangeAspect="1"/>
          </p:cNvSpPr>
          <p:nvPr/>
        </p:nvSpPr>
        <p:spPr>
          <a:xfrm>
            <a:off x="1481706" y="4966751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楕円 97">
            <a:extLst>
              <a:ext uri="{FF2B5EF4-FFF2-40B4-BE49-F238E27FC236}">
                <a16:creationId xmlns:a16="http://schemas.microsoft.com/office/drawing/2014/main" id="{7E35A334-EAD9-005F-BC79-A7DF467AA11F}"/>
              </a:ext>
            </a:extLst>
          </p:cNvPr>
          <p:cNvSpPr>
            <a:spLocks noChangeAspect="1"/>
          </p:cNvSpPr>
          <p:nvPr/>
        </p:nvSpPr>
        <p:spPr>
          <a:xfrm>
            <a:off x="800100" y="4961344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楕円 98">
            <a:extLst>
              <a:ext uri="{FF2B5EF4-FFF2-40B4-BE49-F238E27FC236}">
                <a16:creationId xmlns:a16="http://schemas.microsoft.com/office/drawing/2014/main" id="{F8E2CC80-8E42-A0AF-DA76-A52FE21ABAB6}"/>
              </a:ext>
            </a:extLst>
          </p:cNvPr>
          <p:cNvSpPr>
            <a:spLocks noChangeAspect="1"/>
          </p:cNvSpPr>
          <p:nvPr/>
        </p:nvSpPr>
        <p:spPr>
          <a:xfrm>
            <a:off x="316422" y="481641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楕円 99">
            <a:extLst>
              <a:ext uri="{FF2B5EF4-FFF2-40B4-BE49-F238E27FC236}">
                <a16:creationId xmlns:a16="http://schemas.microsoft.com/office/drawing/2014/main" id="{4384FB60-39BB-1BF9-7A03-BDB482904BC6}"/>
              </a:ext>
            </a:extLst>
          </p:cNvPr>
          <p:cNvSpPr>
            <a:spLocks noChangeAspect="1"/>
          </p:cNvSpPr>
          <p:nvPr/>
        </p:nvSpPr>
        <p:spPr>
          <a:xfrm>
            <a:off x="1147952" y="479648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楕円 100">
            <a:extLst>
              <a:ext uri="{FF2B5EF4-FFF2-40B4-BE49-F238E27FC236}">
                <a16:creationId xmlns:a16="http://schemas.microsoft.com/office/drawing/2014/main" id="{C72FFB1F-2A18-024A-9548-DEF90F2053B0}"/>
              </a:ext>
            </a:extLst>
          </p:cNvPr>
          <p:cNvSpPr>
            <a:spLocks noChangeAspect="1"/>
          </p:cNvSpPr>
          <p:nvPr/>
        </p:nvSpPr>
        <p:spPr>
          <a:xfrm>
            <a:off x="1836607" y="489055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楕円 101">
            <a:extLst>
              <a:ext uri="{FF2B5EF4-FFF2-40B4-BE49-F238E27FC236}">
                <a16:creationId xmlns:a16="http://schemas.microsoft.com/office/drawing/2014/main" id="{40B76BDD-DA9D-21CB-F391-4BD996F5DBD0}"/>
              </a:ext>
            </a:extLst>
          </p:cNvPr>
          <p:cNvSpPr>
            <a:spLocks noChangeAspect="1"/>
          </p:cNvSpPr>
          <p:nvPr/>
        </p:nvSpPr>
        <p:spPr>
          <a:xfrm>
            <a:off x="2059655" y="509381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565E3B2B-4881-A697-76BD-0BCE098D9950}"/>
              </a:ext>
            </a:extLst>
          </p:cNvPr>
          <p:cNvCxnSpPr/>
          <p:nvPr/>
        </p:nvCxnSpPr>
        <p:spPr>
          <a:xfrm>
            <a:off x="3299001" y="4810125"/>
            <a:ext cx="240982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198B745-CE9B-99BA-88B7-EA1AC7195D81}"/>
              </a:ext>
            </a:extLst>
          </p:cNvPr>
          <p:cNvCxnSpPr/>
          <p:nvPr/>
        </p:nvCxnSpPr>
        <p:spPr>
          <a:xfrm>
            <a:off x="3299001" y="6400800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AE881085-591B-698F-4721-D098A8A5A53B}"/>
              </a:ext>
            </a:extLst>
          </p:cNvPr>
          <p:cNvCxnSpPr>
            <a:cxnSpLocks/>
          </p:cNvCxnSpPr>
          <p:nvPr/>
        </p:nvCxnSpPr>
        <p:spPr>
          <a:xfrm flipV="1">
            <a:off x="3556176" y="5486400"/>
            <a:ext cx="0" cy="914400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BDC0E7CD-4AF2-A5CB-E17C-8E0AC0792F1E}"/>
                  </a:ext>
                </a:extLst>
              </p:cNvPr>
              <p:cNvSpPr txBox="1"/>
              <p:nvPr/>
            </p:nvSpPr>
            <p:spPr>
              <a:xfrm>
                <a:off x="3622851" y="5691187"/>
                <a:ext cx="3478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200" b="0" i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BDC0E7CD-4AF2-A5CB-E17C-8E0AC0792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851" y="5691187"/>
                <a:ext cx="347852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楕円 106">
            <a:extLst>
              <a:ext uri="{FF2B5EF4-FFF2-40B4-BE49-F238E27FC236}">
                <a16:creationId xmlns:a16="http://schemas.microsoft.com/office/drawing/2014/main" id="{83866933-5EE6-1F0D-A67D-C2964BFC93DB}"/>
              </a:ext>
            </a:extLst>
          </p:cNvPr>
          <p:cNvSpPr>
            <a:spLocks noChangeAspect="1"/>
          </p:cNvSpPr>
          <p:nvPr/>
        </p:nvSpPr>
        <p:spPr>
          <a:xfrm>
            <a:off x="3699051" y="4469851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CDFEAED7-CCCA-B7A1-3CBD-957C1629CA70}"/>
              </a:ext>
            </a:extLst>
          </p:cNvPr>
          <p:cNvSpPr>
            <a:spLocks noChangeAspect="1"/>
          </p:cNvSpPr>
          <p:nvPr/>
        </p:nvSpPr>
        <p:spPr>
          <a:xfrm>
            <a:off x="4380278" y="4460326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6CBE1C26-9DA6-EBD3-FF8D-102D9F3B9C03}"/>
              </a:ext>
            </a:extLst>
          </p:cNvPr>
          <p:cNvSpPr>
            <a:spLocks noChangeAspect="1"/>
          </p:cNvSpPr>
          <p:nvPr/>
        </p:nvSpPr>
        <p:spPr>
          <a:xfrm>
            <a:off x="4733082" y="4271426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2AC67435-C78C-761B-EA8F-BA76E96B07A7}"/>
              </a:ext>
            </a:extLst>
          </p:cNvPr>
          <p:cNvSpPr>
            <a:spLocks noChangeAspect="1"/>
          </p:cNvSpPr>
          <p:nvPr/>
        </p:nvSpPr>
        <p:spPr>
          <a:xfrm>
            <a:off x="4051476" y="4266019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EE1DE506-ABF1-870B-1789-69A30B7F1163}"/>
              </a:ext>
            </a:extLst>
          </p:cNvPr>
          <p:cNvSpPr>
            <a:spLocks noChangeAspect="1"/>
          </p:cNvSpPr>
          <p:nvPr/>
        </p:nvSpPr>
        <p:spPr>
          <a:xfrm>
            <a:off x="3567798" y="412108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66793598-7AB4-BA2C-50CB-95BB05880A48}"/>
              </a:ext>
            </a:extLst>
          </p:cNvPr>
          <p:cNvSpPr>
            <a:spLocks noChangeAspect="1"/>
          </p:cNvSpPr>
          <p:nvPr/>
        </p:nvSpPr>
        <p:spPr>
          <a:xfrm>
            <a:off x="4399328" y="410115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楕円 112">
            <a:extLst>
              <a:ext uri="{FF2B5EF4-FFF2-40B4-BE49-F238E27FC236}">
                <a16:creationId xmlns:a16="http://schemas.microsoft.com/office/drawing/2014/main" id="{3974C37C-E9DB-05AF-60B2-AA5AD342DDE5}"/>
              </a:ext>
            </a:extLst>
          </p:cNvPr>
          <p:cNvSpPr>
            <a:spLocks noChangeAspect="1"/>
          </p:cNvSpPr>
          <p:nvPr/>
        </p:nvSpPr>
        <p:spPr>
          <a:xfrm>
            <a:off x="5087983" y="419522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楕円 113">
            <a:extLst>
              <a:ext uri="{FF2B5EF4-FFF2-40B4-BE49-F238E27FC236}">
                <a16:creationId xmlns:a16="http://schemas.microsoft.com/office/drawing/2014/main" id="{2F19E6D5-8A0C-7058-7A0F-0647479B6858}"/>
              </a:ext>
            </a:extLst>
          </p:cNvPr>
          <p:cNvSpPr>
            <a:spLocks noChangeAspect="1"/>
          </p:cNvSpPr>
          <p:nvPr/>
        </p:nvSpPr>
        <p:spPr>
          <a:xfrm>
            <a:off x="5311031" y="439849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矢印: 右 114">
            <a:extLst>
              <a:ext uri="{FF2B5EF4-FFF2-40B4-BE49-F238E27FC236}">
                <a16:creationId xmlns:a16="http://schemas.microsoft.com/office/drawing/2014/main" id="{9D53604D-7E92-DC3F-D507-8AAF1657858A}"/>
              </a:ext>
            </a:extLst>
          </p:cNvPr>
          <p:cNvSpPr/>
          <p:nvPr/>
        </p:nvSpPr>
        <p:spPr>
          <a:xfrm>
            <a:off x="2598864" y="5090815"/>
            <a:ext cx="584752" cy="65646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6" name="図 115">
            <a:extLst>
              <a:ext uri="{FF2B5EF4-FFF2-40B4-BE49-F238E27FC236}">
                <a16:creationId xmlns:a16="http://schemas.microsoft.com/office/drawing/2014/main" id="{FA4E6312-D4B8-2ED7-4E40-46597DFEE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30850">
            <a:off x="2372531" y="3560648"/>
            <a:ext cx="1332734" cy="284692"/>
          </a:xfrm>
          <a:prstGeom prst="rect">
            <a:avLst/>
          </a:prstGeom>
        </p:spPr>
      </p:pic>
      <p:pic>
        <p:nvPicPr>
          <p:cNvPr id="117" name="図 116">
            <a:extLst>
              <a:ext uri="{FF2B5EF4-FFF2-40B4-BE49-F238E27FC236}">
                <a16:creationId xmlns:a16="http://schemas.microsoft.com/office/drawing/2014/main" id="{A26521E8-3BF4-3269-BCCC-D37A1B87AC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30850">
            <a:off x="4338445" y="3414189"/>
            <a:ext cx="1332734" cy="284692"/>
          </a:xfrm>
          <a:prstGeom prst="rect">
            <a:avLst/>
          </a:prstGeom>
        </p:spPr>
      </p:pic>
      <p:pic>
        <p:nvPicPr>
          <p:cNvPr id="118" name="図 117">
            <a:extLst>
              <a:ext uri="{FF2B5EF4-FFF2-40B4-BE49-F238E27FC236}">
                <a16:creationId xmlns:a16="http://schemas.microsoft.com/office/drawing/2014/main" id="{9A360352-C4E3-8EEF-8BA2-A051B94122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30850">
            <a:off x="2952020" y="3482692"/>
            <a:ext cx="1332734" cy="284692"/>
          </a:xfrm>
          <a:prstGeom prst="rect">
            <a:avLst/>
          </a:prstGeom>
        </p:spPr>
      </p:pic>
      <p:pic>
        <p:nvPicPr>
          <p:cNvPr id="119" name="図 118">
            <a:extLst>
              <a:ext uri="{FF2B5EF4-FFF2-40B4-BE49-F238E27FC236}">
                <a16:creationId xmlns:a16="http://schemas.microsoft.com/office/drawing/2014/main" id="{553FCE82-E172-9F1A-15CF-96605F28B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30850">
            <a:off x="3548017" y="3247785"/>
            <a:ext cx="1332734" cy="284692"/>
          </a:xfrm>
          <a:prstGeom prst="rect">
            <a:avLst/>
          </a:prstGeom>
        </p:spPr>
      </p:pic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AA1B9794-935E-40BF-05D2-C3FC5A7D70CA}"/>
              </a:ext>
            </a:extLst>
          </p:cNvPr>
          <p:cNvCxnSpPr>
            <a:cxnSpLocks/>
          </p:cNvCxnSpPr>
          <p:nvPr/>
        </p:nvCxnSpPr>
        <p:spPr>
          <a:xfrm flipV="1">
            <a:off x="3556176" y="4878851"/>
            <a:ext cx="0" cy="624548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テキスト ボックス 120">
                <a:extLst>
                  <a:ext uri="{FF2B5EF4-FFF2-40B4-BE49-F238E27FC236}">
                    <a16:creationId xmlns:a16="http://schemas.microsoft.com/office/drawing/2014/main" id="{80858940-98C2-4261-7D4C-20907A9461C6}"/>
                  </a:ext>
                </a:extLst>
              </p:cNvPr>
              <p:cNvSpPr txBox="1"/>
              <p:nvPr/>
            </p:nvSpPr>
            <p:spPr>
              <a:xfrm>
                <a:off x="3687386" y="4948209"/>
                <a:ext cx="5690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200" b="0" i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21" name="テキスト ボックス 120">
                <a:extLst>
                  <a:ext uri="{FF2B5EF4-FFF2-40B4-BE49-F238E27FC236}">
                    <a16:creationId xmlns:a16="http://schemas.microsoft.com/office/drawing/2014/main" id="{80858940-98C2-4261-7D4C-20907A946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386" y="4948209"/>
                <a:ext cx="56906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0ECE7EBC-3E32-882D-0A26-24FBFB7CA615}"/>
              </a:ext>
            </a:extLst>
          </p:cNvPr>
          <p:cNvCxnSpPr/>
          <p:nvPr/>
        </p:nvCxnSpPr>
        <p:spPr>
          <a:xfrm>
            <a:off x="3291847" y="5495925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D91100F5-380E-0FCF-E538-2C9CE0C23D1C}"/>
              </a:ext>
            </a:extLst>
          </p:cNvPr>
          <p:cNvSpPr txBox="1"/>
          <p:nvPr/>
        </p:nvSpPr>
        <p:spPr>
          <a:xfrm>
            <a:off x="4219509" y="4947200"/>
            <a:ext cx="181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b="1" dirty="0"/>
              <a:t>Microwave induced </a:t>
            </a:r>
          </a:p>
          <a:p>
            <a:r>
              <a:rPr kumimoji="1" lang="en-US" altLang="ja-JP" sz="1200" b="1" dirty="0"/>
              <a:t>gap enhancement</a:t>
            </a:r>
            <a:endParaRPr lang="ja-JP" altLang="en-US" sz="12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9F7319-087E-5472-1E4C-E07A626AA91C}"/>
              </a:ext>
            </a:extLst>
          </p:cNvPr>
          <p:cNvSpPr txBox="1"/>
          <p:nvPr/>
        </p:nvSpPr>
        <p:spPr>
          <a:xfrm>
            <a:off x="341539" y="4467910"/>
            <a:ext cx="1680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</a:rPr>
              <a:t>qausiparticles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91041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DE54-5825-B395-C266-FE44C6DF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8DD2F9-43AA-4639-4D10-6A82AC844843}"/>
              </a:ext>
            </a:extLst>
          </p:cNvPr>
          <p:cNvSpPr txBox="1"/>
          <p:nvPr/>
        </p:nvSpPr>
        <p:spPr>
          <a:xfrm>
            <a:off x="361951" y="31761"/>
            <a:ext cx="545302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4400" b="1" dirty="0" err="1"/>
              <a:t>Eliashberg</a:t>
            </a:r>
            <a:r>
              <a:rPr kumimoji="1" lang="en-US" altLang="ja-JP" sz="4400" b="1" dirty="0"/>
              <a:t> effect?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E45C4128-5292-85EA-7906-9CB853F19D70}"/>
              </a:ext>
            </a:extLst>
          </p:cNvPr>
          <p:cNvSpPr txBox="1"/>
          <p:nvPr/>
        </p:nvSpPr>
        <p:spPr>
          <a:xfrm>
            <a:off x="6339919" y="21140"/>
            <a:ext cx="2114169" cy="76944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4400" b="1" dirty="0"/>
              <a:t>Higgs?</a:t>
            </a:r>
            <a:endParaRPr kumimoji="1" lang="ja-JP" altLang="en-US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48B041B9-6548-113F-0375-21CDCD64E419}"/>
                  </a:ext>
                </a:extLst>
              </p:cNvPr>
              <p:cNvSpPr txBox="1"/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The variation of order parameter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does not appear in standard linear-response theories such as Mattis–Bardeen theory because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0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 is an </a:t>
                </a:r>
                <a14:m>
                  <m:oMath xmlns:m="http://schemas.openxmlformats.org/officeDocument/2006/math">
                    <m:r>
                      <a:rPr kumimoji="1" lang="ja-JP" altLang="en-US" sz="2000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000" dirty="0"/>
                  <a:t> effect, but it does emerge in nonlinear response. </a:t>
                </a: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48B041B9-6548-113F-0375-21CDCD64E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20406"/>
                <a:ext cx="12192001" cy="707886"/>
              </a:xfrm>
              <a:prstGeom prst="rect">
                <a:avLst/>
              </a:prstGeom>
              <a:blipFill>
                <a:blip r:embed="rId2"/>
                <a:stretch>
                  <a:fillRect l="-500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75C9DC32-4634-BA4A-9D9E-06981A5893A8}"/>
                  </a:ext>
                </a:extLst>
              </p:cNvPr>
              <p:cNvSpPr txBox="1"/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6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sz="3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ja-JP" sz="3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36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en-US" altLang="ja-JP" sz="3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3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3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75C9DC32-4634-BA4A-9D9E-06981A589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1377358"/>
                <a:ext cx="4114800" cy="6572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17BB11D9-75D6-FDB9-382B-C3C654E47B1E}"/>
              </a:ext>
            </a:extLst>
          </p:cNvPr>
          <p:cNvSpPr txBox="1"/>
          <p:nvPr/>
        </p:nvSpPr>
        <p:spPr>
          <a:xfrm>
            <a:off x="9127" y="2314527"/>
            <a:ext cx="5622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Time-averaged</a:t>
            </a:r>
            <a:r>
              <a:rPr kumimoji="1" lang="en-US" altLang="ja-JP" sz="2000" dirty="0"/>
              <a:t> nonequilibrium gap variation</a:t>
            </a:r>
            <a:endParaRPr kumimoji="1" lang="ja-JP" altLang="en-US" sz="2000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1997CF3A-E40D-9A64-23D1-7EC6467B5330}"/>
              </a:ext>
            </a:extLst>
          </p:cNvPr>
          <p:cNvSpPr txBox="1"/>
          <p:nvPr/>
        </p:nvSpPr>
        <p:spPr>
          <a:xfrm>
            <a:off x="6408818" y="2308533"/>
            <a:ext cx="5765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/>
              <a:t>Time dependent </a:t>
            </a:r>
            <a:r>
              <a:rPr kumimoji="1" lang="en-US" altLang="ja-JP" sz="2000" dirty="0"/>
              <a:t>nonequilibrium gap variation</a:t>
            </a:r>
            <a:endParaRPr kumimoji="1" lang="ja-JP" altLang="en-US" sz="2000" dirty="0"/>
          </a:p>
        </p:txBody>
      </p:sp>
      <p:sp>
        <p:nvSpPr>
          <p:cNvPr id="88" name="吹き出し: 四角形 87">
            <a:extLst>
              <a:ext uri="{FF2B5EF4-FFF2-40B4-BE49-F238E27FC236}">
                <a16:creationId xmlns:a16="http://schemas.microsoft.com/office/drawing/2014/main" id="{26FE9953-E819-6566-F948-734D126E4271}"/>
              </a:ext>
            </a:extLst>
          </p:cNvPr>
          <p:cNvSpPr/>
          <p:nvPr/>
        </p:nvSpPr>
        <p:spPr>
          <a:xfrm>
            <a:off x="5524500" y="1377358"/>
            <a:ext cx="388300" cy="739579"/>
          </a:xfrm>
          <a:prstGeom prst="wedgeRectCallout">
            <a:avLst>
              <a:gd name="adj1" fmla="val -950520"/>
              <a:gd name="adj2" fmla="val 85682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吹き出し: 四角形 88">
            <a:extLst>
              <a:ext uri="{FF2B5EF4-FFF2-40B4-BE49-F238E27FC236}">
                <a16:creationId xmlns:a16="http://schemas.microsoft.com/office/drawing/2014/main" id="{18D55CEE-1055-69FF-9ADE-C0A8BDD171A4}"/>
              </a:ext>
            </a:extLst>
          </p:cNvPr>
          <p:cNvSpPr/>
          <p:nvPr/>
        </p:nvSpPr>
        <p:spPr>
          <a:xfrm>
            <a:off x="6391275" y="1387979"/>
            <a:ext cx="1819275" cy="739579"/>
          </a:xfrm>
          <a:prstGeom prst="wedgeRectCallout">
            <a:avLst>
              <a:gd name="adj1" fmla="val 49863"/>
              <a:gd name="adj2" fmla="val 88258"/>
            </a:avLst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EC8FCAD3-829F-E70F-9B69-11F7B400A087}"/>
                  </a:ext>
                </a:extLst>
              </p:cNvPr>
              <p:cNvSpPr txBox="1"/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4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4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sz="4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ja-JP" altLang="en-US" sz="4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EC8FCAD3-829F-E70F-9B69-11F7B400A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55" y="1370025"/>
                <a:ext cx="341703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DAE18979-5063-E611-0053-A23AD333FDDD}"/>
              </a:ext>
            </a:extLst>
          </p:cNvPr>
          <p:cNvCxnSpPr/>
          <p:nvPr/>
        </p:nvCxnSpPr>
        <p:spPr>
          <a:xfrm>
            <a:off x="47625" y="5486400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5A546B2B-42DC-A833-8E7D-9471BA9C0105}"/>
              </a:ext>
            </a:extLst>
          </p:cNvPr>
          <p:cNvCxnSpPr/>
          <p:nvPr/>
        </p:nvCxnSpPr>
        <p:spPr>
          <a:xfrm>
            <a:off x="47625" y="6400800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10F0DA85-624E-49B9-027D-835A08224EB7}"/>
              </a:ext>
            </a:extLst>
          </p:cNvPr>
          <p:cNvCxnSpPr>
            <a:cxnSpLocks/>
          </p:cNvCxnSpPr>
          <p:nvPr/>
        </p:nvCxnSpPr>
        <p:spPr>
          <a:xfrm flipV="1">
            <a:off x="733425" y="5486400"/>
            <a:ext cx="0" cy="914400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EDD77348-ECB3-1A3F-7A1F-51A97F27E50B}"/>
                  </a:ext>
                </a:extLst>
              </p:cNvPr>
              <p:cNvSpPr txBox="1"/>
              <p:nvPr/>
            </p:nvSpPr>
            <p:spPr>
              <a:xfrm>
                <a:off x="800100" y="5691187"/>
                <a:ext cx="3478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200" b="0" i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EDD77348-ECB3-1A3F-7A1F-51A97F27E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5691187"/>
                <a:ext cx="347852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楕円 94">
            <a:extLst>
              <a:ext uri="{FF2B5EF4-FFF2-40B4-BE49-F238E27FC236}">
                <a16:creationId xmlns:a16="http://schemas.microsoft.com/office/drawing/2014/main" id="{D0285306-C54F-919B-28EB-73A709CA8E6F}"/>
              </a:ext>
            </a:extLst>
          </p:cNvPr>
          <p:cNvSpPr>
            <a:spLocks noChangeAspect="1"/>
          </p:cNvSpPr>
          <p:nvPr/>
        </p:nvSpPr>
        <p:spPr>
          <a:xfrm>
            <a:off x="447675" y="5165176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AD5F2B2F-8BE9-B70B-2DB6-0C624226E2D0}"/>
              </a:ext>
            </a:extLst>
          </p:cNvPr>
          <p:cNvSpPr>
            <a:spLocks noChangeAspect="1"/>
          </p:cNvSpPr>
          <p:nvPr/>
        </p:nvSpPr>
        <p:spPr>
          <a:xfrm>
            <a:off x="1128902" y="5155651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5F74D877-F0DA-B752-8DC3-5EED2D1CA83C}"/>
              </a:ext>
            </a:extLst>
          </p:cNvPr>
          <p:cNvSpPr>
            <a:spLocks noChangeAspect="1"/>
          </p:cNvSpPr>
          <p:nvPr/>
        </p:nvSpPr>
        <p:spPr>
          <a:xfrm>
            <a:off x="1481706" y="4966751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楕円 97">
            <a:extLst>
              <a:ext uri="{FF2B5EF4-FFF2-40B4-BE49-F238E27FC236}">
                <a16:creationId xmlns:a16="http://schemas.microsoft.com/office/drawing/2014/main" id="{D20DEBB5-5971-FFE9-0740-D31BF64410C4}"/>
              </a:ext>
            </a:extLst>
          </p:cNvPr>
          <p:cNvSpPr>
            <a:spLocks noChangeAspect="1"/>
          </p:cNvSpPr>
          <p:nvPr/>
        </p:nvSpPr>
        <p:spPr>
          <a:xfrm>
            <a:off x="800100" y="4961344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楕円 98">
            <a:extLst>
              <a:ext uri="{FF2B5EF4-FFF2-40B4-BE49-F238E27FC236}">
                <a16:creationId xmlns:a16="http://schemas.microsoft.com/office/drawing/2014/main" id="{06790251-857A-C792-DCD5-CDDF062E6917}"/>
              </a:ext>
            </a:extLst>
          </p:cNvPr>
          <p:cNvSpPr>
            <a:spLocks noChangeAspect="1"/>
          </p:cNvSpPr>
          <p:nvPr/>
        </p:nvSpPr>
        <p:spPr>
          <a:xfrm>
            <a:off x="316422" y="481641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楕円 99">
            <a:extLst>
              <a:ext uri="{FF2B5EF4-FFF2-40B4-BE49-F238E27FC236}">
                <a16:creationId xmlns:a16="http://schemas.microsoft.com/office/drawing/2014/main" id="{74985BE6-C37E-A672-3168-E25D4BAFA0BC}"/>
              </a:ext>
            </a:extLst>
          </p:cNvPr>
          <p:cNvSpPr>
            <a:spLocks noChangeAspect="1"/>
          </p:cNvSpPr>
          <p:nvPr/>
        </p:nvSpPr>
        <p:spPr>
          <a:xfrm>
            <a:off x="1147952" y="479648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楕円 100">
            <a:extLst>
              <a:ext uri="{FF2B5EF4-FFF2-40B4-BE49-F238E27FC236}">
                <a16:creationId xmlns:a16="http://schemas.microsoft.com/office/drawing/2014/main" id="{6AB45365-8F28-F136-8E00-394A65D44086}"/>
              </a:ext>
            </a:extLst>
          </p:cNvPr>
          <p:cNvSpPr>
            <a:spLocks noChangeAspect="1"/>
          </p:cNvSpPr>
          <p:nvPr/>
        </p:nvSpPr>
        <p:spPr>
          <a:xfrm>
            <a:off x="1836607" y="489055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楕円 101">
            <a:extLst>
              <a:ext uri="{FF2B5EF4-FFF2-40B4-BE49-F238E27FC236}">
                <a16:creationId xmlns:a16="http://schemas.microsoft.com/office/drawing/2014/main" id="{170CEE98-AB63-E7F0-889D-42D39007D7FF}"/>
              </a:ext>
            </a:extLst>
          </p:cNvPr>
          <p:cNvSpPr>
            <a:spLocks noChangeAspect="1"/>
          </p:cNvSpPr>
          <p:nvPr/>
        </p:nvSpPr>
        <p:spPr>
          <a:xfrm>
            <a:off x="2059655" y="509381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BC0C8AAA-EEAC-5E53-A7A3-E02FA61FE30C}"/>
              </a:ext>
            </a:extLst>
          </p:cNvPr>
          <p:cNvCxnSpPr/>
          <p:nvPr/>
        </p:nvCxnSpPr>
        <p:spPr>
          <a:xfrm>
            <a:off x="3299001" y="4810125"/>
            <a:ext cx="240982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418FE546-F9C3-836F-38F6-B9A5BE9DA8D1}"/>
              </a:ext>
            </a:extLst>
          </p:cNvPr>
          <p:cNvCxnSpPr/>
          <p:nvPr/>
        </p:nvCxnSpPr>
        <p:spPr>
          <a:xfrm>
            <a:off x="3299001" y="6400800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EED14C4D-D55E-D3DD-EE2B-BC58BE2C67BD}"/>
              </a:ext>
            </a:extLst>
          </p:cNvPr>
          <p:cNvCxnSpPr>
            <a:cxnSpLocks/>
          </p:cNvCxnSpPr>
          <p:nvPr/>
        </p:nvCxnSpPr>
        <p:spPr>
          <a:xfrm flipV="1">
            <a:off x="3556176" y="5486400"/>
            <a:ext cx="0" cy="914400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2B1F453C-38A1-FA6D-06DA-9711DFF9FF7D}"/>
                  </a:ext>
                </a:extLst>
              </p:cNvPr>
              <p:cNvSpPr txBox="1"/>
              <p:nvPr/>
            </p:nvSpPr>
            <p:spPr>
              <a:xfrm>
                <a:off x="3622851" y="5691187"/>
                <a:ext cx="3478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200" b="0" i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2B1F453C-38A1-FA6D-06DA-9711DFF9F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851" y="5691187"/>
                <a:ext cx="347852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楕円 106">
            <a:extLst>
              <a:ext uri="{FF2B5EF4-FFF2-40B4-BE49-F238E27FC236}">
                <a16:creationId xmlns:a16="http://schemas.microsoft.com/office/drawing/2014/main" id="{901DB8EF-2A27-D77F-E146-A98EA3E641A5}"/>
              </a:ext>
            </a:extLst>
          </p:cNvPr>
          <p:cNvSpPr>
            <a:spLocks noChangeAspect="1"/>
          </p:cNvSpPr>
          <p:nvPr/>
        </p:nvSpPr>
        <p:spPr>
          <a:xfrm>
            <a:off x="3699051" y="4469851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2DD4F83A-72DE-76A3-7C97-05BF146CE0A1}"/>
              </a:ext>
            </a:extLst>
          </p:cNvPr>
          <p:cNvSpPr>
            <a:spLocks noChangeAspect="1"/>
          </p:cNvSpPr>
          <p:nvPr/>
        </p:nvSpPr>
        <p:spPr>
          <a:xfrm>
            <a:off x="4380278" y="4460326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13061812-84DC-01B9-49CF-9AC02A8B3511}"/>
              </a:ext>
            </a:extLst>
          </p:cNvPr>
          <p:cNvSpPr>
            <a:spLocks noChangeAspect="1"/>
          </p:cNvSpPr>
          <p:nvPr/>
        </p:nvSpPr>
        <p:spPr>
          <a:xfrm>
            <a:off x="4733082" y="4271426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270E43E9-5DE3-F767-24EF-7A8F0E5926D6}"/>
              </a:ext>
            </a:extLst>
          </p:cNvPr>
          <p:cNvSpPr>
            <a:spLocks noChangeAspect="1"/>
          </p:cNvSpPr>
          <p:nvPr/>
        </p:nvSpPr>
        <p:spPr>
          <a:xfrm>
            <a:off x="4051476" y="4266019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FF5953CF-8922-3DD8-3E07-0252FB679CE4}"/>
              </a:ext>
            </a:extLst>
          </p:cNvPr>
          <p:cNvSpPr>
            <a:spLocks noChangeAspect="1"/>
          </p:cNvSpPr>
          <p:nvPr/>
        </p:nvSpPr>
        <p:spPr>
          <a:xfrm>
            <a:off x="3567798" y="412108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0BE8FB96-43B0-9EAE-B940-7D214EA4D160}"/>
              </a:ext>
            </a:extLst>
          </p:cNvPr>
          <p:cNvSpPr>
            <a:spLocks noChangeAspect="1"/>
          </p:cNvSpPr>
          <p:nvPr/>
        </p:nvSpPr>
        <p:spPr>
          <a:xfrm>
            <a:off x="4399328" y="410115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楕円 112">
            <a:extLst>
              <a:ext uri="{FF2B5EF4-FFF2-40B4-BE49-F238E27FC236}">
                <a16:creationId xmlns:a16="http://schemas.microsoft.com/office/drawing/2014/main" id="{C7A4ADB3-3FCE-CC9D-A5E9-CC89144128E8}"/>
              </a:ext>
            </a:extLst>
          </p:cNvPr>
          <p:cNvSpPr>
            <a:spLocks noChangeAspect="1"/>
          </p:cNvSpPr>
          <p:nvPr/>
        </p:nvSpPr>
        <p:spPr>
          <a:xfrm>
            <a:off x="5087983" y="4195227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楕円 113">
            <a:extLst>
              <a:ext uri="{FF2B5EF4-FFF2-40B4-BE49-F238E27FC236}">
                <a16:creationId xmlns:a16="http://schemas.microsoft.com/office/drawing/2014/main" id="{852443B3-6F21-630E-7377-3B974317EF56}"/>
              </a:ext>
            </a:extLst>
          </p:cNvPr>
          <p:cNvSpPr>
            <a:spLocks noChangeAspect="1"/>
          </p:cNvSpPr>
          <p:nvPr/>
        </p:nvSpPr>
        <p:spPr>
          <a:xfrm>
            <a:off x="5311031" y="4398492"/>
            <a:ext cx="285750" cy="2839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矢印: 右 114">
            <a:extLst>
              <a:ext uri="{FF2B5EF4-FFF2-40B4-BE49-F238E27FC236}">
                <a16:creationId xmlns:a16="http://schemas.microsoft.com/office/drawing/2014/main" id="{065BCD2D-0660-CE66-5242-C4AEE512A1EB}"/>
              </a:ext>
            </a:extLst>
          </p:cNvPr>
          <p:cNvSpPr/>
          <p:nvPr/>
        </p:nvSpPr>
        <p:spPr>
          <a:xfrm>
            <a:off x="2598864" y="5090815"/>
            <a:ext cx="584752" cy="65646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6" name="図 115">
            <a:extLst>
              <a:ext uri="{FF2B5EF4-FFF2-40B4-BE49-F238E27FC236}">
                <a16:creationId xmlns:a16="http://schemas.microsoft.com/office/drawing/2014/main" id="{A1A6933B-3258-54B7-E706-627E95393F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30850">
            <a:off x="2372531" y="3560648"/>
            <a:ext cx="1332734" cy="284692"/>
          </a:xfrm>
          <a:prstGeom prst="rect">
            <a:avLst/>
          </a:prstGeom>
        </p:spPr>
      </p:pic>
      <p:pic>
        <p:nvPicPr>
          <p:cNvPr id="117" name="図 116">
            <a:extLst>
              <a:ext uri="{FF2B5EF4-FFF2-40B4-BE49-F238E27FC236}">
                <a16:creationId xmlns:a16="http://schemas.microsoft.com/office/drawing/2014/main" id="{F70F4751-A187-7B44-B708-E5F66A574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30850">
            <a:off x="4338445" y="3414189"/>
            <a:ext cx="1332734" cy="284692"/>
          </a:xfrm>
          <a:prstGeom prst="rect">
            <a:avLst/>
          </a:prstGeom>
        </p:spPr>
      </p:pic>
      <p:pic>
        <p:nvPicPr>
          <p:cNvPr id="118" name="図 117">
            <a:extLst>
              <a:ext uri="{FF2B5EF4-FFF2-40B4-BE49-F238E27FC236}">
                <a16:creationId xmlns:a16="http://schemas.microsoft.com/office/drawing/2014/main" id="{6628E945-CB54-18B0-C0B9-2187226352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30850">
            <a:off x="2952020" y="3482692"/>
            <a:ext cx="1332734" cy="284692"/>
          </a:xfrm>
          <a:prstGeom prst="rect">
            <a:avLst/>
          </a:prstGeom>
        </p:spPr>
      </p:pic>
      <p:pic>
        <p:nvPicPr>
          <p:cNvPr id="119" name="図 118">
            <a:extLst>
              <a:ext uri="{FF2B5EF4-FFF2-40B4-BE49-F238E27FC236}">
                <a16:creationId xmlns:a16="http://schemas.microsoft.com/office/drawing/2014/main" id="{68545610-DBB5-E40D-DC1C-A60B4EA864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30850">
            <a:off x="3548017" y="3247785"/>
            <a:ext cx="1332734" cy="284692"/>
          </a:xfrm>
          <a:prstGeom prst="rect">
            <a:avLst/>
          </a:prstGeom>
        </p:spPr>
      </p:pic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C0EBE3E0-C28B-7312-3B72-600DEC862A97}"/>
              </a:ext>
            </a:extLst>
          </p:cNvPr>
          <p:cNvCxnSpPr>
            <a:cxnSpLocks/>
          </p:cNvCxnSpPr>
          <p:nvPr/>
        </p:nvCxnSpPr>
        <p:spPr>
          <a:xfrm flipV="1">
            <a:off x="3556176" y="4878851"/>
            <a:ext cx="0" cy="624548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テキスト ボックス 120">
                <a:extLst>
                  <a:ext uri="{FF2B5EF4-FFF2-40B4-BE49-F238E27FC236}">
                    <a16:creationId xmlns:a16="http://schemas.microsoft.com/office/drawing/2014/main" id="{A41AF69B-2E07-D6D4-7E00-775A5BDC429B}"/>
                  </a:ext>
                </a:extLst>
              </p:cNvPr>
              <p:cNvSpPr txBox="1"/>
              <p:nvPr/>
            </p:nvSpPr>
            <p:spPr>
              <a:xfrm>
                <a:off x="3687386" y="4948209"/>
                <a:ext cx="5690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kumimoji="1" lang="en-US" altLang="ja-JP" sz="3200" b="0" i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21" name="テキスト ボックス 120">
                <a:extLst>
                  <a:ext uri="{FF2B5EF4-FFF2-40B4-BE49-F238E27FC236}">
                    <a16:creationId xmlns:a16="http://schemas.microsoft.com/office/drawing/2014/main" id="{A41AF69B-2E07-D6D4-7E00-775A5BDC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386" y="4948209"/>
                <a:ext cx="56906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F7A7C19E-76E9-82FC-47F3-B47C2CA7B47D}"/>
              </a:ext>
            </a:extLst>
          </p:cNvPr>
          <p:cNvCxnSpPr/>
          <p:nvPr/>
        </p:nvCxnSpPr>
        <p:spPr>
          <a:xfrm>
            <a:off x="3291847" y="5495925"/>
            <a:ext cx="2409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10D475FC-1B01-DF0D-888C-44B4B71E16A9}"/>
              </a:ext>
            </a:extLst>
          </p:cNvPr>
          <p:cNvSpPr txBox="1"/>
          <p:nvPr/>
        </p:nvSpPr>
        <p:spPr>
          <a:xfrm>
            <a:off x="4219509" y="4947200"/>
            <a:ext cx="181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b="1" dirty="0"/>
              <a:t>Microwave induced </a:t>
            </a:r>
          </a:p>
          <a:p>
            <a:r>
              <a:rPr kumimoji="1" lang="en-US" altLang="ja-JP" sz="1200" b="1" dirty="0"/>
              <a:t>gap enhancement</a:t>
            </a:r>
            <a:endParaRPr lang="ja-JP" altLang="en-US" sz="1200" dirty="0"/>
          </a:p>
        </p:txBody>
      </p:sp>
      <p:pic>
        <p:nvPicPr>
          <p:cNvPr id="124" name="図 123">
            <a:extLst>
              <a:ext uri="{FF2B5EF4-FFF2-40B4-BE49-F238E27FC236}">
                <a16:creationId xmlns:a16="http://schemas.microsoft.com/office/drawing/2014/main" id="{9FD31775-5E31-C7EF-7F2F-586A75B32A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3404" y="4727181"/>
            <a:ext cx="4171840" cy="2055689"/>
          </a:xfrm>
          <a:prstGeom prst="rect">
            <a:avLst/>
          </a:prstGeom>
        </p:spPr>
      </p:pic>
      <p:pic>
        <p:nvPicPr>
          <p:cNvPr id="125" name="図 124">
            <a:extLst>
              <a:ext uri="{FF2B5EF4-FFF2-40B4-BE49-F238E27FC236}">
                <a16:creationId xmlns:a16="http://schemas.microsoft.com/office/drawing/2014/main" id="{44C3733A-E8F1-0F02-E465-8F9F613DF3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3404" y="2600225"/>
            <a:ext cx="4171840" cy="2085920"/>
          </a:xfrm>
          <a:prstGeom prst="rect">
            <a:avLst/>
          </a:prstGeom>
        </p:spPr>
      </p:pic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8CABBFD7-68AB-E44E-6B50-81C6FE0F2FD7}"/>
              </a:ext>
            </a:extLst>
          </p:cNvPr>
          <p:cNvCxnSpPr>
            <a:cxnSpLocks/>
          </p:cNvCxnSpPr>
          <p:nvPr/>
        </p:nvCxnSpPr>
        <p:spPr>
          <a:xfrm flipV="1">
            <a:off x="6144732" y="2357710"/>
            <a:ext cx="0" cy="434548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89141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3711DF8-C101-44E2-A5B6-50C836C6FBC5}"/>
              </a:ext>
            </a:extLst>
          </p:cNvPr>
          <p:cNvSpPr txBox="1"/>
          <p:nvPr/>
        </p:nvSpPr>
        <p:spPr>
          <a:xfrm>
            <a:off x="0" y="18851"/>
            <a:ext cx="4096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Nonlinear correction</a:t>
            </a:r>
            <a:endParaRPr kumimoji="1" lang="ja-JP" altLang="en-US" sz="32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67F3945-5722-902B-A7A0-409D1A12863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85" r="27967" b="78767"/>
          <a:stretch>
            <a:fillRect/>
          </a:stretch>
        </p:blipFill>
        <p:spPr>
          <a:xfrm>
            <a:off x="4419967" y="137386"/>
            <a:ext cx="6691479" cy="77614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D7D458-FD18-2E26-B8BC-72BD1D64059D}"/>
              </a:ext>
            </a:extLst>
          </p:cNvPr>
          <p:cNvSpPr txBox="1"/>
          <p:nvPr/>
        </p:nvSpPr>
        <p:spPr>
          <a:xfrm>
            <a:off x="5102" y="477581"/>
            <a:ext cx="343228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arXiv:2509.09766	</a:t>
            </a:r>
            <a:endParaRPr lang="ja-JP" altLang="en-US" sz="1400" dirty="0">
              <a:solidFill>
                <a:schemeClr val="tx2"/>
              </a:solidFill>
            </a:endParaRPr>
          </a:p>
          <a:p>
            <a:r>
              <a:rPr lang="en-US" altLang="ja-JP" sz="1400" dirty="0">
                <a:solidFill>
                  <a:schemeClr val="tx2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chemeClr val="tx2"/>
                </a:solidFill>
              </a:rPr>
            </a:br>
            <a:r>
              <a:rPr lang="en-US" altLang="ja-JP" sz="1100" dirty="0">
                <a:solidFill>
                  <a:schemeClr val="tx2"/>
                </a:solidFill>
                <a:hlinkClick r:id="rId3"/>
              </a:rPr>
              <a:t>https://doi.org/10.1103/8fh8-nknj</a:t>
            </a:r>
            <a:r>
              <a:rPr lang="en-US" altLang="ja-JP" sz="1100" dirty="0">
                <a:solidFill>
                  <a:schemeClr val="tx2"/>
                </a:solidFill>
              </a:rPr>
              <a:t> </a:t>
            </a:r>
            <a:endParaRPr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6071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4811A-32A8-677D-2F4F-05799D37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図 30">
            <a:extLst>
              <a:ext uri="{FF2B5EF4-FFF2-40B4-BE49-F238E27FC236}">
                <a16:creationId xmlns:a16="http://schemas.microsoft.com/office/drawing/2014/main" id="{8B73E934-0AE4-CAB9-1D84-B838359F78F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312" r="36133" b="52365"/>
          <a:stretch>
            <a:fillRect/>
          </a:stretch>
        </p:blipFill>
        <p:spPr>
          <a:xfrm>
            <a:off x="349879" y="2862990"/>
            <a:ext cx="3044502" cy="544656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6318BDC7-D994-D181-86EC-E406421981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9747" b="70380"/>
          <a:stretch>
            <a:fillRect/>
          </a:stretch>
        </p:blipFill>
        <p:spPr>
          <a:xfrm>
            <a:off x="3437383" y="3005102"/>
            <a:ext cx="1953724" cy="402544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B4A1D74A-4DDF-F2AA-0EB9-2F7194A816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9979" y="3594671"/>
            <a:ext cx="2648367" cy="2955601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6FFE05E0-F35F-BF3C-1AC0-11D6ACF6492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25505" y="3594736"/>
            <a:ext cx="2476315" cy="206007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278161-99EC-77FB-45D6-7A94AAF7300B}"/>
              </a:ext>
            </a:extLst>
          </p:cNvPr>
          <p:cNvSpPr txBox="1"/>
          <p:nvPr/>
        </p:nvSpPr>
        <p:spPr>
          <a:xfrm>
            <a:off x="0" y="18851"/>
            <a:ext cx="4096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Nonlinear correction</a:t>
            </a:r>
            <a:endParaRPr kumimoji="1" lang="ja-JP" altLang="en-US" sz="32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F47AA08-CB21-E35D-6A41-D3742A1DD59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85" r="27967" b="78767"/>
          <a:stretch>
            <a:fillRect/>
          </a:stretch>
        </p:blipFill>
        <p:spPr>
          <a:xfrm>
            <a:off x="4419967" y="137386"/>
            <a:ext cx="6691479" cy="77614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36E06C3-4170-D8F3-267D-CC2B0AC48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7497" y="1246408"/>
            <a:ext cx="2423495" cy="1582075"/>
          </a:xfrm>
          <a:prstGeom prst="rect">
            <a:avLst/>
          </a:prstGeom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452411D-0094-3DDD-310C-7A79E81B43ED}"/>
              </a:ext>
            </a:extLst>
          </p:cNvPr>
          <p:cNvSpPr/>
          <p:nvPr/>
        </p:nvSpPr>
        <p:spPr>
          <a:xfrm>
            <a:off x="5842000" y="40557"/>
            <a:ext cx="1198880" cy="998760"/>
          </a:xfrm>
          <a:prstGeom prst="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A31EE66-0BB3-942B-AA09-B9D2091A2F11}"/>
              </a:ext>
            </a:extLst>
          </p:cNvPr>
          <p:cNvSpPr/>
          <p:nvPr/>
        </p:nvSpPr>
        <p:spPr>
          <a:xfrm>
            <a:off x="211316" y="1185273"/>
            <a:ext cx="5248996" cy="5553027"/>
          </a:xfrm>
          <a:prstGeom prst="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8CA929-2E89-013B-7D85-8A3D43E2E83A}"/>
              </a:ext>
            </a:extLst>
          </p:cNvPr>
          <p:cNvSpPr txBox="1"/>
          <p:nvPr/>
        </p:nvSpPr>
        <p:spPr>
          <a:xfrm>
            <a:off x="5102" y="477581"/>
            <a:ext cx="343228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arXiv:2509.09766	</a:t>
            </a:r>
            <a:endParaRPr lang="ja-JP" altLang="en-US" sz="1400" dirty="0">
              <a:solidFill>
                <a:schemeClr val="tx2"/>
              </a:solidFill>
            </a:endParaRPr>
          </a:p>
          <a:p>
            <a:r>
              <a:rPr lang="en-US" altLang="ja-JP" sz="1400" dirty="0">
                <a:solidFill>
                  <a:schemeClr val="tx2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chemeClr val="tx2"/>
                </a:solidFill>
              </a:rPr>
            </a:br>
            <a:r>
              <a:rPr lang="en-US" altLang="ja-JP" sz="1100" dirty="0">
                <a:solidFill>
                  <a:schemeClr val="tx2"/>
                </a:solidFill>
                <a:hlinkClick r:id="rId7"/>
              </a:rPr>
              <a:t>https://doi.org/10.1103/8fh8-nknj</a:t>
            </a:r>
            <a:r>
              <a:rPr lang="en-US" altLang="ja-JP" sz="1100" dirty="0">
                <a:solidFill>
                  <a:schemeClr val="tx2"/>
                </a:solidFill>
              </a:rPr>
              <a:t> </a:t>
            </a:r>
            <a:endParaRPr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8528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CADC-100F-6013-E5A9-577D98F3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図 30">
            <a:extLst>
              <a:ext uri="{FF2B5EF4-FFF2-40B4-BE49-F238E27FC236}">
                <a16:creationId xmlns:a16="http://schemas.microsoft.com/office/drawing/2014/main" id="{6E2A8CD6-E5AD-580B-5B02-B8FB0AE941A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312" r="36133" b="52365"/>
          <a:stretch>
            <a:fillRect/>
          </a:stretch>
        </p:blipFill>
        <p:spPr>
          <a:xfrm>
            <a:off x="349879" y="2862990"/>
            <a:ext cx="3044502" cy="544656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496E0182-2DE1-8A2C-B637-E0D5DDBB3C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9747" b="70380"/>
          <a:stretch>
            <a:fillRect/>
          </a:stretch>
        </p:blipFill>
        <p:spPr>
          <a:xfrm>
            <a:off x="3437383" y="3005102"/>
            <a:ext cx="1953724" cy="402544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E415BAD1-23F2-007A-74E0-47B09EDD754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9979" y="3594671"/>
            <a:ext cx="2648367" cy="2955601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D8A97D41-BF76-7C9E-94C2-E5B8346B388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25505" y="3594736"/>
            <a:ext cx="2476315" cy="2060076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0140BA2C-EDBA-59F4-50AA-43E1CC337D2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24863" y="4172430"/>
            <a:ext cx="3055822" cy="1562760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7CB009E3-FE57-D31E-383E-1496B9D0530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45295" y="4074456"/>
            <a:ext cx="2926723" cy="260228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91443B-6315-0B72-0CDC-0D0C5A81261E}"/>
              </a:ext>
            </a:extLst>
          </p:cNvPr>
          <p:cNvSpPr txBox="1"/>
          <p:nvPr/>
        </p:nvSpPr>
        <p:spPr>
          <a:xfrm>
            <a:off x="0" y="18851"/>
            <a:ext cx="4096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Nonlinear correction</a:t>
            </a:r>
            <a:endParaRPr kumimoji="1" lang="ja-JP" altLang="en-US" sz="32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284E917-0F85-7AF7-55FF-3D1F538FCA1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85" r="27967" b="78767"/>
          <a:stretch>
            <a:fillRect/>
          </a:stretch>
        </p:blipFill>
        <p:spPr>
          <a:xfrm>
            <a:off x="4419967" y="137386"/>
            <a:ext cx="6691479" cy="77614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8E2F84A-BA36-157F-4B5E-5DD1C9270A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3053" r="41176" b="37327"/>
          <a:stretch>
            <a:fillRect/>
          </a:stretch>
        </p:blipFill>
        <p:spPr>
          <a:xfrm>
            <a:off x="5745295" y="3613271"/>
            <a:ext cx="2286920" cy="40254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D2BDA95-13E2-9967-853E-0D7E938852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4921" r="38227"/>
          <a:stretch>
            <a:fillRect/>
          </a:stretch>
        </p:blipFill>
        <p:spPr>
          <a:xfrm>
            <a:off x="8924863" y="3597741"/>
            <a:ext cx="2401567" cy="47671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54E4864-8C33-C003-C0BB-AB5971C03F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897" r="28752" b="26860"/>
          <a:stretch>
            <a:fillRect/>
          </a:stretch>
        </p:blipFill>
        <p:spPr>
          <a:xfrm>
            <a:off x="5713156" y="3013957"/>
            <a:ext cx="3087605" cy="51246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0478F02-464C-5CB2-8322-3FBCBE7142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4380" r="26074"/>
          <a:stretch>
            <a:fillRect/>
          </a:stretch>
        </p:blipFill>
        <p:spPr>
          <a:xfrm>
            <a:off x="8924863" y="3016882"/>
            <a:ext cx="3203638" cy="48192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2C5680E-0413-8238-8DC3-0BC5EE96F6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7497" y="1246408"/>
            <a:ext cx="2423495" cy="158207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CBBA78B-5850-4518-5839-810A68554E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6241" y="1319982"/>
            <a:ext cx="2423495" cy="1577035"/>
          </a:xfrm>
          <a:prstGeom prst="rect">
            <a:avLst/>
          </a:prstGeom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3316732-D91E-C185-E830-82BB715BE859}"/>
              </a:ext>
            </a:extLst>
          </p:cNvPr>
          <p:cNvSpPr/>
          <p:nvPr/>
        </p:nvSpPr>
        <p:spPr>
          <a:xfrm>
            <a:off x="5842000" y="40557"/>
            <a:ext cx="1198880" cy="998760"/>
          </a:xfrm>
          <a:prstGeom prst="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9885A41-FD84-1DD6-985B-0FBF5D2FA5AD}"/>
              </a:ext>
            </a:extLst>
          </p:cNvPr>
          <p:cNvSpPr/>
          <p:nvPr/>
        </p:nvSpPr>
        <p:spPr>
          <a:xfrm>
            <a:off x="7473138" y="42204"/>
            <a:ext cx="3638308" cy="998760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2AE64D2-0E72-0E46-CCF7-F2BF387E5F5F}"/>
              </a:ext>
            </a:extLst>
          </p:cNvPr>
          <p:cNvSpPr/>
          <p:nvPr/>
        </p:nvSpPr>
        <p:spPr>
          <a:xfrm>
            <a:off x="5626969" y="1196726"/>
            <a:ext cx="6501531" cy="5568269"/>
          </a:xfrm>
          <a:prstGeom prst="rect">
            <a:avLst/>
          </a:prstGeom>
          <a:noFill/>
          <a:ln w="635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6A7CAC1-F07C-5126-EE65-268CE36D4DC5}"/>
              </a:ext>
            </a:extLst>
          </p:cNvPr>
          <p:cNvSpPr/>
          <p:nvPr/>
        </p:nvSpPr>
        <p:spPr>
          <a:xfrm>
            <a:off x="211316" y="1185273"/>
            <a:ext cx="5248996" cy="5553027"/>
          </a:xfrm>
          <a:prstGeom prst="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2E8B55A9-E3EF-DDB0-3FF6-BF043C5574B4}"/>
                  </a:ext>
                </a:extLst>
              </p:cNvPr>
              <p:cNvSpPr txBox="1"/>
              <p:nvPr/>
            </p:nvSpPr>
            <p:spPr>
              <a:xfrm>
                <a:off x="5599662" y="2240579"/>
                <a:ext cx="202331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dirty="0"/>
                  <a:t>Higgs</a:t>
                </a:r>
              </a:p>
              <a:p>
                <a:r>
                  <a:rPr kumimoji="1" lang="en-US" altLang="ja-JP" sz="1600" dirty="0"/>
                  <a:t>Contribution:</a:t>
                </a:r>
              </a:p>
              <a:p>
                <a:r>
                  <a:rPr kumimoji="1" lang="en-US" altLang="ja-JP" sz="1600" dirty="0"/>
                  <a:t>Time dependent </a:t>
                </a:r>
                <a14:m>
                  <m:oMath xmlns:m="http://schemas.openxmlformats.org/officeDocument/2006/math">
                    <m:r>
                      <a:rPr kumimoji="1" lang="en-US" altLang="ja-JP" sz="16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16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E8BF1773-F813-D47D-1854-C6902536F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662" y="2240579"/>
                <a:ext cx="2023311" cy="830997"/>
              </a:xfrm>
              <a:prstGeom prst="rect">
                <a:avLst/>
              </a:prstGeom>
              <a:blipFill>
                <a:blip r:embed="rId10"/>
                <a:stretch>
                  <a:fillRect l="-1813" t="-2206" b="-88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D141A8CA-619B-437C-DFA9-37E1CBEA9238}"/>
                  </a:ext>
                </a:extLst>
              </p:cNvPr>
              <p:cNvSpPr txBox="1"/>
              <p:nvPr/>
            </p:nvSpPr>
            <p:spPr>
              <a:xfrm>
                <a:off x="10251897" y="2223299"/>
                <a:ext cx="187660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kumimoji="1" lang="en-US" altLang="ja-JP" sz="1600" dirty="0"/>
                  <a:t>Eliashber</a:t>
                </a:r>
                <a:r>
                  <a:rPr kumimoji="1" lang="en-US" altLang="ja-JP" sz="1600" dirty="0" err="1"/>
                  <a:t>g</a:t>
                </a:r>
                <a:endParaRPr kumimoji="1" lang="en-US" altLang="ja-JP" sz="1600" dirty="0"/>
              </a:p>
              <a:p>
                <a:pPr algn="r"/>
                <a:r>
                  <a:rPr kumimoji="1" lang="en-US" altLang="ja-JP" sz="1600" dirty="0"/>
                  <a:t>Contribution: </a:t>
                </a:r>
              </a:p>
              <a:p>
                <a:pPr algn="r"/>
                <a:r>
                  <a:rPr kumimoji="1" lang="en-US" altLang="ja-JP" sz="1600" dirty="0"/>
                  <a:t>Time averaged 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16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8A2F87FE-A74B-A131-C80E-A0A8784EE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1897" y="2223299"/>
                <a:ext cx="1876604" cy="830997"/>
              </a:xfrm>
              <a:prstGeom prst="rect">
                <a:avLst/>
              </a:prstGeom>
              <a:blipFill>
                <a:blip r:embed="rId11"/>
                <a:stretch>
                  <a:fillRect l="-974" t="-2206" r="-1623" b="-88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35CFEA-7236-4D9D-7DDC-1414DF62A9FA}"/>
              </a:ext>
            </a:extLst>
          </p:cNvPr>
          <p:cNvSpPr txBox="1"/>
          <p:nvPr/>
        </p:nvSpPr>
        <p:spPr>
          <a:xfrm>
            <a:off x="5102" y="477581"/>
            <a:ext cx="343228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arXiv:2509.09766	</a:t>
            </a:r>
            <a:endParaRPr lang="ja-JP" altLang="en-US" sz="1400" dirty="0">
              <a:solidFill>
                <a:schemeClr val="tx2"/>
              </a:solidFill>
            </a:endParaRPr>
          </a:p>
          <a:p>
            <a:r>
              <a:rPr lang="en-US" altLang="ja-JP" sz="1400" dirty="0">
                <a:solidFill>
                  <a:schemeClr val="tx2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chemeClr val="tx2"/>
                </a:solidFill>
              </a:rPr>
            </a:br>
            <a:r>
              <a:rPr lang="en-US" altLang="ja-JP" sz="1100" dirty="0">
                <a:solidFill>
                  <a:schemeClr val="tx2"/>
                </a:solidFill>
                <a:hlinkClick r:id="rId12"/>
              </a:rPr>
              <a:t>https://doi.org/10.1103/8fh8-nknj</a:t>
            </a:r>
            <a:r>
              <a:rPr lang="en-US" altLang="ja-JP" sz="1100" dirty="0">
                <a:solidFill>
                  <a:schemeClr val="tx2"/>
                </a:solidFill>
              </a:rPr>
              <a:t> </a:t>
            </a:r>
            <a:endParaRPr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76902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D0155B-B56F-6A6B-39B5-0079E704AB7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79550" y="670560"/>
            <a:ext cx="6471826" cy="608029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E559613-09FF-345A-98A6-8C23753CBE79}"/>
              </a:ext>
            </a:extLst>
          </p:cNvPr>
          <p:cNvSpPr txBox="1"/>
          <p:nvPr/>
        </p:nvSpPr>
        <p:spPr>
          <a:xfrm>
            <a:off x="0" y="0"/>
            <a:ext cx="20185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/>
              <a:t>Results</a:t>
            </a:r>
            <a:endParaRPr kumimoji="1" lang="ja-JP" altLang="en-US" sz="4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4A2DE2-D025-25F3-A8D4-578F38208218}"/>
              </a:ext>
            </a:extLst>
          </p:cNvPr>
          <p:cNvSpPr txBox="1"/>
          <p:nvPr/>
        </p:nvSpPr>
        <p:spPr>
          <a:xfrm>
            <a:off x="5479550" y="6058354"/>
            <a:ext cx="343228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0070C0"/>
                </a:solidFill>
              </a:rPr>
              <a:t>arXiv:2509.09766	</a:t>
            </a:r>
            <a:endParaRPr lang="ja-JP" altLang="en-US" sz="1400" dirty="0">
              <a:solidFill>
                <a:srgbClr val="0070C0"/>
              </a:solidFill>
            </a:endParaRPr>
          </a:p>
          <a:p>
            <a:r>
              <a:rPr lang="en-US" altLang="ja-JP" sz="1400" dirty="0">
                <a:solidFill>
                  <a:srgbClr val="0070C0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rgbClr val="0070C0"/>
                </a:solidFill>
              </a:rPr>
            </a:br>
            <a:r>
              <a:rPr lang="en-US" altLang="ja-JP" sz="11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100" dirty="0">
                <a:solidFill>
                  <a:srgbClr val="0070C0"/>
                </a:solidFill>
              </a:rPr>
              <a:t> </a:t>
            </a:r>
            <a:endParaRPr lang="en-US" altLang="ja-JP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11706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C20B-1E46-1DAB-28B8-B84B43CB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1635DB1-4D34-06E0-6E0C-5C11124C0E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79550" y="670560"/>
            <a:ext cx="6471826" cy="608029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7CF76E-DB8E-4E53-3CC4-ADFDD20A7A99}"/>
              </a:ext>
            </a:extLst>
          </p:cNvPr>
          <p:cNvSpPr txBox="1"/>
          <p:nvPr/>
        </p:nvSpPr>
        <p:spPr>
          <a:xfrm>
            <a:off x="0" y="0"/>
            <a:ext cx="20185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/>
              <a:t>Results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D625A13-8F59-07C1-1153-F776450CCA14}"/>
              </a:ext>
            </a:extLst>
          </p:cNvPr>
          <p:cNvSpPr txBox="1"/>
          <p:nvPr/>
        </p:nvSpPr>
        <p:spPr>
          <a:xfrm>
            <a:off x="7945120" y="107149"/>
            <a:ext cx="4147995" cy="830997"/>
          </a:xfrm>
          <a:prstGeom prst="rect">
            <a:avLst/>
          </a:prstGeom>
          <a:solidFill>
            <a:schemeClr val="tx1"/>
          </a:solidFill>
          <a:ln w="666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</a:rPr>
              <a:t>The resonance peak at Δ </a:t>
            </a:r>
          </a:p>
          <a:p>
            <a:r>
              <a:rPr kumimoji="1" lang="en-US" altLang="ja-JP" sz="2400" dirty="0">
                <a:solidFill>
                  <a:schemeClr val="bg1"/>
                </a:solidFill>
              </a:rPr>
              <a:t>comes from the Higgs mode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054B593-3549-EBE5-2A35-AF54942FF7DE}"/>
              </a:ext>
            </a:extLst>
          </p:cNvPr>
          <p:cNvCxnSpPr>
            <a:cxnSpLocks/>
          </p:cNvCxnSpPr>
          <p:nvPr/>
        </p:nvCxnSpPr>
        <p:spPr>
          <a:xfrm flipH="1">
            <a:off x="9282022" y="929700"/>
            <a:ext cx="652056" cy="987483"/>
          </a:xfrm>
          <a:prstGeom prst="straightConnector1">
            <a:avLst/>
          </a:prstGeom>
          <a:ln w="1016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67908F-BA9C-EAC7-42F2-AD8E0D0F4662}"/>
              </a:ext>
            </a:extLst>
          </p:cNvPr>
          <p:cNvSpPr txBox="1"/>
          <p:nvPr/>
        </p:nvSpPr>
        <p:spPr>
          <a:xfrm>
            <a:off x="5479550" y="6058354"/>
            <a:ext cx="343228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0070C0"/>
                </a:solidFill>
              </a:rPr>
              <a:t>arXiv:2509.09766	</a:t>
            </a:r>
            <a:endParaRPr lang="ja-JP" altLang="en-US" sz="1400" dirty="0">
              <a:solidFill>
                <a:srgbClr val="0070C0"/>
              </a:solidFill>
            </a:endParaRPr>
          </a:p>
          <a:p>
            <a:r>
              <a:rPr lang="en-US" altLang="ja-JP" sz="1400" dirty="0">
                <a:solidFill>
                  <a:srgbClr val="0070C0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rgbClr val="0070C0"/>
                </a:solidFill>
              </a:rPr>
            </a:br>
            <a:r>
              <a:rPr lang="en-US" altLang="ja-JP" sz="11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100" dirty="0">
                <a:solidFill>
                  <a:srgbClr val="0070C0"/>
                </a:solidFill>
              </a:rPr>
              <a:t> </a:t>
            </a:r>
            <a:endParaRPr lang="en-US" altLang="ja-JP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84772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7E7F8-5533-0981-4F20-F25933D9A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24CFB4E-A0CC-5195-7A1A-A6C1994BBF4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79550" y="670560"/>
            <a:ext cx="6471826" cy="608029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0358CD6-5685-359E-4AD8-CE440176BAFA}"/>
              </a:ext>
            </a:extLst>
          </p:cNvPr>
          <p:cNvSpPr txBox="1"/>
          <p:nvPr/>
        </p:nvSpPr>
        <p:spPr>
          <a:xfrm>
            <a:off x="0" y="0"/>
            <a:ext cx="20185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/>
              <a:t>Results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BFFBF9-663A-1201-6666-6834A0BFC031}"/>
              </a:ext>
            </a:extLst>
          </p:cNvPr>
          <p:cNvSpPr txBox="1"/>
          <p:nvPr/>
        </p:nvSpPr>
        <p:spPr>
          <a:xfrm>
            <a:off x="7945120" y="107149"/>
            <a:ext cx="4147995" cy="830997"/>
          </a:xfrm>
          <a:prstGeom prst="rect">
            <a:avLst/>
          </a:prstGeom>
          <a:solidFill>
            <a:schemeClr val="tx1"/>
          </a:solidFill>
          <a:ln w="666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</a:rPr>
              <a:t>The resonance peak at Δ </a:t>
            </a:r>
          </a:p>
          <a:p>
            <a:r>
              <a:rPr kumimoji="1" lang="en-US" altLang="ja-JP" sz="2400" dirty="0">
                <a:solidFill>
                  <a:schemeClr val="bg1"/>
                </a:solidFill>
              </a:rPr>
              <a:t>comes from the Higgs mode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1934F73F-0D27-A610-7A5A-996ABD92C3B2}"/>
              </a:ext>
            </a:extLst>
          </p:cNvPr>
          <p:cNvCxnSpPr>
            <a:cxnSpLocks/>
          </p:cNvCxnSpPr>
          <p:nvPr/>
        </p:nvCxnSpPr>
        <p:spPr>
          <a:xfrm flipH="1">
            <a:off x="9282022" y="929700"/>
            <a:ext cx="652056" cy="987483"/>
          </a:xfrm>
          <a:prstGeom prst="straightConnector1">
            <a:avLst/>
          </a:prstGeom>
          <a:ln w="1016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24395AD-3730-D941-E528-BA94EC883943}"/>
              </a:ext>
            </a:extLst>
          </p:cNvPr>
          <p:cNvCxnSpPr>
            <a:cxnSpLocks/>
          </p:cNvCxnSpPr>
          <p:nvPr/>
        </p:nvCxnSpPr>
        <p:spPr>
          <a:xfrm>
            <a:off x="5726815" y="1423441"/>
            <a:ext cx="1232785" cy="80239"/>
          </a:xfrm>
          <a:prstGeom prst="straightConnector1">
            <a:avLst/>
          </a:prstGeom>
          <a:ln w="1016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2505523-7540-1C25-C6BB-95AF79E99BAC}"/>
              </a:ext>
            </a:extLst>
          </p:cNvPr>
          <p:cNvSpPr/>
          <p:nvPr/>
        </p:nvSpPr>
        <p:spPr>
          <a:xfrm>
            <a:off x="6959600" y="843280"/>
            <a:ext cx="1706880" cy="5334000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632C84C-C9C9-A8AB-D693-EC391653D4DD}"/>
                  </a:ext>
                </a:extLst>
              </p:cNvPr>
              <p:cNvSpPr txBox="1"/>
              <p:nvPr/>
            </p:nvSpPr>
            <p:spPr>
              <a:xfrm>
                <a:off x="145813" y="909380"/>
                <a:ext cx="5581002" cy="1384995"/>
              </a:xfrm>
              <a:prstGeom prst="rect">
                <a:avLst/>
              </a:prstGeom>
              <a:solidFill>
                <a:schemeClr val="tx1"/>
              </a:solidFill>
              <a:ln w="66675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dirty="0">
                    <a:solidFill>
                      <a:schemeClr val="bg1"/>
                    </a:solidFill>
                  </a:rPr>
                  <a:t>At lower frequencies,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ja-JP" altLang="en-US" sz="2800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ja-JP" sz="2800" dirty="0">
                    <a:solidFill>
                      <a:schemeClr val="bg1"/>
                    </a:solidFill>
                  </a:rPr>
                  <a:t>can be a decreasing function of the ac amplitude (q). 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632C84C-C9C9-A8AB-D693-EC391653D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13" y="909380"/>
                <a:ext cx="5581002" cy="1384995"/>
              </a:xfrm>
              <a:prstGeom prst="rect">
                <a:avLst/>
              </a:prstGeom>
              <a:blipFill>
                <a:blip r:embed="rId3"/>
                <a:stretch>
                  <a:fillRect l="-1728" t="-2521" b="-7983"/>
                </a:stretch>
              </a:blipFill>
              <a:ln w="666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1B61D98-D720-9447-50B7-0C89587D0061}"/>
              </a:ext>
            </a:extLst>
          </p:cNvPr>
          <p:cNvSpPr txBox="1"/>
          <p:nvPr/>
        </p:nvSpPr>
        <p:spPr>
          <a:xfrm>
            <a:off x="5479550" y="6058354"/>
            <a:ext cx="343228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0070C0"/>
                </a:solidFill>
              </a:rPr>
              <a:t>arXiv:2509.09766	</a:t>
            </a:r>
            <a:endParaRPr lang="ja-JP" altLang="en-US" sz="1400" dirty="0">
              <a:solidFill>
                <a:srgbClr val="0070C0"/>
              </a:solidFill>
            </a:endParaRPr>
          </a:p>
          <a:p>
            <a:r>
              <a:rPr lang="en-US" altLang="ja-JP" sz="1400" dirty="0">
                <a:solidFill>
                  <a:srgbClr val="0070C0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rgbClr val="0070C0"/>
                </a:solidFill>
              </a:rPr>
            </a:br>
            <a:r>
              <a:rPr lang="en-US" altLang="ja-JP" sz="11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100" dirty="0">
                <a:solidFill>
                  <a:srgbClr val="0070C0"/>
                </a:solidFill>
              </a:rPr>
              <a:t> </a:t>
            </a:r>
            <a:endParaRPr lang="en-US" altLang="ja-JP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9297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2649E-44F2-6AA5-51EF-BD922496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5583CCE-6EA4-55BD-96FB-A07E895462F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79550" y="670560"/>
            <a:ext cx="6471826" cy="608029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6E60B87-5A74-C0EA-52EB-4BEB45C659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68"/>
          <a:stretch>
            <a:fillRect/>
          </a:stretch>
        </p:blipFill>
        <p:spPr>
          <a:xfrm>
            <a:off x="14710" y="2677325"/>
            <a:ext cx="3863723" cy="388164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9F543B4-AFE7-6D40-623C-A8046F0BC5BC}"/>
              </a:ext>
            </a:extLst>
          </p:cNvPr>
          <p:cNvSpPr txBox="1"/>
          <p:nvPr/>
        </p:nvSpPr>
        <p:spPr>
          <a:xfrm>
            <a:off x="0" y="0"/>
            <a:ext cx="20185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/>
              <a:t>Results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C24D43D-8DA2-89F5-A85A-02311A7335A1}"/>
              </a:ext>
            </a:extLst>
          </p:cNvPr>
          <p:cNvSpPr txBox="1"/>
          <p:nvPr/>
        </p:nvSpPr>
        <p:spPr>
          <a:xfrm>
            <a:off x="7945120" y="107149"/>
            <a:ext cx="4147995" cy="830997"/>
          </a:xfrm>
          <a:prstGeom prst="rect">
            <a:avLst/>
          </a:prstGeom>
          <a:solidFill>
            <a:schemeClr val="tx1"/>
          </a:solidFill>
          <a:ln w="666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</a:rPr>
              <a:t>The resonance peak at Δ </a:t>
            </a:r>
          </a:p>
          <a:p>
            <a:r>
              <a:rPr kumimoji="1" lang="en-US" altLang="ja-JP" sz="2400" dirty="0">
                <a:solidFill>
                  <a:schemeClr val="bg1"/>
                </a:solidFill>
              </a:rPr>
              <a:t>comes from the Higgs mode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099190D4-E951-BE50-825D-67470DA4647B}"/>
              </a:ext>
            </a:extLst>
          </p:cNvPr>
          <p:cNvCxnSpPr>
            <a:cxnSpLocks/>
          </p:cNvCxnSpPr>
          <p:nvPr/>
        </p:nvCxnSpPr>
        <p:spPr>
          <a:xfrm flipH="1">
            <a:off x="9282022" y="929700"/>
            <a:ext cx="652056" cy="987483"/>
          </a:xfrm>
          <a:prstGeom prst="straightConnector1">
            <a:avLst/>
          </a:prstGeom>
          <a:ln w="1016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D5CFC14-2FD7-C96B-1693-7176B734EE19}"/>
              </a:ext>
            </a:extLst>
          </p:cNvPr>
          <p:cNvCxnSpPr>
            <a:cxnSpLocks/>
          </p:cNvCxnSpPr>
          <p:nvPr/>
        </p:nvCxnSpPr>
        <p:spPr>
          <a:xfrm>
            <a:off x="5726815" y="1423441"/>
            <a:ext cx="1232785" cy="80239"/>
          </a:xfrm>
          <a:prstGeom prst="straightConnector1">
            <a:avLst/>
          </a:prstGeom>
          <a:ln w="1016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C285BEB-C538-245E-C816-99430A6B7E43}"/>
              </a:ext>
            </a:extLst>
          </p:cNvPr>
          <p:cNvSpPr/>
          <p:nvPr/>
        </p:nvSpPr>
        <p:spPr>
          <a:xfrm>
            <a:off x="6959600" y="843280"/>
            <a:ext cx="1706880" cy="5334000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9962513-B6A2-66AD-C186-B17664A56162}"/>
                  </a:ext>
                </a:extLst>
              </p:cNvPr>
              <p:cNvSpPr txBox="1"/>
              <p:nvPr/>
            </p:nvSpPr>
            <p:spPr>
              <a:xfrm>
                <a:off x="145813" y="909380"/>
                <a:ext cx="5581002" cy="1384995"/>
              </a:xfrm>
              <a:prstGeom prst="rect">
                <a:avLst/>
              </a:prstGeom>
              <a:solidFill>
                <a:schemeClr val="tx1"/>
              </a:solidFill>
              <a:ln w="66675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dirty="0">
                    <a:solidFill>
                      <a:schemeClr val="bg1"/>
                    </a:solidFill>
                  </a:rPr>
                  <a:t>At lower frequencies,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ja-JP" altLang="en-US" sz="2800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ja-JP" sz="2800" dirty="0">
                    <a:solidFill>
                      <a:schemeClr val="bg1"/>
                    </a:solidFill>
                  </a:rPr>
                  <a:t>can be a decreasing function of the ac amplitude (q). 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9962513-B6A2-66AD-C186-B17664A56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13" y="909380"/>
                <a:ext cx="5581002" cy="1384995"/>
              </a:xfrm>
              <a:prstGeom prst="rect">
                <a:avLst/>
              </a:prstGeom>
              <a:blipFill>
                <a:blip r:embed="rId4"/>
                <a:stretch>
                  <a:fillRect l="-1728" t="-2521" b="-7983"/>
                </a:stretch>
              </a:blipFill>
              <a:ln w="666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A015A31-E66B-2EA8-937F-68094BF327D7}"/>
              </a:ext>
            </a:extLst>
          </p:cNvPr>
          <p:cNvSpPr txBox="1"/>
          <p:nvPr/>
        </p:nvSpPr>
        <p:spPr>
          <a:xfrm rot="20707089">
            <a:off x="1362110" y="4353078"/>
            <a:ext cx="2892908" cy="923330"/>
          </a:xfrm>
          <a:prstGeom prst="rect">
            <a:avLst/>
          </a:prstGeom>
          <a:solidFill>
            <a:schemeClr val="tx1"/>
          </a:solidFill>
          <a:ln w="444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The AAA term is 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the dominant contributor 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at low frequencies 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E968DB93-3C72-AE3C-E843-8BDF76C41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381" y="5030135"/>
            <a:ext cx="1617495" cy="105591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4E170D-EC87-F9B2-E915-DECBD8B0D9C5}"/>
              </a:ext>
            </a:extLst>
          </p:cNvPr>
          <p:cNvSpPr txBox="1"/>
          <p:nvPr/>
        </p:nvSpPr>
        <p:spPr>
          <a:xfrm>
            <a:off x="5479550" y="6058354"/>
            <a:ext cx="343228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0070C0"/>
                </a:solidFill>
              </a:rPr>
              <a:t>arXiv:2509.09766	</a:t>
            </a:r>
            <a:endParaRPr lang="ja-JP" altLang="en-US" sz="1400" dirty="0">
              <a:solidFill>
                <a:srgbClr val="0070C0"/>
              </a:solidFill>
            </a:endParaRPr>
          </a:p>
          <a:p>
            <a:r>
              <a:rPr lang="en-US" altLang="ja-JP" sz="1400" dirty="0">
                <a:solidFill>
                  <a:srgbClr val="0070C0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rgbClr val="0070C0"/>
                </a:solidFill>
              </a:rPr>
            </a:br>
            <a:r>
              <a:rPr lang="en-US" altLang="ja-JP" sz="110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100" dirty="0">
                <a:solidFill>
                  <a:srgbClr val="0070C0"/>
                </a:solidFill>
              </a:rPr>
              <a:t> </a:t>
            </a:r>
            <a:endParaRPr lang="en-US" altLang="ja-JP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4116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1FC77C0-AD1E-9098-05DF-0CED352F76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38"/>
          <a:stretch>
            <a:fillRect/>
          </a:stretch>
        </p:blipFill>
        <p:spPr>
          <a:xfrm>
            <a:off x="193302" y="812800"/>
            <a:ext cx="5424916" cy="500334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709678-87C6-CEC4-7813-6B5644DA49FD}"/>
              </a:ext>
            </a:extLst>
          </p:cNvPr>
          <p:cNvSpPr txBox="1"/>
          <p:nvPr/>
        </p:nvSpPr>
        <p:spPr>
          <a:xfrm>
            <a:off x="5011220" y="949503"/>
            <a:ext cx="2284343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3300"/>
                </a:solidFill>
              </a:rPr>
              <a:t>360MHz for Nb</a:t>
            </a:r>
            <a:endParaRPr kumimoji="1" lang="ja-JP" altLang="en-US" sz="2400" dirty="0">
              <a:solidFill>
                <a:srgbClr val="FF33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3CC72BC-984F-4CF7-AF17-5E2A43B3554F}"/>
              </a:ext>
            </a:extLst>
          </p:cNvPr>
          <p:cNvSpPr txBox="1"/>
          <p:nvPr/>
        </p:nvSpPr>
        <p:spPr>
          <a:xfrm>
            <a:off x="5030828" y="2636559"/>
            <a:ext cx="2284343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39FC3"/>
                </a:solidFill>
              </a:rPr>
              <a:t>720MHz for Nb</a:t>
            </a:r>
            <a:endParaRPr kumimoji="1" lang="ja-JP" altLang="en-US" sz="2400" dirty="0">
              <a:solidFill>
                <a:srgbClr val="F39FC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DD1F73B-44C8-3D37-23DD-AA26BA4FF5DC}"/>
              </a:ext>
            </a:extLst>
          </p:cNvPr>
          <p:cNvSpPr txBox="1"/>
          <p:nvPr/>
        </p:nvSpPr>
        <p:spPr>
          <a:xfrm>
            <a:off x="4888835" y="4739498"/>
            <a:ext cx="2184957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000FF"/>
                </a:solidFill>
              </a:rPr>
              <a:t>3.6GHz for Nb</a:t>
            </a:r>
            <a:endParaRPr kumimoji="1" lang="ja-JP" altLang="en-US" sz="2400" dirty="0">
              <a:solidFill>
                <a:srgbClr val="0000FF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DA48F40-33F9-F9E3-F43B-5B14343ADAB9}"/>
              </a:ext>
            </a:extLst>
          </p:cNvPr>
          <p:cNvSpPr txBox="1"/>
          <p:nvPr/>
        </p:nvSpPr>
        <p:spPr>
          <a:xfrm>
            <a:off x="5043528" y="4051463"/>
            <a:ext cx="2184957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669FDF"/>
                </a:solidFill>
              </a:rPr>
              <a:t>1.8GHz for Nb</a:t>
            </a:r>
            <a:endParaRPr kumimoji="1" lang="ja-JP" altLang="en-US" sz="2400" dirty="0">
              <a:solidFill>
                <a:srgbClr val="669FD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BEA56DB-4D61-0E49-3936-19FC0B08640F}"/>
              </a:ext>
            </a:extLst>
          </p:cNvPr>
          <p:cNvSpPr txBox="1"/>
          <p:nvPr/>
        </p:nvSpPr>
        <p:spPr>
          <a:xfrm>
            <a:off x="71383" y="-2778"/>
            <a:ext cx="12120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ac amplitude dependent dissipative conductivity</a:t>
            </a:r>
            <a:endParaRPr kumimoji="1" lang="ja-JP" altLang="en-US" sz="3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99DFA1B-551B-5A1F-A153-91716A732694}"/>
              </a:ext>
            </a:extLst>
          </p:cNvPr>
          <p:cNvSpPr txBox="1"/>
          <p:nvPr/>
        </p:nvSpPr>
        <p:spPr>
          <a:xfrm>
            <a:off x="605398" y="6006812"/>
            <a:ext cx="7948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3600" dirty="0"/>
              <a:t>Note: this corresponds to </a:t>
            </a:r>
            <a:r>
              <a:rPr kumimoji="1" lang="en-US" altLang="ja-JP" sz="3600" b="1" dirty="0"/>
              <a:t>a few (</a:t>
            </a:r>
            <a:r>
              <a:rPr kumimoji="1" lang="en-US" altLang="ja-JP" sz="3600" b="1" dirty="0" err="1"/>
              <a:t>mT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9C03927-D159-EF8B-28D1-5D97BA4DE52B}"/>
                  </a:ext>
                </a:extLst>
              </p:cNvPr>
              <p:cNvSpPr txBox="1"/>
              <p:nvPr/>
            </p:nvSpPr>
            <p:spPr>
              <a:xfrm>
                <a:off x="1356740" y="853641"/>
                <a:ext cx="35320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2800" dirty="0">
                    <a:solidFill>
                      <a:schemeClr val="bg1"/>
                    </a:solidFill>
                  </a:rPr>
                  <a:t>Dirty limit (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2800" dirty="0">
                    <a:solidFill>
                      <a:schemeClr val="bg1"/>
                    </a:solidFill>
                  </a:rPr>
                  <a:t>)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9C03927-D159-EF8B-28D1-5D97BA4DE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740" y="853641"/>
                <a:ext cx="3532095" cy="523220"/>
              </a:xfrm>
              <a:prstGeom prst="rect">
                <a:avLst/>
              </a:prstGeom>
              <a:blipFill>
                <a:blip r:embed="rId3"/>
                <a:stretch>
                  <a:fillRect l="-3627" t="-12791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335B63B-6698-50C8-1795-F98422EC3681}"/>
              </a:ext>
            </a:extLst>
          </p:cNvPr>
          <p:cNvCxnSpPr>
            <a:cxnSpLocks/>
          </p:cNvCxnSpPr>
          <p:nvPr/>
        </p:nvCxnSpPr>
        <p:spPr>
          <a:xfrm flipV="1">
            <a:off x="4508500" y="5169035"/>
            <a:ext cx="0" cy="1015865"/>
          </a:xfrm>
          <a:prstGeom prst="straightConnector1">
            <a:avLst/>
          </a:prstGeom>
          <a:ln w="1206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E478EB9C-38E5-3DC2-53C0-1D0F7C85D8E9}"/>
                  </a:ext>
                </a:extLst>
              </p:cNvPr>
              <p:cNvSpPr txBox="1"/>
              <p:nvPr/>
            </p:nvSpPr>
            <p:spPr>
              <a:xfrm>
                <a:off x="1473671" y="4137020"/>
                <a:ext cx="13411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E478EB9C-38E5-3DC2-53C0-1D0F7C85D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671" y="4137020"/>
                <a:ext cx="1341136" cy="276999"/>
              </a:xfrm>
              <a:prstGeom prst="rect">
                <a:avLst/>
              </a:prstGeom>
              <a:blipFill>
                <a:blip r:embed="rId4"/>
                <a:stretch>
                  <a:fillRect l="-19545" t="-173333" r="-909" b="-25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222777-CF72-FD35-BC30-FD13690DFCDD}"/>
              </a:ext>
            </a:extLst>
          </p:cNvPr>
          <p:cNvSpPr txBox="1"/>
          <p:nvPr/>
        </p:nvSpPr>
        <p:spPr>
          <a:xfrm>
            <a:off x="193302" y="5208489"/>
            <a:ext cx="343228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rgbClr val="0070C0"/>
                </a:solidFill>
              </a:rPr>
              <a:t>arXiv:2509.09766	</a:t>
            </a:r>
            <a:endParaRPr lang="ja-JP" altLang="en-US" sz="1200" dirty="0">
              <a:solidFill>
                <a:srgbClr val="0070C0"/>
              </a:solidFill>
            </a:endParaRPr>
          </a:p>
          <a:p>
            <a:r>
              <a:rPr lang="en-US" altLang="ja-JP" sz="1200" dirty="0">
                <a:solidFill>
                  <a:srgbClr val="0070C0"/>
                </a:solidFill>
              </a:rPr>
              <a:t>To be published in Phys. Rev. Applied</a:t>
            </a:r>
            <a:br>
              <a:rPr lang="en-US" altLang="ja-JP" sz="1200" dirty="0">
                <a:solidFill>
                  <a:srgbClr val="0070C0"/>
                </a:solidFill>
              </a:rPr>
            </a:br>
            <a:r>
              <a:rPr lang="en-US" altLang="ja-JP" sz="105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050" dirty="0">
                <a:solidFill>
                  <a:srgbClr val="0070C0"/>
                </a:solidFill>
              </a:rPr>
              <a:t> </a:t>
            </a:r>
            <a:endParaRPr lang="en-US" altLang="ja-JP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56671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5FB4-F6D1-BDBA-9D96-A6C129B2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7E8730A-B15D-3A49-661F-2FD465FCB7B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38"/>
          <a:stretch>
            <a:fillRect/>
          </a:stretch>
        </p:blipFill>
        <p:spPr>
          <a:xfrm>
            <a:off x="193302" y="812800"/>
            <a:ext cx="5424916" cy="500334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6148AF0-A659-0922-A9D6-D74E32563AF1}"/>
              </a:ext>
            </a:extLst>
          </p:cNvPr>
          <p:cNvSpPr txBox="1"/>
          <p:nvPr/>
        </p:nvSpPr>
        <p:spPr>
          <a:xfrm>
            <a:off x="5011220" y="949503"/>
            <a:ext cx="2284343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3300"/>
                </a:solidFill>
              </a:rPr>
              <a:t>360MHz for Nb</a:t>
            </a:r>
            <a:endParaRPr kumimoji="1" lang="ja-JP" altLang="en-US" sz="2400" dirty="0">
              <a:solidFill>
                <a:srgbClr val="FF33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61A2F2-C60A-808D-9B2F-E2DAD76787D0}"/>
              </a:ext>
            </a:extLst>
          </p:cNvPr>
          <p:cNvSpPr txBox="1"/>
          <p:nvPr/>
        </p:nvSpPr>
        <p:spPr>
          <a:xfrm>
            <a:off x="5030828" y="2636559"/>
            <a:ext cx="2284343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39FC3"/>
                </a:solidFill>
              </a:rPr>
              <a:t>720MHz for Nb</a:t>
            </a:r>
            <a:endParaRPr kumimoji="1" lang="ja-JP" altLang="en-US" sz="2400" dirty="0">
              <a:solidFill>
                <a:srgbClr val="F39FC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9EAA9F-7536-1F01-F530-E4D1E7FFEA10}"/>
              </a:ext>
            </a:extLst>
          </p:cNvPr>
          <p:cNvSpPr txBox="1"/>
          <p:nvPr/>
        </p:nvSpPr>
        <p:spPr>
          <a:xfrm>
            <a:off x="4888835" y="4739498"/>
            <a:ext cx="2184957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000FF"/>
                </a:solidFill>
              </a:rPr>
              <a:t>3.6GHz for Nb</a:t>
            </a:r>
            <a:endParaRPr kumimoji="1" lang="ja-JP" altLang="en-US" sz="2400" dirty="0">
              <a:solidFill>
                <a:srgbClr val="0000FF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B91FE5-A21B-B5A1-AED5-20E3AAC3C124}"/>
              </a:ext>
            </a:extLst>
          </p:cNvPr>
          <p:cNvSpPr txBox="1"/>
          <p:nvPr/>
        </p:nvSpPr>
        <p:spPr>
          <a:xfrm>
            <a:off x="5043528" y="4051463"/>
            <a:ext cx="2184957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669FDF"/>
                </a:solidFill>
              </a:rPr>
              <a:t>1.8GHz for Nb</a:t>
            </a:r>
            <a:endParaRPr kumimoji="1" lang="ja-JP" altLang="en-US" sz="2400" dirty="0">
              <a:solidFill>
                <a:srgbClr val="669FD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5EE6EE-E1B9-7A5D-FE6E-8C2FB24758CF}"/>
              </a:ext>
            </a:extLst>
          </p:cNvPr>
          <p:cNvSpPr txBox="1"/>
          <p:nvPr/>
        </p:nvSpPr>
        <p:spPr>
          <a:xfrm>
            <a:off x="71383" y="-2778"/>
            <a:ext cx="12120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ac amplitude dependent dissipative conductivity</a:t>
            </a:r>
            <a:endParaRPr kumimoji="1" lang="ja-JP" altLang="en-US" sz="3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EE56177-5ACD-DCF4-09B7-D50B899813ED}"/>
              </a:ext>
            </a:extLst>
          </p:cNvPr>
          <p:cNvSpPr txBox="1"/>
          <p:nvPr/>
        </p:nvSpPr>
        <p:spPr>
          <a:xfrm>
            <a:off x="605398" y="6006812"/>
            <a:ext cx="7948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3600" dirty="0"/>
              <a:t>Note: this corresponds to </a:t>
            </a:r>
            <a:r>
              <a:rPr kumimoji="1" lang="en-US" altLang="ja-JP" sz="3600" b="1" dirty="0"/>
              <a:t>a few (</a:t>
            </a:r>
            <a:r>
              <a:rPr kumimoji="1" lang="en-US" altLang="ja-JP" sz="3600" b="1" dirty="0" err="1"/>
              <a:t>mT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ADCA42B-5D5E-1641-0B54-BF7A3468CF26}"/>
                  </a:ext>
                </a:extLst>
              </p:cNvPr>
              <p:cNvSpPr txBox="1"/>
              <p:nvPr/>
            </p:nvSpPr>
            <p:spPr>
              <a:xfrm>
                <a:off x="1356740" y="853641"/>
                <a:ext cx="35320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2800" dirty="0">
                    <a:solidFill>
                      <a:schemeClr val="bg1"/>
                    </a:solidFill>
                  </a:rPr>
                  <a:t>Dirty limit (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2800" dirty="0">
                    <a:solidFill>
                      <a:schemeClr val="bg1"/>
                    </a:solidFill>
                  </a:rPr>
                  <a:t>)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ADCA42B-5D5E-1641-0B54-BF7A3468C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740" y="853641"/>
                <a:ext cx="3532095" cy="523220"/>
              </a:xfrm>
              <a:prstGeom prst="rect">
                <a:avLst/>
              </a:prstGeom>
              <a:blipFill>
                <a:blip r:embed="rId3"/>
                <a:stretch>
                  <a:fillRect l="-3627" t="-12791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図 18">
            <a:extLst>
              <a:ext uri="{FF2B5EF4-FFF2-40B4-BE49-F238E27FC236}">
                <a16:creationId xmlns:a16="http://schemas.microsoft.com/office/drawing/2014/main" id="{85267EB8-BE62-D4D3-4565-4E308D5D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2" r="3365" b="14934"/>
          <a:stretch>
            <a:fillRect/>
          </a:stretch>
        </p:blipFill>
        <p:spPr>
          <a:xfrm>
            <a:off x="7814324" y="2013208"/>
            <a:ext cx="4311374" cy="36890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2E73AFB3-B168-BD23-F15B-3121F6CE0207}"/>
                  </a:ext>
                </a:extLst>
              </p:cNvPr>
              <p:cNvSpPr txBox="1"/>
              <p:nvPr/>
            </p:nvSpPr>
            <p:spPr>
              <a:xfrm>
                <a:off x="7576819" y="817825"/>
                <a:ext cx="455685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ja-JP" sz="2800" dirty="0"/>
                  <a:t>Experiments:</a:t>
                </a:r>
              </a:p>
              <a:p>
                <a:pPr algn="r"/>
                <a:r>
                  <a:rPr kumimoji="1" lang="en-US" altLang="ja-JP" sz="2800" dirty="0"/>
                  <a:t>Moderately dirty (</a:t>
                </a:r>
                <a14:m>
                  <m:oMath xmlns:m="http://schemas.openxmlformats.org/officeDocument/2006/math">
                    <m:r>
                      <a:rPr kumimoji="1" lang="en-US" altLang="ja-JP" sz="2800" i="1"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kumimoji="1" lang="en-US" altLang="ja-JP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2E73AFB3-B168-BD23-F15B-3121F6CE0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819" y="817825"/>
                <a:ext cx="4556859" cy="954107"/>
              </a:xfrm>
              <a:prstGeom prst="rect">
                <a:avLst/>
              </a:prstGeom>
              <a:blipFill>
                <a:blip r:embed="rId5"/>
                <a:stretch>
                  <a:fillRect t="-7006" r="-2677" b="-15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76A59DCC-FA83-8D92-924B-55A21120F5AC}"/>
              </a:ext>
            </a:extLst>
          </p:cNvPr>
          <p:cNvCxnSpPr>
            <a:cxnSpLocks/>
          </p:cNvCxnSpPr>
          <p:nvPr/>
        </p:nvCxnSpPr>
        <p:spPr>
          <a:xfrm flipV="1">
            <a:off x="4508500" y="5169035"/>
            <a:ext cx="0" cy="1015865"/>
          </a:xfrm>
          <a:prstGeom prst="straightConnector1">
            <a:avLst/>
          </a:prstGeom>
          <a:ln w="1206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2C4BCB-0FA3-4CD3-6D55-1943130882D4}"/>
              </a:ext>
            </a:extLst>
          </p:cNvPr>
          <p:cNvSpPr txBox="1"/>
          <p:nvPr/>
        </p:nvSpPr>
        <p:spPr>
          <a:xfrm>
            <a:off x="8081208" y="5679440"/>
            <a:ext cx="4104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M. Martinello et al., Phys. Rev. Lett. </a:t>
            </a:r>
            <a:r>
              <a:rPr lang="en-US" altLang="ja-JP" sz="1200" b="1" dirty="0">
                <a:solidFill>
                  <a:schemeClr val="tx2"/>
                </a:solidFill>
              </a:rPr>
              <a:t>121</a:t>
            </a:r>
            <a:r>
              <a:rPr lang="en-US" altLang="ja-JP" sz="1200" dirty="0">
                <a:solidFill>
                  <a:schemeClr val="tx2"/>
                </a:solidFill>
              </a:rPr>
              <a:t>, 224801 (2018)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DOI: </a:t>
            </a:r>
            <a:r>
              <a:rPr lang="en-US" altLang="ja-JP" sz="1200" dirty="0">
                <a:solidFill>
                  <a:schemeClr val="tx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https://doi.org/10.1103/PhysRevLett.121.224801</a:t>
            </a:r>
            <a:r>
              <a:rPr lang="en-US" altLang="ja-JP" sz="1200" dirty="0">
                <a:solidFill>
                  <a:schemeClr val="tx2"/>
                </a:solidFill>
              </a:rPr>
              <a:t>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DF301C8-003B-5E55-5CCE-4B9E9A5817E5}"/>
                  </a:ext>
                </a:extLst>
              </p:cNvPr>
              <p:cNvSpPr txBox="1"/>
              <p:nvPr/>
            </p:nvSpPr>
            <p:spPr>
              <a:xfrm>
                <a:off x="1473671" y="4137020"/>
                <a:ext cx="13411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DF301C8-003B-5E55-5CCE-4B9E9A581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671" y="4137020"/>
                <a:ext cx="1341136" cy="276999"/>
              </a:xfrm>
              <a:prstGeom prst="rect">
                <a:avLst/>
              </a:prstGeom>
              <a:blipFill>
                <a:blip r:embed="rId7"/>
                <a:stretch>
                  <a:fillRect l="-19545" t="-173333" r="-909" b="-25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9C926F2-BCD9-8512-20E4-11B9B8644C7A}"/>
              </a:ext>
            </a:extLst>
          </p:cNvPr>
          <p:cNvSpPr txBox="1"/>
          <p:nvPr/>
        </p:nvSpPr>
        <p:spPr>
          <a:xfrm>
            <a:off x="8602946" y="1671466"/>
            <a:ext cx="3556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M. Martinello et al., PRL. </a:t>
            </a:r>
            <a:r>
              <a:rPr lang="en-US" altLang="ja-JP" sz="1200" b="1" dirty="0">
                <a:solidFill>
                  <a:schemeClr val="tx2"/>
                </a:solidFill>
              </a:rPr>
              <a:t>121</a:t>
            </a:r>
            <a:r>
              <a:rPr lang="en-US" altLang="ja-JP" sz="1200" dirty="0">
                <a:solidFill>
                  <a:schemeClr val="tx2"/>
                </a:solidFill>
              </a:rPr>
              <a:t>, 224801 (2018)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P. Dhakal et al., PRAB </a:t>
            </a:r>
            <a:r>
              <a:rPr lang="en-US" altLang="ja-JP" sz="1200" b="1" dirty="0">
                <a:solidFill>
                  <a:schemeClr val="tx2"/>
                </a:solidFill>
              </a:rPr>
              <a:t>27</a:t>
            </a:r>
            <a:r>
              <a:rPr lang="en-US" altLang="ja-JP" sz="1200" dirty="0">
                <a:solidFill>
                  <a:schemeClr val="tx2"/>
                </a:solidFill>
              </a:rPr>
              <a:t>, 062001 (2024)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483247-DD19-2D25-FED5-AD703343D92A}"/>
              </a:ext>
            </a:extLst>
          </p:cNvPr>
          <p:cNvSpPr txBox="1"/>
          <p:nvPr/>
        </p:nvSpPr>
        <p:spPr>
          <a:xfrm>
            <a:off x="193302" y="5208489"/>
            <a:ext cx="343228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rgbClr val="0070C0"/>
                </a:solidFill>
              </a:rPr>
              <a:t>arXiv:2509.09766	</a:t>
            </a:r>
            <a:endParaRPr lang="ja-JP" altLang="en-US" sz="1200" dirty="0">
              <a:solidFill>
                <a:srgbClr val="0070C0"/>
              </a:solidFill>
            </a:endParaRPr>
          </a:p>
          <a:p>
            <a:r>
              <a:rPr lang="en-US" altLang="ja-JP" sz="1200" dirty="0">
                <a:solidFill>
                  <a:srgbClr val="0070C0"/>
                </a:solidFill>
              </a:rPr>
              <a:t>To be published in Phys. Rev. Applied</a:t>
            </a:r>
            <a:br>
              <a:rPr lang="en-US" altLang="ja-JP" sz="1200" dirty="0">
                <a:solidFill>
                  <a:srgbClr val="0070C0"/>
                </a:solidFill>
              </a:rPr>
            </a:br>
            <a:r>
              <a:rPr lang="en-US" altLang="ja-JP" sz="1050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050" dirty="0">
                <a:solidFill>
                  <a:srgbClr val="0070C0"/>
                </a:solidFill>
              </a:rPr>
              <a:t> </a:t>
            </a:r>
            <a:endParaRPr lang="en-US" altLang="ja-JP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16512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9A31-264D-5205-163C-186F4D3FC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F75E33B-0948-A4C1-97EA-ED28D393425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38"/>
          <a:stretch>
            <a:fillRect/>
          </a:stretch>
        </p:blipFill>
        <p:spPr>
          <a:xfrm>
            <a:off x="193302" y="812800"/>
            <a:ext cx="5424916" cy="500334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73EC81-9A06-BAC5-0843-464A69BF35EC}"/>
              </a:ext>
            </a:extLst>
          </p:cNvPr>
          <p:cNvSpPr txBox="1"/>
          <p:nvPr/>
        </p:nvSpPr>
        <p:spPr>
          <a:xfrm>
            <a:off x="5011220" y="949503"/>
            <a:ext cx="2284343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3300"/>
                </a:solidFill>
              </a:rPr>
              <a:t>360MHz for Nb</a:t>
            </a:r>
            <a:endParaRPr kumimoji="1" lang="ja-JP" altLang="en-US" sz="2400" dirty="0">
              <a:solidFill>
                <a:srgbClr val="FF33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4CC5E9-71FA-E727-58FB-07BE8484C9AD}"/>
              </a:ext>
            </a:extLst>
          </p:cNvPr>
          <p:cNvSpPr txBox="1"/>
          <p:nvPr/>
        </p:nvSpPr>
        <p:spPr>
          <a:xfrm>
            <a:off x="5030828" y="2636559"/>
            <a:ext cx="2284343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39FC3"/>
                </a:solidFill>
              </a:rPr>
              <a:t>720MHz for Nb</a:t>
            </a:r>
            <a:endParaRPr kumimoji="1" lang="ja-JP" altLang="en-US" sz="2400" dirty="0">
              <a:solidFill>
                <a:srgbClr val="F39FC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F97F80-9947-FFE2-8B41-E404C8F189B9}"/>
              </a:ext>
            </a:extLst>
          </p:cNvPr>
          <p:cNvSpPr txBox="1"/>
          <p:nvPr/>
        </p:nvSpPr>
        <p:spPr>
          <a:xfrm>
            <a:off x="4888835" y="4739498"/>
            <a:ext cx="2184957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000FF"/>
                </a:solidFill>
              </a:rPr>
              <a:t>3.6GHz for Nb</a:t>
            </a:r>
            <a:endParaRPr kumimoji="1" lang="ja-JP" altLang="en-US" sz="2400" dirty="0">
              <a:solidFill>
                <a:srgbClr val="0000FF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1330C4E-9AB4-9189-06B0-10F8B4D3C8DE}"/>
              </a:ext>
            </a:extLst>
          </p:cNvPr>
          <p:cNvSpPr txBox="1"/>
          <p:nvPr/>
        </p:nvSpPr>
        <p:spPr>
          <a:xfrm>
            <a:off x="5043528" y="4051463"/>
            <a:ext cx="2184957" cy="461665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669FDF"/>
                </a:solidFill>
              </a:rPr>
              <a:t>1.8GHz for Nb</a:t>
            </a:r>
            <a:endParaRPr kumimoji="1" lang="ja-JP" altLang="en-US" sz="2400" dirty="0">
              <a:solidFill>
                <a:srgbClr val="669FD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9DF749E-7491-43EC-004C-9AD5739370CD}"/>
              </a:ext>
            </a:extLst>
          </p:cNvPr>
          <p:cNvSpPr txBox="1"/>
          <p:nvPr/>
        </p:nvSpPr>
        <p:spPr>
          <a:xfrm>
            <a:off x="71383" y="-2778"/>
            <a:ext cx="12120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ac amplitude dependent dissipative conductivity</a:t>
            </a:r>
            <a:endParaRPr kumimoji="1" lang="ja-JP" altLang="en-US" sz="3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C7AA4DA-8119-35E3-0521-02FAB4D6AA4C}"/>
              </a:ext>
            </a:extLst>
          </p:cNvPr>
          <p:cNvSpPr txBox="1"/>
          <p:nvPr/>
        </p:nvSpPr>
        <p:spPr>
          <a:xfrm>
            <a:off x="605398" y="6006812"/>
            <a:ext cx="7948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3600" dirty="0"/>
              <a:t>Note: this corresponds to </a:t>
            </a:r>
            <a:r>
              <a:rPr kumimoji="1" lang="en-US" altLang="ja-JP" sz="3600" b="1" dirty="0"/>
              <a:t>a few (</a:t>
            </a:r>
            <a:r>
              <a:rPr kumimoji="1" lang="en-US" altLang="ja-JP" sz="3600" b="1" dirty="0" err="1"/>
              <a:t>mT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77E8C57-8780-D425-1EF8-50CC64BBA90B}"/>
                  </a:ext>
                </a:extLst>
              </p:cNvPr>
              <p:cNvSpPr txBox="1"/>
              <p:nvPr/>
            </p:nvSpPr>
            <p:spPr>
              <a:xfrm>
                <a:off x="1356740" y="853641"/>
                <a:ext cx="35320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2800" dirty="0">
                    <a:solidFill>
                      <a:schemeClr val="bg1"/>
                    </a:solidFill>
                  </a:rPr>
                  <a:t>Dirty limit (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-US" altLang="ja-JP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2800" dirty="0">
                    <a:solidFill>
                      <a:schemeClr val="bg1"/>
                    </a:solidFill>
                  </a:rPr>
                  <a:t>)</a:t>
                </a:r>
                <a:endParaRPr kumimoji="1" lang="ja-JP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ADCA42B-5D5E-1641-0B54-BF7A3468C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740" y="853641"/>
                <a:ext cx="3532095" cy="523220"/>
              </a:xfrm>
              <a:prstGeom prst="rect">
                <a:avLst/>
              </a:prstGeom>
              <a:blipFill>
                <a:blip r:embed="rId3"/>
                <a:stretch>
                  <a:fillRect l="-3627" t="-12791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図 18">
            <a:extLst>
              <a:ext uri="{FF2B5EF4-FFF2-40B4-BE49-F238E27FC236}">
                <a16:creationId xmlns:a16="http://schemas.microsoft.com/office/drawing/2014/main" id="{500F255E-3024-C37B-81B0-3D85529E0C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2" r="3365" b="14934"/>
          <a:stretch>
            <a:fillRect/>
          </a:stretch>
        </p:blipFill>
        <p:spPr>
          <a:xfrm>
            <a:off x="7814324" y="2013208"/>
            <a:ext cx="4311374" cy="3689092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E0DD3DE-3348-D343-5193-779104AEE6BF}"/>
              </a:ext>
            </a:extLst>
          </p:cNvPr>
          <p:cNvSpPr/>
          <p:nvPr/>
        </p:nvSpPr>
        <p:spPr>
          <a:xfrm>
            <a:off x="71383" y="749300"/>
            <a:ext cx="7383517" cy="5159197"/>
          </a:xfrm>
          <a:prstGeom prst="rect">
            <a:avLst/>
          </a:prstGeom>
          <a:noFill/>
          <a:ln w="889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148B7D3-ABF9-BC51-7D51-B408574DC671}"/>
              </a:ext>
            </a:extLst>
          </p:cNvPr>
          <p:cNvCxnSpPr>
            <a:cxnSpLocks/>
          </p:cNvCxnSpPr>
          <p:nvPr/>
        </p:nvCxnSpPr>
        <p:spPr>
          <a:xfrm flipV="1">
            <a:off x="4508500" y="5169035"/>
            <a:ext cx="0" cy="1015865"/>
          </a:xfrm>
          <a:prstGeom prst="straightConnector1">
            <a:avLst/>
          </a:prstGeom>
          <a:ln w="1206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E147BF0-8C5C-DEF1-BF76-411B52D81898}"/>
              </a:ext>
            </a:extLst>
          </p:cNvPr>
          <p:cNvSpPr/>
          <p:nvPr/>
        </p:nvSpPr>
        <p:spPr>
          <a:xfrm>
            <a:off x="8064500" y="2949676"/>
            <a:ext cx="772373" cy="633787"/>
          </a:xfrm>
          <a:prstGeom prst="rect">
            <a:avLst/>
          </a:prstGeom>
          <a:noFill/>
          <a:ln w="889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9B6DBA-4543-4247-4B29-220E3B0A84DA}"/>
              </a:ext>
            </a:extLst>
          </p:cNvPr>
          <p:cNvSpPr txBox="1"/>
          <p:nvPr/>
        </p:nvSpPr>
        <p:spPr>
          <a:xfrm>
            <a:off x="8081208" y="5679440"/>
            <a:ext cx="4104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M. Martinello et al., Phys. Rev. Lett. </a:t>
            </a:r>
            <a:r>
              <a:rPr lang="en-US" altLang="ja-JP" sz="1200" b="1" dirty="0">
                <a:solidFill>
                  <a:schemeClr val="tx2"/>
                </a:solidFill>
              </a:rPr>
              <a:t>121</a:t>
            </a:r>
            <a:r>
              <a:rPr lang="en-US" altLang="ja-JP" sz="1200" dirty="0">
                <a:solidFill>
                  <a:schemeClr val="tx2"/>
                </a:solidFill>
              </a:rPr>
              <a:t>, 224801 (2018)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DOI: </a:t>
            </a:r>
            <a:r>
              <a:rPr lang="en-US" altLang="ja-JP" sz="1200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https://doi.org/10.1103/PhysRevLett.121.224801</a:t>
            </a:r>
            <a:r>
              <a:rPr lang="en-US" altLang="ja-JP" sz="1200" dirty="0">
                <a:solidFill>
                  <a:schemeClr val="tx2"/>
                </a:solidFill>
              </a:rPr>
              <a:t>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57204602-795A-608B-0062-7E453790D1A4}"/>
                  </a:ext>
                </a:extLst>
              </p:cNvPr>
              <p:cNvSpPr txBox="1"/>
              <p:nvPr/>
            </p:nvSpPr>
            <p:spPr>
              <a:xfrm>
                <a:off x="1473671" y="4137020"/>
                <a:ext cx="13411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DF301C8-003B-5E55-5CCE-4B9E9A581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671" y="4137020"/>
                <a:ext cx="1341136" cy="276999"/>
              </a:xfrm>
              <a:prstGeom prst="rect">
                <a:avLst/>
              </a:prstGeom>
              <a:blipFill>
                <a:blip r:embed="rId6"/>
                <a:stretch>
                  <a:fillRect l="-19545" t="-173333" r="-909" b="-25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5598F01-7C4D-F718-D3E7-7C01A5DED402}"/>
                  </a:ext>
                </a:extLst>
              </p:cNvPr>
              <p:cNvSpPr txBox="1"/>
              <p:nvPr/>
            </p:nvSpPr>
            <p:spPr>
              <a:xfrm>
                <a:off x="7576819" y="817825"/>
                <a:ext cx="455685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ja-JP" sz="2800" dirty="0"/>
                  <a:t>Experiments:</a:t>
                </a:r>
              </a:p>
              <a:p>
                <a:pPr algn="r"/>
                <a:r>
                  <a:rPr kumimoji="1" lang="en-US" altLang="ja-JP" sz="2800" dirty="0"/>
                  <a:t>Moderately dirty (</a:t>
                </a:r>
                <a14:m>
                  <m:oMath xmlns:m="http://schemas.openxmlformats.org/officeDocument/2006/math">
                    <m:r>
                      <a:rPr kumimoji="1" lang="en-US" altLang="ja-JP" sz="2800" i="1"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kumimoji="1" lang="en-US" altLang="ja-JP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5598F01-7C4D-F718-D3E7-7C01A5DED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819" y="817825"/>
                <a:ext cx="4556859" cy="954107"/>
              </a:xfrm>
              <a:prstGeom prst="rect">
                <a:avLst/>
              </a:prstGeom>
              <a:blipFill>
                <a:blip r:embed="rId7"/>
                <a:stretch>
                  <a:fillRect t="-7006" r="-2677" b="-15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64837B0-93DD-C9D6-CB1E-5AC92FC6CDAE}"/>
              </a:ext>
            </a:extLst>
          </p:cNvPr>
          <p:cNvSpPr txBox="1"/>
          <p:nvPr/>
        </p:nvSpPr>
        <p:spPr>
          <a:xfrm>
            <a:off x="8602946" y="1671466"/>
            <a:ext cx="3556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M. Martinello et al., PRL. </a:t>
            </a:r>
            <a:r>
              <a:rPr lang="en-US" altLang="ja-JP" sz="1200" b="1" dirty="0">
                <a:solidFill>
                  <a:schemeClr val="tx2"/>
                </a:solidFill>
              </a:rPr>
              <a:t>121</a:t>
            </a:r>
            <a:r>
              <a:rPr lang="en-US" altLang="ja-JP" sz="1200" dirty="0">
                <a:solidFill>
                  <a:schemeClr val="tx2"/>
                </a:solidFill>
              </a:rPr>
              <a:t>, 224801 (2018)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P. Dhakal et al., PRAB </a:t>
            </a:r>
            <a:r>
              <a:rPr lang="en-US" altLang="ja-JP" sz="1200" b="1" dirty="0">
                <a:solidFill>
                  <a:schemeClr val="tx2"/>
                </a:solidFill>
              </a:rPr>
              <a:t>27</a:t>
            </a:r>
            <a:r>
              <a:rPr lang="en-US" altLang="ja-JP" sz="1200" dirty="0">
                <a:solidFill>
                  <a:schemeClr val="tx2"/>
                </a:solidFill>
              </a:rPr>
              <a:t>, 062001 (2024)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8CDBC9C-F2D8-0174-A4CD-A2E19D159015}"/>
              </a:ext>
            </a:extLst>
          </p:cNvPr>
          <p:cNvSpPr txBox="1"/>
          <p:nvPr/>
        </p:nvSpPr>
        <p:spPr>
          <a:xfrm>
            <a:off x="193302" y="5208489"/>
            <a:ext cx="343228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rgbClr val="0070C0"/>
                </a:solidFill>
              </a:rPr>
              <a:t>arXiv:2509.09766	</a:t>
            </a:r>
            <a:endParaRPr lang="ja-JP" altLang="en-US" sz="1200" dirty="0">
              <a:solidFill>
                <a:srgbClr val="0070C0"/>
              </a:solidFill>
            </a:endParaRPr>
          </a:p>
          <a:p>
            <a:r>
              <a:rPr lang="en-US" altLang="ja-JP" sz="1200" dirty="0">
                <a:solidFill>
                  <a:srgbClr val="0070C0"/>
                </a:solidFill>
              </a:rPr>
              <a:t>To be published in Phys. Rev. Applied</a:t>
            </a:r>
            <a:br>
              <a:rPr lang="en-US" altLang="ja-JP" sz="1200" dirty="0">
                <a:solidFill>
                  <a:srgbClr val="0070C0"/>
                </a:solidFill>
              </a:rPr>
            </a:br>
            <a:r>
              <a:rPr lang="en-US" altLang="ja-JP" sz="1050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050" dirty="0">
                <a:solidFill>
                  <a:srgbClr val="0070C0"/>
                </a:solidFill>
              </a:rPr>
              <a:t> </a:t>
            </a:r>
            <a:endParaRPr lang="en-US" altLang="ja-JP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28430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6063-EEDF-3C51-4628-04ABA4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417885-C6E6-5D58-9283-EF890377C9CF}"/>
              </a:ext>
            </a:extLst>
          </p:cNvPr>
          <p:cNvSpPr txBox="1"/>
          <p:nvPr/>
        </p:nvSpPr>
        <p:spPr>
          <a:xfrm>
            <a:off x="71383" y="-2778"/>
            <a:ext cx="12120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ac amplitude dependent dissipative conductivity</a:t>
            </a:r>
            <a:endParaRPr kumimoji="1" lang="ja-JP" altLang="en-US" sz="320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39840FE-ED11-6F18-7058-E3EEDC2C8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2" r="3365" b="14934"/>
          <a:stretch>
            <a:fillRect/>
          </a:stretch>
        </p:blipFill>
        <p:spPr>
          <a:xfrm>
            <a:off x="7814324" y="2013208"/>
            <a:ext cx="4311374" cy="3689092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A1151F9-9A03-90EA-721D-86ED094EA7E5}"/>
              </a:ext>
            </a:extLst>
          </p:cNvPr>
          <p:cNvSpPr/>
          <p:nvPr/>
        </p:nvSpPr>
        <p:spPr>
          <a:xfrm>
            <a:off x="8064500" y="2949676"/>
            <a:ext cx="772373" cy="633787"/>
          </a:xfrm>
          <a:prstGeom prst="rect">
            <a:avLst/>
          </a:prstGeom>
          <a:noFill/>
          <a:ln w="889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8505B7-5277-C815-F162-2EF668415171}"/>
              </a:ext>
            </a:extLst>
          </p:cNvPr>
          <p:cNvSpPr/>
          <p:nvPr/>
        </p:nvSpPr>
        <p:spPr>
          <a:xfrm>
            <a:off x="8836873" y="2170767"/>
            <a:ext cx="3288825" cy="2921933"/>
          </a:xfrm>
          <a:prstGeom prst="rect">
            <a:avLst/>
          </a:prstGeom>
          <a:noFill/>
          <a:ln w="1143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1BABC7-DB24-8ACD-C089-94092D954009}"/>
              </a:ext>
            </a:extLst>
          </p:cNvPr>
          <p:cNvSpPr txBox="1"/>
          <p:nvPr/>
        </p:nvSpPr>
        <p:spPr>
          <a:xfrm>
            <a:off x="8081208" y="5679440"/>
            <a:ext cx="4104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M. Martinello et al., Phys. Rev. Lett. </a:t>
            </a:r>
            <a:r>
              <a:rPr lang="en-US" altLang="ja-JP" sz="1200" b="1" dirty="0">
                <a:solidFill>
                  <a:schemeClr val="tx2"/>
                </a:solidFill>
              </a:rPr>
              <a:t>121</a:t>
            </a:r>
            <a:r>
              <a:rPr lang="en-US" altLang="ja-JP" sz="1200" dirty="0">
                <a:solidFill>
                  <a:schemeClr val="tx2"/>
                </a:solidFill>
              </a:rPr>
              <a:t>, 224801 (2018)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DOI: </a:t>
            </a:r>
            <a:r>
              <a:rPr lang="en-US" altLang="ja-JP" sz="12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https://doi.org/10.1103/PhysRevLett.121.224801</a:t>
            </a:r>
            <a:r>
              <a:rPr lang="en-US" altLang="ja-JP" sz="1200" dirty="0">
                <a:solidFill>
                  <a:schemeClr val="tx2"/>
                </a:solidFill>
              </a:rPr>
              <a:t> 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43EFC57-8B1F-B1F8-86FB-B52BD444B09C}"/>
              </a:ext>
            </a:extLst>
          </p:cNvPr>
          <p:cNvSpPr txBox="1"/>
          <p:nvPr/>
        </p:nvSpPr>
        <p:spPr>
          <a:xfrm>
            <a:off x="360136" y="2023343"/>
            <a:ext cx="72631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To deal with </a:t>
            </a:r>
            <a:r>
              <a:rPr kumimoji="1" lang="en-US" altLang="ja-JP" sz="3600" b="1" dirty="0">
                <a:solidFill>
                  <a:srgbClr val="FF0000"/>
                </a:solidFill>
              </a:rPr>
              <a:t>the red-framed region</a:t>
            </a:r>
            <a:r>
              <a:rPr kumimoji="1" lang="en-US" altLang="ja-JP" sz="3600" dirty="0"/>
              <a:t>, the theory must be extended </a:t>
            </a:r>
            <a:r>
              <a:rPr kumimoji="1" lang="en-US" altLang="ja-JP" sz="3600" b="1" u="sng" dirty="0">
                <a:solidFill>
                  <a:srgbClr val="FF0066"/>
                </a:solidFill>
              </a:rPr>
              <a:t>nonperturbatively</a:t>
            </a:r>
            <a:r>
              <a:rPr kumimoji="1" lang="en-US" altLang="ja-JP" sz="3600" dirty="0"/>
              <a:t> to capture the quasiparticle spectrum modified by strong AC currents (</a:t>
            </a:r>
            <a:r>
              <a:rPr kumimoji="1" lang="en-US" altLang="ja-JP" sz="3600" b="1" dirty="0">
                <a:solidFill>
                  <a:schemeClr val="tx2"/>
                </a:solidFill>
              </a:rPr>
              <a:t>DOS smearing</a:t>
            </a:r>
            <a:r>
              <a:rPr kumimoji="1" lang="en-US" altLang="ja-JP" sz="3600" dirty="0"/>
              <a:t>).</a:t>
            </a:r>
            <a:endParaRPr kumimoji="1" lang="ja-JP" altLang="en-US" sz="3600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90F53780-1968-033E-0FE9-BD22DB645EBA}"/>
              </a:ext>
            </a:extLst>
          </p:cNvPr>
          <p:cNvCxnSpPr>
            <a:cxnSpLocks/>
          </p:cNvCxnSpPr>
          <p:nvPr/>
        </p:nvCxnSpPr>
        <p:spPr>
          <a:xfrm>
            <a:off x="6565324" y="2460701"/>
            <a:ext cx="2211843" cy="0"/>
          </a:xfrm>
          <a:prstGeom prst="straightConnector1">
            <a:avLst/>
          </a:prstGeom>
          <a:ln w="1206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711999-4560-F385-E1F4-E12743F8DE56}"/>
              </a:ext>
            </a:extLst>
          </p:cNvPr>
          <p:cNvSpPr txBox="1"/>
          <p:nvPr/>
        </p:nvSpPr>
        <p:spPr>
          <a:xfrm>
            <a:off x="2534591" y="5437209"/>
            <a:ext cx="4104195" cy="584775"/>
          </a:xfrm>
          <a:prstGeom prst="rect">
            <a:avLst/>
          </a:prstGeom>
          <a:noFill/>
          <a:ln w="508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solidFill>
                  <a:schemeClr val="tx2"/>
                </a:solidFill>
              </a:rPr>
              <a:t>Gurevich, PRL </a:t>
            </a:r>
            <a:r>
              <a:rPr lang="en-US" altLang="ja-JP" sz="1600" b="1" dirty="0">
                <a:solidFill>
                  <a:schemeClr val="tx2"/>
                </a:solidFill>
              </a:rPr>
              <a:t>113</a:t>
            </a:r>
            <a:r>
              <a:rPr lang="en-US" altLang="ja-JP" sz="1600" dirty="0">
                <a:solidFill>
                  <a:schemeClr val="tx2"/>
                </a:solidFill>
              </a:rPr>
              <a:t>, 087001 (2014)</a:t>
            </a:r>
          </a:p>
          <a:p>
            <a:pPr algn="ctr"/>
            <a:r>
              <a:rPr lang="en-US" altLang="ja-JP" sz="1600" dirty="0">
                <a:solidFill>
                  <a:schemeClr val="tx2"/>
                </a:solidFill>
              </a:rPr>
              <a:t>Kubo-Gurevich, PRB </a:t>
            </a:r>
            <a:r>
              <a:rPr lang="en-US" altLang="ja-JP" sz="1600" b="1" dirty="0">
                <a:solidFill>
                  <a:schemeClr val="tx2"/>
                </a:solidFill>
              </a:rPr>
              <a:t>100</a:t>
            </a:r>
            <a:r>
              <a:rPr lang="en-US" altLang="ja-JP" sz="1600" dirty="0">
                <a:solidFill>
                  <a:schemeClr val="tx2"/>
                </a:solidFill>
              </a:rPr>
              <a:t>, 064522 (2019)</a:t>
            </a:r>
            <a:endParaRPr lang="ja-JP" altLang="en-US" sz="16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F260DCD4-25E0-BCCE-9728-303D1DF3A303}"/>
                  </a:ext>
                </a:extLst>
              </p:cNvPr>
              <p:cNvSpPr txBox="1"/>
              <p:nvPr/>
            </p:nvSpPr>
            <p:spPr>
              <a:xfrm>
                <a:off x="7576819" y="817825"/>
                <a:ext cx="455685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ja-JP" sz="2800" dirty="0"/>
                  <a:t>Experiments:</a:t>
                </a:r>
              </a:p>
              <a:p>
                <a:pPr algn="r"/>
                <a:r>
                  <a:rPr kumimoji="1" lang="en-US" altLang="ja-JP" sz="2800" dirty="0"/>
                  <a:t>Moderately dirty (</a:t>
                </a:r>
                <a14:m>
                  <m:oMath xmlns:m="http://schemas.openxmlformats.org/officeDocument/2006/math">
                    <m:r>
                      <a:rPr kumimoji="1" lang="en-US" altLang="ja-JP" sz="2800" i="1"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kumimoji="1" lang="en-US" altLang="ja-JP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2800" dirty="0"/>
                  <a:t>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F260DCD4-25E0-BCCE-9728-303D1DF3A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819" y="817825"/>
                <a:ext cx="4556859" cy="954107"/>
              </a:xfrm>
              <a:prstGeom prst="rect">
                <a:avLst/>
              </a:prstGeom>
              <a:blipFill>
                <a:blip r:embed="rId4"/>
                <a:stretch>
                  <a:fillRect t="-7006" r="-2677" b="-15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A721A9-1BA8-7D53-E289-AA02E60A227B}"/>
              </a:ext>
            </a:extLst>
          </p:cNvPr>
          <p:cNvSpPr txBox="1"/>
          <p:nvPr/>
        </p:nvSpPr>
        <p:spPr>
          <a:xfrm>
            <a:off x="8602946" y="1671466"/>
            <a:ext cx="3556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M. Martinello et al., PRL. </a:t>
            </a:r>
            <a:r>
              <a:rPr lang="en-US" altLang="ja-JP" sz="1200" b="1" dirty="0">
                <a:solidFill>
                  <a:schemeClr val="tx2"/>
                </a:solidFill>
              </a:rPr>
              <a:t>121</a:t>
            </a:r>
            <a:r>
              <a:rPr lang="en-US" altLang="ja-JP" sz="1200" dirty="0">
                <a:solidFill>
                  <a:schemeClr val="tx2"/>
                </a:solidFill>
              </a:rPr>
              <a:t>, 224801 (2018)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P. Dhakal et al., PRAB </a:t>
            </a:r>
            <a:r>
              <a:rPr lang="en-US" altLang="ja-JP" sz="1200" b="1" dirty="0">
                <a:solidFill>
                  <a:schemeClr val="tx2"/>
                </a:solidFill>
              </a:rPr>
              <a:t>27</a:t>
            </a:r>
            <a:r>
              <a:rPr lang="en-US" altLang="ja-JP" sz="1200" dirty="0">
                <a:solidFill>
                  <a:schemeClr val="tx2"/>
                </a:solidFill>
              </a:rPr>
              <a:t>, 062001 (2024)</a:t>
            </a:r>
          </a:p>
        </p:txBody>
      </p:sp>
    </p:spTree>
    <p:extLst>
      <p:ext uri="{BB962C8B-B14F-4D97-AF65-F5344CB8AC3E}">
        <p14:creationId xmlns:p14="http://schemas.microsoft.com/office/powerpoint/2010/main" val="50477855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DAFA-3888-433B-CB18-C3DEF3A2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700CCAF8-487C-39B0-4F09-9E97A6B1E333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94F64DF-9371-74B9-1033-11ED90F1E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7446F0B-0102-5D0B-B4E3-F07175E293A2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6063063-6AF9-C5D2-B3A9-7B7F5360BBB3}"/>
              </a:ext>
            </a:extLst>
          </p:cNvPr>
          <p:cNvSpPr txBox="1"/>
          <p:nvPr/>
        </p:nvSpPr>
        <p:spPr>
          <a:xfrm rot="19836122">
            <a:off x="340778" y="4821032"/>
            <a:ext cx="31242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BBC67195-A640-F586-57B3-253B30BB1B5A}"/>
              </a:ext>
            </a:extLst>
          </p:cNvPr>
          <p:cNvSpPr/>
          <p:nvPr/>
        </p:nvSpPr>
        <p:spPr>
          <a:xfrm rot="15160983">
            <a:off x="5421382" y="1403791"/>
            <a:ext cx="434552" cy="11344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DFC95EE-CD74-7042-3385-E0C6E0F9082B}"/>
              </a:ext>
            </a:extLst>
          </p:cNvPr>
          <p:cNvSpPr txBox="1"/>
          <p:nvPr/>
        </p:nvSpPr>
        <p:spPr>
          <a:xfrm rot="20724338">
            <a:off x="5095306" y="875704"/>
            <a:ext cx="109619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</a:t>
            </a:r>
          </a:p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response </a:t>
            </a:r>
          </a:p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1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B093F3C-64D5-CB06-B57B-09BC50A67B38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D499F8-6DF6-D573-9D81-2A58491513D6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B76E58DA-37A9-AC34-816B-2DBF7FD3E42B}"/>
              </a:ext>
            </a:extLst>
          </p:cNvPr>
          <p:cNvSpPr/>
          <p:nvPr/>
        </p:nvSpPr>
        <p:spPr>
          <a:xfrm>
            <a:off x="7572738" y="-696502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8F2C1CDB-5310-EDAF-B098-E4CE87194308}"/>
              </a:ext>
            </a:extLst>
          </p:cNvPr>
          <p:cNvSpPr/>
          <p:nvPr/>
        </p:nvSpPr>
        <p:spPr>
          <a:xfrm>
            <a:off x="8833323" y="-696749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方体 11">
            <a:extLst>
              <a:ext uri="{FF2B5EF4-FFF2-40B4-BE49-F238E27FC236}">
                <a16:creationId xmlns:a16="http://schemas.microsoft.com/office/drawing/2014/main" id="{6A4E3BEC-68D1-2F9F-BD0C-EB14ED98B9EF}"/>
              </a:ext>
            </a:extLst>
          </p:cNvPr>
          <p:cNvSpPr/>
          <p:nvPr/>
        </p:nvSpPr>
        <p:spPr>
          <a:xfrm>
            <a:off x="5607517" y="2946742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560B8750-9A35-4049-FDDE-5334E58AB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19803" y="2558502"/>
            <a:ext cx="910275" cy="194449"/>
          </a:xfrm>
          <a:prstGeom prst="rect">
            <a:avLst/>
          </a:prstGeom>
        </p:spPr>
      </p:pic>
      <p:sp>
        <p:nvSpPr>
          <p:cNvPr id="15" name="直方体 14">
            <a:extLst>
              <a:ext uri="{FF2B5EF4-FFF2-40B4-BE49-F238E27FC236}">
                <a16:creationId xmlns:a16="http://schemas.microsoft.com/office/drawing/2014/main" id="{82859BA0-AF29-00BD-491E-0CBB67DAE0FA}"/>
              </a:ext>
            </a:extLst>
          </p:cNvPr>
          <p:cNvSpPr/>
          <p:nvPr/>
        </p:nvSpPr>
        <p:spPr>
          <a:xfrm>
            <a:off x="4272977" y="3374823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2CE4DDA2-4394-E55E-5EC0-D35FC261A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423363" y="3024683"/>
            <a:ext cx="910275" cy="19444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0855AB1-B22A-EC12-81D4-3FA1BA29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56663" y="3034208"/>
            <a:ext cx="910275" cy="194449"/>
          </a:xfrm>
          <a:prstGeom prst="rect">
            <a:avLst/>
          </a:prstGeom>
        </p:spPr>
      </p:pic>
      <p:sp>
        <p:nvSpPr>
          <p:cNvPr id="20" name="直方体 19">
            <a:extLst>
              <a:ext uri="{FF2B5EF4-FFF2-40B4-BE49-F238E27FC236}">
                <a16:creationId xmlns:a16="http://schemas.microsoft.com/office/drawing/2014/main" id="{6B6FBD37-C3D0-3D48-546D-DBB3FBFC6F9E}"/>
              </a:ext>
            </a:extLst>
          </p:cNvPr>
          <p:cNvSpPr/>
          <p:nvPr/>
        </p:nvSpPr>
        <p:spPr>
          <a:xfrm>
            <a:off x="2912155" y="3838080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D4BB2517-42D0-02CA-835A-C7DE4149F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24441" y="3554615"/>
            <a:ext cx="910275" cy="19444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EA509680-28F7-A8CB-9CF6-CB78F0A5B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24391" y="3592715"/>
            <a:ext cx="910275" cy="19444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6052DF8E-DBFF-5DAD-6EFC-B656785EF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34016" y="3326015"/>
            <a:ext cx="910275" cy="194449"/>
          </a:xfrm>
          <a:prstGeom prst="rect">
            <a:avLst/>
          </a:prstGeom>
        </p:spPr>
      </p:pic>
      <p:sp>
        <p:nvSpPr>
          <p:cNvPr id="24" name="直方体 23">
            <a:extLst>
              <a:ext uri="{FF2B5EF4-FFF2-40B4-BE49-F238E27FC236}">
                <a16:creationId xmlns:a16="http://schemas.microsoft.com/office/drawing/2014/main" id="{CB8AE73B-F104-F31D-AFE2-6E89E102725D}"/>
              </a:ext>
            </a:extLst>
          </p:cNvPr>
          <p:cNvSpPr/>
          <p:nvPr/>
        </p:nvSpPr>
        <p:spPr>
          <a:xfrm>
            <a:off x="1510476" y="4262114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C9F191C3-F38A-3505-1434-43C87411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98962" y="3873874"/>
            <a:ext cx="910275" cy="194449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26232A1A-CADD-0891-A930-1055E625C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51312" y="3921499"/>
            <a:ext cx="910275" cy="194449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36B93DD3-3000-E1D3-040C-56DC8FE78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27562" y="3854824"/>
            <a:ext cx="910275" cy="194449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2D8E8191-FE8C-7CC6-3AB1-34F5672A8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22712" y="3950074"/>
            <a:ext cx="910275" cy="194449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0AA11775-A10B-A265-43F9-47AEC0496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0538" y="2948483"/>
            <a:ext cx="910275" cy="19444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8CDD4A4-0A39-2865-98C1-E147B7F4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832688" y="3415208"/>
            <a:ext cx="910275" cy="19444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3F3DEE3-3ED8-E5E8-F013-E63555FC9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584913" y="3920033"/>
            <a:ext cx="910275" cy="1944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9A861CB-08EE-3272-9979-6BCDBF815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14941" y="3516515"/>
            <a:ext cx="910275" cy="19444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F3CD0D4-A751-A9D3-4654-78C5AE5FB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19516" y="3973715"/>
            <a:ext cx="910275" cy="194449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5C210405-F327-98F1-C4FE-98950B8EC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76616" y="3973715"/>
            <a:ext cx="910275" cy="194449"/>
          </a:xfrm>
          <a:prstGeom prst="rect">
            <a:avLst/>
          </a:prstGeom>
        </p:spPr>
      </p:pic>
      <p:sp>
        <p:nvSpPr>
          <p:cNvPr id="7" name="右中かっこ 6">
            <a:extLst>
              <a:ext uri="{FF2B5EF4-FFF2-40B4-BE49-F238E27FC236}">
                <a16:creationId xmlns:a16="http://schemas.microsoft.com/office/drawing/2014/main" id="{D1E389FC-BBD2-8F49-C47F-CE46E8426835}"/>
              </a:ext>
            </a:extLst>
          </p:cNvPr>
          <p:cNvSpPr/>
          <p:nvPr/>
        </p:nvSpPr>
        <p:spPr>
          <a:xfrm rot="15117123">
            <a:off x="4196336" y="1885100"/>
            <a:ext cx="466969" cy="889772"/>
          </a:xfrm>
          <a:prstGeom prst="rightBrace">
            <a:avLst>
              <a:gd name="adj1" fmla="val 24889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2AB27DC-27F1-0997-F85D-288E1064FA17}"/>
              </a:ext>
            </a:extLst>
          </p:cNvPr>
          <p:cNvSpPr txBox="1"/>
          <p:nvPr/>
        </p:nvSpPr>
        <p:spPr>
          <a:xfrm rot="20559970">
            <a:off x="3476660" y="1385363"/>
            <a:ext cx="1659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Leading order </a:t>
            </a:r>
          </a:p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nonlinear </a:t>
            </a:r>
          </a:p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correction</a:t>
            </a:r>
            <a:endParaRPr kumimoji="1" lang="ja-JP" altLang="en-US" sz="1600" b="1" dirty="0">
              <a:solidFill>
                <a:srgbClr val="FF0000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F502AEA-F1A1-C97E-4524-02110ECD679C}"/>
              </a:ext>
            </a:extLst>
          </p:cNvPr>
          <p:cNvSpPr txBox="1"/>
          <p:nvPr/>
        </p:nvSpPr>
        <p:spPr>
          <a:xfrm rot="20611655">
            <a:off x="2640453" y="663036"/>
            <a:ext cx="34641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Kubo, arXiv:2509.09766</a:t>
            </a:r>
            <a:endParaRPr lang="ja-JP" altLang="en-US" sz="1400" dirty="0">
              <a:solidFill>
                <a:schemeClr val="tx2"/>
              </a:solidFill>
            </a:endParaRPr>
          </a:p>
          <a:p>
            <a:r>
              <a:rPr lang="en-US" altLang="ja-JP" sz="1400" dirty="0">
                <a:solidFill>
                  <a:schemeClr val="tx2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chemeClr val="tx2"/>
                </a:solidFill>
              </a:rPr>
            </a:br>
            <a:r>
              <a:rPr lang="en-US" altLang="ja-JP" sz="11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400" dirty="0">
                <a:solidFill>
                  <a:schemeClr val="tx2"/>
                </a:solidFill>
              </a:rPr>
              <a:t>	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37888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DFCC-9822-A66F-F40E-35D51D47B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79A7F6B7-A24C-8529-8B0D-6218370F5E4D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2C856B7-2723-9F95-BB40-6438924B9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E6A05E0-F5AA-A027-BBF9-24A405FC629B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69279C7-43D2-55F2-D20A-DC19E9402C53}"/>
              </a:ext>
            </a:extLst>
          </p:cNvPr>
          <p:cNvSpPr txBox="1"/>
          <p:nvPr/>
        </p:nvSpPr>
        <p:spPr>
          <a:xfrm rot="19836122">
            <a:off x="340778" y="4821032"/>
            <a:ext cx="31242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A09AA8CA-7C51-6B5D-6F06-F64B7847A5C3}"/>
              </a:ext>
            </a:extLst>
          </p:cNvPr>
          <p:cNvSpPr/>
          <p:nvPr/>
        </p:nvSpPr>
        <p:spPr>
          <a:xfrm rot="15160983">
            <a:off x="5421382" y="1403791"/>
            <a:ext cx="434552" cy="11344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B70738E-8251-7A84-1F45-B8D6C3AE970B}"/>
              </a:ext>
            </a:extLst>
          </p:cNvPr>
          <p:cNvSpPr txBox="1"/>
          <p:nvPr/>
        </p:nvSpPr>
        <p:spPr>
          <a:xfrm rot="20724338">
            <a:off x="5095306" y="875704"/>
            <a:ext cx="109619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</a:t>
            </a:r>
          </a:p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response </a:t>
            </a:r>
          </a:p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1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5422D12-BCE5-2746-4E37-71A41E2E2A2B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FFFF40-EBC2-54FB-996C-A9F19828EC9D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5587465-E31D-7ED2-D4AA-52F795D90341}"/>
              </a:ext>
            </a:extLst>
          </p:cNvPr>
          <p:cNvSpPr/>
          <p:nvPr/>
        </p:nvSpPr>
        <p:spPr>
          <a:xfrm>
            <a:off x="7572738" y="-696502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96996E2B-87E2-4946-CD43-757C365FFF19}"/>
              </a:ext>
            </a:extLst>
          </p:cNvPr>
          <p:cNvSpPr/>
          <p:nvPr/>
        </p:nvSpPr>
        <p:spPr>
          <a:xfrm>
            <a:off x="8833323" y="-696749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方体 11">
            <a:extLst>
              <a:ext uri="{FF2B5EF4-FFF2-40B4-BE49-F238E27FC236}">
                <a16:creationId xmlns:a16="http://schemas.microsoft.com/office/drawing/2014/main" id="{F3F9C906-2C18-4DB6-C702-F5B62E69BF44}"/>
              </a:ext>
            </a:extLst>
          </p:cNvPr>
          <p:cNvSpPr/>
          <p:nvPr/>
        </p:nvSpPr>
        <p:spPr>
          <a:xfrm>
            <a:off x="5607517" y="2946742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7A4F03C-0908-5545-A2A6-1BD4B3590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19803" y="2558502"/>
            <a:ext cx="910275" cy="194449"/>
          </a:xfrm>
          <a:prstGeom prst="rect">
            <a:avLst/>
          </a:prstGeom>
        </p:spPr>
      </p:pic>
      <p:sp>
        <p:nvSpPr>
          <p:cNvPr id="15" name="直方体 14">
            <a:extLst>
              <a:ext uri="{FF2B5EF4-FFF2-40B4-BE49-F238E27FC236}">
                <a16:creationId xmlns:a16="http://schemas.microsoft.com/office/drawing/2014/main" id="{35ED6833-E856-DE7B-6AA5-468F6FE69840}"/>
              </a:ext>
            </a:extLst>
          </p:cNvPr>
          <p:cNvSpPr/>
          <p:nvPr/>
        </p:nvSpPr>
        <p:spPr>
          <a:xfrm>
            <a:off x="4272977" y="3374823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672A326-790A-ED7A-4E5E-791C2C6D2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423363" y="3024683"/>
            <a:ext cx="910275" cy="19444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3DED72C-CAAB-0A60-30F9-8ED02044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56663" y="3034208"/>
            <a:ext cx="910275" cy="194449"/>
          </a:xfrm>
          <a:prstGeom prst="rect">
            <a:avLst/>
          </a:prstGeom>
        </p:spPr>
      </p:pic>
      <p:sp>
        <p:nvSpPr>
          <p:cNvPr id="20" name="直方体 19">
            <a:extLst>
              <a:ext uri="{FF2B5EF4-FFF2-40B4-BE49-F238E27FC236}">
                <a16:creationId xmlns:a16="http://schemas.microsoft.com/office/drawing/2014/main" id="{B94EDAB8-E2F2-4F76-FCFC-C3113C7A7921}"/>
              </a:ext>
            </a:extLst>
          </p:cNvPr>
          <p:cNvSpPr/>
          <p:nvPr/>
        </p:nvSpPr>
        <p:spPr>
          <a:xfrm>
            <a:off x="2912155" y="3838080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01C57867-D667-B325-E7BE-6D17B4136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24441" y="3554615"/>
            <a:ext cx="910275" cy="19444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A12307B-9DAF-6591-4620-52A52B246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24391" y="3592715"/>
            <a:ext cx="910275" cy="19444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F21698DE-70E2-BC5D-1F75-6388DA354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34016" y="3326015"/>
            <a:ext cx="910275" cy="194449"/>
          </a:xfrm>
          <a:prstGeom prst="rect">
            <a:avLst/>
          </a:prstGeom>
        </p:spPr>
      </p:pic>
      <p:sp>
        <p:nvSpPr>
          <p:cNvPr id="24" name="直方体 23">
            <a:extLst>
              <a:ext uri="{FF2B5EF4-FFF2-40B4-BE49-F238E27FC236}">
                <a16:creationId xmlns:a16="http://schemas.microsoft.com/office/drawing/2014/main" id="{39909CBD-A39C-4A15-0079-2F95B3044C09}"/>
              </a:ext>
            </a:extLst>
          </p:cNvPr>
          <p:cNvSpPr/>
          <p:nvPr/>
        </p:nvSpPr>
        <p:spPr>
          <a:xfrm>
            <a:off x="1510476" y="4262114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37ADBB0-F7AC-BCCF-0017-ADA2945C8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98962" y="3873874"/>
            <a:ext cx="910275" cy="194449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6EA578BC-FB4D-2ADE-543A-5D7E93647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51312" y="3921499"/>
            <a:ext cx="910275" cy="194449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DDE82105-A498-C790-CE00-9109D596D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27562" y="3854824"/>
            <a:ext cx="910275" cy="194449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906799FD-7B29-F95C-9E1D-19307A024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22712" y="3950074"/>
            <a:ext cx="910275" cy="194449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47DCDF31-99CB-5939-711A-C1E3593E2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0538" y="2948483"/>
            <a:ext cx="910275" cy="19444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C2FB624-D3E8-7A32-B285-968C089B8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832688" y="3415208"/>
            <a:ext cx="910275" cy="19444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0FC1C69-6583-3A9E-ACE3-658D11A6B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584913" y="3920033"/>
            <a:ext cx="910275" cy="1944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C782A68-38AE-43A1-7E21-150A13E9B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14941" y="3516515"/>
            <a:ext cx="910275" cy="19444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B268137-A964-25EB-A349-5888CB4E8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19516" y="3973715"/>
            <a:ext cx="910275" cy="194449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0BAC9AD4-A479-1425-0AED-D4CC508C9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76616" y="3973715"/>
            <a:ext cx="910275" cy="194449"/>
          </a:xfrm>
          <a:prstGeom prst="rect">
            <a:avLst/>
          </a:prstGeom>
        </p:spPr>
      </p:pic>
      <p:sp>
        <p:nvSpPr>
          <p:cNvPr id="7" name="右中かっこ 6">
            <a:extLst>
              <a:ext uri="{FF2B5EF4-FFF2-40B4-BE49-F238E27FC236}">
                <a16:creationId xmlns:a16="http://schemas.microsoft.com/office/drawing/2014/main" id="{BA7857B9-D66F-7222-CD9D-875DA0D0A242}"/>
              </a:ext>
            </a:extLst>
          </p:cNvPr>
          <p:cNvSpPr/>
          <p:nvPr/>
        </p:nvSpPr>
        <p:spPr>
          <a:xfrm rot="15117123">
            <a:off x="4196336" y="1885100"/>
            <a:ext cx="466969" cy="889772"/>
          </a:xfrm>
          <a:prstGeom prst="rightBrace">
            <a:avLst>
              <a:gd name="adj1" fmla="val 24889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1A34611-FAB0-F36D-2E9A-29ACCAE55C48}"/>
              </a:ext>
            </a:extLst>
          </p:cNvPr>
          <p:cNvSpPr txBox="1"/>
          <p:nvPr/>
        </p:nvSpPr>
        <p:spPr>
          <a:xfrm rot="20559970">
            <a:off x="3476660" y="1385363"/>
            <a:ext cx="1659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Leading order </a:t>
            </a:r>
          </a:p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nonlinear </a:t>
            </a:r>
          </a:p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correction</a:t>
            </a:r>
            <a:endParaRPr kumimoji="1" lang="ja-JP" altLang="en-US" sz="1600" b="1" dirty="0">
              <a:solidFill>
                <a:srgbClr val="FF0000"/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58626348-A965-CE4A-A008-ED9F75F0F256}"/>
              </a:ext>
            </a:extLst>
          </p:cNvPr>
          <p:cNvSpPr/>
          <p:nvPr/>
        </p:nvSpPr>
        <p:spPr>
          <a:xfrm rot="14948704">
            <a:off x="1633759" y="1256030"/>
            <a:ext cx="713415" cy="3998272"/>
          </a:xfrm>
          <a:prstGeom prst="rightBrace">
            <a:avLst>
              <a:gd name="adj1" fmla="val 36353"/>
              <a:gd name="adj2" fmla="val 5023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AC9B4B5-9C58-F5D4-5B35-D3AF66CB550F}"/>
              </a:ext>
            </a:extLst>
          </p:cNvPr>
          <p:cNvSpPr txBox="1"/>
          <p:nvPr/>
        </p:nvSpPr>
        <p:spPr>
          <a:xfrm rot="20261986">
            <a:off x="134515" y="2236716"/>
            <a:ext cx="3113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rgbClr val="FF0000"/>
                </a:solidFill>
              </a:rPr>
              <a:t>The SRF theory</a:t>
            </a:r>
          </a:p>
          <a:p>
            <a:pPr algn="ctr"/>
            <a:r>
              <a:rPr kumimoji="1" lang="en-US" altLang="ja-JP" b="1" dirty="0">
                <a:solidFill>
                  <a:srgbClr val="FF0000"/>
                </a:solidFill>
              </a:rPr>
              <a:t>(Deep Nonlinear Regime)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0F280F0-4DCC-4108-42B1-EB1FB3FD30BC}"/>
              </a:ext>
            </a:extLst>
          </p:cNvPr>
          <p:cNvSpPr txBox="1"/>
          <p:nvPr/>
        </p:nvSpPr>
        <p:spPr>
          <a:xfrm rot="20611655">
            <a:off x="2640453" y="663036"/>
            <a:ext cx="34641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Kubo, arXiv:2509.09766</a:t>
            </a:r>
            <a:endParaRPr lang="ja-JP" altLang="en-US" sz="1400" dirty="0">
              <a:solidFill>
                <a:schemeClr val="tx2"/>
              </a:solidFill>
            </a:endParaRPr>
          </a:p>
          <a:p>
            <a:r>
              <a:rPr lang="en-US" altLang="ja-JP" sz="1400" dirty="0">
                <a:solidFill>
                  <a:schemeClr val="tx2"/>
                </a:solidFill>
              </a:rPr>
              <a:t>To be published in Phys. Rev. Applied</a:t>
            </a:r>
            <a:br>
              <a:rPr lang="en-US" altLang="ja-JP" sz="1400" dirty="0">
                <a:solidFill>
                  <a:schemeClr val="tx2"/>
                </a:solidFill>
              </a:rPr>
            </a:br>
            <a:r>
              <a:rPr lang="en-US" altLang="ja-JP" sz="11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https://doi.org/10.1103/8fh8-nknj</a:t>
            </a:r>
            <a:r>
              <a:rPr lang="en-US" altLang="ja-JP" sz="1400" dirty="0">
                <a:solidFill>
                  <a:schemeClr val="tx2"/>
                </a:solidFill>
              </a:rPr>
              <a:t>	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93932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C3CE-CBB1-5166-05FF-073BEC32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9D2C04-820D-19BF-5F86-08807D39FF0D}"/>
              </a:ext>
            </a:extLst>
          </p:cNvPr>
          <p:cNvSpPr/>
          <p:nvPr/>
        </p:nvSpPr>
        <p:spPr>
          <a:xfrm>
            <a:off x="2986392" y="3035032"/>
            <a:ext cx="6798220" cy="521759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Keldysh</a:t>
            </a:r>
            <a:endParaRPr kumimoji="1" lang="en-US" altLang="ja-JP" sz="5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r"/>
            <a:r>
              <a:rPr kumimoji="1" lang="en-US" altLang="ja-JP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Eilenberger</a:t>
            </a:r>
            <a:endParaRPr kumimoji="1" lang="en-US" altLang="ja-JP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82F66D6-F277-FCFF-DE2F-E8A9047FF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81" y="1105961"/>
            <a:ext cx="7328659" cy="4179153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B759BD7-8AD2-64A7-FC52-568142F3092F}"/>
              </a:ext>
            </a:extLst>
          </p:cNvPr>
          <p:cNvCxnSpPr>
            <a:cxnSpLocks/>
          </p:cNvCxnSpPr>
          <p:nvPr/>
        </p:nvCxnSpPr>
        <p:spPr>
          <a:xfrm flipH="1">
            <a:off x="948369" y="3195537"/>
            <a:ext cx="6055546" cy="34289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2433017-EF7E-8FAE-BE7D-B55A65248886}"/>
              </a:ext>
            </a:extLst>
          </p:cNvPr>
          <p:cNvSpPr txBox="1"/>
          <p:nvPr/>
        </p:nvSpPr>
        <p:spPr>
          <a:xfrm rot="19836122">
            <a:off x="340778" y="4821032"/>
            <a:ext cx="31242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Nonequilibrium </a:t>
            </a:r>
          </a:p>
          <a:p>
            <a:r>
              <a:rPr kumimoji="1" lang="en-US" altLang="ja-JP" sz="2400" dirty="0"/>
              <a:t>Dynamics</a:t>
            </a:r>
          </a:p>
          <a:p>
            <a:r>
              <a:rPr kumimoji="1" lang="en-US" altLang="ja-JP" dirty="0"/>
              <a:t>(</a:t>
            </a:r>
            <a:r>
              <a:rPr kumimoji="1" lang="en-US" altLang="ja-JP" dirty="0" err="1"/>
              <a:t>e.g</a:t>
            </a:r>
            <a:r>
              <a:rPr kumimoji="1" lang="en-US" altLang="ja-JP" dirty="0"/>
              <a:t>, strength of microwave)</a:t>
            </a:r>
          </a:p>
        </p:txBody>
      </p:sp>
      <p:sp>
        <p:nvSpPr>
          <p:cNvPr id="25" name="右中かっこ 24">
            <a:extLst>
              <a:ext uri="{FF2B5EF4-FFF2-40B4-BE49-F238E27FC236}">
                <a16:creationId xmlns:a16="http://schemas.microsoft.com/office/drawing/2014/main" id="{829AE2AE-C198-7F21-A747-77AB4A15B6F3}"/>
              </a:ext>
            </a:extLst>
          </p:cNvPr>
          <p:cNvSpPr/>
          <p:nvPr/>
        </p:nvSpPr>
        <p:spPr>
          <a:xfrm rot="15160983">
            <a:off x="5421382" y="1403791"/>
            <a:ext cx="434552" cy="1134433"/>
          </a:xfrm>
          <a:prstGeom prst="rightBrace">
            <a:avLst>
              <a:gd name="adj1" fmla="val 23357"/>
              <a:gd name="adj2" fmla="val 50000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B647912-E913-7639-B368-6F35C5F4D02D}"/>
              </a:ext>
            </a:extLst>
          </p:cNvPr>
          <p:cNvSpPr txBox="1"/>
          <p:nvPr/>
        </p:nvSpPr>
        <p:spPr>
          <a:xfrm rot="20724338">
            <a:off x="5095306" y="875704"/>
            <a:ext cx="109619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Linear </a:t>
            </a:r>
          </a:p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response </a:t>
            </a:r>
          </a:p>
          <a:p>
            <a:pPr algn="ctr"/>
            <a:r>
              <a:rPr kumimoji="1" lang="en-US" altLang="ja-JP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regime</a:t>
            </a:r>
            <a:endParaRPr kumimoji="1" lang="ja-JP" altLang="en-US" sz="1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B10B37DC-0AFE-B3F6-2128-1304622EC71C}"/>
              </a:ext>
            </a:extLst>
          </p:cNvPr>
          <p:cNvSpPr/>
          <p:nvPr/>
        </p:nvSpPr>
        <p:spPr>
          <a:xfrm rot="14948704">
            <a:off x="1633759" y="1256030"/>
            <a:ext cx="713415" cy="3998272"/>
          </a:xfrm>
          <a:prstGeom prst="rightBrace">
            <a:avLst>
              <a:gd name="adj1" fmla="val 36353"/>
              <a:gd name="adj2" fmla="val 5023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9C76A7F-16EA-0AEC-80F2-90F865E62A15}"/>
              </a:ext>
            </a:extLst>
          </p:cNvPr>
          <p:cNvSpPr txBox="1"/>
          <p:nvPr/>
        </p:nvSpPr>
        <p:spPr>
          <a:xfrm rot="20261986">
            <a:off x="134515" y="2236716"/>
            <a:ext cx="3113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rgbClr val="FF0000"/>
                </a:solidFill>
              </a:rPr>
              <a:t>The SRF theory</a:t>
            </a:r>
          </a:p>
          <a:p>
            <a:pPr algn="ctr"/>
            <a:r>
              <a:rPr kumimoji="1" lang="en-US" altLang="ja-JP" b="1" dirty="0">
                <a:solidFill>
                  <a:srgbClr val="FF0000"/>
                </a:solidFill>
              </a:rPr>
              <a:t>(Deep Nonlinear Regime)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B5C723B5-5C30-401A-848E-9AB8F1B8A81C}"/>
              </a:ext>
            </a:extLst>
          </p:cNvPr>
          <p:cNvSpPr/>
          <p:nvPr/>
        </p:nvSpPr>
        <p:spPr>
          <a:xfrm>
            <a:off x="2461098" y="3900800"/>
            <a:ext cx="6295621" cy="2418260"/>
          </a:xfrm>
          <a:prstGeom prst="roundRect">
            <a:avLst/>
          </a:prstGeom>
          <a:solidFill>
            <a:srgbClr val="FF0066">
              <a:alpha val="20000"/>
            </a:srgbClr>
          </a:solidFill>
          <a:ln w="12700">
            <a:solidFill>
              <a:srgbClr val="FF0066"/>
            </a:solidFill>
            <a:prstDash val="solid"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0" dirty="0" err="1">
                <a:solidFill>
                  <a:srgbClr val="FF0066"/>
                </a:solidFill>
              </a:rPr>
              <a:t>Keldysh-Usadel</a:t>
            </a:r>
            <a:endParaRPr kumimoji="1" lang="en-US" altLang="ja-JP" sz="6000" dirty="0">
              <a:solidFill>
                <a:srgbClr val="FF0066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F551A0-3C48-8082-E542-AAAFED508E60}"/>
              </a:ext>
            </a:extLst>
          </p:cNvPr>
          <p:cNvSpPr txBox="1"/>
          <p:nvPr/>
        </p:nvSpPr>
        <p:spPr>
          <a:xfrm>
            <a:off x="6352158" y="1566156"/>
            <a:ext cx="5590569" cy="769441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C000"/>
                </a:solidFill>
              </a:rPr>
              <a:t>Thermal Equilibrium</a:t>
            </a:r>
            <a:endParaRPr kumimoji="1" lang="ja-JP" altLang="en-US" sz="4400" dirty="0">
              <a:solidFill>
                <a:srgbClr val="FFC000"/>
              </a:solidFill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BA9D7CBF-EE9B-68D8-DB3D-3F1393EED452}"/>
              </a:ext>
            </a:extLst>
          </p:cNvPr>
          <p:cNvSpPr/>
          <p:nvPr/>
        </p:nvSpPr>
        <p:spPr>
          <a:xfrm>
            <a:off x="7572738" y="-696502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8BFA35DE-FE34-08C9-27BE-801A5F932C18}"/>
              </a:ext>
            </a:extLst>
          </p:cNvPr>
          <p:cNvSpPr/>
          <p:nvPr/>
        </p:nvSpPr>
        <p:spPr>
          <a:xfrm>
            <a:off x="8833323" y="-696749"/>
            <a:ext cx="1254115" cy="475014"/>
          </a:xfrm>
          <a:custGeom>
            <a:avLst/>
            <a:gdLst>
              <a:gd name="connsiteX0" fmla="*/ 0 w 5762625"/>
              <a:gd name="connsiteY0" fmla="*/ 719268 h 1490798"/>
              <a:gd name="connsiteX1" fmla="*/ 714375 w 5762625"/>
              <a:gd name="connsiteY1" fmla="*/ 23943 h 1490798"/>
              <a:gd name="connsiteX2" fmla="*/ 2143125 w 5762625"/>
              <a:gd name="connsiteY2" fmla="*/ 1490793 h 1490798"/>
              <a:gd name="connsiteX3" fmla="*/ 3581400 w 5762625"/>
              <a:gd name="connsiteY3" fmla="*/ 42993 h 1490798"/>
              <a:gd name="connsiteX4" fmla="*/ 5019675 w 5762625"/>
              <a:gd name="connsiteY4" fmla="*/ 1462218 h 1490798"/>
              <a:gd name="connsiteX5" fmla="*/ 5762625 w 5762625"/>
              <a:gd name="connsiteY5" fmla="*/ 728793 h 149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2625" h="1490798">
                <a:moveTo>
                  <a:pt x="0" y="719268"/>
                </a:moveTo>
                <a:cubicBezTo>
                  <a:pt x="178594" y="307312"/>
                  <a:pt x="357188" y="-104644"/>
                  <a:pt x="714375" y="23943"/>
                </a:cubicBezTo>
                <a:cubicBezTo>
                  <a:pt x="1071562" y="152530"/>
                  <a:pt x="1665288" y="1487618"/>
                  <a:pt x="2143125" y="1490793"/>
                </a:cubicBezTo>
                <a:cubicBezTo>
                  <a:pt x="2620962" y="1493968"/>
                  <a:pt x="3101975" y="47755"/>
                  <a:pt x="3581400" y="42993"/>
                </a:cubicBezTo>
                <a:cubicBezTo>
                  <a:pt x="4060825" y="38230"/>
                  <a:pt x="4656138" y="1347918"/>
                  <a:pt x="5019675" y="1462218"/>
                </a:cubicBezTo>
                <a:cubicBezTo>
                  <a:pt x="5383212" y="1576518"/>
                  <a:pt x="5572918" y="1152655"/>
                  <a:pt x="5762625" y="728793"/>
                </a:cubicBezTo>
              </a:path>
            </a:pathLst>
          </a:cu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方体 11">
            <a:extLst>
              <a:ext uri="{FF2B5EF4-FFF2-40B4-BE49-F238E27FC236}">
                <a16:creationId xmlns:a16="http://schemas.microsoft.com/office/drawing/2014/main" id="{522AD560-41EC-B17F-6BB3-70484E0754C1}"/>
              </a:ext>
            </a:extLst>
          </p:cNvPr>
          <p:cNvSpPr/>
          <p:nvPr/>
        </p:nvSpPr>
        <p:spPr>
          <a:xfrm>
            <a:off x="5607517" y="2946742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00D74A5-B86B-B9F0-33A1-F7B44B337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19803" y="2558502"/>
            <a:ext cx="910275" cy="194449"/>
          </a:xfrm>
          <a:prstGeom prst="rect">
            <a:avLst/>
          </a:prstGeom>
        </p:spPr>
      </p:pic>
      <p:sp>
        <p:nvSpPr>
          <p:cNvPr id="15" name="直方体 14">
            <a:extLst>
              <a:ext uri="{FF2B5EF4-FFF2-40B4-BE49-F238E27FC236}">
                <a16:creationId xmlns:a16="http://schemas.microsoft.com/office/drawing/2014/main" id="{036E562A-FD6A-5E99-5D4B-10B6811AE4F0}"/>
              </a:ext>
            </a:extLst>
          </p:cNvPr>
          <p:cNvSpPr/>
          <p:nvPr/>
        </p:nvSpPr>
        <p:spPr>
          <a:xfrm>
            <a:off x="4272977" y="3374823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1BDD6B4-C9A1-D6BB-3F6D-F5783038B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423363" y="3024683"/>
            <a:ext cx="910275" cy="19444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45900B3-5E74-7683-7832-0928F7CD9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56663" y="3034208"/>
            <a:ext cx="910275" cy="194449"/>
          </a:xfrm>
          <a:prstGeom prst="rect">
            <a:avLst/>
          </a:prstGeom>
        </p:spPr>
      </p:pic>
      <p:sp>
        <p:nvSpPr>
          <p:cNvPr id="20" name="直方体 19">
            <a:extLst>
              <a:ext uri="{FF2B5EF4-FFF2-40B4-BE49-F238E27FC236}">
                <a16:creationId xmlns:a16="http://schemas.microsoft.com/office/drawing/2014/main" id="{4F8135B6-B6AF-FFA1-9F37-F7EA4681A761}"/>
              </a:ext>
            </a:extLst>
          </p:cNvPr>
          <p:cNvSpPr/>
          <p:nvPr/>
        </p:nvSpPr>
        <p:spPr>
          <a:xfrm>
            <a:off x="2912155" y="3838080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379BF5E8-C33B-6382-04CF-D79A7203E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24441" y="3554615"/>
            <a:ext cx="910275" cy="19444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6E6FFF56-042A-2A7D-FD60-09EB0F1F7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24391" y="3592715"/>
            <a:ext cx="910275" cy="19444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8891EC2A-2DC3-E0CB-5D2F-95BBC4075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34016" y="3326015"/>
            <a:ext cx="910275" cy="194449"/>
          </a:xfrm>
          <a:prstGeom prst="rect">
            <a:avLst/>
          </a:prstGeom>
        </p:spPr>
      </p:pic>
      <p:sp>
        <p:nvSpPr>
          <p:cNvPr id="24" name="直方体 23">
            <a:extLst>
              <a:ext uri="{FF2B5EF4-FFF2-40B4-BE49-F238E27FC236}">
                <a16:creationId xmlns:a16="http://schemas.microsoft.com/office/drawing/2014/main" id="{AA314054-DA00-7849-6998-4D30CEFD89FB}"/>
              </a:ext>
            </a:extLst>
          </p:cNvPr>
          <p:cNvSpPr/>
          <p:nvPr/>
        </p:nvSpPr>
        <p:spPr>
          <a:xfrm>
            <a:off x="1510476" y="4262114"/>
            <a:ext cx="1073946" cy="406148"/>
          </a:xfrm>
          <a:prstGeom prst="cube">
            <a:avLst>
              <a:gd name="adj" fmla="val 85175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B6C772B1-AE6A-1A42-160D-039B3D6A2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98962" y="3873874"/>
            <a:ext cx="910275" cy="194449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02D4ACEE-6011-2D58-E4B0-F0D8DBE70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51312" y="3921499"/>
            <a:ext cx="910275" cy="194449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6FE8F819-6E2E-1421-2F6C-A4EEFEC3D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27562" y="3854824"/>
            <a:ext cx="910275" cy="194449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B73D25B9-5EA6-B268-2FF1-6F754C4AF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22712" y="3950074"/>
            <a:ext cx="910275" cy="194449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B52350C5-E34F-38B7-9209-FFA9ABCB5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0538" y="2948483"/>
            <a:ext cx="910275" cy="19444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FE5E0DD1-82D8-FB7B-3B08-26A1E9009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832688" y="3415208"/>
            <a:ext cx="910275" cy="19444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8B585F6-C11D-FA94-960A-1DFC19CF2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584913" y="3920033"/>
            <a:ext cx="910275" cy="1944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A2B58EF-D27D-9C56-7719-9FB22ACB4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14941" y="3516515"/>
            <a:ext cx="910275" cy="19444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9D16F59-BC58-7A0C-A977-92FFBE8D7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19516" y="3973715"/>
            <a:ext cx="910275" cy="194449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6DD5E5AB-0F80-84D9-8345-557B57AC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76616" y="3973715"/>
            <a:ext cx="910275" cy="194449"/>
          </a:xfrm>
          <a:prstGeom prst="rect">
            <a:avLst/>
          </a:prstGeom>
        </p:spPr>
      </p:pic>
      <p:sp>
        <p:nvSpPr>
          <p:cNvPr id="7" name="右中かっこ 6">
            <a:extLst>
              <a:ext uri="{FF2B5EF4-FFF2-40B4-BE49-F238E27FC236}">
                <a16:creationId xmlns:a16="http://schemas.microsoft.com/office/drawing/2014/main" id="{BD0786C6-6176-2D1C-544D-FC2291D93103}"/>
              </a:ext>
            </a:extLst>
          </p:cNvPr>
          <p:cNvSpPr/>
          <p:nvPr/>
        </p:nvSpPr>
        <p:spPr>
          <a:xfrm rot="15117123">
            <a:off x="4196336" y="1885100"/>
            <a:ext cx="466969" cy="889772"/>
          </a:xfrm>
          <a:prstGeom prst="rightBrace">
            <a:avLst>
              <a:gd name="adj1" fmla="val 24889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6909552-45B1-0E44-5311-2C8A3226DD47}"/>
              </a:ext>
            </a:extLst>
          </p:cNvPr>
          <p:cNvSpPr txBox="1"/>
          <p:nvPr/>
        </p:nvSpPr>
        <p:spPr>
          <a:xfrm rot="20559970">
            <a:off x="3476660" y="1385363"/>
            <a:ext cx="1659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Leading order </a:t>
            </a:r>
          </a:p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nonlinear </a:t>
            </a:r>
          </a:p>
          <a:p>
            <a:pPr algn="ctr"/>
            <a:r>
              <a:rPr kumimoji="1" lang="en-US" altLang="ja-JP" sz="1600" b="1" dirty="0">
                <a:solidFill>
                  <a:srgbClr val="FF0000"/>
                </a:solidFill>
              </a:rPr>
              <a:t>correction</a:t>
            </a:r>
            <a:endParaRPr kumimoji="1" lang="ja-JP" altLang="en-US" sz="1600" b="1" dirty="0">
              <a:solidFill>
                <a:srgbClr val="FF0000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6A4A4D9-ECB3-5D8C-8B2A-E87777A47BFA}"/>
              </a:ext>
            </a:extLst>
          </p:cNvPr>
          <p:cNvSpPr txBox="1"/>
          <p:nvPr/>
        </p:nvSpPr>
        <p:spPr>
          <a:xfrm rot="20611655">
            <a:off x="2901388" y="1197397"/>
            <a:ext cx="24051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chemeClr val="tx2"/>
                </a:solidFill>
              </a:rPr>
              <a:t>Kubo, arXiv:2509.09766	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AD161CF-482F-83AC-94DC-A378FAC4FB44}"/>
              </a:ext>
            </a:extLst>
          </p:cNvPr>
          <p:cNvSpPr txBox="1"/>
          <p:nvPr/>
        </p:nvSpPr>
        <p:spPr>
          <a:xfrm rot="20297500">
            <a:off x="716440" y="1201290"/>
            <a:ext cx="3501968" cy="523220"/>
          </a:xfrm>
          <a:prstGeom prst="rect">
            <a:avLst/>
          </a:prstGeom>
          <a:noFill/>
          <a:ln w="508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chemeClr val="tx2"/>
                </a:solidFill>
              </a:rPr>
              <a:t>Gurevich, PRL </a:t>
            </a:r>
            <a:r>
              <a:rPr lang="en-US" altLang="ja-JP" sz="1400" b="1" dirty="0">
                <a:solidFill>
                  <a:schemeClr val="tx2"/>
                </a:solidFill>
              </a:rPr>
              <a:t>113</a:t>
            </a:r>
            <a:r>
              <a:rPr lang="en-US" altLang="ja-JP" sz="1400" dirty="0">
                <a:solidFill>
                  <a:schemeClr val="tx2"/>
                </a:solidFill>
              </a:rPr>
              <a:t>, 087001 (2014)</a:t>
            </a:r>
          </a:p>
          <a:p>
            <a:pPr algn="ctr"/>
            <a:r>
              <a:rPr lang="en-US" altLang="ja-JP" sz="1400" dirty="0">
                <a:solidFill>
                  <a:schemeClr val="tx2"/>
                </a:solidFill>
              </a:rPr>
              <a:t>Kubo-Gurevich, PRB </a:t>
            </a:r>
            <a:r>
              <a:rPr lang="en-US" altLang="ja-JP" sz="1400" b="1" dirty="0">
                <a:solidFill>
                  <a:schemeClr val="tx2"/>
                </a:solidFill>
              </a:rPr>
              <a:t>100</a:t>
            </a:r>
            <a:r>
              <a:rPr lang="en-US" altLang="ja-JP" sz="1400" dirty="0">
                <a:solidFill>
                  <a:schemeClr val="tx2"/>
                </a:solidFill>
              </a:rPr>
              <a:t>, 064522 (2019)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EA4B127-B401-0C8D-4A40-2A5FAD45EB73}"/>
              </a:ext>
            </a:extLst>
          </p:cNvPr>
          <p:cNvSpPr txBox="1"/>
          <p:nvPr/>
        </p:nvSpPr>
        <p:spPr>
          <a:xfrm rot="20397276">
            <a:off x="-20860" y="566645"/>
            <a:ext cx="3062670" cy="307777"/>
          </a:xfrm>
          <a:prstGeom prst="rect">
            <a:avLst/>
          </a:prstGeom>
          <a:noFill/>
          <a:ln w="5080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chemeClr val="tx2"/>
                </a:solidFill>
              </a:rPr>
              <a:t>T. Kubo, arXiv:2509.09766	 (2025)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D3EAFB1-A54B-81EF-DE82-56A2232A0349}"/>
              </a:ext>
            </a:extLst>
          </p:cNvPr>
          <p:cNvSpPr txBox="1"/>
          <p:nvPr/>
        </p:nvSpPr>
        <p:spPr>
          <a:xfrm rot="20297015">
            <a:off x="458160" y="609903"/>
            <a:ext cx="35663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000" dirty="0"/>
              <a:t>Nonperturbative treatment (DOS smearing et al.)</a:t>
            </a:r>
            <a:endParaRPr lang="ja-JP" altLang="en-US" sz="2000" dirty="0"/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BC73C320-7FAF-371A-842F-45079BAD29BE}"/>
              </a:ext>
            </a:extLst>
          </p:cNvPr>
          <p:cNvCxnSpPr>
            <a:cxnSpLocks/>
          </p:cNvCxnSpPr>
          <p:nvPr/>
        </p:nvCxnSpPr>
        <p:spPr>
          <a:xfrm>
            <a:off x="405811" y="1286572"/>
            <a:ext cx="542558" cy="142724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99485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6B587F-C96C-A85E-0C80-F73E1CA69C5A}"/>
              </a:ext>
            </a:extLst>
          </p:cNvPr>
          <p:cNvSpPr txBox="1"/>
          <p:nvPr/>
        </p:nvSpPr>
        <p:spPr>
          <a:xfrm>
            <a:off x="5010150" y="2124075"/>
            <a:ext cx="25138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/>
              <a:t>dc + ac</a:t>
            </a:r>
            <a:endParaRPr kumimoji="1" lang="ja-JP" altLang="en-US" sz="5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77EFCBD-C9AD-99DE-244E-A90CD81174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13806" y="3514130"/>
            <a:ext cx="4658868" cy="190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3411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4E00-B912-14D9-641D-453652DD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BD1BB55-3D2B-2C16-9046-EB8B402DFE53}"/>
              </a:ext>
            </a:extLst>
          </p:cNvPr>
          <p:cNvSpPr txBox="1"/>
          <p:nvPr/>
        </p:nvSpPr>
        <p:spPr>
          <a:xfrm>
            <a:off x="3279913" y="149085"/>
            <a:ext cx="89120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If the AC field is absent, this reduces to a problem of equilibrium superconductivity. </a:t>
            </a:r>
          </a:p>
          <a:p>
            <a:r>
              <a:rPr kumimoji="1" lang="en-US" altLang="ja-JP" sz="2800" dirty="0"/>
              <a:t>That case was already well understood decades ago.</a:t>
            </a:r>
            <a:endParaRPr kumimoji="1" lang="ja-JP" altLang="en-US" sz="2800" dirty="0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60D28552-EABC-5D53-0BDB-A56AAF2C9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2" y="2481781"/>
            <a:ext cx="3535245" cy="3451965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D0DD22B0-911D-E5CF-662D-15CDC0B35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45" y="304147"/>
            <a:ext cx="2720765" cy="1800103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E6E2EAE-25E9-0656-74A0-9797E49464EA}"/>
              </a:ext>
            </a:extLst>
          </p:cNvPr>
          <p:cNvSpPr txBox="1"/>
          <p:nvPr/>
        </p:nvSpPr>
        <p:spPr>
          <a:xfrm>
            <a:off x="1084597" y="6526348"/>
            <a:ext cx="9984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See also, T. Kubo, Phys. Rev. Research </a:t>
            </a:r>
            <a:r>
              <a:rPr lang="en-US" altLang="ja-JP" sz="1400" b="1" dirty="0">
                <a:solidFill>
                  <a:schemeClr val="tx2"/>
                </a:solidFill>
              </a:rPr>
              <a:t>2</a:t>
            </a:r>
            <a:r>
              <a:rPr lang="en-US" altLang="ja-JP" sz="1400" dirty="0">
                <a:solidFill>
                  <a:schemeClr val="tx2"/>
                </a:solidFill>
              </a:rPr>
              <a:t>, 033203 (2020); F. Pei-Jen Lin and A. Gurevich, Phys. Rev. B </a:t>
            </a:r>
            <a:r>
              <a:rPr lang="en-US" altLang="ja-JP" sz="1400" b="1" dirty="0">
                <a:solidFill>
                  <a:schemeClr val="tx2"/>
                </a:solidFill>
              </a:rPr>
              <a:t>85</a:t>
            </a:r>
            <a:r>
              <a:rPr lang="en-US" altLang="ja-JP" sz="1400" dirty="0">
                <a:solidFill>
                  <a:schemeClr val="tx2"/>
                </a:solidFill>
              </a:rPr>
              <a:t>, 054513 (2012)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AC52AE-426C-FA36-6184-C5296ECBB3C5}"/>
              </a:ext>
            </a:extLst>
          </p:cNvPr>
          <p:cNvSpPr txBox="1"/>
          <p:nvPr/>
        </p:nvSpPr>
        <p:spPr>
          <a:xfrm>
            <a:off x="1236997" y="5933315"/>
            <a:ext cx="9984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400" dirty="0">
                <a:solidFill>
                  <a:schemeClr val="tx2"/>
                </a:solidFill>
                <a:hlinkClick r:id="rId4"/>
              </a:rPr>
              <a:t>https://doi.org/10.1103/PhysRevApplied.22.044042</a:t>
            </a:r>
            <a:endParaRPr lang="en-US" altLang="ja-JP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59911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74607-3314-D93D-30CE-5DE6548A1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5FA0448-9CA6-025E-7E47-9AAD35B23986}"/>
              </a:ext>
            </a:extLst>
          </p:cNvPr>
          <p:cNvSpPr txBox="1"/>
          <p:nvPr/>
        </p:nvSpPr>
        <p:spPr>
          <a:xfrm>
            <a:off x="3279913" y="149085"/>
            <a:ext cx="89120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If the AC field is absent, this reduces to a problem of equilibrium superconductivity. </a:t>
            </a:r>
          </a:p>
          <a:p>
            <a:r>
              <a:rPr kumimoji="1" lang="en-US" altLang="ja-JP" sz="2800" dirty="0"/>
              <a:t>That case was already well understood decades ago.</a:t>
            </a:r>
            <a:endParaRPr kumimoji="1" lang="ja-JP" altLang="en-US" sz="2800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FFCAA243-1143-E56C-C61F-7F4CB2E0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670" y="1610711"/>
            <a:ext cx="4055955" cy="4317955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02E72FD3-743B-F055-7304-FB44988A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2" y="2481781"/>
            <a:ext cx="3535245" cy="3451965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7F843530-BE87-FB80-E555-C0171A3AD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45" y="304147"/>
            <a:ext cx="2720765" cy="1800103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5A1A98D-D845-D5C9-DA78-53B57888E0C1}"/>
              </a:ext>
            </a:extLst>
          </p:cNvPr>
          <p:cNvSpPr txBox="1"/>
          <p:nvPr/>
        </p:nvSpPr>
        <p:spPr>
          <a:xfrm>
            <a:off x="1084597" y="6526348"/>
            <a:ext cx="9984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See also, T. Kubo, Phys. Rev. Research </a:t>
            </a:r>
            <a:r>
              <a:rPr lang="en-US" altLang="ja-JP" sz="1400" b="1" dirty="0">
                <a:solidFill>
                  <a:schemeClr val="tx2"/>
                </a:solidFill>
              </a:rPr>
              <a:t>2</a:t>
            </a:r>
            <a:r>
              <a:rPr lang="en-US" altLang="ja-JP" sz="1400" dirty="0">
                <a:solidFill>
                  <a:schemeClr val="tx2"/>
                </a:solidFill>
              </a:rPr>
              <a:t>, 033203 (2020); F. Pei-Jen Lin and A. Gurevich, Phys. Rev. B </a:t>
            </a:r>
            <a:r>
              <a:rPr lang="en-US" altLang="ja-JP" sz="1400" b="1" dirty="0">
                <a:solidFill>
                  <a:schemeClr val="tx2"/>
                </a:solidFill>
              </a:rPr>
              <a:t>85</a:t>
            </a:r>
            <a:r>
              <a:rPr lang="en-US" altLang="ja-JP" sz="1400" dirty="0">
                <a:solidFill>
                  <a:schemeClr val="tx2"/>
                </a:solidFill>
              </a:rPr>
              <a:t>, 054513 (2012)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B9E14F-2E9A-B7AD-2BB8-8B0375929602}"/>
              </a:ext>
            </a:extLst>
          </p:cNvPr>
          <p:cNvSpPr txBox="1"/>
          <p:nvPr/>
        </p:nvSpPr>
        <p:spPr>
          <a:xfrm>
            <a:off x="1236997" y="5933315"/>
            <a:ext cx="9984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400" dirty="0">
                <a:solidFill>
                  <a:schemeClr val="tx2"/>
                </a:solidFill>
                <a:hlinkClick r:id="rId5"/>
              </a:rPr>
              <a:t>https://doi.org/10.1103/PhysRevApplied.22.044042</a:t>
            </a:r>
            <a:endParaRPr lang="en-US" altLang="ja-JP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73946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6608-98F4-C2E4-FD20-3D875ACBD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03F255E-9D76-494F-6B6A-92D2DF96B632}"/>
              </a:ext>
            </a:extLst>
          </p:cNvPr>
          <p:cNvSpPr txBox="1"/>
          <p:nvPr/>
        </p:nvSpPr>
        <p:spPr>
          <a:xfrm>
            <a:off x="3279913" y="149085"/>
            <a:ext cx="89120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If the AC field is absent, this reduces to a problem of equilibrium superconductivity. </a:t>
            </a:r>
          </a:p>
          <a:p>
            <a:r>
              <a:rPr kumimoji="1" lang="en-US" altLang="ja-JP" sz="2800" dirty="0"/>
              <a:t>That case was already well understood decades ago.</a:t>
            </a:r>
            <a:endParaRPr kumimoji="1" lang="ja-JP" altLang="en-US" sz="2800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28C461EF-E6DA-AAF8-4539-42AE4FA59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670" y="1610711"/>
            <a:ext cx="4055955" cy="4317955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9B24401B-4A0E-9F94-C333-C5AFA7899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238" y="1590432"/>
            <a:ext cx="4055955" cy="4328032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15C760BF-26FC-A4D2-DBD3-5703EE241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2" y="2481781"/>
            <a:ext cx="3535245" cy="3451965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B10377A1-2B05-D629-EE74-A72B31C41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45" y="304147"/>
            <a:ext cx="2720765" cy="1800103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77E9B99-EA52-D502-270B-C692F830C4A1}"/>
              </a:ext>
            </a:extLst>
          </p:cNvPr>
          <p:cNvSpPr txBox="1"/>
          <p:nvPr/>
        </p:nvSpPr>
        <p:spPr>
          <a:xfrm>
            <a:off x="1084597" y="6526348"/>
            <a:ext cx="9984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See also, T. Kubo, Phys. Rev. Research </a:t>
            </a:r>
            <a:r>
              <a:rPr lang="en-US" altLang="ja-JP" sz="1400" b="1" dirty="0">
                <a:solidFill>
                  <a:schemeClr val="tx2"/>
                </a:solidFill>
              </a:rPr>
              <a:t>2</a:t>
            </a:r>
            <a:r>
              <a:rPr lang="en-US" altLang="ja-JP" sz="1400" dirty="0">
                <a:solidFill>
                  <a:schemeClr val="tx2"/>
                </a:solidFill>
              </a:rPr>
              <a:t>, 033203 (2020); F. Pei-Jen Lin and A. Gurevich, Phys. Rev. B </a:t>
            </a:r>
            <a:r>
              <a:rPr lang="en-US" altLang="ja-JP" sz="1400" b="1" dirty="0">
                <a:solidFill>
                  <a:schemeClr val="tx2"/>
                </a:solidFill>
              </a:rPr>
              <a:t>85</a:t>
            </a:r>
            <a:r>
              <a:rPr lang="en-US" altLang="ja-JP" sz="1400" dirty="0">
                <a:solidFill>
                  <a:schemeClr val="tx2"/>
                </a:solidFill>
              </a:rPr>
              <a:t>, 054513 (2012)</a:t>
            </a:r>
            <a:endParaRPr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D23B91-D911-DBFC-E67C-D354CED803AF}"/>
              </a:ext>
            </a:extLst>
          </p:cNvPr>
          <p:cNvSpPr txBox="1"/>
          <p:nvPr/>
        </p:nvSpPr>
        <p:spPr>
          <a:xfrm>
            <a:off x="1236997" y="5933315"/>
            <a:ext cx="9984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400" dirty="0">
                <a:solidFill>
                  <a:schemeClr val="tx2"/>
                </a:solidFill>
                <a:hlinkClick r:id="rId6"/>
              </a:rPr>
              <a:t>https://doi.org/10.1103/PhysRevApplied.22.044042</a:t>
            </a:r>
            <a:endParaRPr lang="en-US" altLang="ja-JP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73618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F215-6B26-583B-C039-4918E46E0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CF8E9FF-13E7-8644-FF78-953DD096E0E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0062" y="169115"/>
            <a:ext cx="4658868" cy="190873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D62BFF-80B7-8A63-E3F5-DCA08720A821}"/>
              </a:ext>
            </a:extLst>
          </p:cNvPr>
          <p:cNvSpPr txBox="1"/>
          <p:nvPr/>
        </p:nvSpPr>
        <p:spPr>
          <a:xfrm>
            <a:off x="5466433" y="158321"/>
            <a:ext cx="67255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However, once an AC field is present, the problem becomes much more complicated. In that case, we need to use the theory of </a:t>
            </a:r>
            <a:r>
              <a:rPr kumimoji="1" lang="en-US" altLang="ja-JP" sz="2800" b="1" dirty="0"/>
              <a:t>nonequilibrium</a:t>
            </a:r>
            <a:r>
              <a:rPr kumimoji="1" lang="en-US" altLang="ja-JP" sz="2800" dirty="0"/>
              <a:t> superconductivity.</a:t>
            </a:r>
            <a:endParaRPr kumimoji="1" lang="ja-JP" altLang="en-US" sz="2800" dirty="0"/>
          </a:p>
        </p:txBody>
      </p:sp>
      <p:sp>
        <p:nvSpPr>
          <p:cNvPr id="2" name="矢印: 下 1">
            <a:extLst>
              <a:ext uri="{FF2B5EF4-FFF2-40B4-BE49-F238E27FC236}">
                <a16:creationId xmlns:a16="http://schemas.microsoft.com/office/drawing/2014/main" id="{1BB7102E-60C1-66B7-717F-F0E777E7077A}"/>
              </a:ext>
            </a:extLst>
          </p:cNvPr>
          <p:cNvSpPr/>
          <p:nvPr/>
        </p:nvSpPr>
        <p:spPr>
          <a:xfrm>
            <a:off x="6640323" y="2458122"/>
            <a:ext cx="965200" cy="872711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B0CD576-EE82-17A8-8F79-FA162BBC7D0F}"/>
                  </a:ext>
                </a:extLst>
              </p:cNvPr>
              <p:cNvSpPr txBox="1"/>
              <p:nvPr/>
            </p:nvSpPr>
            <p:spPr>
              <a:xfrm>
                <a:off x="6238875" y="3479601"/>
                <a:ext cx="5819774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kumimoji="1" lang="en-US" altLang="ja-JP" sz="2000" b="1" u="sng" dirty="0"/>
                  <a:t>The </a:t>
                </a:r>
                <a:r>
                  <a:rPr kumimoji="1" lang="en-US" altLang="ja-JP" sz="2000" b="1" u="sng" dirty="0" err="1"/>
                  <a:t>Keldysh</a:t>
                </a:r>
                <a:r>
                  <a:rPr kumimoji="1" lang="en-US" altLang="ja-JP" sz="2000" b="1" u="sng" dirty="0"/>
                  <a:t>-Eilenberger theory </a:t>
                </a:r>
                <a:r>
                  <a:rPr kumimoji="1" lang="en-US" altLang="ja-JP" sz="1600" dirty="0"/>
                  <a:t>is a microscopic theory of </a:t>
                </a:r>
                <a:r>
                  <a:rPr kumimoji="1" lang="en-US" altLang="ja-JP" sz="1600" b="1" dirty="0"/>
                  <a:t>nonequilibrium</a:t>
                </a:r>
                <a:r>
                  <a:rPr kumimoji="1" lang="en-US" altLang="ja-JP" sz="1600" dirty="0"/>
                  <a:t> superconductivity. It is applicable at any temperature (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-US" altLang="ja-JP" sz="1600" dirty="0"/>
                  <a:t>) and for arbitrary mean free path. </a:t>
                </a:r>
                <a:endParaRPr kumimoji="1" lang="en-US" altLang="ja-JP" dirty="0"/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endParaRPr kumimoji="1" lang="en-US" altLang="ja-JP" dirty="0"/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kumimoji="1" lang="en-US" altLang="ja-JP" sz="2000" b="1" u="sng" dirty="0"/>
                  <a:t>The </a:t>
                </a:r>
                <a:r>
                  <a:rPr kumimoji="1" lang="en-US" altLang="ja-JP" sz="2000" b="1" u="sng" dirty="0" err="1"/>
                  <a:t>Keldysh</a:t>
                </a:r>
                <a:r>
                  <a:rPr kumimoji="1" lang="en-US" altLang="ja-JP" sz="2000" b="1" u="sng" dirty="0"/>
                  <a:t>–</a:t>
                </a:r>
                <a:r>
                  <a:rPr kumimoji="1" lang="en-US" altLang="ja-JP" sz="2000" b="1" u="sng" dirty="0" err="1"/>
                  <a:t>Usadel</a:t>
                </a:r>
                <a:r>
                  <a:rPr kumimoji="1" lang="en-US" altLang="ja-JP" sz="2000" b="1" u="sng" dirty="0"/>
                  <a:t> theory </a:t>
                </a:r>
                <a:r>
                  <a:rPr kumimoji="1" lang="en-US" altLang="ja-JP" sz="1600" dirty="0"/>
                  <a:t>represents the dirty-limit reduction of the </a:t>
                </a:r>
                <a:r>
                  <a:rPr kumimoji="1" lang="en-US" altLang="ja-JP" sz="1600" dirty="0" err="1"/>
                  <a:t>Keldysh</a:t>
                </a:r>
                <a:r>
                  <a:rPr kumimoji="1" lang="en-US" altLang="ja-JP" sz="1600" dirty="0"/>
                  <a:t>–Eilenberger theory of nonequilibrium superconductivity, applicable at any T (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-US" altLang="ja-JP" sz="1600" dirty="0"/>
                  <a:t>). 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B0CD576-EE82-17A8-8F79-FA162BBC7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875" y="3479601"/>
                <a:ext cx="5819774" cy="2462213"/>
              </a:xfrm>
              <a:prstGeom prst="rect">
                <a:avLst/>
              </a:prstGeom>
              <a:blipFill>
                <a:blip r:embed="rId3"/>
                <a:stretch>
                  <a:fillRect l="-942" t="-1485" r="-524" b="-22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4FB51BE-AAAD-240A-B24B-FD71A82F9EA9}"/>
              </a:ext>
            </a:extLst>
          </p:cNvPr>
          <p:cNvSpPr txBox="1"/>
          <p:nvPr/>
        </p:nvSpPr>
        <p:spPr>
          <a:xfrm>
            <a:off x="8290122" y="2595572"/>
            <a:ext cx="3771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A. Moor et al., Phys. Rev. Lett. </a:t>
            </a:r>
            <a:r>
              <a:rPr lang="en-US" altLang="ja-JP" sz="1200" b="1" dirty="0">
                <a:solidFill>
                  <a:schemeClr val="tx2"/>
                </a:solidFill>
              </a:rPr>
              <a:t>118</a:t>
            </a:r>
            <a:r>
              <a:rPr lang="en-US" altLang="ja-JP" sz="1200" dirty="0">
                <a:solidFill>
                  <a:schemeClr val="tx2"/>
                </a:solidFill>
              </a:rPr>
              <a:t>, 047001 (2017)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</a:t>
            </a:r>
            <a:r>
              <a:rPr lang="en-US" altLang="ja-JP" sz="1200" dirty="0" err="1">
                <a:solidFill>
                  <a:schemeClr val="tx2"/>
                </a:solidFill>
              </a:rPr>
              <a:t>Jujo</a:t>
            </a:r>
            <a:r>
              <a:rPr lang="en-US" altLang="ja-JP" sz="1200" dirty="0">
                <a:solidFill>
                  <a:schemeClr val="tx2"/>
                </a:solidFill>
              </a:rPr>
              <a:t>, J. Phys. Soc. </a:t>
            </a:r>
            <a:r>
              <a:rPr lang="en-US" altLang="ja-JP" sz="1200" dirty="0" err="1">
                <a:solidFill>
                  <a:schemeClr val="tx2"/>
                </a:solidFill>
              </a:rPr>
              <a:t>Jpn</a:t>
            </a:r>
            <a:r>
              <a:rPr lang="en-US" altLang="ja-JP" sz="1200" dirty="0">
                <a:solidFill>
                  <a:schemeClr val="tx2"/>
                </a:solidFill>
              </a:rPr>
              <a:t>. </a:t>
            </a:r>
            <a:r>
              <a:rPr lang="en-US" altLang="ja-JP" sz="1200" b="1" dirty="0">
                <a:solidFill>
                  <a:schemeClr val="tx2"/>
                </a:solidFill>
              </a:rPr>
              <a:t>91</a:t>
            </a:r>
            <a:r>
              <a:rPr lang="en-US" altLang="ja-JP" sz="1200" dirty="0">
                <a:solidFill>
                  <a:schemeClr val="tx2"/>
                </a:solidFill>
              </a:rPr>
              <a:t>, 074711 (2022)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22</a:t>
            </a:r>
            <a:r>
              <a:rPr lang="en-US" altLang="ja-JP" sz="1200" dirty="0">
                <a:solidFill>
                  <a:schemeClr val="tx2"/>
                </a:solidFill>
              </a:rPr>
              <a:t>, 044042 (2024)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2B2E973-A0A1-5C83-04BC-938E7C347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7" y="2405090"/>
            <a:ext cx="6038955" cy="42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3573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FABE-7EEE-F65E-2CE4-6664FDC2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B7D35B2E-C771-FA8E-51E0-DA7DDE6C4B6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20375" y="799258"/>
            <a:ext cx="4414982" cy="234603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12242B3-37BE-8FBD-28CC-43787EB225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58959" y="775904"/>
            <a:ext cx="3648745" cy="297701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8FBE3E-16AF-8734-AFDF-B729F8AC678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7162" y="3183299"/>
            <a:ext cx="3669356" cy="545785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7B78AF9-9017-FCF4-23C9-D695138F056E}"/>
              </a:ext>
            </a:extLst>
          </p:cNvPr>
          <p:cNvSpPr txBox="1"/>
          <p:nvPr/>
        </p:nvSpPr>
        <p:spPr>
          <a:xfrm>
            <a:off x="10160" y="0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 err="1"/>
              <a:t>Keldysh</a:t>
            </a:r>
            <a:r>
              <a:rPr lang="en-US" altLang="ja-JP" sz="3200" dirty="0"/>
              <a:t>–</a:t>
            </a:r>
            <a:r>
              <a:rPr lang="en-US" altLang="ja-JP" sz="3200" dirty="0" err="1"/>
              <a:t>Usadel</a:t>
            </a:r>
            <a:r>
              <a:rPr lang="en-US" altLang="ja-JP" sz="3200" dirty="0"/>
              <a:t> Equation: DC Current with AC Perturbation</a:t>
            </a:r>
            <a:endParaRPr lang="ja-JP" altLang="en-US" sz="3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606B16C-EB26-0CFE-DC29-431925F5721B}"/>
              </a:ext>
            </a:extLst>
          </p:cNvPr>
          <p:cNvSpPr txBox="1"/>
          <p:nvPr/>
        </p:nvSpPr>
        <p:spPr>
          <a:xfrm>
            <a:off x="8083060" y="462943"/>
            <a:ext cx="3867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0B5925A-100E-6A22-56B9-7AB1D4C3E35C}"/>
              </a:ext>
            </a:extLst>
          </p:cNvPr>
          <p:cNvSpPr/>
          <p:nvPr/>
        </p:nvSpPr>
        <p:spPr>
          <a:xfrm>
            <a:off x="1590261" y="718935"/>
            <a:ext cx="9064488" cy="3078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2517282-5AD5-83D7-7B71-4E51B2103F80}"/>
                  </a:ext>
                </a:extLst>
              </p:cNvPr>
              <p:cNvSpPr txBox="1"/>
              <p:nvPr/>
            </p:nvSpPr>
            <p:spPr>
              <a:xfrm>
                <a:off x="10160" y="3739046"/>
                <a:ext cx="12181840" cy="524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We solve these equations to obtain the AC-induced </a:t>
                </a:r>
                <a:r>
                  <a:rPr lang="en-US" altLang="ja-JP" sz="2000" b="1" dirty="0">
                    <a:solidFill>
                      <a:srgbClr val="FEB6AA"/>
                    </a:solidFill>
                  </a:rPr>
                  <a:t>nonequilibrium corrections </a:t>
                </a:r>
                <a:r>
                  <a:rPr lang="en-US" altLang="ja-JP" sz="20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𝛿</m:t>
                    </m:r>
                    <m:sSup>
                      <m:sSup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altLang="ja-JP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8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).</a:t>
                </a:r>
                <a:endParaRPr lang="ja-JP" altLang="en-US" sz="2000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2517282-5AD5-83D7-7B71-4E51B2103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" y="3739046"/>
                <a:ext cx="12181840" cy="524374"/>
              </a:xfrm>
              <a:prstGeom prst="rect">
                <a:avLst/>
              </a:prstGeom>
              <a:blipFill>
                <a:blip r:embed="rId5"/>
                <a:stretch>
                  <a:fillRect l="-551" b="-16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EE3699-F0AB-2DC3-EEC2-85B33F0A956C}"/>
              </a:ext>
            </a:extLst>
          </p:cNvPr>
          <p:cNvSpPr txBox="1"/>
          <p:nvPr/>
        </p:nvSpPr>
        <p:spPr>
          <a:xfrm>
            <a:off x="11257127" y="3193708"/>
            <a:ext cx="807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Higgs</a:t>
            </a:r>
          </a:p>
          <a:p>
            <a:pPr algn="ctr"/>
            <a:r>
              <a:rPr kumimoji="1" lang="ja-JP" altLang="en-US" dirty="0"/>
              <a:t>↓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A2E366-D814-7573-D1CC-0BC5E754792B}"/>
              </a:ext>
            </a:extLst>
          </p:cNvPr>
          <p:cNvSpPr txBox="1"/>
          <p:nvPr/>
        </p:nvSpPr>
        <p:spPr>
          <a:xfrm>
            <a:off x="262102" y="460830"/>
            <a:ext cx="7501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200" dirty="0">
                <a:solidFill>
                  <a:schemeClr val="tx2"/>
                </a:solidFill>
                <a:hlinkClick r:id="rId6"/>
              </a:rPr>
              <a:t>https://doi.org/10.1103/PhysRevApplied.22.044042</a:t>
            </a:r>
            <a:endParaRPr lang="en-US" altLang="ja-JP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57170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66F0-9751-C795-0B84-F0623730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C1770395-EA84-FD21-9BD0-45F836444C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20375" y="799258"/>
            <a:ext cx="4414982" cy="234603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FC301B1-A9A6-A165-E3BB-980026CD63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58959" y="775904"/>
            <a:ext cx="3648745" cy="297701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0920340-AB3C-A447-710A-D60B32A744B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7162" y="3183299"/>
            <a:ext cx="3669356" cy="545785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10EA467-B9E4-0B2F-A78E-27735BB43956}"/>
              </a:ext>
            </a:extLst>
          </p:cNvPr>
          <p:cNvSpPr txBox="1"/>
          <p:nvPr/>
        </p:nvSpPr>
        <p:spPr>
          <a:xfrm>
            <a:off x="10160" y="0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 err="1"/>
              <a:t>Keldysh</a:t>
            </a:r>
            <a:r>
              <a:rPr lang="en-US" altLang="ja-JP" sz="3200" dirty="0"/>
              <a:t>–</a:t>
            </a:r>
            <a:r>
              <a:rPr lang="en-US" altLang="ja-JP" sz="3200" dirty="0" err="1"/>
              <a:t>Usadel</a:t>
            </a:r>
            <a:r>
              <a:rPr lang="en-US" altLang="ja-JP" sz="3200" dirty="0"/>
              <a:t> Equation: DC Current with AC Perturbation</a:t>
            </a:r>
            <a:endParaRPr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EDE0C13F-3942-3BCF-DC0A-A75BEAA3A0F4}"/>
                  </a:ext>
                </a:extLst>
              </p:cNvPr>
              <p:cNvSpPr txBox="1"/>
              <p:nvPr/>
            </p:nvSpPr>
            <p:spPr>
              <a:xfrm>
                <a:off x="1086873" y="5219592"/>
                <a:ext cx="5105037" cy="73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To obtain the ac response, </a:t>
                </a:r>
              </a:p>
              <a:p>
                <a:r>
                  <a:rPr kumimoji="1" lang="en-US" altLang="ja-JP" dirty="0"/>
                  <a:t>we substitute the solutions (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𝛿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,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4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ja-JP" dirty="0"/>
                  <a:t>) into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EDE0C13F-3942-3BCF-DC0A-A75BEAA3A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73" y="5219592"/>
                <a:ext cx="5105037" cy="739626"/>
              </a:xfrm>
              <a:prstGeom prst="rect">
                <a:avLst/>
              </a:prstGeom>
              <a:blipFill>
                <a:blip r:embed="rId5"/>
                <a:stretch>
                  <a:fillRect l="-955" t="-4098" b="-172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図 21">
            <a:extLst>
              <a:ext uri="{FF2B5EF4-FFF2-40B4-BE49-F238E27FC236}">
                <a16:creationId xmlns:a16="http://schemas.microsoft.com/office/drawing/2014/main" id="{49F915E5-1CD2-7DC6-5109-0AD7F90B52F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2631" y="4560108"/>
            <a:ext cx="4138710" cy="2058595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7B4C0FF-2BF9-65A9-8BCF-543F22569919}"/>
              </a:ext>
            </a:extLst>
          </p:cNvPr>
          <p:cNvSpPr/>
          <p:nvPr/>
        </p:nvSpPr>
        <p:spPr>
          <a:xfrm>
            <a:off x="1590261" y="718935"/>
            <a:ext cx="9064488" cy="3078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2879CC8-1FD5-0BD8-3CC3-D9527B68DCB0}"/>
              </a:ext>
            </a:extLst>
          </p:cNvPr>
          <p:cNvSpPr/>
          <p:nvPr/>
        </p:nvSpPr>
        <p:spPr>
          <a:xfrm>
            <a:off x="983973" y="4530292"/>
            <a:ext cx="9551505" cy="2116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下 22">
            <a:extLst>
              <a:ext uri="{FF2B5EF4-FFF2-40B4-BE49-F238E27FC236}">
                <a16:creationId xmlns:a16="http://schemas.microsoft.com/office/drawing/2014/main" id="{224DC232-CDDA-69C3-4F93-AA5C6C1FD61C}"/>
              </a:ext>
            </a:extLst>
          </p:cNvPr>
          <p:cNvSpPr/>
          <p:nvPr/>
        </p:nvSpPr>
        <p:spPr>
          <a:xfrm>
            <a:off x="3474866" y="4218440"/>
            <a:ext cx="1061721" cy="793374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CDE95D85-FBF1-5AA4-0BAD-B111F9CC25E3}"/>
              </a:ext>
            </a:extLst>
          </p:cNvPr>
          <p:cNvSpPr/>
          <p:nvPr/>
        </p:nvSpPr>
        <p:spPr>
          <a:xfrm>
            <a:off x="3474866" y="6048119"/>
            <a:ext cx="1061721" cy="793374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31102424-82F2-8C3A-3AE3-EF54756B1466}"/>
                  </a:ext>
                </a:extLst>
              </p:cNvPr>
              <p:cNvSpPr txBox="1"/>
              <p:nvPr/>
            </p:nvSpPr>
            <p:spPr>
              <a:xfrm>
                <a:off x="10160" y="3739046"/>
                <a:ext cx="12181840" cy="524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dirty="0"/>
                  <a:t>We solve these equations to obtain the AC-induced </a:t>
                </a:r>
                <a:r>
                  <a:rPr lang="en-US" altLang="ja-JP" sz="2000" b="1" dirty="0">
                    <a:solidFill>
                      <a:srgbClr val="FEB6AA"/>
                    </a:solidFill>
                  </a:rPr>
                  <a:t>nonequilibrium corrections </a:t>
                </a:r>
                <a:r>
                  <a:rPr lang="en-US" altLang="ja-JP" sz="20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𝛿</m:t>
                    </m:r>
                    <m:sSup>
                      <m:sSup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altLang="ja-JP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ja-JP" sz="28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ja-JP" sz="2000" dirty="0"/>
                  <a:t>).</a:t>
                </a:r>
                <a:endParaRPr lang="ja-JP" altLang="en-US" sz="20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31102424-82F2-8C3A-3AE3-EF54756B1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" y="3739046"/>
                <a:ext cx="12181840" cy="524374"/>
              </a:xfrm>
              <a:prstGeom prst="rect">
                <a:avLst/>
              </a:prstGeom>
              <a:blipFill>
                <a:blip r:embed="rId7"/>
                <a:stretch>
                  <a:fillRect l="-551" b="-16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061311-23C6-F4A1-08D9-ED01FA205A46}"/>
              </a:ext>
            </a:extLst>
          </p:cNvPr>
          <p:cNvSpPr txBox="1"/>
          <p:nvPr/>
        </p:nvSpPr>
        <p:spPr>
          <a:xfrm>
            <a:off x="11257127" y="3193708"/>
            <a:ext cx="807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Higgs</a:t>
            </a:r>
          </a:p>
          <a:p>
            <a:pPr algn="ctr"/>
            <a:r>
              <a:rPr kumimoji="1" lang="ja-JP" altLang="en-US" dirty="0"/>
              <a:t>↓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350F07-6DA5-03CC-23AE-B23FFCA87E04}"/>
              </a:ext>
            </a:extLst>
          </p:cNvPr>
          <p:cNvSpPr txBox="1"/>
          <p:nvPr/>
        </p:nvSpPr>
        <p:spPr>
          <a:xfrm>
            <a:off x="8083060" y="462943"/>
            <a:ext cx="3867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C9D9AF-D5E1-6AD5-3354-994808488B1C}"/>
              </a:ext>
            </a:extLst>
          </p:cNvPr>
          <p:cNvSpPr txBox="1"/>
          <p:nvPr/>
        </p:nvSpPr>
        <p:spPr>
          <a:xfrm>
            <a:off x="262102" y="460830"/>
            <a:ext cx="7501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200" dirty="0">
                <a:solidFill>
                  <a:schemeClr val="tx2"/>
                </a:solidFill>
                <a:hlinkClick r:id="rId8"/>
              </a:rPr>
              <a:t>https://doi.org/10.1103/PhysRevApplied.22.044042</a:t>
            </a:r>
            <a:endParaRPr lang="en-US" altLang="ja-JP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2957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B5EA-B0B8-1241-988B-C44E98B6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4E1C0DAB-5E3B-595B-ED7F-2CF482472683}"/>
                  </a:ext>
                </a:extLst>
              </p:cNvPr>
              <p:cNvSpPr txBox="1"/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4E1C0DAB-5E3B-595B-ED7F-2CF482472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5DF7B7C-3866-BE16-88CE-C4184D6B0F1C}"/>
              </a:ext>
            </a:extLst>
          </p:cNvPr>
          <p:cNvSpPr txBox="1"/>
          <p:nvPr/>
        </p:nvSpPr>
        <p:spPr>
          <a:xfrm>
            <a:off x="13298" y="0"/>
            <a:ext cx="12178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Instead of showing the rigorous algebraic calculations, we will look at schematic illustrations that represent the final results.</a:t>
            </a:r>
            <a:endParaRPr kumimoji="1" lang="ja-JP" altLang="en-US" sz="28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E570F51-DDD9-7F6D-E509-84E77B8E99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10090" y="954107"/>
            <a:ext cx="5007839" cy="2490901"/>
          </a:xfrm>
          <a:prstGeom prst="rect">
            <a:avLst/>
          </a:prstGeom>
        </p:spPr>
      </p:pic>
      <p:sp>
        <p:nvSpPr>
          <p:cNvPr id="5" name="矢印: 下 4">
            <a:extLst>
              <a:ext uri="{FF2B5EF4-FFF2-40B4-BE49-F238E27FC236}">
                <a16:creationId xmlns:a16="http://schemas.microsoft.com/office/drawing/2014/main" id="{3CBC3246-E602-40E2-6071-191EEBFDA8A9}"/>
              </a:ext>
            </a:extLst>
          </p:cNvPr>
          <p:cNvSpPr/>
          <p:nvPr/>
        </p:nvSpPr>
        <p:spPr>
          <a:xfrm rot="5400000">
            <a:off x="6190197" y="959075"/>
            <a:ext cx="877455" cy="655681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6A49FBE-3DD1-6AC8-03BA-6587FBFCBAB7}"/>
              </a:ext>
            </a:extLst>
          </p:cNvPr>
          <p:cNvSpPr txBox="1"/>
          <p:nvPr/>
        </p:nvSpPr>
        <p:spPr>
          <a:xfrm>
            <a:off x="8083060" y="6575492"/>
            <a:ext cx="3867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D53D10A-32D5-0431-F63B-8271B79493FB}"/>
              </a:ext>
            </a:extLst>
          </p:cNvPr>
          <p:cNvSpPr txBox="1"/>
          <p:nvPr/>
        </p:nvSpPr>
        <p:spPr>
          <a:xfrm>
            <a:off x="262102" y="6573379"/>
            <a:ext cx="7501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200" dirty="0">
                <a:solidFill>
                  <a:schemeClr val="tx2"/>
                </a:solidFill>
                <a:hlinkClick r:id="rId4"/>
              </a:rPr>
              <a:t>https://doi.org/10.1103/PhysRevApplied.22.044042</a:t>
            </a:r>
            <a:endParaRPr lang="en-US" altLang="ja-JP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73101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74FF0-DCE6-6F5B-DAE0-BD742F166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D73A35E-C199-9E6A-682D-52CE5480F082}"/>
                  </a:ext>
                </a:extLst>
              </p:cNvPr>
              <p:cNvSpPr txBox="1"/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D73A35E-C199-9E6A-682D-52CE5480F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BA135E66-227E-0A88-75B9-69B593460B8D}"/>
              </a:ext>
            </a:extLst>
          </p:cNvPr>
          <p:cNvSpPr/>
          <p:nvPr/>
        </p:nvSpPr>
        <p:spPr>
          <a:xfrm>
            <a:off x="3083989" y="969795"/>
            <a:ext cx="1020359" cy="58970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28B40D-2D1E-1049-2CDB-623FABF07DC3}"/>
              </a:ext>
            </a:extLst>
          </p:cNvPr>
          <p:cNvSpPr txBox="1"/>
          <p:nvPr/>
        </p:nvSpPr>
        <p:spPr>
          <a:xfrm>
            <a:off x="13298" y="0"/>
            <a:ext cx="12178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Instead of showing the rigorous algebraic calculations, we will look at schematic illustrations that represent the final results.</a:t>
            </a:r>
            <a:endParaRPr kumimoji="1" lang="ja-JP" altLang="en-US" sz="28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BD2DEBF-310F-4C38-148B-70F6065EA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653" y="1695233"/>
            <a:ext cx="1743607" cy="132904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6C4B10C-9BB1-9574-425D-A97841043D53}"/>
              </a:ext>
            </a:extLst>
          </p:cNvPr>
          <p:cNvSpPr txBox="1"/>
          <p:nvPr/>
        </p:nvSpPr>
        <p:spPr>
          <a:xfrm>
            <a:off x="8083060" y="6575492"/>
            <a:ext cx="3867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5E3ECC-F2F9-A0C1-125E-779E1802F33E}"/>
              </a:ext>
            </a:extLst>
          </p:cNvPr>
          <p:cNvSpPr txBox="1"/>
          <p:nvPr/>
        </p:nvSpPr>
        <p:spPr>
          <a:xfrm>
            <a:off x="262102" y="6573379"/>
            <a:ext cx="7501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200" dirty="0">
                <a:solidFill>
                  <a:schemeClr val="tx2"/>
                </a:solidFill>
                <a:hlinkClick r:id="rId4"/>
              </a:rPr>
              <a:t>https://doi.org/10.1103/PhysRevApplied.22.044042</a:t>
            </a:r>
            <a:endParaRPr lang="en-US" altLang="ja-JP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92700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B848D-3E8C-AC09-24EB-D8943615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432DE7E-664C-E6FF-48EA-EC48FB84143F}"/>
                  </a:ext>
                </a:extLst>
              </p:cNvPr>
              <p:cNvSpPr txBox="1"/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432DE7E-664C-E6FF-48EA-EC48FB841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D6B32E9-96DB-8527-30E1-8913751BD624}"/>
                  </a:ext>
                </a:extLst>
              </p:cNvPr>
              <p:cNvSpPr txBox="1"/>
              <p:nvPr/>
            </p:nvSpPr>
            <p:spPr>
              <a:xfrm>
                <a:off x="6289373" y="1039763"/>
                <a:ext cx="5902628" cy="630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kumimoji="1" lang="en-US" altLang="ja-JP" sz="24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ja-JP" sz="24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ja-JP" altLang="en-US" sz="2400" dirty="0">
                    <a:solidFill>
                      <a:srgbClr val="FFFF00"/>
                    </a:solidFill>
                  </a:rPr>
                  <a:t>   </a:t>
                </a:r>
                <a:r>
                  <a:rPr kumimoji="1" lang="en-US" altLang="ja-JP" sz="2400" dirty="0"/>
                  <a:t>and</a:t>
                </a:r>
                <a:r>
                  <a:rPr kumimoji="1" lang="en-US" altLang="ja-JP" sz="2400" dirty="0">
                    <a:solidFill>
                      <a:srgbClr val="FFFF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kumimoji="1" lang="en-US" altLang="ja-JP" sz="2400" dirty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sz="2400" dirty="0">
                  <a:solidFill>
                    <a:srgbClr val="92D050"/>
                  </a:solidFill>
                </a:endParaRPr>
              </a:p>
              <a:p>
                <a:endParaRPr lang="ja-JP" altLang="en-US" sz="11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D6B32E9-96DB-8527-30E1-8913751BD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373" y="1039763"/>
                <a:ext cx="5902628" cy="630942"/>
              </a:xfrm>
              <a:prstGeom prst="rect">
                <a:avLst/>
              </a:prstGeom>
              <a:blipFill>
                <a:blip r:embed="rId3"/>
                <a:stretch>
                  <a:fillRect l="-930" t="-8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B595E14-B33E-DEE9-08DB-A1F4943E4A46}"/>
              </a:ext>
            </a:extLst>
          </p:cNvPr>
          <p:cNvSpPr/>
          <p:nvPr/>
        </p:nvSpPr>
        <p:spPr>
          <a:xfrm>
            <a:off x="3083989" y="969795"/>
            <a:ext cx="1020359" cy="58970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9BA88E-3266-1012-15E0-67F0AFE802AA}"/>
              </a:ext>
            </a:extLst>
          </p:cNvPr>
          <p:cNvSpPr txBox="1"/>
          <p:nvPr/>
        </p:nvSpPr>
        <p:spPr>
          <a:xfrm>
            <a:off x="13298" y="0"/>
            <a:ext cx="12178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Instead of showing the rigorous algebraic calculations, we will look at schematic illustrations that represent the final results.</a:t>
            </a:r>
            <a:endParaRPr kumimoji="1" lang="ja-JP" altLang="en-US" sz="28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6BFC769-A948-94F8-EEC2-E5D3B2740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653" y="1695233"/>
            <a:ext cx="1743607" cy="132904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796862-CF0C-04A7-E07B-3525DA58D2A2}"/>
              </a:ext>
            </a:extLst>
          </p:cNvPr>
          <p:cNvSpPr txBox="1"/>
          <p:nvPr/>
        </p:nvSpPr>
        <p:spPr>
          <a:xfrm>
            <a:off x="8083060" y="6575492"/>
            <a:ext cx="3867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E8BA93B-EAF0-EF25-86C0-AFB1240CB75F}"/>
              </a:ext>
            </a:extLst>
          </p:cNvPr>
          <p:cNvSpPr txBox="1"/>
          <p:nvPr/>
        </p:nvSpPr>
        <p:spPr>
          <a:xfrm>
            <a:off x="262102" y="6573379"/>
            <a:ext cx="7501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200" dirty="0">
                <a:solidFill>
                  <a:schemeClr val="tx2"/>
                </a:solidFill>
                <a:hlinkClick r:id="rId5"/>
              </a:rPr>
              <a:t>https://doi.org/10.1103/PhysRevApplied.22.044042</a:t>
            </a:r>
            <a:endParaRPr lang="en-US" altLang="ja-JP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03127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860BA-3BC4-0C78-19D3-24C39D6E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C163635-46CA-856F-9801-0F07EE12AE1A}"/>
                  </a:ext>
                </a:extLst>
              </p:cNvPr>
              <p:cNvSpPr txBox="1"/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C163635-46CA-856F-9801-0F07EE12A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5465076-18FC-0F39-C73D-585D17295825}"/>
                  </a:ext>
                </a:extLst>
              </p:cNvPr>
              <p:cNvSpPr txBox="1"/>
              <p:nvPr/>
            </p:nvSpPr>
            <p:spPr>
              <a:xfrm>
                <a:off x="6289373" y="1039763"/>
                <a:ext cx="5902628" cy="630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kumimoji="1" lang="en-US" altLang="ja-JP" sz="24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ja-JP" sz="24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ja-JP" altLang="en-US" sz="2400" dirty="0">
                    <a:solidFill>
                      <a:srgbClr val="FFFF00"/>
                    </a:solidFill>
                  </a:rPr>
                  <a:t>   </a:t>
                </a:r>
                <a:r>
                  <a:rPr kumimoji="1" lang="en-US" altLang="ja-JP" sz="2400" dirty="0"/>
                  <a:t>and</a:t>
                </a:r>
                <a:r>
                  <a:rPr kumimoji="1" lang="en-US" altLang="ja-JP" sz="2400" dirty="0">
                    <a:solidFill>
                      <a:srgbClr val="FFFF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kumimoji="1" lang="en-US" altLang="ja-JP" sz="2400" dirty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sz="2400" dirty="0">
                  <a:solidFill>
                    <a:srgbClr val="92D050"/>
                  </a:solidFill>
                </a:endParaRPr>
              </a:p>
              <a:p>
                <a:endParaRPr lang="ja-JP" altLang="en-US" sz="11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5465076-18FC-0F39-C73D-585D17295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373" y="1039763"/>
                <a:ext cx="5902628" cy="630942"/>
              </a:xfrm>
              <a:prstGeom prst="rect">
                <a:avLst/>
              </a:prstGeom>
              <a:blipFill>
                <a:blip r:embed="rId3"/>
                <a:stretch>
                  <a:fillRect l="-930" t="-8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3FA59341-3ABA-B4EB-2D0B-B7BEE700304D}"/>
              </a:ext>
            </a:extLst>
          </p:cNvPr>
          <p:cNvSpPr/>
          <p:nvPr/>
        </p:nvSpPr>
        <p:spPr>
          <a:xfrm>
            <a:off x="3083989" y="969795"/>
            <a:ext cx="1020359" cy="58970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4B4E045A-C615-EF84-56AC-29B9CAD077C1}"/>
              </a:ext>
            </a:extLst>
          </p:cNvPr>
          <p:cNvSpPr/>
          <p:nvPr/>
        </p:nvSpPr>
        <p:spPr>
          <a:xfrm>
            <a:off x="4489558" y="959635"/>
            <a:ext cx="1643300" cy="589703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99"/>
              </a:solidFill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0EB9D11-2684-8D9D-15E1-08AE884DAAE5}"/>
              </a:ext>
            </a:extLst>
          </p:cNvPr>
          <p:cNvSpPr/>
          <p:nvPr/>
        </p:nvSpPr>
        <p:spPr>
          <a:xfrm>
            <a:off x="4515433" y="1770300"/>
            <a:ext cx="6228229" cy="2095002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E88D25AA-9176-92CA-A4DC-697CE35F84DE}"/>
              </a:ext>
            </a:extLst>
          </p:cNvPr>
          <p:cNvSpPr txBox="1"/>
          <p:nvPr/>
        </p:nvSpPr>
        <p:spPr>
          <a:xfrm>
            <a:off x="4659476" y="3356153"/>
            <a:ext cx="189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AAA </a:t>
            </a:r>
            <a:r>
              <a:rPr kumimoji="1" lang="en-US" altLang="ja-JP" dirty="0" err="1"/>
              <a:t>cotribution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58371127-D7B0-41FD-C797-B81EFE4EC33C}"/>
                  </a:ext>
                </a:extLst>
              </p:cNvPr>
              <p:cNvSpPr txBox="1"/>
              <p:nvPr/>
            </p:nvSpPr>
            <p:spPr>
              <a:xfrm>
                <a:off x="7141933" y="2355879"/>
                <a:ext cx="6893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44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58371127-D7B0-41FD-C797-B81EFE4EC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933" y="2355879"/>
                <a:ext cx="689300" cy="7694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68EF9CB-8361-47E5-5305-33BA4BA23A8A}"/>
              </a:ext>
            </a:extLst>
          </p:cNvPr>
          <p:cNvSpPr txBox="1"/>
          <p:nvPr/>
        </p:nvSpPr>
        <p:spPr>
          <a:xfrm>
            <a:off x="13298" y="0"/>
            <a:ext cx="12178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Instead of showing the rigorous algebraic calculations, we will look at schematic illustrations that represent the final results.</a:t>
            </a:r>
            <a:endParaRPr kumimoji="1" lang="ja-JP" altLang="en-US" sz="28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517B014-6CAA-CB6B-8BD0-FA6E141DB5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1372" y="1859713"/>
            <a:ext cx="2670279" cy="1914311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2589068-E843-3BB6-118C-9C6F5A038B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9364" y="1859713"/>
            <a:ext cx="2969009" cy="198746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07F87C6-4A76-CFB9-D9E8-1770B7D271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73653" y="1695233"/>
            <a:ext cx="1743607" cy="132904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B84532-D662-FB79-7254-0ED9516999A2}"/>
              </a:ext>
            </a:extLst>
          </p:cNvPr>
          <p:cNvSpPr txBox="1"/>
          <p:nvPr/>
        </p:nvSpPr>
        <p:spPr>
          <a:xfrm>
            <a:off x="8083060" y="6575492"/>
            <a:ext cx="3867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4C203C-9D43-EE21-A7C7-35CF95B567C3}"/>
              </a:ext>
            </a:extLst>
          </p:cNvPr>
          <p:cNvSpPr txBox="1"/>
          <p:nvPr/>
        </p:nvSpPr>
        <p:spPr>
          <a:xfrm>
            <a:off x="262102" y="6573379"/>
            <a:ext cx="7501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200" dirty="0">
                <a:solidFill>
                  <a:schemeClr val="tx2"/>
                </a:solidFill>
                <a:hlinkClick r:id="rId17"/>
              </a:rPr>
              <a:t>https://doi.org/10.1103/PhysRevApplied.22.044042</a:t>
            </a:r>
            <a:endParaRPr lang="en-US" altLang="ja-JP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78377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79E43-F018-8982-8573-D832F9ED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9A1054A-6F2C-4BAC-9FBA-A943A2DA02CF}"/>
              </a:ext>
            </a:extLst>
          </p:cNvPr>
          <p:cNvSpPr/>
          <p:nvPr/>
        </p:nvSpPr>
        <p:spPr>
          <a:xfrm>
            <a:off x="4629148" y="1890236"/>
            <a:ext cx="2605303" cy="1844533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A75B807-C1B2-3494-94D6-8A0F91E9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372" y="1859713"/>
            <a:ext cx="2670279" cy="19143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F7257BE-634D-218A-3D67-17CC8D55B92B}"/>
                  </a:ext>
                </a:extLst>
              </p:cNvPr>
              <p:cNvSpPr txBox="1"/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C163635-46CA-856F-9801-0F07EE12A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5D53D8B3-8DF5-5F4E-665A-80A841443C7A}"/>
                  </a:ext>
                </a:extLst>
              </p:cNvPr>
              <p:cNvSpPr txBox="1"/>
              <p:nvPr/>
            </p:nvSpPr>
            <p:spPr>
              <a:xfrm>
                <a:off x="6289373" y="1039763"/>
                <a:ext cx="5902628" cy="630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kumimoji="1" lang="en-US" altLang="ja-JP" sz="24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ja-JP" sz="24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ja-JP" altLang="en-US" sz="2400" dirty="0">
                    <a:solidFill>
                      <a:srgbClr val="FFFF00"/>
                    </a:solidFill>
                  </a:rPr>
                  <a:t>   </a:t>
                </a:r>
                <a:r>
                  <a:rPr kumimoji="1" lang="en-US" altLang="ja-JP" sz="2400" dirty="0"/>
                  <a:t>and</a:t>
                </a:r>
                <a:r>
                  <a:rPr kumimoji="1" lang="en-US" altLang="ja-JP" sz="2400" dirty="0">
                    <a:solidFill>
                      <a:srgbClr val="FFFF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kumimoji="1" lang="en-US" altLang="ja-JP" sz="2400" dirty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sz="2400" dirty="0">
                  <a:solidFill>
                    <a:srgbClr val="92D050"/>
                  </a:solidFill>
                </a:endParaRPr>
              </a:p>
              <a:p>
                <a:endParaRPr lang="ja-JP" altLang="en-US" sz="11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5465076-18FC-0F39-C73D-585D17295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373" y="1039763"/>
                <a:ext cx="5902628" cy="630942"/>
              </a:xfrm>
              <a:prstGeom prst="rect">
                <a:avLst/>
              </a:prstGeom>
              <a:blipFill>
                <a:blip r:embed="rId4"/>
                <a:stretch>
                  <a:fillRect l="-930" t="-8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DA019700-3E44-B1CD-9F90-E3A8D77208A6}"/>
              </a:ext>
            </a:extLst>
          </p:cNvPr>
          <p:cNvSpPr/>
          <p:nvPr/>
        </p:nvSpPr>
        <p:spPr>
          <a:xfrm>
            <a:off x="3083989" y="969795"/>
            <a:ext cx="1020359" cy="58970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C0B071E7-8C23-AFD8-D553-E7850F02EF94}"/>
              </a:ext>
            </a:extLst>
          </p:cNvPr>
          <p:cNvSpPr/>
          <p:nvPr/>
        </p:nvSpPr>
        <p:spPr>
          <a:xfrm>
            <a:off x="4489558" y="959635"/>
            <a:ext cx="1643300" cy="589703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99"/>
              </a:solidFill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3AC6CBCB-18CE-233C-E1C3-43AA9A2F54D2}"/>
              </a:ext>
            </a:extLst>
          </p:cNvPr>
          <p:cNvSpPr/>
          <p:nvPr/>
        </p:nvSpPr>
        <p:spPr>
          <a:xfrm>
            <a:off x="4515433" y="1770300"/>
            <a:ext cx="6228229" cy="2095002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FD02D626-0852-6816-21A2-6BB5F67D8BC4}"/>
              </a:ext>
            </a:extLst>
          </p:cNvPr>
          <p:cNvSpPr txBox="1"/>
          <p:nvPr/>
        </p:nvSpPr>
        <p:spPr>
          <a:xfrm>
            <a:off x="4659476" y="3356153"/>
            <a:ext cx="189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AAA </a:t>
            </a:r>
            <a:r>
              <a:rPr kumimoji="1" lang="en-US" altLang="ja-JP" dirty="0" err="1"/>
              <a:t>cotribution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47C9EA8B-29E6-672B-E658-437CF32476D2}"/>
                  </a:ext>
                </a:extLst>
              </p:cNvPr>
              <p:cNvSpPr txBox="1"/>
              <p:nvPr/>
            </p:nvSpPr>
            <p:spPr>
              <a:xfrm>
                <a:off x="7141933" y="2355879"/>
                <a:ext cx="6893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44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58371127-D7B0-41FD-C797-B81EFE4EC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933" y="2355879"/>
                <a:ext cx="689300" cy="7694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1101F1-CDA0-B111-734E-2299E9ED20F9}"/>
              </a:ext>
            </a:extLst>
          </p:cNvPr>
          <p:cNvSpPr txBox="1"/>
          <p:nvPr/>
        </p:nvSpPr>
        <p:spPr>
          <a:xfrm>
            <a:off x="13298" y="0"/>
            <a:ext cx="12178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Instead of showing the rigorous algebraic calculations, we will look at schematic illustrations that represent the final results.</a:t>
            </a:r>
            <a:endParaRPr kumimoji="1" lang="ja-JP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FBC9E5C7-CFEF-1340-4934-F47074D8381B}"/>
                  </a:ext>
                </a:extLst>
              </p:cNvPr>
              <p:cNvSpPr txBox="1"/>
              <p:nvPr/>
            </p:nvSpPr>
            <p:spPr>
              <a:xfrm>
                <a:off x="4699821" y="5163493"/>
                <a:ext cx="63155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solidFill>
                      <a:srgbClr val="FFFF00"/>
                    </a:solidFill>
                  </a:rPr>
                  <a:t>Nonequilibrium corrections due to the Doppler fluctuation of flow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kumimoji="1" lang="en-US" altLang="ja-JP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FBC9E5C7-CFEF-1340-4934-F47074D83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821" y="5163493"/>
                <a:ext cx="6315528" cy="830997"/>
              </a:xfrm>
              <a:prstGeom prst="rect">
                <a:avLst/>
              </a:prstGeom>
              <a:blipFill>
                <a:blip r:embed="rId15"/>
                <a:stretch>
                  <a:fillRect l="-1544" t="-6618" b="-154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左中かっこ 3">
            <a:extLst>
              <a:ext uri="{FF2B5EF4-FFF2-40B4-BE49-F238E27FC236}">
                <a16:creationId xmlns:a16="http://schemas.microsoft.com/office/drawing/2014/main" id="{34F0CB47-367A-D114-2482-7DADE95454F2}"/>
              </a:ext>
            </a:extLst>
          </p:cNvPr>
          <p:cNvSpPr/>
          <p:nvPr/>
        </p:nvSpPr>
        <p:spPr>
          <a:xfrm rot="16200000">
            <a:off x="7104862" y="2229914"/>
            <a:ext cx="640080" cy="5109456"/>
          </a:xfrm>
          <a:prstGeom prst="leftBrace">
            <a:avLst>
              <a:gd name="adj1" fmla="val 40079"/>
              <a:gd name="adj2" fmla="val 50841"/>
            </a:avLst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1137B20-95D4-F4EC-4E24-9EE7E3191317}"/>
                  </a:ext>
                </a:extLst>
              </p:cNvPr>
              <p:cNvSpPr txBox="1"/>
              <p:nvPr/>
            </p:nvSpPr>
            <p:spPr>
              <a:xfrm>
                <a:off x="5098298" y="3889551"/>
                <a:ext cx="16107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kumimoji="1" lang="en-US" altLang="ja-JP" sz="24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1" lang="en-US" altLang="ja-JP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ja-JP" altLang="en-US" sz="24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1137B20-95D4-F4EC-4E24-9EE7E3191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298" y="3889551"/>
                <a:ext cx="1610793" cy="461665"/>
              </a:xfrm>
              <a:prstGeom prst="rect">
                <a:avLst/>
              </a:prstGeom>
              <a:blipFill>
                <a:blip r:embed="rId1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A2BD4A4-B71B-4B55-A98A-8ED57897E897}"/>
                  </a:ext>
                </a:extLst>
              </p:cNvPr>
              <p:cNvSpPr txBox="1"/>
              <p:nvPr/>
            </p:nvSpPr>
            <p:spPr>
              <a:xfrm>
                <a:off x="8216496" y="3880206"/>
                <a:ext cx="19016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kumimoji="1" lang="en-US" altLang="ja-JP" sz="24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1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1" lang="en-US" altLang="ja-JP" sz="24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ja-JP" altLang="en-US" sz="2400" i="1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ja-JP" altLang="en-US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A2BD4A4-B71B-4B55-A98A-8ED57897E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496" y="3880206"/>
                <a:ext cx="1901618" cy="461665"/>
              </a:xfrm>
              <a:prstGeom prst="rect">
                <a:avLst/>
              </a:prstGeom>
              <a:blipFill>
                <a:blip r:embed="rId1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7E0646CB-B254-1277-6E58-339AF40F472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9364" y="1859713"/>
            <a:ext cx="2969009" cy="198746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D4A1127-195A-469A-363F-13AEFC08A8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73653" y="1695233"/>
            <a:ext cx="1743607" cy="132904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2C263FB-F34A-49C5-8EAF-3F9AB31E3F8A}"/>
              </a:ext>
            </a:extLst>
          </p:cNvPr>
          <p:cNvSpPr txBox="1"/>
          <p:nvPr/>
        </p:nvSpPr>
        <p:spPr>
          <a:xfrm>
            <a:off x="8083060" y="6575492"/>
            <a:ext cx="3867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A1DAD35-E0A8-8FF8-4F17-4F9ACB4A888A}"/>
              </a:ext>
            </a:extLst>
          </p:cNvPr>
          <p:cNvSpPr txBox="1"/>
          <p:nvPr/>
        </p:nvSpPr>
        <p:spPr>
          <a:xfrm>
            <a:off x="262102" y="6573379"/>
            <a:ext cx="7501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200" dirty="0">
                <a:solidFill>
                  <a:schemeClr val="tx2"/>
                </a:solidFill>
                <a:hlinkClick r:id="rId20"/>
              </a:rPr>
              <a:t>https://doi.org/10.1103/PhysRevApplied.22.044042</a:t>
            </a:r>
            <a:endParaRPr lang="en-US" altLang="ja-JP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42927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152D-339D-67E5-A85F-3B3C806A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181D9F5-1819-55E1-2748-575F8175A4A8}"/>
                  </a:ext>
                </a:extLst>
              </p:cNvPr>
              <p:cNvSpPr txBox="1"/>
              <p:nvPr/>
            </p:nvSpPr>
            <p:spPr>
              <a:xfrm>
                <a:off x="557457" y="5214807"/>
                <a:ext cx="10816260" cy="1355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∼</m:t>
                      </m:r>
                      <m:f>
                        <m:fPr>
                          <m:ctrlP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                +                 +                   </m:t>
                          </m:r>
                        </m:num>
                        <m:den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ja-JP" altLang="en-US" sz="44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181D9F5-1819-55E1-2748-575F8175A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57" y="5214807"/>
                <a:ext cx="10816260" cy="1355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4FE0F8E4-F6A0-2EFB-9CB6-088D6D0E5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839" y="4684368"/>
            <a:ext cx="1585097" cy="120822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7A53716-5483-D244-9BF7-2630CBDC7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340" y="4426857"/>
            <a:ext cx="2001641" cy="146573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4297C8E-1697-878C-0AF7-F07A1E18C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8522" y="4426857"/>
            <a:ext cx="2230660" cy="149321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45524D-0691-FF83-5BB1-3FF615CB6E10}"/>
              </a:ext>
            </a:extLst>
          </p:cNvPr>
          <p:cNvSpPr txBox="1"/>
          <p:nvPr/>
        </p:nvSpPr>
        <p:spPr>
          <a:xfrm>
            <a:off x="14002" y="3902490"/>
            <a:ext cx="7210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Then, the complex conductivity is given by</a:t>
            </a:r>
            <a:endParaRPr kumimoji="1" lang="ja-JP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E9DF952-C2C0-65AC-0323-85F4377488C9}"/>
                  </a:ext>
                </a:extLst>
              </p:cNvPr>
              <p:cNvSpPr txBox="1"/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𝐴𝑔𝑔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E9DF952-C2C0-65AC-0323-85F437748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631" y="938902"/>
                <a:ext cx="3826560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4B35035-EF59-4CC6-9752-196C64BAB3D8}"/>
                  </a:ext>
                </a:extLst>
              </p:cNvPr>
              <p:cNvSpPr txBox="1"/>
              <p:nvPr/>
            </p:nvSpPr>
            <p:spPr>
              <a:xfrm>
                <a:off x="6289373" y="1039763"/>
                <a:ext cx="5902628" cy="630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kumimoji="1" lang="en-US" altLang="ja-JP" sz="24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ja-JP" sz="24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ja-JP" altLang="en-US" sz="2400" dirty="0">
                    <a:solidFill>
                      <a:srgbClr val="FFFF00"/>
                    </a:solidFill>
                  </a:rPr>
                  <a:t>   </a:t>
                </a:r>
                <a:r>
                  <a:rPr kumimoji="1" lang="en-US" altLang="ja-JP" sz="2400" dirty="0"/>
                  <a:t>and</a:t>
                </a:r>
                <a:r>
                  <a:rPr kumimoji="1" lang="en-US" altLang="ja-JP" sz="2400" dirty="0">
                    <a:solidFill>
                      <a:srgbClr val="FFFF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US" altLang="ja-JP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kumimoji="1" lang="en-US" altLang="ja-JP" sz="240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kumimoji="1" lang="en-US" altLang="ja-JP" sz="2400" dirty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sz="24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sz="240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2400" b="1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sz="2400" dirty="0">
                  <a:solidFill>
                    <a:srgbClr val="92D050"/>
                  </a:solidFill>
                </a:endParaRPr>
              </a:p>
              <a:p>
                <a:endParaRPr lang="ja-JP" altLang="en-US" sz="11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4B35035-EF59-4CC6-9752-196C64BAB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373" y="1039763"/>
                <a:ext cx="5902628" cy="630942"/>
              </a:xfrm>
              <a:prstGeom prst="rect">
                <a:avLst/>
              </a:prstGeom>
              <a:blipFill>
                <a:blip r:embed="rId7"/>
                <a:stretch>
                  <a:fillRect l="-930" t="-8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1511DDF3-377B-A20B-DDE0-9654D2BE1859}"/>
              </a:ext>
            </a:extLst>
          </p:cNvPr>
          <p:cNvSpPr/>
          <p:nvPr/>
        </p:nvSpPr>
        <p:spPr>
          <a:xfrm>
            <a:off x="3083989" y="969795"/>
            <a:ext cx="1020359" cy="589703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0CDF965-8831-CAE3-6FFF-B9F88B07B005}"/>
              </a:ext>
            </a:extLst>
          </p:cNvPr>
          <p:cNvSpPr/>
          <p:nvPr/>
        </p:nvSpPr>
        <p:spPr>
          <a:xfrm>
            <a:off x="4489558" y="959635"/>
            <a:ext cx="1643300" cy="589703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99"/>
              </a:solidFill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D5DE9686-B3AA-3D4D-7C9B-42EECB6B5AB6}"/>
              </a:ext>
            </a:extLst>
          </p:cNvPr>
          <p:cNvSpPr/>
          <p:nvPr/>
        </p:nvSpPr>
        <p:spPr>
          <a:xfrm>
            <a:off x="4515433" y="1770300"/>
            <a:ext cx="6228229" cy="2095002"/>
          </a:xfrm>
          <a:prstGeom prst="rect">
            <a:avLst/>
          </a:prstGeom>
          <a:noFill/>
          <a:ln w="69850">
            <a:solidFill>
              <a:srgbClr val="FF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E037D11A-C4BF-F674-4F95-B853A0D0C3FE}"/>
              </a:ext>
            </a:extLst>
          </p:cNvPr>
          <p:cNvSpPr txBox="1"/>
          <p:nvPr/>
        </p:nvSpPr>
        <p:spPr>
          <a:xfrm>
            <a:off x="4659476" y="3356153"/>
            <a:ext cx="189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AAA </a:t>
            </a:r>
            <a:r>
              <a:rPr kumimoji="1" lang="en-US" altLang="ja-JP" dirty="0" err="1"/>
              <a:t>cotribution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86905A59-3421-3901-61E2-1C7A49DBB13F}"/>
                  </a:ext>
                </a:extLst>
              </p:cNvPr>
              <p:cNvSpPr txBox="1"/>
              <p:nvPr/>
            </p:nvSpPr>
            <p:spPr>
              <a:xfrm>
                <a:off x="7141933" y="2355879"/>
                <a:ext cx="6893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44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86905A59-3421-3901-61E2-1C7A49DBB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933" y="2355879"/>
                <a:ext cx="689300" cy="76944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02F965-6A02-1C10-3DFC-70C1B15436E1}"/>
              </a:ext>
            </a:extLst>
          </p:cNvPr>
          <p:cNvSpPr txBox="1"/>
          <p:nvPr/>
        </p:nvSpPr>
        <p:spPr>
          <a:xfrm>
            <a:off x="13298" y="0"/>
            <a:ext cx="12178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Instead of showing the rigorous algebraic calculations, we will look at schematic illustrations that represent the final results.</a:t>
            </a:r>
            <a:endParaRPr kumimoji="1" lang="ja-JP" altLang="en-US" sz="28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535C685-6727-A4B5-B06C-C5999155A3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1372" y="1859713"/>
            <a:ext cx="2670279" cy="191431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24518B2-5D62-79A5-C3DD-ECF4F8289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364" y="1859713"/>
            <a:ext cx="2969009" cy="198746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4FAD3DD-2FCE-0A18-F57E-FC623C75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653" y="1695233"/>
            <a:ext cx="1743607" cy="1329043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C1FAFE6-6658-B979-C5DA-133EFCCE85B2}"/>
              </a:ext>
            </a:extLst>
          </p:cNvPr>
          <p:cNvSpPr txBox="1"/>
          <p:nvPr/>
        </p:nvSpPr>
        <p:spPr>
          <a:xfrm>
            <a:off x="8083060" y="6575492"/>
            <a:ext cx="38679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E5D52CC-5C00-2F30-050F-4EADDBAB5E75}"/>
              </a:ext>
            </a:extLst>
          </p:cNvPr>
          <p:cNvSpPr txBox="1"/>
          <p:nvPr/>
        </p:nvSpPr>
        <p:spPr>
          <a:xfrm>
            <a:off x="262102" y="6573379"/>
            <a:ext cx="7501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	DOI: </a:t>
            </a:r>
            <a:r>
              <a:rPr lang="en-US" altLang="ja-JP" sz="1200" dirty="0">
                <a:solidFill>
                  <a:schemeClr val="tx2"/>
                </a:solidFill>
                <a:hlinkClick r:id="rId19"/>
              </a:rPr>
              <a:t>https://doi.org/10.1103/PhysRevApplied.22.044042</a:t>
            </a:r>
            <a:endParaRPr lang="en-US" altLang="ja-JP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52946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2880-A191-4E2E-99B4-11B6D877B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30C45846-AD67-D445-D13C-53BCFA9E1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2" y="1225679"/>
            <a:ext cx="1692225" cy="11148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68F6FA7-5A7D-C84C-417D-E280AD8BD5B9}"/>
                  </a:ext>
                </a:extLst>
              </p:cNvPr>
              <p:cNvSpPr txBox="1"/>
              <p:nvPr/>
            </p:nvSpPr>
            <p:spPr>
              <a:xfrm>
                <a:off x="2339766" y="1104476"/>
                <a:ext cx="4068293" cy="5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68F6FA7-5A7D-C84C-417D-E280AD8BD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66" y="1104476"/>
                <a:ext cx="4068293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C35BFE7-406C-CC3A-7CD6-B0F30D96B32C}"/>
              </a:ext>
            </a:extLst>
          </p:cNvPr>
          <p:cNvSpPr txBox="1"/>
          <p:nvPr/>
        </p:nvSpPr>
        <p:spPr>
          <a:xfrm>
            <a:off x="30480" y="40775"/>
            <a:ext cx="5906553" cy="5847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Complex conductivity formula</a:t>
            </a:r>
            <a:endParaRPr kumimoji="1" lang="ja-JP" altLang="en-US" sz="3200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C1F5AC9-746D-C90B-BCB6-6F1AD9850ECC}"/>
              </a:ext>
            </a:extLst>
          </p:cNvPr>
          <p:cNvSpPr/>
          <p:nvPr/>
        </p:nvSpPr>
        <p:spPr>
          <a:xfrm>
            <a:off x="79705" y="701736"/>
            <a:ext cx="7473646" cy="6096635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66740AD3-5C0F-C8DF-CAD2-81C526475D88}"/>
                  </a:ext>
                </a:extLst>
              </p:cNvPr>
              <p:cNvSpPr txBox="1"/>
              <p:nvPr/>
            </p:nvSpPr>
            <p:spPr>
              <a:xfrm>
                <a:off x="158052" y="795503"/>
                <a:ext cx="168283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66740AD3-5C0F-C8DF-CAD2-81C526475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52" y="795503"/>
                <a:ext cx="1682833" cy="369332"/>
              </a:xfrm>
              <a:prstGeom prst="rect">
                <a:avLst/>
              </a:prstGeom>
              <a:blipFill>
                <a:blip r:embed="rId4"/>
                <a:stretch>
                  <a:fillRect l="-3957" t="-23810" r="-10072" b="-444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図 1">
            <a:extLst>
              <a:ext uri="{FF2B5EF4-FFF2-40B4-BE49-F238E27FC236}">
                <a16:creationId xmlns:a16="http://schemas.microsoft.com/office/drawing/2014/main" id="{EDF0D835-F79C-2F04-B12E-C97D2254E18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20494" y="1912010"/>
            <a:ext cx="4535055" cy="1330641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F2F06EF-1987-1611-CE05-5FCA19C66BF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8228"/>
          <a:stretch>
            <a:fillRect/>
          </a:stretch>
        </p:blipFill>
        <p:spPr>
          <a:xfrm>
            <a:off x="1432210" y="3390322"/>
            <a:ext cx="4535055" cy="1624903"/>
          </a:xfrm>
          <a:prstGeom prst="rect">
            <a:avLst/>
          </a:prstGeom>
          <a:ln w="53975">
            <a:solidFill>
              <a:srgbClr val="FFC000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80AC2F8-A8DF-DB65-012C-F879690076D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633"/>
          <a:stretch>
            <a:fillRect/>
          </a:stretch>
        </p:blipFill>
        <p:spPr>
          <a:xfrm>
            <a:off x="1422909" y="5159639"/>
            <a:ext cx="4535055" cy="1486634"/>
          </a:xfrm>
          <a:prstGeom prst="rect">
            <a:avLst/>
          </a:prstGeom>
          <a:ln w="53975">
            <a:solidFill>
              <a:srgbClr val="92D050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86E67AB-FA08-6897-14CA-937CB0A1F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8192" y="2202224"/>
            <a:ext cx="984220" cy="75021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09A8103-5E96-2A31-F443-FF5BC127F4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2471" y="3646218"/>
            <a:ext cx="1367149" cy="96983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D7CFEA9-FB52-72EA-40FE-C5D41A786E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2643" y="5396171"/>
            <a:ext cx="1523572" cy="9729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308BB4D-AF56-012E-BECE-AC59BDC43F82}"/>
                  </a:ext>
                </a:extLst>
              </p:cNvPr>
              <p:cNvSpPr txBox="1"/>
              <p:nvPr/>
            </p:nvSpPr>
            <p:spPr>
              <a:xfrm>
                <a:off x="8114150" y="5445799"/>
                <a:ext cx="376531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rgbClr val="FFFF00"/>
                    </a:solidFill>
                  </a:rPr>
                  <a:t>Nonequilibrium corrections due to the Doppler fluctuation of flow </a:t>
                </a:r>
                <a14:m>
                  <m:oMath xmlns:m="http://schemas.openxmlformats.org/officeDocument/2006/math">
                    <m:r>
                      <a:rPr kumimoji="1" lang="en-US" altLang="ja-JP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kumimoji="1" lang="en-US" altLang="ja-JP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308BB4D-AF56-012E-BECE-AC59BDC43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150" y="5445799"/>
                <a:ext cx="3765312" cy="923330"/>
              </a:xfrm>
              <a:prstGeom prst="rect">
                <a:avLst/>
              </a:prstGeom>
              <a:blipFill>
                <a:blip r:embed="rId14"/>
                <a:stretch>
                  <a:fillRect l="-1294" t="-3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左中かっこ 18">
            <a:extLst>
              <a:ext uri="{FF2B5EF4-FFF2-40B4-BE49-F238E27FC236}">
                <a16:creationId xmlns:a16="http://schemas.microsoft.com/office/drawing/2014/main" id="{C4D86CC0-7A45-BDB1-3BB5-D292D6E0B74A}"/>
              </a:ext>
            </a:extLst>
          </p:cNvPr>
          <p:cNvSpPr/>
          <p:nvPr/>
        </p:nvSpPr>
        <p:spPr>
          <a:xfrm rot="10800000">
            <a:off x="7347726" y="3390322"/>
            <a:ext cx="640080" cy="3378643"/>
          </a:xfrm>
          <a:prstGeom prst="leftBrace">
            <a:avLst>
              <a:gd name="adj1" fmla="val 40079"/>
              <a:gd name="adj2" fmla="val 19328"/>
            </a:avLst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706FD29-E86B-F092-ADD1-87B45D7ACC7D}"/>
                  </a:ext>
                </a:extLst>
              </p:cNvPr>
              <p:cNvSpPr txBox="1"/>
              <p:nvPr/>
            </p:nvSpPr>
            <p:spPr>
              <a:xfrm>
                <a:off x="6299105" y="4542949"/>
                <a:ext cx="12181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kumimoji="1" lang="en-US" altLang="ja-JP" sz="1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1" lang="en-US" altLang="ja-JP" sz="1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ja-JP" altLang="en-US" sz="1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sz="1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706FD29-E86B-F092-ADD1-87B45D7AC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105" y="4542949"/>
                <a:ext cx="121812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F89E42E-E0D7-ED2B-9F05-87C2A213612B}"/>
                  </a:ext>
                </a:extLst>
              </p:cNvPr>
              <p:cNvSpPr txBox="1"/>
              <p:nvPr/>
            </p:nvSpPr>
            <p:spPr>
              <a:xfrm>
                <a:off x="6299105" y="6275499"/>
                <a:ext cx="12181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kumimoji="1" lang="en-US" altLang="ja-JP" sz="18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1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1" lang="en-US" altLang="ja-JP" sz="18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ja-JP" altLang="en-US" sz="1800" i="1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sz="18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ja-JP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F89E42E-E0D7-ED2B-9F05-87C2A2136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105" y="6275499"/>
                <a:ext cx="121812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A2E2A4B-1770-4861-6F57-E489A3B84F37}"/>
              </a:ext>
            </a:extLst>
          </p:cNvPr>
          <p:cNvSpPr txBox="1"/>
          <p:nvPr/>
        </p:nvSpPr>
        <p:spPr>
          <a:xfrm>
            <a:off x="117413" y="5494378"/>
            <a:ext cx="1354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92D050"/>
                </a:solidFill>
              </a:rPr>
              <a:t>Higgs </a:t>
            </a:r>
          </a:p>
          <a:p>
            <a:r>
              <a:rPr kumimoji="1" lang="en-US" altLang="ja-JP" sz="1600" dirty="0">
                <a:solidFill>
                  <a:srgbClr val="92D050"/>
                </a:solidFill>
              </a:rPr>
              <a:t>mediated contribution</a:t>
            </a:r>
            <a:endParaRPr kumimoji="1" lang="ja-JP" altLang="en-US" sz="1600" dirty="0">
              <a:solidFill>
                <a:srgbClr val="92D050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CA78394-6779-A1C4-949D-B41F29456E59}"/>
              </a:ext>
            </a:extLst>
          </p:cNvPr>
          <p:cNvSpPr txBox="1"/>
          <p:nvPr/>
        </p:nvSpPr>
        <p:spPr>
          <a:xfrm>
            <a:off x="87221" y="3905928"/>
            <a:ext cx="1339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rgbClr val="FFC000"/>
                </a:solidFill>
              </a:rPr>
              <a:t>AAA </a:t>
            </a:r>
          </a:p>
          <a:p>
            <a:r>
              <a:rPr kumimoji="1" lang="en-US" altLang="ja-JP" sz="1600" dirty="0">
                <a:solidFill>
                  <a:srgbClr val="FFC000"/>
                </a:solidFill>
              </a:rPr>
              <a:t>contribution</a:t>
            </a:r>
            <a:endParaRPr kumimoji="1" lang="ja-JP" altLang="en-US" sz="1600" dirty="0">
              <a:solidFill>
                <a:srgbClr val="FFC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A645D7-755B-9571-2302-CBE1F55FF889}"/>
              </a:ext>
            </a:extLst>
          </p:cNvPr>
          <p:cNvSpPr txBox="1"/>
          <p:nvPr/>
        </p:nvSpPr>
        <p:spPr>
          <a:xfrm>
            <a:off x="6369629" y="54616"/>
            <a:ext cx="4910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16445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EDA5-0D62-B911-4BCA-0DD6CFD5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3446529E-3A4A-9FB4-9DE3-C0945E430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2" y="1225679"/>
            <a:ext cx="1692225" cy="11148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7DA6ABD-8439-1059-BA34-5E4846F609A2}"/>
                  </a:ext>
                </a:extLst>
              </p:cNvPr>
              <p:cNvSpPr txBox="1"/>
              <p:nvPr/>
            </p:nvSpPr>
            <p:spPr>
              <a:xfrm>
                <a:off x="2339766" y="1104476"/>
                <a:ext cx="4068293" cy="5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68F6FA7-5A7D-C84C-417D-E280AD8BD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66" y="1104476"/>
                <a:ext cx="4068293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E9546F8-6FE0-4E98-4ABE-EE7B95862E77}"/>
              </a:ext>
            </a:extLst>
          </p:cNvPr>
          <p:cNvSpPr txBox="1"/>
          <p:nvPr/>
        </p:nvSpPr>
        <p:spPr>
          <a:xfrm>
            <a:off x="30480" y="40775"/>
            <a:ext cx="5906553" cy="5847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Complex conductivity formula</a:t>
            </a:r>
            <a:endParaRPr kumimoji="1" lang="ja-JP" altLang="en-US" sz="3200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B2E6BD5-757D-D1B3-3496-2076E92F9667}"/>
              </a:ext>
            </a:extLst>
          </p:cNvPr>
          <p:cNvSpPr/>
          <p:nvPr/>
        </p:nvSpPr>
        <p:spPr>
          <a:xfrm>
            <a:off x="79705" y="701736"/>
            <a:ext cx="7473646" cy="6096635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9E23030C-489D-3C3D-3420-F51EBF54A0CF}"/>
                  </a:ext>
                </a:extLst>
              </p:cNvPr>
              <p:cNvSpPr txBox="1"/>
              <p:nvPr/>
            </p:nvSpPr>
            <p:spPr>
              <a:xfrm>
                <a:off x="158052" y="795503"/>
                <a:ext cx="168283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66740AD3-5C0F-C8DF-CAD2-81C526475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52" y="795503"/>
                <a:ext cx="1682833" cy="369332"/>
              </a:xfrm>
              <a:prstGeom prst="rect">
                <a:avLst/>
              </a:prstGeom>
              <a:blipFill>
                <a:blip r:embed="rId4"/>
                <a:stretch>
                  <a:fillRect l="-3957" t="-23810" r="-10072" b="-444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図 1">
            <a:extLst>
              <a:ext uri="{FF2B5EF4-FFF2-40B4-BE49-F238E27FC236}">
                <a16:creationId xmlns:a16="http://schemas.microsoft.com/office/drawing/2014/main" id="{9FEAAB01-0951-DE43-9FA4-AD25C66CB90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20494" y="1912010"/>
            <a:ext cx="4535055" cy="1330641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8C056607-9572-1BA2-7C9C-5018CAD2774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8228"/>
          <a:stretch>
            <a:fillRect/>
          </a:stretch>
        </p:blipFill>
        <p:spPr>
          <a:xfrm>
            <a:off x="1432210" y="3390322"/>
            <a:ext cx="4535055" cy="1624903"/>
          </a:xfrm>
          <a:prstGeom prst="rect">
            <a:avLst/>
          </a:prstGeom>
          <a:ln w="53975">
            <a:solidFill>
              <a:srgbClr val="FFC000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C383D99-A037-4DF4-75F9-86A6CFD941E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633"/>
          <a:stretch>
            <a:fillRect/>
          </a:stretch>
        </p:blipFill>
        <p:spPr>
          <a:xfrm>
            <a:off x="1422909" y="5159639"/>
            <a:ext cx="4535055" cy="1486634"/>
          </a:xfrm>
          <a:prstGeom prst="rect">
            <a:avLst/>
          </a:prstGeom>
          <a:ln w="53975">
            <a:solidFill>
              <a:srgbClr val="92D050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F1973AB-AFC2-3A41-1551-C6D8A5DBAF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8192" y="2202224"/>
            <a:ext cx="984220" cy="75021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2D598BD-7FB4-FAEB-1C7A-657449EBDD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2471" y="3646218"/>
            <a:ext cx="1367149" cy="96983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D74F904-B0F6-224A-C9ED-B953F40B59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2643" y="5396171"/>
            <a:ext cx="1523572" cy="97295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09DE09C-C1E0-2C12-6397-2431180FA63B}"/>
              </a:ext>
            </a:extLst>
          </p:cNvPr>
          <p:cNvSpPr/>
          <p:nvPr/>
        </p:nvSpPr>
        <p:spPr>
          <a:xfrm>
            <a:off x="7735118" y="701735"/>
            <a:ext cx="4364523" cy="3191535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D1236A1-6927-6B47-50AA-072821EE2F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5629" y="1222409"/>
            <a:ext cx="1689381" cy="11177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A99A54F-D6CD-15BA-2B4E-56FD3B9CAAD2}"/>
                  </a:ext>
                </a:extLst>
              </p:cNvPr>
              <p:cNvSpPr txBox="1"/>
              <p:nvPr/>
            </p:nvSpPr>
            <p:spPr>
              <a:xfrm>
                <a:off x="7961263" y="783940"/>
                <a:ext cx="1743747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B0BAF0CB-4E2F-4A27-E22F-3AA23F062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263" y="783940"/>
                <a:ext cx="1743747" cy="369332"/>
              </a:xfrm>
              <a:prstGeom prst="rect">
                <a:avLst/>
              </a:prstGeom>
              <a:blipFill>
                <a:blip r:embed="rId11"/>
                <a:stretch>
                  <a:fillRect l="-3472" t="-25806" r="-10069" b="-451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47EB5A6-83C6-BD09-98D2-0C0AC712E0A6}"/>
                  </a:ext>
                </a:extLst>
              </p:cNvPr>
              <p:cNvSpPr txBox="1"/>
              <p:nvPr/>
            </p:nvSpPr>
            <p:spPr>
              <a:xfrm>
                <a:off x="9886778" y="1268309"/>
                <a:ext cx="1591974" cy="5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9E220673-2BBB-30F1-35DC-54A9D3291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6778" y="1268309"/>
                <a:ext cx="1591974" cy="51296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図 14">
            <a:extLst>
              <a:ext uri="{FF2B5EF4-FFF2-40B4-BE49-F238E27FC236}">
                <a16:creationId xmlns:a16="http://schemas.microsoft.com/office/drawing/2014/main" id="{833E85E0-6782-D77B-5E6E-AC13868D9B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2314" y="1754799"/>
            <a:ext cx="894745" cy="682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7B5039F7-1AA1-D3EA-F89D-BBB04F269534}"/>
                  </a:ext>
                </a:extLst>
              </p:cNvPr>
              <p:cNvSpPr txBox="1"/>
              <p:nvPr/>
            </p:nvSpPr>
            <p:spPr>
              <a:xfrm>
                <a:off x="9581183" y="2167755"/>
                <a:ext cx="70740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4000" b="0" i="1" smtClean="0">
                          <a:latin typeface="Cambria Math" panose="02040503050406030204" pitchFamily="18" charset="0"/>
                        </a:rPr>
                        <m:t>∼</m:t>
                      </m:r>
                    </m:oMath>
                  </m:oMathPara>
                </a14:m>
                <a:endParaRPr lang="ja-JP" altLang="en-US" sz="40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56857E6D-ACE7-1BC7-4997-17648FF49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1183" y="2167755"/>
                <a:ext cx="707406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図 16">
            <a:extLst>
              <a:ext uri="{FF2B5EF4-FFF2-40B4-BE49-F238E27FC236}">
                <a16:creationId xmlns:a16="http://schemas.microsoft.com/office/drawing/2014/main" id="{E19EC3AF-A163-3CB1-FE4D-9CAC2EA2CCF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83030" y="2526273"/>
            <a:ext cx="4122777" cy="1209674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B3ACD71-64E5-A6C7-0152-E8C8FA15AD0B}"/>
                  </a:ext>
                </a:extLst>
              </p:cNvPr>
              <p:cNvSpPr txBox="1"/>
              <p:nvPr/>
            </p:nvSpPr>
            <p:spPr>
              <a:xfrm>
                <a:off x="8114150" y="5445799"/>
                <a:ext cx="376531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rgbClr val="FFFF00"/>
                    </a:solidFill>
                  </a:rPr>
                  <a:t>Nonequilibrium corrections due to the Doppler fluctuation of flow </a:t>
                </a:r>
                <a14:m>
                  <m:oMath xmlns:m="http://schemas.openxmlformats.org/officeDocument/2006/math">
                    <m:r>
                      <a:rPr kumimoji="1" lang="en-US" altLang="ja-JP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kumimoji="1" lang="en-US" altLang="ja-JP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ja-JP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kumimoji="1" lang="ja-JP" alt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ja-JP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ja-JP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308BB4D-AF56-012E-BECE-AC59BDC43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150" y="5445799"/>
                <a:ext cx="3765312" cy="923330"/>
              </a:xfrm>
              <a:prstGeom prst="rect">
                <a:avLst/>
              </a:prstGeom>
              <a:blipFill>
                <a:blip r:embed="rId14"/>
                <a:stretch>
                  <a:fillRect l="-1294" t="-3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左中かっこ 18">
            <a:extLst>
              <a:ext uri="{FF2B5EF4-FFF2-40B4-BE49-F238E27FC236}">
                <a16:creationId xmlns:a16="http://schemas.microsoft.com/office/drawing/2014/main" id="{F98D349A-F135-D240-6F71-8F1A8F701887}"/>
              </a:ext>
            </a:extLst>
          </p:cNvPr>
          <p:cNvSpPr/>
          <p:nvPr/>
        </p:nvSpPr>
        <p:spPr>
          <a:xfrm rot="10800000">
            <a:off x="7347726" y="3390322"/>
            <a:ext cx="640080" cy="3378643"/>
          </a:xfrm>
          <a:prstGeom prst="leftBrace">
            <a:avLst>
              <a:gd name="adj1" fmla="val 40079"/>
              <a:gd name="adj2" fmla="val 19328"/>
            </a:avLst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D6AC9D07-83DA-1DC2-8F24-BB53DCF49F4C}"/>
                  </a:ext>
                </a:extLst>
              </p:cNvPr>
              <p:cNvSpPr txBox="1"/>
              <p:nvPr/>
            </p:nvSpPr>
            <p:spPr>
              <a:xfrm>
                <a:off x="6299105" y="4542949"/>
                <a:ext cx="12181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kumimoji="1" lang="en-US" altLang="ja-JP" sz="1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1" lang="en-US" altLang="ja-JP" sz="1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ja-JP" altLang="en-US" sz="1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sz="1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706FD29-E86B-F092-ADD1-87B45D7AC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105" y="4542949"/>
                <a:ext cx="121812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3C66CF02-3990-622A-1BD7-6EA9AFD33CCE}"/>
                  </a:ext>
                </a:extLst>
              </p:cNvPr>
              <p:cNvSpPr txBox="1"/>
              <p:nvPr/>
            </p:nvSpPr>
            <p:spPr>
              <a:xfrm>
                <a:off x="6299105" y="6275499"/>
                <a:ext cx="12181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kumimoji="1" lang="en-US" altLang="ja-JP" sz="18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1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1" lang="en-US" altLang="ja-JP" sz="18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kumimoji="1" lang="ja-JP" altLang="en-US" sz="1800" i="1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sz="18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ja-JP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F89E42E-E0D7-ED2B-9F05-87C2A2136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105" y="6275499"/>
                <a:ext cx="121812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0B9530D-A7EC-2278-3E9B-B73958BAC6D5}"/>
              </a:ext>
            </a:extLst>
          </p:cNvPr>
          <p:cNvSpPr txBox="1"/>
          <p:nvPr/>
        </p:nvSpPr>
        <p:spPr>
          <a:xfrm>
            <a:off x="9340554" y="3946447"/>
            <a:ext cx="287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FF00"/>
                </a:solidFill>
              </a:rPr>
              <a:t>No Doppler fluctuation 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BB697D4-6700-A46D-899D-5889DBCC1EB8}"/>
              </a:ext>
            </a:extLst>
          </p:cNvPr>
          <p:cNvSpPr txBox="1"/>
          <p:nvPr/>
        </p:nvSpPr>
        <p:spPr>
          <a:xfrm>
            <a:off x="117413" y="5494378"/>
            <a:ext cx="1354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92D050"/>
                </a:solidFill>
              </a:rPr>
              <a:t>Higgs </a:t>
            </a:r>
          </a:p>
          <a:p>
            <a:r>
              <a:rPr kumimoji="1" lang="en-US" altLang="ja-JP" sz="1600" dirty="0">
                <a:solidFill>
                  <a:srgbClr val="92D050"/>
                </a:solidFill>
              </a:rPr>
              <a:t>mediated contribution</a:t>
            </a:r>
            <a:endParaRPr kumimoji="1" lang="ja-JP" altLang="en-US" sz="1600" dirty="0">
              <a:solidFill>
                <a:srgbClr val="92D050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A635546-1D6C-F7C4-5963-64BE261EF7F6}"/>
              </a:ext>
            </a:extLst>
          </p:cNvPr>
          <p:cNvSpPr txBox="1"/>
          <p:nvPr/>
        </p:nvSpPr>
        <p:spPr>
          <a:xfrm>
            <a:off x="87221" y="3905928"/>
            <a:ext cx="1339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rgbClr val="FFC000"/>
                </a:solidFill>
              </a:rPr>
              <a:t>AAA </a:t>
            </a:r>
          </a:p>
          <a:p>
            <a:r>
              <a:rPr kumimoji="1" lang="en-US" altLang="ja-JP" sz="1600" dirty="0">
                <a:solidFill>
                  <a:srgbClr val="FFC000"/>
                </a:solidFill>
              </a:rPr>
              <a:t>contribution</a:t>
            </a:r>
            <a:endParaRPr kumimoji="1" lang="ja-JP" altLang="en-US" sz="1600" dirty="0">
              <a:solidFill>
                <a:srgbClr val="FFC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6EB277E-B852-1A4E-4584-9F1F73E409EC}"/>
              </a:ext>
            </a:extLst>
          </p:cNvPr>
          <p:cNvSpPr txBox="1"/>
          <p:nvPr/>
        </p:nvSpPr>
        <p:spPr>
          <a:xfrm>
            <a:off x="6369629" y="54616"/>
            <a:ext cx="4910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22, 044042 (2024)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00179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図 34">
            <a:extLst>
              <a:ext uri="{FF2B5EF4-FFF2-40B4-BE49-F238E27FC236}">
                <a16:creationId xmlns:a16="http://schemas.microsoft.com/office/drawing/2014/main" id="{CD360722-0D8A-D934-C47E-76AAEA888D7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5587" y="863953"/>
            <a:ext cx="2992978" cy="2937164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647BB185-D7CC-6BED-9CCC-C6E289BA3B2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2476" y="3869684"/>
            <a:ext cx="2842785" cy="2937164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A334A7F7-F4E0-8D4B-722E-943A3A33C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261" y="50119"/>
            <a:ext cx="2473423" cy="16364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22086F8-D526-A66D-B582-B70B5054E015}"/>
                  </a:ext>
                </a:extLst>
              </p:cNvPr>
              <p:cNvSpPr txBox="1"/>
              <p:nvPr/>
            </p:nvSpPr>
            <p:spPr>
              <a:xfrm>
                <a:off x="8241192" y="0"/>
                <a:ext cx="19784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4000" b="1" dirty="0"/>
                  <a:t>a</a:t>
                </a:r>
                <a:r>
                  <a:rPr kumimoji="1" lang="en-US" altLang="ja-JP" sz="4000" b="1" dirty="0"/>
                  <a:t>c </a:t>
                </a:r>
                <a14:m>
                  <m:oMath xmlns:m="http://schemas.openxmlformats.org/officeDocument/2006/math">
                    <m:r>
                      <a:rPr kumimoji="1" lang="en-US" altLang="ja-JP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kumimoji="1" lang="en-US" altLang="ja-JP" sz="4000" b="1" dirty="0"/>
                  <a:t> dc</a:t>
                </a:r>
                <a:endParaRPr kumimoji="1" lang="ja-JP" altLang="en-US" sz="4000" b="1" dirty="0"/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22086F8-D526-A66D-B582-B70B5054E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192" y="0"/>
                <a:ext cx="1978427" cy="707886"/>
              </a:xfrm>
              <a:prstGeom prst="rect">
                <a:avLst/>
              </a:prstGeom>
              <a:blipFill>
                <a:blip r:embed="rId8"/>
                <a:stretch>
                  <a:fillRect l="-11111" t="-15517" r="-9877" b="-362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123D52-8FE1-81B1-5572-353D29F78D1F}"/>
              </a:ext>
            </a:extLst>
          </p:cNvPr>
          <p:cNvSpPr txBox="1"/>
          <p:nvPr/>
        </p:nvSpPr>
        <p:spPr>
          <a:xfrm>
            <a:off x="9397777" y="6398794"/>
            <a:ext cx="2771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900" dirty="0">
                <a:solidFill>
                  <a:schemeClr val="tx2"/>
                </a:solidFill>
              </a:rPr>
              <a:t>T. Kubo, Phys. Rev. Applied 22, 044042 (2024) </a:t>
            </a:r>
          </a:p>
          <a:p>
            <a:pPr algn="r"/>
            <a:r>
              <a:rPr lang="en-US" altLang="ja-JP" sz="9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900" b="1" dirty="0">
                <a:solidFill>
                  <a:schemeClr val="tx2"/>
                </a:solidFill>
              </a:rPr>
              <a:t>23</a:t>
            </a:r>
            <a:r>
              <a:rPr lang="en-US" altLang="ja-JP" sz="900" dirty="0">
                <a:solidFill>
                  <a:schemeClr val="tx2"/>
                </a:solidFill>
              </a:rPr>
              <a:t>, 054091 (2025)</a:t>
            </a:r>
            <a:endParaRPr lang="ja-JP" altLang="en-US" sz="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43979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5151-0906-7554-EC1C-40558CA6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図 33">
            <a:extLst>
              <a:ext uri="{FF2B5EF4-FFF2-40B4-BE49-F238E27FC236}">
                <a16:creationId xmlns:a16="http://schemas.microsoft.com/office/drawing/2014/main" id="{988B3D01-FE7F-028F-FBA6-4C4E811A56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8920" y="800020"/>
            <a:ext cx="3048394" cy="2937164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1FBAF567-3A5A-A435-95D7-4255160D00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5587" y="863953"/>
            <a:ext cx="2992978" cy="2937164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E0873437-691F-5EDC-BD8A-BFC3533387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0840" y="3816819"/>
            <a:ext cx="2939541" cy="2937164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8CF87048-8507-1B4B-3E64-D5E384128A3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2476" y="3869684"/>
            <a:ext cx="2842785" cy="2937164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F1CAAB64-4250-43F9-6529-7B85F6297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654" y="67105"/>
            <a:ext cx="2477586" cy="1632293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19F63774-912B-C59A-FF15-29F4F90970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5261" y="50119"/>
            <a:ext cx="2473423" cy="1636457"/>
          </a:xfrm>
          <a:prstGeom prst="rect">
            <a:avLst/>
          </a:prstGeom>
        </p:spPr>
      </p:pic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F7CD6072-82C3-CC9A-F7E2-A405ECE8FDBB}"/>
              </a:ext>
            </a:extLst>
          </p:cNvPr>
          <p:cNvCxnSpPr>
            <a:cxnSpLocks/>
          </p:cNvCxnSpPr>
          <p:nvPr/>
        </p:nvCxnSpPr>
        <p:spPr>
          <a:xfrm>
            <a:off x="6302547" y="-50800"/>
            <a:ext cx="0" cy="690880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5E9330DE-B0F8-6E34-48AC-30E102681D99}"/>
                  </a:ext>
                </a:extLst>
              </p:cNvPr>
              <p:cNvSpPr txBox="1"/>
              <p:nvPr/>
            </p:nvSpPr>
            <p:spPr>
              <a:xfrm>
                <a:off x="8241192" y="0"/>
                <a:ext cx="19784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4000" b="1" dirty="0"/>
                  <a:t>a</a:t>
                </a:r>
                <a:r>
                  <a:rPr kumimoji="1" lang="en-US" altLang="ja-JP" sz="4000" b="1" dirty="0"/>
                  <a:t>c </a:t>
                </a:r>
                <a14:m>
                  <m:oMath xmlns:m="http://schemas.openxmlformats.org/officeDocument/2006/math">
                    <m:r>
                      <a:rPr kumimoji="1" lang="en-US" altLang="ja-JP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kumimoji="1" lang="en-US" altLang="ja-JP" sz="4000" b="1" dirty="0"/>
                  <a:t> dc</a:t>
                </a:r>
                <a:endParaRPr kumimoji="1" lang="ja-JP" altLang="en-US" sz="4000" b="1" dirty="0"/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22086F8-D526-A66D-B582-B70B5054E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192" y="0"/>
                <a:ext cx="1978427" cy="707886"/>
              </a:xfrm>
              <a:prstGeom prst="rect">
                <a:avLst/>
              </a:prstGeom>
              <a:blipFill>
                <a:blip r:embed="rId8"/>
                <a:stretch>
                  <a:fillRect l="-11111" t="-15517" r="-9877" b="-362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D46545C8-2F82-5C2E-7C88-01FE1844C143}"/>
                  </a:ext>
                </a:extLst>
              </p:cNvPr>
              <p:cNvSpPr txBox="1"/>
              <p:nvPr/>
            </p:nvSpPr>
            <p:spPr>
              <a:xfrm>
                <a:off x="2131916" y="0"/>
                <a:ext cx="187583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4000" b="1" dirty="0"/>
                  <a:t>a</a:t>
                </a:r>
                <a:r>
                  <a:rPr kumimoji="1" lang="en-US" altLang="ja-JP" sz="4000" b="1" dirty="0"/>
                  <a:t>c </a:t>
                </a:r>
                <a14:m>
                  <m:oMath xmlns:m="http://schemas.openxmlformats.org/officeDocument/2006/math">
                    <m:r>
                      <a:rPr kumimoji="1" lang="en-US" altLang="ja-JP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kumimoji="1" lang="en-US" altLang="ja-JP" sz="4000" b="1" dirty="0"/>
                  <a:t> dc</a:t>
                </a:r>
                <a:endParaRPr kumimoji="1" lang="ja-JP" altLang="en-US" sz="4000" b="1" dirty="0"/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019EED08-780F-9BC4-7BC4-638B39148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916" y="0"/>
                <a:ext cx="1875835" cy="707886"/>
              </a:xfrm>
              <a:prstGeom prst="rect">
                <a:avLst/>
              </a:prstGeom>
              <a:blipFill>
                <a:blip r:embed="rId9"/>
                <a:stretch>
                  <a:fillRect l="-11726" t="-15517" r="-10749" b="-362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E324A63E-A16E-538C-4606-27839620F7B2}"/>
              </a:ext>
            </a:extLst>
          </p:cNvPr>
          <p:cNvCxnSpPr>
            <a:cxnSpLocks/>
          </p:cNvCxnSpPr>
          <p:nvPr/>
        </p:nvCxnSpPr>
        <p:spPr>
          <a:xfrm flipH="1" flipV="1">
            <a:off x="2567767" y="1699398"/>
            <a:ext cx="1439984" cy="2037786"/>
          </a:xfrm>
          <a:prstGeom prst="straightConnector1">
            <a:avLst/>
          </a:prstGeom>
          <a:ln w="635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A15CE2D6-E411-BB96-3C35-F4DD0AF9F178}"/>
              </a:ext>
            </a:extLst>
          </p:cNvPr>
          <p:cNvCxnSpPr>
            <a:cxnSpLocks/>
          </p:cNvCxnSpPr>
          <p:nvPr/>
        </p:nvCxnSpPr>
        <p:spPr>
          <a:xfrm flipH="1">
            <a:off x="2735274" y="3737184"/>
            <a:ext cx="1272477" cy="1915321"/>
          </a:xfrm>
          <a:prstGeom prst="straightConnector1">
            <a:avLst/>
          </a:prstGeom>
          <a:ln w="635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80D41A9-4E14-3368-E1CE-E71C5E447E28}"/>
              </a:ext>
            </a:extLst>
          </p:cNvPr>
          <p:cNvSpPr txBox="1"/>
          <p:nvPr/>
        </p:nvSpPr>
        <p:spPr>
          <a:xfrm>
            <a:off x="3913309" y="3276600"/>
            <a:ext cx="247758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Resonance peak due to the </a:t>
            </a:r>
            <a:r>
              <a:rPr kumimoji="1" lang="en-US" altLang="ja-JP" b="1" dirty="0">
                <a:solidFill>
                  <a:srgbClr val="92D050"/>
                </a:solidFill>
              </a:rPr>
              <a:t>Higgs</a:t>
            </a:r>
            <a:r>
              <a:rPr kumimoji="1" lang="en-US" altLang="ja-JP" dirty="0"/>
              <a:t> mode. </a:t>
            </a:r>
          </a:p>
          <a:p>
            <a:endParaRPr kumimoji="1" lang="en-US" altLang="ja-JP" sz="1600" dirty="0"/>
          </a:p>
          <a:p>
            <a:r>
              <a:rPr kumimoji="1" lang="en-US" altLang="ja-JP" sz="1600" dirty="0"/>
              <a:t>Already observed in experiments!</a:t>
            </a:r>
          </a:p>
          <a:p>
            <a:r>
              <a:rPr kumimoji="1" lang="en-US" altLang="ja-JP" sz="1600" dirty="0">
                <a:solidFill>
                  <a:schemeClr val="tx2"/>
                </a:solidFill>
              </a:rPr>
              <a:t>S. Nakamura et al., </a:t>
            </a:r>
          </a:p>
          <a:p>
            <a:r>
              <a:rPr kumimoji="1" lang="en-US" altLang="ja-JP" sz="1600" dirty="0">
                <a:solidFill>
                  <a:schemeClr val="tx2"/>
                </a:solidFill>
              </a:rPr>
              <a:t>PRL </a:t>
            </a:r>
            <a:r>
              <a:rPr kumimoji="1" lang="en-US" altLang="ja-JP" sz="1600" b="1" dirty="0">
                <a:solidFill>
                  <a:schemeClr val="tx2"/>
                </a:solidFill>
              </a:rPr>
              <a:t>122</a:t>
            </a:r>
            <a:r>
              <a:rPr kumimoji="1" lang="en-US" altLang="ja-JP" sz="1600" dirty="0">
                <a:solidFill>
                  <a:schemeClr val="tx2"/>
                </a:solidFill>
              </a:rPr>
              <a:t>, 257001 (2019)</a:t>
            </a:r>
            <a:endParaRPr kumimoji="1" lang="en-US" altLang="ja-JP" sz="1600" dirty="0"/>
          </a:p>
          <a:p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96E6D3-BBF6-9017-5A51-AB22B93DDD6E}"/>
              </a:ext>
            </a:extLst>
          </p:cNvPr>
          <p:cNvSpPr txBox="1"/>
          <p:nvPr/>
        </p:nvSpPr>
        <p:spPr>
          <a:xfrm>
            <a:off x="9397777" y="6398794"/>
            <a:ext cx="2771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900" dirty="0">
                <a:solidFill>
                  <a:schemeClr val="tx2"/>
                </a:solidFill>
              </a:rPr>
              <a:t>T. Kubo, Phys. Rev. Applied 22, 044042 (2024) </a:t>
            </a:r>
          </a:p>
          <a:p>
            <a:pPr algn="r"/>
            <a:r>
              <a:rPr lang="en-US" altLang="ja-JP" sz="9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900" b="1" dirty="0">
                <a:solidFill>
                  <a:schemeClr val="tx2"/>
                </a:solidFill>
              </a:rPr>
              <a:t>23</a:t>
            </a:r>
            <a:r>
              <a:rPr lang="en-US" altLang="ja-JP" sz="900" dirty="0">
                <a:solidFill>
                  <a:schemeClr val="tx2"/>
                </a:solidFill>
              </a:rPr>
              <a:t>, 054091 (2025)</a:t>
            </a:r>
            <a:endParaRPr lang="ja-JP" altLang="en-US" sz="900" dirty="0">
              <a:solidFill>
                <a:schemeClr val="tx2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E4C9DE-B8BE-5C37-ACD9-F70B812C73C5}"/>
              </a:ext>
            </a:extLst>
          </p:cNvPr>
          <p:cNvSpPr txBox="1"/>
          <p:nvPr/>
        </p:nvSpPr>
        <p:spPr>
          <a:xfrm>
            <a:off x="3464337" y="6398794"/>
            <a:ext cx="2771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900" dirty="0">
                <a:solidFill>
                  <a:schemeClr val="tx2"/>
                </a:solidFill>
              </a:rPr>
              <a:t>T. Kubo, Phys. Rev. Applied 22, 044042 (2024) </a:t>
            </a:r>
          </a:p>
          <a:p>
            <a:pPr algn="r"/>
            <a:r>
              <a:rPr lang="en-US" altLang="ja-JP" sz="9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900" b="1" dirty="0">
                <a:solidFill>
                  <a:schemeClr val="tx2"/>
                </a:solidFill>
              </a:rPr>
              <a:t>23</a:t>
            </a:r>
            <a:r>
              <a:rPr lang="en-US" altLang="ja-JP" sz="900" dirty="0">
                <a:solidFill>
                  <a:schemeClr val="tx2"/>
                </a:solidFill>
              </a:rPr>
              <a:t>, 054091 (2025)</a:t>
            </a:r>
            <a:endParaRPr lang="ja-JP" altLang="en-US" sz="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43536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4F04-0B9C-675D-E12A-D7319C4C7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882B41B6-2E0B-4B0E-E8B7-9CAD9B92465F}"/>
                  </a:ext>
                </a:extLst>
              </p:cNvPr>
              <p:cNvSpPr txBox="1"/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(0)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882B41B6-2E0B-4B0E-E8B7-9CAD9B924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6668402-9732-9662-C715-ADA23A154C10}"/>
                  </a:ext>
                </a:extLst>
              </p:cNvPr>
              <p:cNvSpPr txBox="1"/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600" b="0" dirty="0"/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→(0, 0)</m:t>
                    </m:r>
                  </m:oMath>
                </a14:m>
                <a:r>
                  <a:rPr kumimoji="1" lang="en-US" altLang="ja-JP" sz="1600" dirty="0"/>
                  <a:t>, we can analytically calculate the coefficient C 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6668402-9732-9662-C715-ADA23A154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blipFill>
                <a:blip r:embed="rId3"/>
                <a:stretch>
                  <a:fillRect l="-2014" t="-27500" r="-1108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707DB4C-980F-41BE-C8A4-98A7AE62862F}"/>
              </a:ext>
            </a:extLst>
          </p:cNvPr>
          <p:cNvSpPr/>
          <p:nvPr/>
        </p:nvSpPr>
        <p:spPr>
          <a:xfrm>
            <a:off x="9290483" y="784087"/>
            <a:ext cx="491258" cy="7803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61137B-6A9E-4F11-59C6-04C1F7E242F3}"/>
              </a:ext>
            </a:extLst>
          </p:cNvPr>
          <p:cNvSpPr txBox="1"/>
          <p:nvPr/>
        </p:nvSpPr>
        <p:spPr>
          <a:xfrm>
            <a:off x="4909930" y="85725"/>
            <a:ext cx="729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 calculate the kinetic inductance, we just go back to its definition.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0B01250-E29C-50FC-24DC-F3694A364FD6}"/>
                  </a:ext>
                </a:extLst>
              </p:cNvPr>
              <p:cNvSpPr txBox="1"/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0B01250-E29C-50FC-24DC-F3694A36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63DBB0E-C7F1-1695-3558-436CE910A7CE}"/>
                  </a:ext>
                </a:extLst>
              </p:cNvPr>
              <p:cNvSpPr txBox="1"/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63DBB0E-C7F1-1695-3558-436CE910A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064DE140-A643-D44E-FD96-7692873F5FF9}"/>
                  </a:ext>
                </a:extLst>
              </p:cNvPr>
              <p:cNvSpPr/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064DE140-A643-D44E-FD96-7692873F5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blipFill>
                <a:blip r:embed="rId6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右 25">
            <a:extLst>
              <a:ext uri="{FF2B5EF4-FFF2-40B4-BE49-F238E27FC236}">
                <a16:creationId xmlns:a16="http://schemas.microsoft.com/office/drawing/2014/main" id="{92AE71D1-E767-854F-01AC-AD606A39540A}"/>
              </a:ext>
            </a:extLst>
          </p:cNvPr>
          <p:cNvSpPr/>
          <p:nvPr/>
        </p:nvSpPr>
        <p:spPr>
          <a:xfrm>
            <a:off x="4753735" y="669919"/>
            <a:ext cx="1100009" cy="1032478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BA45EE-ECF9-14F2-DF94-7CAC047ADF54}"/>
              </a:ext>
            </a:extLst>
          </p:cNvPr>
          <p:cNvSpPr txBox="1"/>
          <p:nvPr/>
        </p:nvSpPr>
        <p:spPr>
          <a:xfrm>
            <a:off x="32134" y="31068"/>
            <a:ext cx="4896982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Insight for lower frequencies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8426578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8E99-F917-6F77-B189-73DEF554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E811CF5-D5A2-8401-16DC-C314DB60BFA4}"/>
                  </a:ext>
                </a:extLst>
              </p:cNvPr>
              <p:cNvSpPr txBox="1"/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E811CF5-D5A2-8401-16DC-C314DB60B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9F3BCB0C-7557-807C-E43B-4CDD6E37EA66}"/>
                  </a:ext>
                </a:extLst>
              </p:cNvPr>
              <p:cNvSpPr txBox="1"/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600" b="0" dirty="0"/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1600" dirty="0"/>
                  <a:t>, we can analytically calculate the coefficient C 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9F3BCB0C-7557-807C-E43B-4CDD6E37E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blipFill>
                <a:blip r:embed="rId3"/>
                <a:stretch>
                  <a:fillRect l="-2014" t="-27500" r="-1108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A3E20F3-5CC9-B0A4-6153-D6E3D7566C6A}"/>
              </a:ext>
            </a:extLst>
          </p:cNvPr>
          <p:cNvSpPr/>
          <p:nvPr/>
        </p:nvSpPr>
        <p:spPr>
          <a:xfrm>
            <a:off x="9290483" y="784087"/>
            <a:ext cx="491258" cy="7803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6BFB584-33B8-75B7-1E68-E5FEF08583EE}"/>
                  </a:ext>
                </a:extLst>
              </p:cNvPr>
              <p:cNvSpPr txBox="1"/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6BFB584-33B8-75B7-1E68-E5FEF0858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A1A919E3-6E05-9053-54BB-286B53B8F904}"/>
                  </a:ext>
                </a:extLst>
              </p:cNvPr>
              <p:cNvSpPr txBox="1"/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A1A919E3-6E05-9053-54BB-286B53B8F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138E9A30-699C-6291-A865-6A9BDCB2FA69}"/>
                  </a:ext>
                </a:extLst>
              </p:cNvPr>
              <p:cNvSpPr/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138E9A30-699C-6291-A865-6A9BDCB2F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blipFill>
                <a:blip r:embed="rId6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右 25">
            <a:extLst>
              <a:ext uri="{FF2B5EF4-FFF2-40B4-BE49-F238E27FC236}">
                <a16:creationId xmlns:a16="http://schemas.microsoft.com/office/drawing/2014/main" id="{D0D33A53-98EC-9F1E-B71A-8E01A9C36E83}"/>
              </a:ext>
            </a:extLst>
          </p:cNvPr>
          <p:cNvSpPr/>
          <p:nvPr/>
        </p:nvSpPr>
        <p:spPr>
          <a:xfrm>
            <a:off x="4753735" y="669919"/>
            <a:ext cx="1100009" cy="1032478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8F0B00F3-7521-653D-DE5F-ADFCD896C3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968" y="3533288"/>
            <a:ext cx="1533215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9F618639-5B3B-07FA-DA66-65E9F36B28B3}"/>
                  </a:ext>
                </a:extLst>
              </p:cNvPr>
              <p:cNvSpPr txBox="1"/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9F618639-5B3B-07FA-DA66-65E9F36B2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blipFill>
                <a:blip r:embed="rId8"/>
                <a:stretch>
                  <a:fillRect l="-5464" r="-1093" b="-227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C0127A3D-27AD-99C4-5158-335AD54D8649}"/>
                  </a:ext>
                </a:extLst>
              </p:cNvPr>
              <p:cNvSpPr txBox="1"/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C0127A3D-27AD-99C4-5158-335AD54D8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02FD2B-8BAE-4D44-2520-2539A3850A61}"/>
              </a:ext>
            </a:extLst>
          </p:cNvPr>
          <p:cNvSpPr txBox="1"/>
          <p:nvPr/>
        </p:nvSpPr>
        <p:spPr>
          <a:xfrm>
            <a:off x="4909930" y="85725"/>
            <a:ext cx="729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 calculate the kinetic inductance, we just go back to its definition.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128970-AB46-4642-07B5-BA1618EE95A6}"/>
              </a:ext>
            </a:extLst>
          </p:cNvPr>
          <p:cNvSpPr txBox="1"/>
          <p:nvPr/>
        </p:nvSpPr>
        <p:spPr>
          <a:xfrm>
            <a:off x="32134" y="31068"/>
            <a:ext cx="4896982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Insight for lower frequencies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9951228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B25F-71E7-EA7A-FB45-D6475A0C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F3C243D-5FA1-260F-A4E0-183F16C9D14B}"/>
                  </a:ext>
                </a:extLst>
              </p:cNvPr>
              <p:cNvSpPr txBox="1"/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F3C243D-5FA1-260F-A4E0-183F16C9D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9B1D904-273B-3421-F4F1-452F01B1427F}"/>
                  </a:ext>
                </a:extLst>
              </p:cNvPr>
              <p:cNvSpPr txBox="1"/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409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9B1D904-273B-3421-F4F1-452F01B14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58B562B6-7353-5858-30F1-9E87A2BC8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86" y="4780806"/>
            <a:ext cx="1538386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084E883D-732E-7B5F-A0C5-2C39E57AF703}"/>
                  </a:ext>
                </a:extLst>
              </p:cNvPr>
              <p:cNvSpPr txBox="1"/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084E883D-732E-7B5F-A0C5-2C39E57AF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blipFill>
                <a:blip r:embed="rId5"/>
                <a:stretch>
                  <a:fillRect l="-6358" r="-1156" b="-219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E0BFC76-CD38-0451-39E5-03CB2E78C163}"/>
                  </a:ext>
                </a:extLst>
              </p:cNvPr>
              <p:cNvSpPr txBox="1"/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E0BFC76-CD38-0451-39E5-03CB2E78C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C1E7B88-85AF-FBD8-00F5-AC4D1C54116D}"/>
                  </a:ext>
                </a:extLst>
              </p:cNvPr>
              <p:cNvSpPr txBox="1"/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𝟎𝟗𝟓𝟔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C1E7B88-85AF-FBD8-00F5-AC4D1C541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81A16D-A628-4059-6103-D1A0F7BCDEE5}"/>
                  </a:ext>
                </a:extLst>
              </p:cNvPr>
              <p:cNvSpPr txBox="1"/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𝟏𝟕𝟕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81A16D-A628-4059-6103-D1A0F7BCD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51E1067-A19F-9D1F-8497-4E0345A5976F}"/>
              </a:ext>
            </a:extLst>
          </p:cNvPr>
          <p:cNvSpPr txBox="1"/>
          <p:nvPr/>
        </p:nvSpPr>
        <p:spPr>
          <a:xfrm rot="2836733">
            <a:off x="6039620" y="5631228"/>
            <a:ext cx="101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92D050"/>
                </a:solidFill>
              </a:rPr>
              <a:t>Higgs</a:t>
            </a:r>
            <a:endParaRPr kumimoji="1" lang="ja-JP" altLang="en-US" sz="2400" dirty="0">
              <a:solidFill>
                <a:srgbClr val="92D05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AD54127-06C5-36E9-D061-FFF5E5167DDC}"/>
              </a:ext>
            </a:extLst>
          </p:cNvPr>
          <p:cNvSpPr txBox="1"/>
          <p:nvPr/>
        </p:nvSpPr>
        <p:spPr>
          <a:xfrm rot="2866687">
            <a:off x="4806572" y="5507434"/>
            <a:ext cx="82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C000"/>
                </a:solidFill>
              </a:rPr>
              <a:t>AAA</a:t>
            </a:r>
            <a:endParaRPr kumimoji="1" lang="ja-JP" altLang="en-US" sz="2400" dirty="0">
              <a:solidFill>
                <a:srgbClr val="FFC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2D5364-6D5C-B7FA-6EAD-B428BDB94878}"/>
              </a:ext>
            </a:extLst>
          </p:cNvPr>
          <p:cNvSpPr txBox="1"/>
          <p:nvPr/>
        </p:nvSpPr>
        <p:spPr>
          <a:xfrm rot="2842825">
            <a:off x="4267256" y="5985696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(23%)</a:t>
            </a:r>
            <a:endParaRPr kumimoji="1" lang="ja-JP" altLang="en-US" sz="28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C612A7F-C62A-398C-55CE-7C350D80FAE8}"/>
              </a:ext>
            </a:extLst>
          </p:cNvPr>
          <p:cNvSpPr txBox="1"/>
          <p:nvPr/>
        </p:nvSpPr>
        <p:spPr>
          <a:xfrm rot="2842825">
            <a:off x="5477563" y="5958225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(43%)</a:t>
            </a:r>
            <a:endParaRPr kumimoji="1" lang="ja-JP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CF70253-440D-2923-D5BC-4B7053290F13}"/>
                  </a:ext>
                </a:extLst>
              </p:cNvPr>
              <p:cNvSpPr txBox="1"/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600" b="0" dirty="0"/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1600" dirty="0"/>
                  <a:t>, we can analytically calculate the coefficient C 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CF70253-440D-2923-D5BC-4B7053290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blipFill>
                <a:blip r:embed="rId9"/>
                <a:stretch>
                  <a:fillRect l="-2014" t="-27500" r="-1108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EFF8B7F-931C-A1EE-D258-09C7C47CB44B}"/>
              </a:ext>
            </a:extLst>
          </p:cNvPr>
          <p:cNvSpPr/>
          <p:nvPr/>
        </p:nvSpPr>
        <p:spPr>
          <a:xfrm>
            <a:off x="9290483" y="784087"/>
            <a:ext cx="491258" cy="7803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2E5B908E-8C90-6977-FC1D-C767F0E02CE9}"/>
                  </a:ext>
                </a:extLst>
              </p:cNvPr>
              <p:cNvSpPr txBox="1"/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2E5B908E-8C90-6977-FC1D-C767F0E02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90B8225-96D4-BAB1-C5B7-1B26EF06C9E3}"/>
                  </a:ext>
                </a:extLst>
              </p:cNvPr>
              <p:cNvSpPr txBox="1"/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90B8225-96D4-BAB1-C5B7-1B26EF06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5F13592B-A1F8-5DAB-E1F2-CA3727F4FE8E}"/>
                  </a:ext>
                </a:extLst>
              </p:cNvPr>
              <p:cNvSpPr/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5F13592B-A1F8-5DAB-E1F2-CA3727F4FE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blipFill>
                <a:blip r:embed="rId1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右 25">
            <a:extLst>
              <a:ext uri="{FF2B5EF4-FFF2-40B4-BE49-F238E27FC236}">
                <a16:creationId xmlns:a16="http://schemas.microsoft.com/office/drawing/2014/main" id="{5A2574C9-31E4-BC6C-601D-465DCD3D70AD}"/>
              </a:ext>
            </a:extLst>
          </p:cNvPr>
          <p:cNvSpPr/>
          <p:nvPr/>
        </p:nvSpPr>
        <p:spPr>
          <a:xfrm>
            <a:off x="4753735" y="669919"/>
            <a:ext cx="1100009" cy="1032478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D1708667-FF5E-73EC-8295-404B543269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5968" y="3533288"/>
            <a:ext cx="1533215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4EC8663-B535-28A1-112E-EFE8DCFBD55A}"/>
                  </a:ext>
                </a:extLst>
              </p:cNvPr>
              <p:cNvSpPr txBox="1"/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4EC8663-B535-28A1-112E-EFE8DCFBD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blipFill>
                <a:blip r:embed="rId14"/>
                <a:stretch>
                  <a:fillRect l="-5464" r="-1093" b="-227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E6D8FDF-463B-DF53-4CE7-F53D96C4B6DC}"/>
                  </a:ext>
                </a:extLst>
              </p:cNvPr>
              <p:cNvSpPr txBox="1"/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E6D8FDF-463B-DF53-4CE7-F53D96C4B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A9A0DE-C708-AEEB-C049-48B922077D73}"/>
              </a:ext>
            </a:extLst>
          </p:cNvPr>
          <p:cNvSpPr txBox="1"/>
          <p:nvPr/>
        </p:nvSpPr>
        <p:spPr>
          <a:xfrm>
            <a:off x="4909930" y="85725"/>
            <a:ext cx="729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 calculate the kinetic inductance, we just go back to its definition.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76D466-C910-FAB1-7C64-A3F0D244E9CD}"/>
              </a:ext>
            </a:extLst>
          </p:cNvPr>
          <p:cNvSpPr txBox="1"/>
          <p:nvPr/>
        </p:nvSpPr>
        <p:spPr>
          <a:xfrm>
            <a:off x="32134" y="31068"/>
            <a:ext cx="4896982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Insight for lower frequencies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4157478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3FC6D-6E8C-8664-5FF9-349FF5E8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10BBAC3-06F9-0577-BF5F-C5844AD0D306}"/>
                  </a:ext>
                </a:extLst>
              </p:cNvPr>
              <p:cNvSpPr txBox="1"/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10BBAC3-06F9-0577-BF5F-C5844AD0D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0BF4E54-FC23-FA98-0F29-D5CDE893470C}"/>
                  </a:ext>
                </a:extLst>
              </p:cNvPr>
              <p:cNvSpPr txBox="1"/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409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0BF4E54-FC23-FA98-0F29-D5CDE8934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8F640BD8-3681-31F7-38BF-91143C8BD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86" y="4780806"/>
            <a:ext cx="1538386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361FB38-D8B8-9D13-8F0D-2B389E684C4D}"/>
                  </a:ext>
                </a:extLst>
              </p:cNvPr>
              <p:cNvSpPr txBox="1"/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361FB38-D8B8-9D13-8F0D-2B389E684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blipFill>
                <a:blip r:embed="rId5"/>
                <a:stretch>
                  <a:fillRect l="-6358" r="-1156" b="-219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247CB0E-CA94-F05C-E7F4-05DC3970C57F}"/>
                  </a:ext>
                </a:extLst>
              </p:cNvPr>
              <p:cNvSpPr txBox="1"/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247CB0E-CA94-F05C-E7F4-05DC3970C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1564C6F-D8C1-DACD-E576-6080654CA20A}"/>
                  </a:ext>
                </a:extLst>
              </p:cNvPr>
              <p:cNvSpPr txBox="1"/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𝟎𝟗𝟓𝟔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1564C6F-D8C1-DACD-E576-6080654CA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C0995B7-5CBA-93F1-925A-05EE6B0B2E85}"/>
                  </a:ext>
                </a:extLst>
              </p:cNvPr>
              <p:cNvSpPr txBox="1"/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𝟏𝟕𝟕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C0995B7-5CBA-93F1-925A-05EE6B0B2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A397ABA-75D2-E711-8C5A-66B7F943331E}"/>
              </a:ext>
            </a:extLst>
          </p:cNvPr>
          <p:cNvSpPr txBox="1"/>
          <p:nvPr/>
        </p:nvSpPr>
        <p:spPr>
          <a:xfrm rot="2836733">
            <a:off x="6039620" y="5631228"/>
            <a:ext cx="101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92D050"/>
                </a:solidFill>
              </a:rPr>
              <a:t>Higgs</a:t>
            </a:r>
            <a:endParaRPr kumimoji="1" lang="ja-JP" altLang="en-US" sz="2400" dirty="0">
              <a:solidFill>
                <a:srgbClr val="92D05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2F5021D-DC46-EF09-7567-DD65500D7CD7}"/>
              </a:ext>
            </a:extLst>
          </p:cNvPr>
          <p:cNvSpPr txBox="1"/>
          <p:nvPr/>
        </p:nvSpPr>
        <p:spPr>
          <a:xfrm rot="2866687">
            <a:off x="4806572" y="5507434"/>
            <a:ext cx="82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C000"/>
                </a:solidFill>
              </a:rPr>
              <a:t>AAA</a:t>
            </a:r>
            <a:endParaRPr kumimoji="1" lang="ja-JP" altLang="en-US" sz="2400" dirty="0">
              <a:solidFill>
                <a:srgbClr val="FFC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5DE143-6700-F822-E7E8-94EB4C319981}"/>
              </a:ext>
            </a:extLst>
          </p:cNvPr>
          <p:cNvSpPr txBox="1"/>
          <p:nvPr/>
        </p:nvSpPr>
        <p:spPr>
          <a:xfrm rot="2842825">
            <a:off x="4267256" y="5985696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(23%)</a:t>
            </a:r>
            <a:endParaRPr kumimoji="1" lang="ja-JP" altLang="en-US" sz="28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FE935CE-1DED-9595-9E03-70FB552A77D3}"/>
              </a:ext>
            </a:extLst>
          </p:cNvPr>
          <p:cNvSpPr txBox="1"/>
          <p:nvPr/>
        </p:nvSpPr>
        <p:spPr>
          <a:xfrm rot="2842825">
            <a:off x="5477563" y="5958225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(43%)</a:t>
            </a:r>
            <a:endParaRPr kumimoji="1" lang="ja-JP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05FB3DAD-A987-DDF3-9E55-72BED95AEFCC}"/>
                  </a:ext>
                </a:extLst>
              </p:cNvPr>
              <p:cNvSpPr txBox="1"/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600" b="0" dirty="0"/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1600" dirty="0"/>
                  <a:t>, we can analytically calculate the coefficient C 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05FB3DAD-A987-DDF3-9E55-72BED95AE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blipFill>
                <a:blip r:embed="rId9"/>
                <a:stretch>
                  <a:fillRect l="-2014" t="-27500" r="-1108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01CFB30-6A6A-4987-9BFD-E69E5D25AD39}"/>
              </a:ext>
            </a:extLst>
          </p:cNvPr>
          <p:cNvSpPr txBox="1"/>
          <p:nvPr/>
        </p:nvSpPr>
        <p:spPr>
          <a:xfrm>
            <a:off x="2202629" y="2798040"/>
            <a:ext cx="414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22</a:t>
            </a:r>
            <a:r>
              <a:rPr lang="en-US" altLang="ja-JP" sz="1200" dirty="0">
                <a:solidFill>
                  <a:schemeClr val="tx2"/>
                </a:solidFill>
              </a:rPr>
              <a:t>, 044042 (2024)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D9EC5EC-05E1-B46E-367E-4FE6153D5DDD}"/>
              </a:ext>
            </a:extLst>
          </p:cNvPr>
          <p:cNvSpPr/>
          <p:nvPr/>
        </p:nvSpPr>
        <p:spPr>
          <a:xfrm>
            <a:off x="9290483" y="784087"/>
            <a:ext cx="491258" cy="7803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42701DC-DCB8-11A2-4279-A667B0AC42D1}"/>
                  </a:ext>
                </a:extLst>
              </p:cNvPr>
              <p:cNvSpPr txBox="1"/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42701DC-DCB8-11A2-4279-A667B0AC4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4B7EF4A-8187-3B0D-AA83-E9057F266CA3}"/>
                  </a:ext>
                </a:extLst>
              </p:cNvPr>
              <p:cNvSpPr txBox="1"/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4B7EF4A-8187-3B0D-AA83-E9057F266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6E7D19D8-D883-A190-3D16-811BDE3C1169}"/>
                  </a:ext>
                </a:extLst>
              </p:cNvPr>
              <p:cNvSpPr/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6E7D19D8-D883-A190-3D16-811BDE3C1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blipFill>
                <a:blip r:embed="rId1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右 25">
            <a:extLst>
              <a:ext uri="{FF2B5EF4-FFF2-40B4-BE49-F238E27FC236}">
                <a16:creationId xmlns:a16="http://schemas.microsoft.com/office/drawing/2014/main" id="{A0F11ADE-907D-CDE4-E93F-149ABDF56C14}"/>
              </a:ext>
            </a:extLst>
          </p:cNvPr>
          <p:cNvSpPr/>
          <p:nvPr/>
        </p:nvSpPr>
        <p:spPr>
          <a:xfrm>
            <a:off x="4753735" y="669919"/>
            <a:ext cx="1100009" cy="1032478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A7C8D007-2DC5-65E9-6C87-0A18E047AA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5968" y="3533288"/>
            <a:ext cx="1533215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1EC782B7-C871-E12A-A824-225E0B39272A}"/>
                  </a:ext>
                </a:extLst>
              </p:cNvPr>
              <p:cNvSpPr txBox="1"/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1EC782B7-C871-E12A-A824-225E0B392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blipFill>
                <a:blip r:embed="rId14"/>
                <a:stretch>
                  <a:fillRect l="-5464" r="-1093" b="-227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8103069B-1E38-4F4C-38EC-B6385AC3B1DA}"/>
                  </a:ext>
                </a:extLst>
              </p:cNvPr>
              <p:cNvSpPr txBox="1"/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8103069B-1E38-4F4C-38EC-B6385AC3B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447FCA1-02FD-3A7A-043F-D1F1BD8EEA50}"/>
              </a:ext>
            </a:extLst>
          </p:cNvPr>
          <p:cNvSpPr txBox="1"/>
          <p:nvPr/>
        </p:nvSpPr>
        <p:spPr>
          <a:xfrm>
            <a:off x="568120" y="2100674"/>
            <a:ext cx="6051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Microscopic theory of </a:t>
            </a:r>
          </a:p>
          <a:p>
            <a:pPr algn="ctr"/>
            <a:r>
              <a:rPr kumimoji="1" lang="en-US" altLang="ja-JP" sz="2400" dirty="0"/>
              <a:t>nonequilibrium superconductivity</a:t>
            </a:r>
            <a:endParaRPr kumimoji="1" lang="ja-JP" altLang="en-US" sz="2400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3CF8D074-3E02-C2F5-1D59-5A56AA8865E9}"/>
              </a:ext>
            </a:extLst>
          </p:cNvPr>
          <p:cNvCxnSpPr/>
          <p:nvPr/>
        </p:nvCxnSpPr>
        <p:spPr>
          <a:xfrm>
            <a:off x="0" y="3319928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26ECB4E-24AD-3520-7BEF-5C94E740EA8D}"/>
              </a:ext>
            </a:extLst>
          </p:cNvPr>
          <p:cNvCxnSpPr/>
          <p:nvPr/>
        </p:nvCxnSpPr>
        <p:spPr>
          <a:xfrm>
            <a:off x="7864" y="2100674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1D374DAC-F341-1D2E-BA13-D9171FA16DDD}"/>
              </a:ext>
            </a:extLst>
          </p:cNvPr>
          <p:cNvCxnSpPr/>
          <p:nvPr/>
        </p:nvCxnSpPr>
        <p:spPr>
          <a:xfrm>
            <a:off x="0" y="4585061"/>
            <a:ext cx="12155951" cy="0"/>
          </a:xfrm>
          <a:prstGeom prst="line">
            <a:avLst/>
          </a:prstGeom>
          <a:ln w="698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B02C44-6BAC-8FE9-A4D6-04A3DFE966E4}"/>
              </a:ext>
            </a:extLst>
          </p:cNvPr>
          <p:cNvSpPr txBox="1"/>
          <p:nvPr/>
        </p:nvSpPr>
        <p:spPr>
          <a:xfrm>
            <a:off x="4909930" y="85725"/>
            <a:ext cx="729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 calculate the kinetic inductance, we just go back to its definition.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37F766-C5FE-0A62-0DF0-8E0A05B382E1}"/>
              </a:ext>
            </a:extLst>
          </p:cNvPr>
          <p:cNvSpPr txBox="1"/>
          <p:nvPr/>
        </p:nvSpPr>
        <p:spPr>
          <a:xfrm>
            <a:off x="32134" y="31068"/>
            <a:ext cx="4896982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Insight for lower frequencies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3394682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D74C5-A7AC-083E-022F-3F556EDDE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F027F6A-145F-7BAA-7CA4-5A56D9C32A78}"/>
                  </a:ext>
                </a:extLst>
              </p:cNvPr>
              <p:cNvSpPr txBox="1"/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10BBAC3-06F9-0577-BF5F-C5844AD0D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034ED5D0-B0DB-6CCE-9CE5-D5B69C96F00B}"/>
                  </a:ext>
                </a:extLst>
              </p:cNvPr>
              <p:cNvSpPr txBox="1"/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409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0BF4E54-FC23-FA98-0F29-D5CDE8934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32BAD50B-9FE0-9AD8-883B-5EE2AFA2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86" y="4780806"/>
            <a:ext cx="1538386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F62F0BD-DE79-BB37-E9AA-7EF8AEADBC50}"/>
                  </a:ext>
                </a:extLst>
              </p:cNvPr>
              <p:cNvSpPr txBox="1"/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361FB38-D8B8-9D13-8F0D-2B389E684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blipFill>
                <a:blip r:embed="rId5"/>
                <a:stretch>
                  <a:fillRect l="-6358" r="-1156" b="-219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BF06BEA4-3E27-689C-F820-958D2E510042}"/>
                  </a:ext>
                </a:extLst>
              </p:cNvPr>
              <p:cNvSpPr txBox="1"/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247CB0E-CA94-F05C-E7F4-05DC3970C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13EB13F-9807-AF6A-6537-8A0F759D3958}"/>
                  </a:ext>
                </a:extLst>
              </p:cNvPr>
              <p:cNvSpPr txBox="1"/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𝟎𝟗𝟓𝟔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1564C6F-D8C1-DACD-E576-6080654CA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EA080DE-5F98-D0A2-48F4-EA9E74DD6B38}"/>
                  </a:ext>
                </a:extLst>
              </p:cNvPr>
              <p:cNvSpPr txBox="1"/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𝟏𝟕𝟕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C0995B7-5CBA-93F1-925A-05EE6B0B2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8E7A81-B52B-83CD-C0A0-D7F916A48CB2}"/>
              </a:ext>
            </a:extLst>
          </p:cNvPr>
          <p:cNvSpPr txBox="1"/>
          <p:nvPr/>
        </p:nvSpPr>
        <p:spPr>
          <a:xfrm rot="2836733">
            <a:off x="6039620" y="5631228"/>
            <a:ext cx="101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92D050"/>
                </a:solidFill>
              </a:rPr>
              <a:t>Higgs</a:t>
            </a:r>
            <a:endParaRPr kumimoji="1" lang="ja-JP" altLang="en-US" sz="2400" dirty="0">
              <a:solidFill>
                <a:srgbClr val="92D05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C175B8D-A147-9806-10F1-E731BC2232A5}"/>
              </a:ext>
            </a:extLst>
          </p:cNvPr>
          <p:cNvSpPr txBox="1"/>
          <p:nvPr/>
        </p:nvSpPr>
        <p:spPr>
          <a:xfrm rot="2866687">
            <a:off x="4806572" y="5507434"/>
            <a:ext cx="82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C000"/>
                </a:solidFill>
              </a:rPr>
              <a:t>AAA</a:t>
            </a:r>
            <a:endParaRPr kumimoji="1" lang="ja-JP" altLang="en-US" sz="2400" dirty="0">
              <a:solidFill>
                <a:srgbClr val="FFC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BB316BA-4FC9-CECD-E1D1-56BD965E3F8C}"/>
              </a:ext>
            </a:extLst>
          </p:cNvPr>
          <p:cNvSpPr txBox="1"/>
          <p:nvPr/>
        </p:nvSpPr>
        <p:spPr>
          <a:xfrm rot="2842825">
            <a:off x="4267256" y="5985696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(23%)</a:t>
            </a:r>
            <a:endParaRPr kumimoji="1" lang="ja-JP" altLang="en-US" sz="28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004297D-F215-82A1-9D60-308D39B58867}"/>
              </a:ext>
            </a:extLst>
          </p:cNvPr>
          <p:cNvSpPr txBox="1"/>
          <p:nvPr/>
        </p:nvSpPr>
        <p:spPr>
          <a:xfrm rot="2842825">
            <a:off x="5477563" y="5958225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(43%)</a:t>
            </a:r>
            <a:endParaRPr kumimoji="1" lang="ja-JP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F32F103-85C6-6615-7668-8A81D2CF4B00}"/>
                  </a:ext>
                </a:extLst>
              </p:cNvPr>
              <p:cNvSpPr txBox="1"/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600" b="0" dirty="0"/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1600" dirty="0"/>
                  <a:t>, we can analytically calculate the coefficient C 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05FB3DAD-A987-DDF3-9E55-72BED95AE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blipFill>
                <a:blip r:embed="rId9"/>
                <a:stretch>
                  <a:fillRect l="-2014" t="-27500" r="-1108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D49FFD4-C708-417B-4109-66BBE009A361}"/>
              </a:ext>
            </a:extLst>
          </p:cNvPr>
          <p:cNvSpPr txBox="1"/>
          <p:nvPr/>
        </p:nvSpPr>
        <p:spPr>
          <a:xfrm>
            <a:off x="2202629" y="2798040"/>
            <a:ext cx="414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22</a:t>
            </a:r>
            <a:r>
              <a:rPr lang="en-US" altLang="ja-JP" sz="1200" dirty="0">
                <a:solidFill>
                  <a:schemeClr val="tx2"/>
                </a:solidFill>
              </a:rPr>
              <a:t>, 044042 (2024)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2B6C246-AA89-5B83-0B8C-D5B8B4A2F3DE}"/>
              </a:ext>
            </a:extLst>
          </p:cNvPr>
          <p:cNvSpPr/>
          <p:nvPr/>
        </p:nvSpPr>
        <p:spPr>
          <a:xfrm>
            <a:off x="9290483" y="784087"/>
            <a:ext cx="491258" cy="7803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60440632-C2D5-3927-0966-6EEFA4ADD74F}"/>
                  </a:ext>
                </a:extLst>
              </p:cNvPr>
              <p:cNvSpPr txBox="1"/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42701DC-DCB8-11A2-4279-A667B0AC4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2C13EC2-208D-C712-B1CE-4162C71A4708}"/>
                  </a:ext>
                </a:extLst>
              </p:cNvPr>
              <p:cNvSpPr txBox="1"/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4B7EF4A-8187-3B0D-AA83-E9057F266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5B7EAF78-6525-6262-9009-046C443DD245}"/>
                  </a:ext>
                </a:extLst>
              </p:cNvPr>
              <p:cNvSpPr/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6E7D19D8-D883-A190-3D16-811BDE3C1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blipFill>
                <a:blip r:embed="rId1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右 25">
            <a:extLst>
              <a:ext uri="{FF2B5EF4-FFF2-40B4-BE49-F238E27FC236}">
                <a16:creationId xmlns:a16="http://schemas.microsoft.com/office/drawing/2014/main" id="{7E7C55CE-901E-A008-F570-04D522727C42}"/>
              </a:ext>
            </a:extLst>
          </p:cNvPr>
          <p:cNvSpPr/>
          <p:nvPr/>
        </p:nvSpPr>
        <p:spPr>
          <a:xfrm>
            <a:off x="4753735" y="669919"/>
            <a:ext cx="1100009" cy="1032478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39FE516E-E07A-F837-98F1-110AF52214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5968" y="3533288"/>
            <a:ext cx="1533215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B8676750-4133-58B5-B6A7-B25013E21A0F}"/>
                  </a:ext>
                </a:extLst>
              </p:cNvPr>
              <p:cNvSpPr txBox="1"/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1EC782B7-C871-E12A-A824-225E0B392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blipFill>
                <a:blip r:embed="rId14"/>
                <a:stretch>
                  <a:fillRect l="-5464" r="-1093" b="-227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2FBE8935-40A8-ECFB-9390-347B4724BAC5}"/>
                  </a:ext>
                </a:extLst>
              </p:cNvPr>
              <p:cNvSpPr txBox="1"/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8103069B-1E38-4F4C-38EC-B6385AC3B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899B960-6F68-A9FE-EDDA-7D2FD23C6C79}"/>
              </a:ext>
            </a:extLst>
          </p:cNvPr>
          <p:cNvSpPr txBox="1"/>
          <p:nvPr/>
        </p:nvSpPr>
        <p:spPr>
          <a:xfrm>
            <a:off x="8438196" y="2170821"/>
            <a:ext cx="3643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Semi-phenomenological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DABDF59-DB71-40CB-8E83-D3F7B14E4D54}"/>
              </a:ext>
            </a:extLst>
          </p:cNvPr>
          <p:cNvSpPr txBox="1"/>
          <p:nvPr/>
        </p:nvSpPr>
        <p:spPr>
          <a:xfrm>
            <a:off x="568120" y="2100674"/>
            <a:ext cx="6051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Microscopic theory of </a:t>
            </a:r>
          </a:p>
          <a:p>
            <a:pPr algn="ctr"/>
            <a:r>
              <a:rPr kumimoji="1" lang="en-US" altLang="ja-JP" sz="2400" dirty="0"/>
              <a:t>nonequilibrium superconductivity</a:t>
            </a:r>
            <a:endParaRPr kumimoji="1" lang="ja-JP" altLang="en-US" sz="2400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D8950233-6DF8-4744-A25F-2C1F3829DE76}"/>
              </a:ext>
            </a:extLst>
          </p:cNvPr>
          <p:cNvCxnSpPr/>
          <p:nvPr/>
        </p:nvCxnSpPr>
        <p:spPr>
          <a:xfrm>
            <a:off x="0" y="3319928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81FF45E-55B1-C2B5-3FC2-81E10F1F56E4}"/>
              </a:ext>
            </a:extLst>
          </p:cNvPr>
          <p:cNvCxnSpPr/>
          <p:nvPr/>
        </p:nvCxnSpPr>
        <p:spPr>
          <a:xfrm>
            <a:off x="7864" y="2100674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EA0E908A-49D5-643E-3EE8-E1E1D92AEA69}"/>
              </a:ext>
            </a:extLst>
          </p:cNvPr>
          <p:cNvCxnSpPr>
            <a:cxnSpLocks/>
          </p:cNvCxnSpPr>
          <p:nvPr/>
        </p:nvCxnSpPr>
        <p:spPr>
          <a:xfrm>
            <a:off x="8017436" y="2079917"/>
            <a:ext cx="0" cy="4744783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8323C22-4D7C-0B50-59EB-E6359B46D240}"/>
              </a:ext>
            </a:extLst>
          </p:cNvPr>
          <p:cNvSpPr txBox="1"/>
          <p:nvPr/>
        </p:nvSpPr>
        <p:spPr>
          <a:xfrm>
            <a:off x="8028952" y="2753984"/>
            <a:ext cx="414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J. R. Clem and V. G. Kogan, Phys. Rev. B </a:t>
            </a:r>
            <a:r>
              <a:rPr lang="en-US" altLang="ja-JP" sz="1200" b="1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86</a:t>
            </a:r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, 174521 (2012).</a:t>
            </a:r>
            <a:endParaRPr lang="en-US" altLang="ja-JP" sz="1200" kern="100" dirty="0">
              <a:solidFill>
                <a:schemeClr val="tx2"/>
              </a:solidFill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just"/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T. Kubo, Physical Review Research </a:t>
            </a:r>
            <a:r>
              <a:rPr lang="en-US" altLang="ja-JP" sz="1200" b="1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2</a:t>
            </a:r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, 033203 (2020).</a:t>
            </a:r>
            <a:endParaRPr lang="en-US" altLang="ja-JP" sz="1200" kern="100" dirty="0">
              <a:solidFill>
                <a:schemeClr val="tx2"/>
              </a:solidFill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E782D4FC-CF29-5791-9C5A-D69348D62A5B}"/>
              </a:ext>
            </a:extLst>
          </p:cNvPr>
          <p:cNvCxnSpPr/>
          <p:nvPr/>
        </p:nvCxnSpPr>
        <p:spPr>
          <a:xfrm>
            <a:off x="0" y="4585061"/>
            <a:ext cx="12155951" cy="0"/>
          </a:xfrm>
          <a:prstGeom prst="line">
            <a:avLst/>
          </a:prstGeom>
          <a:ln w="698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5EAB1E-DEAE-1E02-E79C-B697F3434768}"/>
              </a:ext>
            </a:extLst>
          </p:cNvPr>
          <p:cNvSpPr txBox="1"/>
          <p:nvPr/>
        </p:nvSpPr>
        <p:spPr>
          <a:xfrm>
            <a:off x="4909930" y="85725"/>
            <a:ext cx="729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 calculate the kinetic inductance, we just go back to its definition.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FF196C-B7C7-D85E-8738-3807E1A5C888}"/>
              </a:ext>
            </a:extLst>
          </p:cNvPr>
          <p:cNvSpPr txBox="1"/>
          <p:nvPr/>
        </p:nvSpPr>
        <p:spPr>
          <a:xfrm>
            <a:off x="32134" y="31068"/>
            <a:ext cx="4896982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Insight for lower frequencies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7859278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5DF83-2BF3-D972-D68D-2C22FD22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2C2F9B8-31ED-BDA2-48E3-6AADD981F9BD}"/>
                  </a:ext>
                </a:extLst>
              </p:cNvPr>
              <p:cNvSpPr txBox="1"/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2C2F9B8-31ED-BDA2-48E3-6AADD981F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A8E4590-6843-1D66-709C-EEC919507555}"/>
                  </a:ext>
                </a:extLst>
              </p:cNvPr>
              <p:cNvSpPr txBox="1"/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409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A8E4590-6843-1D66-709C-EEC919507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EA8CA205-ED72-2133-B36A-64AFE81E6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86" y="4780806"/>
            <a:ext cx="1538386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6D604D5-7D4F-BC4B-2625-81E59B5E0128}"/>
                  </a:ext>
                </a:extLst>
              </p:cNvPr>
              <p:cNvSpPr txBox="1"/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6D604D5-7D4F-BC4B-2625-81E59B5E0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blipFill>
                <a:blip r:embed="rId5"/>
                <a:stretch>
                  <a:fillRect l="-6358" r="-1156" b="-219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0B12113-BD4A-A671-96AC-97262E68F3CA}"/>
                  </a:ext>
                </a:extLst>
              </p:cNvPr>
              <p:cNvSpPr txBox="1"/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0B12113-BD4A-A671-96AC-97262E68F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6FBFBC7-FF14-52A3-3AB6-E59D1982E4F9}"/>
                  </a:ext>
                </a:extLst>
              </p:cNvPr>
              <p:cNvSpPr txBox="1"/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𝟎𝟗𝟓𝟔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6FBFBC7-FF14-52A3-3AB6-E59D1982E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C22D46E-2855-3062-AB2F-40368D0E3106}"/>
                  </a:ext>
                </a:extLst>
              </p:cNvPr>
              <p:cNvSpPr txBox="1"/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𝟏𝟕𝟕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C22D46E-2855-3062-AB2F-40368D0E3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FC88455-A63E-9F53-40FB-3309218FD88C}"/>
              </a:ext>
            </a:extLst>
          </p:cNvPr>
          <p:cNvSpPr txBox="1"/>
          <p:nvPr/>
        </p:nvSpPr>
        <p:spPr>
          <a:xfrm rot="2836733">
            <a:off x="6039620" y="5631228"/>
            <a:ext cx="101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92D050"/>
                </a:solidFill>
              </a:rPr>
              <a:t>Higgs</a:t>
            </a:r>
            <a:endParaRPr kumimoji="1" lang="ja-JP" altLang="en-US" sz="2400" dirty="0">
              <a:solidFill>
                <a:srgbClr val="92D05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6573E14-D9E9-A911-95AE-0815B11248CB}"/>
              </a:ext>
            </a:extLst>
          </p:cNvPr>
          <p:cNvSpPr txBox="1"/>
          <p:nvPr/>
        </p:nvSpPr>
        <p:spPr>
          <a:xfrm rot="2866687">
            <a:off x="4806572" y="5507434"/>
            <a:ext cx="82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C000"/>
                </a:solidFill>
              </a:rPr>
              <a:t>AAA</a:t>
            </a:r>
            <a:endParaRPr kumimoji="1" lang="ja-JP" altLang="en-US" sz="2400" dirty="0">
              <a:solidFill>
                <a:srgbClr val="FFC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700EE57-5B01-EDA3-25C1-CF04E2AD9BA2}"/>
              </a:ext>
            </a:extLst>
          </p:cNvPr>
          <p:cNvSpPr txBox="1"/>
          <p:nvPr/>
        </p:nvSpPr>
        <p:spPr>
          <a:xfrm rot="2842825">
            <a:off x="4267256" y="5985696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(23%)</a:t>
            </a:r>
            <a:endParaRPr kumimoji="1" lang="ja-JP" altLang="en-US" sz="28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69694A-7467-708A-919F-51936B561B21}"/>
              </a:ext>
            </a:extLst>
          </p:cNvPr>
          <p:cNvSpPr txBox="1"/>
          <p:nvPr/>
        </p:nvSpPr>
        <p:spPr>
          <a:xfrm rot="2842825">
            <a:off x="5477563" y="5958225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(43%)</a:t>
            </a:r>
            <a:endParaRPr kumimoji="1" lang="ja-JP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C89AF4F-B29B-D8E5-3132-FE330344F12B}"/>
                  </a:ext>
                </a:extLst>
              </p:cNvPr>
              <p:cNvSpPr txBox="1"/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600" b="0" dirty="0"/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1600" dirty="0"/>
                  <a:t>, we can analytically calculate the coefficient C 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C89AF4F-B29B-D8E5-3132-FE330344F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blipFill>
                <a:blip r:embed="rId9"/>
                <a:stretch>
                  <a:fillRect l="-2014" t="-27500" r="-1108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0620549-8416-2A72-A2D8-89E333E422AA}"/>
              </a:ext>
            </a:extLst>
          </p:cNvPr>
          <p:cNvSpPr txBox="1"/>
          <p:nvPr/>
        </p:nvSpPr>
        <p:spPr>
          <a:xfrm>
            <a:off x="2202629" y="2798040"/>
            <a:ext cx="414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22</a:t>
            </a:r>
            <a:r>
              <a:rPr lang="en-US" altLang="ja-JP" sz="1200" dirty="0">
                <a:solidFill>
                  <a:schemeClr val="tx2"/>
                </a:solidFill>
              </a:rPr>
              <a:t>, 044042 (2024)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AB5C837-8C55-8D5E-3C74-DF13B6229F87}"/>
              </a:ext>
            </a:extLst>
          </p:cNvPr>
          <p:cNvSpPr/>
          <p:nvPr/>
        </p:nvSpPr>
        <p:spPr>
          <a:xfrm>
            <a:off x="9290483" y="784087"/>
            <a:ext cx="491258" cy="7803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67B40662-3E60-5F83-829A-D4E1A3E2C11A}"/>
                  </a:ext>
                </a:extLst>
              </p:cNvPr>
              <p:cNvSpPr txBox="1"/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67B40662-3E60-5F83-829A-D4E1A3E2C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A9E08A8-3D27-ED06-2A8E-2EF81D7EA8F9}"/>
                  </a:ext>
                </a:extLst>
              </p:cNvPr>
              <p:cNvSpPr txBox="1"/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A9E08A8-3D27-ED06-2A8E-2EF81D7EA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EAD9718C-9F32-BE00-2C28-32AAB63E1E2E}"/>
                  </a:ext>
                </a:extLst>
              </p:cNvPr>
              <p:cNvSpPr/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EAD9718C-9F32-BE00-2C28-32AAB63E1E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blipFill>
                <a:blip r:embed="rId1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右 25">
            <a:extLst>
              <a:ext uri="{FF2B5EF4-FFF2-40B4-BE49-F238E27FC236}">
                <a16:creationId xmlns:a16="http://schemas.microsoft.com/office/drawing/2014/main" id="{BFF77E98-D6E6-6DD8-683B-24BC25C074A9}"/>
              </a:ext>
            </a:extLst>
          </p:cNvPr>
          <p:cNvSpPr/>
          <p:nvPr/>
        </p:nvSpPr>
        <p:spPr>
          <a:xfrm>
            <a:off x="4753735" y="669919"/>
            <a:ext cx="1100009" cy="1032478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C7C716EE-1E40-62D0-AEE8-5B4B819B2A2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5968" y="3533288"/>
            <a:ext cx="1533215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850819B-9E8C-4B40-8481-92A469EE4252}"/>
                  </a:ext>
                </a:extLst>
              </p:cNvPr>
              <p:cNvSpPr txBox="1"/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850819B-9E8C-4B40-8481-92A469EE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blipFill>
                <a:blip r:embed="rId14"/>
                <a:stretch>
                  <a:fillRect l="-5464" r="-1093" b="-227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2CD3A35-7425-C531-C45C-989F8F1E2947}"/>
                  </a:ext>
                </a:extLst>
              </p:cNvPr>
              <p:cNvSpPr txBox="1"/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2CD3A35-7425-C531-C45C-989F8F1E2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89C9084B-8385-1151-7A9B-23C52049DA1E}"/>
                  </a:ext>
                </a:extLst>
              </p:cNvPr>
              <p:cNvSpPr txBox="1"/>
              <p:nvPr/>
            </p:nvSpPr>
            <p:spPr>
              <a:xfrm>
                <a:off x="8408845" y="3598805"/>
                <a:ext cx="33587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>
                    <a:solidFill>
                      <a:schemeClr val="tx1"/>
                    </a:solidFill>
                  </a:rPr>
                  <a:t>Fast experiment (Frozen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1" lang="en-US" altLang="ja-JP" b="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89C9084B-8385-1151-7A9B-23C52049D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845" y="3598805"/>
                <a:ext cx="3358704" cy="369332"/>
              </a:xfrm>
              <a:prstGeom prst="rect">
                <a:avLst/>
              </a:prstGeom>
              <a:blipFill>
                <a:blip r:embed="rId1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DC5E1B88-282C-76CF-9967-529D8BB2C557}"/>
                  </a:ext>
                </a:extLst>
              </p:cNvPr>
              <p:cNvSpPr txBox="1"/>
              <p:nvPr/>
            </p:nvSpPr>
            <p:spPr>
              <a:xfrm>
                <a:off x="8973685" y="3857222"/>
                <a:ext cx="255301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DC5E1B88-282C-76CF-9967-529D8BB2C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685" y="3857222"/>
                <a:ext cx="2553018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0FB540D-E67E-C39A-00FD-95E14F2FA219}"/>
              </a:ext>
            </a:extLst>
          </p:cNvPr>
          <p:cNvSpPr txBox="1"/>
          <p:nvPr/>
        </p:nvSpPr>
        <p:spPr>
          <a:xfrm>
            <a:off x="8438196" y="2170821"/>
            <a:ext cx="3643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Semi-phenomenological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EB091D7-661A-C9E4-2854-AC814D6F4DB8}"/>
              </a:ext>
            </a:extLst>
          </p:cNvPr>
          <p:cNvSpPr txBox="1"/>
          <p:nvPr/>
        </p:nvSpPr>
        <p:spPr>
          <a:xfrm>
            <a:off x="568120" y="2100674"/>
            <a:ext cx="6051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Microscopic theory of </a:t>
            </a:r>
          </a:p>
          <a:p>
            <a:pPr algn="ctr"/>
            <a:r>
              <a:rPr kumimoji="1" lang="en-US" altLang="ja-JP" sz="2400" dirty="0"/>
              <a:t>nonequilibrium superconductivity</a:t>
            </a:r>
            <a:endParaRPr kumimoji="1" lang="ja-JP" altLang="en-US" sz="2400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544B8C37-DA51-ABE9-23D0-EEB1F442BBF1}"/>
              </a:ext>
            </a:extLst>
          </p:cNvPr>
          <p:cNvCxnSpPr/>
          <p:nvPr/>
        </p:nvCxnSpPr>
        <p:spPr>
          <a:xfrm>
            <a:off x="0" y="3319928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714CA50-3F5D-77AD-E91D-068918906324}"/>
              </a:ext>
            </a:extLst>
          </p:cNvPr>
          <p:cNvCxnSpPr/>
          <p:nvPr/>
        </p:nvCxnSpPr>
        <p:spPr>
          <a:xfrm>
            <a:off x="7864" y="2100674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3DC49575-F12D-F83B-8AA5-80B2CFB53367}"/>
              </a:ext>
            </a:extLst>
          </p:cNvPr>
          <p:cNvCxnSpPr>
            <a:cxnSpLocks/>
          </p:cNvCxnSpPr>
          <p:nvPr/>
        </p:nvCxnSpPr>
        <p:spPr>
          <a:xfrm>
            <a:off x="8017436" y="2079917"/>
            <a:ext cx="0" cy="4744783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5160510F-7E5E-8EF0-B5F6-241B7BBFE7BA}"/>
              </a:ext>
            </a:extLst>
          </p:cNvPr>
          <p:cNvSpPr txBox="1"/>
          <p:nvPr/>
        </p:nvSpPr>
        <p:spPr>
          <a:xfrm>
            <a:off x="8028952" y="2753984"/>
            <a:ext cx="414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J. R. Clem and V. G. Kogan, Phys. Rev. B </a:t>
            </a:r>
            <a:r>
              <a:rPr lang="en-US" altLang="ja-JP" sz="1200" b="1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86</a:t>
            </a:r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, 174521 (2012).</a:t>
            </a:r>
            <a:endParaRPr lang="en-US" altLang="ja-JP" sz="1200" kern="100" dirty="0">
              <a:solidFill>
                <a:schemeClr val="tx2"/>
              </a:solidFill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just"/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T. Kubo, Physical Review Research </a:t>
            </a:r>
            <a:r>
              <a:rPr lang="en-US" altLang="ja-JP" sz="1200" b="1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2</a:t>
            </a:r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, 033203 (2020).</a:t>
            </a:r>
            <a:endParaRPr lang="en-US" altLang="ja-JP" sz="1200" kern="100" dirty="0">
              <a:solidFill>
                <a:schemeClr val="tx2"/>
              </a:solidFill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273D21D8-9ED7-6D6F-A2A4-BC67C064513E}"/>
              </a:ext>
            </a:extLst>
          </p:cNvPr>
          <p:cNvCxnSpPr/>
          <p:nvPr/>
        </p:nvCxnSpPr>
        <p:spPr>
          <a:xfrm>
            <a:off x="0" y="4585061"/>
            <a:ext cx="12155951" cy="0"/>
          </a:xfrm>
          <a:prstGeom prst="line">
            <a:avLst/>
          </a:prstGeom>
          <a:ln w="698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6AE652-1256-C7F5-6AFB-A21A5649D720}"/>
              </a:ext>
            </a:extLst>
          </p:cNvPr>
          <p:cNvSpPr txBox="1"/>
          <p:nvPr/>
        </p:nvSpPr>
        <p:spPr>
          <a:xfrm>
            <a:off x="4909930" y="85725"/>
            <a:ext cx="729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 calculate the kinetic inductance, we just go back to its definition.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663F6E-898B-6088-B577-A0DB90A66AEE}"/>
              </a:ext>
            </a:extLst>
          </p:cNvPr>
          <p:cNvSpPr txBox="1"/>
          <p:nvPr/>
        </p:nvSpPr>
        <p:spPr>
          <a:xfrm>
            <a:off x="32134" y="31068"/>
            <a:ext cx="4896982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Insight for lower frequencies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6419870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FF73F-315F-447D-4B16-ED9DC170D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7B010ED7-0846-2BB0-06D3-299970C63063}"/>
                  </a:ext>
                </a:extLst>
              </p:cNvPr>
              <p:cNvSpPr txBox="1"/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7B010ED7-0846-2BB0-06D3-299970C63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53" y="497138"/>
                <a:ext cx="6104427" cy="1289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DFA1BDE-92AC-02DA-2541-EC0E771DDBB6}"/>
                  </a:ext>
                </a:extLst>
              </p:cNvPr>
              <p:cNvSpPr txBox="1"/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409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DFA1BDE-92AC-02DA-2541-EC0E771DD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726" y="4964452"/>
                <a:ext cx="5535426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23511B7B-4779-2C97-B075-E6D6144AB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86" y="4780806"/>
            <a:ext cx="1538386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8238A19-83A5-50EC-9B54-5248ECA88352}"/>
                  </a:ext>
                </a:extLst>
              </p:cNvPr>
              <p:cNvSpPr txBox="1"/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8238A19-83A5-50EC-9B54-5248ECA8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9" y="4869451"/>
                <a:ext cx="1041631" cy="738664"/>
              </a:xfrm>
              <a:prstGeom prst="rect">
                <a:avLst/>
              </a:prstGeom>
              <a:blipFill>
                <a:blip r:embed="rId5"/>
                <a:stretch>
                  <a:fillRect l="-6358" r="-1156" b="-219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3BBC5E23-95EE-E594-4D37-9BFC8465A43E}"/>
                  </a:ext>
                </a:extLst>
              </p:cNvPr>
              <p:cNvSpPr txBox="1"/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3BBC5E23-95EE-E594-4D37-9BFC8465A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3143382" y="5691919"/>
                <a:ext cx="11359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D3DF5ED-CC7E-C423-46FF-12CC02256910}"/>
                  </a:ext>
                </a:extLst>
              </p:cNvPr>
              <p:cNvSpPr txBox="1"/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𝟎𝟗𝟓𝟔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D3DF5ED-CC7E-C423-46FF-12CC02256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4283598" y="5758560"/>
                <a:ext cx="161185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DD4FE3AF-B2FE-6DD5-BD86-701CB7863CA8}"/>
                  </a:ext>
                </a:extLst>
              </p:cNvPr>
              <p:cNvSpPr txBox="1"/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𝟏𝟕𝟕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DD4FE3AF-B2FE-6DD5-BD86-701CB7863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5478512" y="5689124"/>
                <a:ext cx="142750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83E2B9C-940E-29A8-87F0-B6AE2674556A}"/>
              </a:ext>
            </a:extLst>
          </p:cNvPr>
          <p:cNvSpPr txBox="1"/>
          <p:nvPr/>
        </p:nvSpPr>
        <p:spPr>
          <a:xfrm rot="2836733">
            <a:off x="6039620" y="5631228"/>
            <a:ext cx="101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92D050"/>
                </a:solidFill>
              </a:rPr>
              <a:t>Higgs</a:t>
            </a:r>
            <a:endParaRPr kumimoji="1" lang="ja-JP" altLang="en-US" sz="2400" dirty="0">
              <a:solidFill>
                <a:srgbClr val="92D05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91DB3CC-B5E3-C314-79BA-4E443B42BB72}"/>
              </a:ext>
            </a:extLst>
          </p:cNvPr>
          <p:cNvSpPr txBox="1"/>
          <p:nvPr/>
        </p:nvSpPr>
        <p:spPr>
          <a:xfrm rot="2866687">
            <a:off x="4806572" y="5507434"/>
            <a:ext cx="82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C000"/>
                </a:solidFill>
              </a:rPr>
              <a:t>AAA</a:t>
            </a:r>
            <a:endParaRPr kumimoji="1" lang="ja-JP" altLang="en-US" sz="2400" dirty="0">
              <a:solidFill>
                <a:srgbClr val="FFC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5973A3C-A46E-8773-38C2-706BA6E83BC4}"/>
              </a:ext>
            </a:extLst>
          </p:cNvPr>
          <p:cNvSpPr txBox="1"/>
          <p:nvPr/>
        </p:nvSpPr>
        <p:spPr>
          <a:xfrm rot="2842825">
            <a:off x="4267256" y="5985696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(23%)</a:t>
            </a:r>
            <a:endParaRPr kumimoji="1" lang="ja-JP" altLang="en-US" sz="28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FA26205-4C4A-82C2-C2BD-A6A1F9100A0E}"/>
              </a:ext>
            </a:extLst>
          </p:cNvPr>
          <p:cNvSpPr txBox="1"/>
          <p:nvPr/>
        </p:nvSpPr>
        <p:spPr>
          <a:xfrm rot="2842825">
            <a:off x="5477563" y="5958225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(43%)</a:t>
            </a:r>
            <a:endParaRPr kumimoji="1" lang="ja-JP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482F69C-C01F-ED1C-5536-79D8957E950F}"/>
                  </a:ext>
                </a:extLst>
              </p:cNvPr>
              <p:cNvSpPr txBox="1"/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600" b="0" dirty="0"/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1600" dirty="0"/>
                  <a:t>, we can analytically calculate the coefficient C 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482F69C-C01F-ED1C-5536-79D8957E9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12" y="1752740"/>
                <a:ext cx="6051785" cy="246221"/>
              </a:xfrm>
              <a:prstGeom prst="rect">
                <a:avLst/>
              </a:prstGeom>
              <a:blipFill>
                <a:blip r:embed="rId9"/>
                <a:stretch>
                  <a:fillRect l="-2014" t="-27500" r="-1108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291ED52-2432-CF78-D228-99EDA37E3463}"/>
              </a:ext>
            </a:extLst>
          </p:cNvPr>
          <p:cNvSpPr txBox="1"/>
          <p:nvPr/>
        </p:nvSpPr>
        <p:spPr>
          <a:xfrm>
            <a:off x="2202629" y="2798040"/>
            <a:ext cx="414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22</a:t>
            </a:r>
            <a:r>
              <a:rPr lang="en-US" altLang="ja-JP" sz="1200" dirty="0">
                <a:solidFill>
                  <a:schemeClr val="tx2"/>
                </a:solidFill>
              </a:rPr>
              <a:t>, 044042 (2024)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845C829-F976-9311-4D50-FB41287358CA}"/>
              </a:ext>
            </a:extLst>
          </p:cNvPr>
          <p:cNvSpPr/>
          <p:nvPr/>
        </p:nvSpPr>
        <p:spPr>
          <a:xfrm>
            <a:off x="9290483" y="784087"/>
            <a:ext cx="491258" cy="7803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D556755-B537-AA08-59BA-1B9871D0BE21}"/>
                  </a:ext>
                </a:extLst>
              </p:cNvPr>
              <p:cNvSpPr txBox="1"/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D556755-B537-AA08-59BA-1B9871D0B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0" y="706100"/>
                <a:ext cx="1192762" cy="9059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404BAA4-3291-985C-1B0B-29E4884A89DC}"/>
                  </a:ext>
                </a:extLst>
              </p:cNvPr>
              <p:cNvSpPr txBox="1"/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404BAA4-3291-985C-1B0B-29E4884A8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900" y="715512"/>
                <a:ext cx="1550809" cy="8799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F73A619F-3CA3-19D7-1364-D8775C719E43}"/>
                  </a:ext>
                </a:extLst>
              </p:cNvPr>
              <p:cNvSpPr/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5" name="矢印: 右 24">
                <a:extLst>
                  <a:ext uri="{FF2B5EF4-FFF2-40B4-BE49-F238E27FC236}">
                    <a16:creationId xmlns:a16="http://schemas.microsoft.com/office/drawing/2014/main" id="{F73A619F-3CA3-19D7-1364-D8775C719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48" y="684482"/>
                <a:ext cx="1464112" cy="1032478"/>
              </a:xfrm>
              <a:prstGeom prst="rightArrow">
                <a:avLst/>
              </a:prstGeom>
              <a:blipFill>
                <a:blip r:embed="rId1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右 25">
            <a:extLst>
              <a:ext uri="{FF2B5EF4-FFF2-40B4-BE49-F238E27FC236}">
                <a16:creationId xmlns:a16="http://schemas.microsoft.com/office/drawing/2014/main" id="{47CE2E21-CFC9-C369-8E52-1F227DF6F8CF}"/>
              </a:ext>
            </a:extLst>
          </p:cNvPr>
          <p:cNvSpPr/>
          <p:nvPr/>
        </p:nvSpPr>
        <p:spPr>
          <a:xfrm>
            <a:off x="4753735" y="669919"/>
            <a:ext cx="1100009" cy="1032478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127960FB-438A-11D4-404A-936DE2A501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5968" y="3533288"/>
            <a:ext cx="1533215" cy="1013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393064C7-4557-E5C3-8401-67222D6F1D5F}"/>
                  </a:ext>
                </a:extLst>
              </p:cNvPr>
              <p:cNvSpPr txBox="1"/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393064C7-4557-E5C3-8401-67222D6F1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" y="3627295"/>
                <a:ext cx="1102545" cy="738664"/>
              </a:xfrm>
              <a:prstGeom prst="rect">
                <a:avLst/>
              </a:prstGeom>
              <a:blipFill>
                <a:blip r:embed="rId14"/>
                <a:stretch>
                  <a:fillRect l="-5464" r="-1093" b="-227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5485E090-9A5F-F836-E9D8-5D914EB0416D}"/>
                  </a:ext>
                </a:extLst>
              </p:cNvPr>
              <p:cNvSpPr txBox="1"/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5485E090-9A5F-F836-E9D8-5D914EB04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880" y="3753009"/>
                <a:ext cx="3139257" cy="5129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E55336D-6CE6-CF6B-BBE0-F90645E6DF12}"/>
                  </a:ext>
                </a:extLst>
              </p:cNvPr>
              <p:cNvSpPr txBox="1"/>
              <p:nvPr/>
            </p:nvSpPr>
            <p:spPr>
              <a:xfrm>
                <a:off x="8408845" y="3598805"/>
                <a:ext cx="33587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>
                    <a:solidFill>
                      <a:schemeClr val="tx1"/>
                    </a:solidFill>
                  </a:rPr>
                  <a:t>Fast experiment (Frozen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1" lang="en-US" altLang="ja-JP" b="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E55336D-6CE6-CF6B-BBE0-F90645E6D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845" y="3598805"/>
                <a:ext cx="3358704" cy="369332"/>
              </a:xfrm>
              <a:prstGeom prst="rect">
                <a:avLst/>
              </a:prstGeom>
              <a:blipFill>
                <a:blip r:embed="rId1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B5021B4-9CC7-59B2-2B6F-B1EAF78A4EF1}"/>
                  </a:ext>
                </a:extLst>
              </p:cNvPr>
              <p:cNvSpPr txBox="1"/>
              <p:nvPr/>
            </p:nvSpPr>
            <p:spPr>
              <a:xfrm>
                <a:off x="8275034" y="4780806"/>
                <a:ext cx="3807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>
                    <a:solidFill>
                      <a:schemeClr val="tx1"/>
                    </a:solidFill>
                  </a:rPr>
                  <a:t>Slow experiment (Oscillating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1" lang="ja-JP" altLang="en-US" b="1" dirty="0">
                    <a:solidFill>
                      <a:schemeClr val="tx1"/>
                    </a:solidFill>
                  </a:rPr>
                  <a:t>）</a:t>
                </a:r>
                <a:endParaRPr kumimoji="1" lang="en-US" altLang="ja-JP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B5021B4-9CC7-59B2-2B6F-B1EAF78A4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034" y="4780806"/>
                <a:ext cx="3807108" cy="369332"/>
              </a:xfrm>
              <a:prstGeom prst="rect">
                <a:avLst/>
              </a:prstGeom>
              <a:blipFill>
                <a:blip r:embed="rId17"/>
                <a:stretch>
                  <a:fillRect t="-11475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507F6AFF-4256-6C32-E16A-0303666B2C5A}"/>
                  </a:ext>
                </a:extLst>
              </p:cNvPr>
              <p:cNvSpPr txBox="1"/>
              <p:nvPr/>
            </p:nvSpPr>
            <p:spPr>
              <a:xfrm>
                <a:off x="8973685" y="3857222"/>
                <a:ext cx="255301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507F6AFF-4256-6C32-E16A-0303666B2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685" y="3857222"/>
                <a:ext cx="2553018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4107E310-BE0B-861E-6CD5-DBB0E78F4379}"/>
                  </a:ext>
                </a:extLst>
              </p:cNvPr>
              <p:cNvSpPr txBox="1"/>
              <p:nvPr/>
            </p:nvSpPr>
            <p:spPr>
              <a:xfrm>
                <a:off x="9003283" y="5106748"/>
                <a:ext cx="255301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409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4107E310-BE0B-861E-6CD5-DBB0E78F4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283" y="5106748"/>
                <a:ext cx="2553018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71D9220-4BEA-0462-F969-FE4F34C975F6}"/>
              </a:ext>
            </a:extLst>
          </p:cNvPr>
          <p:cNvSpPr txBox="1"/>
          <p:nvPr/>
        </p:nvSpPr>
        <p:spPr>
          <a:xfrm>
            <a:off x="8438196" y="2170821"/>
            <a:ext cx="3643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Semi-phenomenological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4F1A160-528F-B5D2-2CB1-889EFB48D705}"/>
              </a:ext>
            </a:extLst>
          </p:cNvPr>
          <p:cNvSpPr txBox="1"/>
          <p:nvPr/>
        </p:nvSpPr>
        <p:spPr>
          <a:xfrm>
            <a:off x="568120" y="2100674"/>
            <a:ext cx="6051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Microscopic theory of </a:t>
            </a:r>
          </a:p>
          <a:p>
            <a:pPr algn="ctr"/>
            <a:r>
              <a:rPr kumimoji="1" lang="en-US" altLang="ja-JP" sz="2400" dirty="0"/>
              <a:t>nonequilibrium superconductivity</a:t>
            </a:r>
            <a:endParaRPr kumimoji="1" lang="ja-JP" altLang="en-US" sz="2400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380B7771-190E-AAF8-ECC1-9AAAF514AE99}"/>
              </a:ext>
            </a:extLst>
          </p:cNvPr>
          <p:cNvCxnSpPr/>
          <p:nvPr/>
        </p:nvCxnSpPr>
        <p:spPr>
          <a:xfrm>
            <a:off x="0" y="3319928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AA8C218-470E-3F96-71EB-62ABD4FEAAB8}"/>
              </a:ext>
            </a:extLst>
          </p:cNvPr>
          <p:cNvCxnSpPr/>
          <p:nvPr/>
        </p:nvCxnSpPr>
        <p:spPr>
          <a:xfrm>
            <a:off x="7864" y="2100674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7454EED1-6EF3-85EE-8068-82C41E3C1E75}"/>
              </a:ext>
            </a:extLst>
          </p:cNvPr>
          <p:cNvCxnSpPr>
            <a:cxnSpLocks/>
          </p:cNvCxnSpPr>
          <p:nvPr/>
        </p:nvCxnSpPr>
        <p:spPr>
          <a:xfrm>
            <a:off x="8017436" y="2079917"/>
            <a:ext cx="0" cy="4744783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3335E13-8994-36E4-CED2-34FAE559E209}"/>
              </a:ext>
            </a:extLst>
          </p:cNvPr>
          <p:cNvSpPr txBox="1"/>
          <p:nvPr/>
        </p:nvSpPr>
        <p:spPr>
          <a:xfrm>
            <a:off x="8028952" y="2753984"/>
            <a:ext cx="414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J. R. Clem and V. G. Kogan, Phys. Rev. B </a:t>
            </a:r>
            <a:r>
              <a:rPr lang="en-US" altLang="ja-JP" sz="1200" b="1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86</a:t>
            </a:r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, 174521 (2012).</a:t>
            </a:r>
            <a:endParaRPr lang="en-US" altLang="ja-JP" sz="1200" kern="100" dirty="0">
              <a:solidFill>
                <a:schemeClr val="tx2"/>
              </a:solidFill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just"/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T. Kubo, Physical Review Research </a:t>
            </a:r>
            <a:r>
              <a:rPr lang="en-US" altLang="ja-JP" sz="1200" b="1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2</a:t>
            </a:r>
            <a:r>
              <a:rPr lang="en-US" altLang="ja-JP" sz="1200" kern="100" dirty="0">
                <a:solidFill>
                  <a:schemeClr val="tx2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, 033203 (2020).</a:t>
            </a:r>
            <a:endParaRPr lang="en-US" altLang="ja-JP" sz="1200" kern="100" dirty="0">
              <a:solidFill>
                <a:schemeClr val="tx2"/>
              </a:solidFill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4ABD8F41-44EE-E4E8-1D0B-24B0162FC105}"/>
              </a:ext>
            </a:extLst>
          </p:cNvPr>
          <p:cNvCxnSpPr/>
          <p:nvPr/>
        </p:nvCxnSpPr>
        <p:spPr>
          <a:xfrm>
            <a:off x="0" y="4585061"/>
            <a:ext cx="12155951" cy="0"/>
          </a:xfrm>
          <a:prstGeom prst="line">
            <a:avLst/>
          </a:prstGeom>
          <a:ln w="698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ED7DCB-7CEE-11CE-CFED-0AF9B31D40A8}"/>
              </a:ext>
            </a:extLst>
          </p:cNvPr>
          <p:cNvSpPr txBox="1"/>
          <p:nvPr/>
        </p:nvSpPr>
        <p:spPr>
          <a:xfrm>
            <a:off x="4909930" y="85725"/>
            <a:ext cx="729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 calculate the kinetic inductance, we just go back to its definition.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BC81CC-F51F-88B3-AF0C-1F58BCD4E7D0}"/>
              </a:ext>
            </a:extLst>
          </p:cNvPr>
          <p:cNvSpPr txBox="1"/>
          <p:nvPr/>
        </p:nvSpPr>
        <p:spPr>
          <a:xfrm>
            <a:off x="32134" y="31068"/>
            <a:ext cx="4896982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Insight for lower frequencies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0119033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72CE-BEA5-3CF9-0478-0BE4A223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877CFB5-4872-F90E-539E-AF0A79D3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3C58-AB0B-4AE7-BAF7-8EFBD51A7E73}" type="slidenum">
              <a:rPr kumimoji="1" lang="ja-JP" altLang="en-US" smtClean="0"/>
              <a:t>143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019529F-C927-E00B-7A8C-F97AEC54CD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85659" y="1986842"/>
            <a:ext cx="4815350" cy="47359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CCB64F1-10D5-3CD6-FDA5-9B65C10ED8A4}"/>
                  </a:ext>
                </a:extLst>
              </p:cNvPr>
              <p:cNvSpPr txBox="1"/>
              <p:nvPr/>
            </p:nvSpPr>
            <p:spPr>
              <a:xfrm>
                <a:off x="7059981" y="1088877"/>
                <a:ext cx="3927998" cy="806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CCB64F1-10D5-3CD6-FDA5-9B65C10ED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981" y="1088877"/>
                <a:ext cx="3927998" cy="806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1C294DBB-F315-5CC7-B2CC-97A4769E9414}"/>
              </a:ext>
            </a:extLst>
          </p:cNvPr>
          <p:cNvCxnSpPr>
            <a:cxnSpLocks/>
          </p:cNvCxnSpPr>
          <p:nvPr/>
        </p:nvCxnSpPr>
        <p:spPr>
          <a:xfrm flipH="1">
            <a:off x="3721818" y="2870000"/>
            <a:ext cx="3805323" cy="0"/>
          </a:xfrm>
          <a:prstGeom prst="straightConnector1">
            <a:avLst/>
          </a:prstGeom>
          <a:ln w="5080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DD3A73C-F68C-D315-203E-3141495206F3}"/>
                  </a:ext>
                </a:extLst>
              </p:cNvPr>
              <p:cNvSpPr txBox="1"/>
              <p:nvPr/>
            </p:nvSpPr>
            <p:spPr>
              <a:xfrm>
                <a:off x="1425975" y="4573314"/>
                <a:ext cx="25084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ja-JP" altLang="en-US" sz="36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EDD3A73C-F68C-D315-203E-314149520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975" y="4573314"/>
                <a:ext cx="250842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F1E5BF4-1C16-8CB6-C095-DC9FD9A51C1A}"/>
                  </a:ext>
                </a:extLst>
              </p:cNvPr>
              <p:cNvSpPr txBox="1"/>
              <p:nvPr/>
            </p:nvSpPr>
            <p:spPr>
              <a:xfrm>
                <a:off x="1887069" y="2523082"/>
                <a:ext cx="171328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ja-JP" altLang="en-US" sz="32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F1E5BF4-1C16-8CB6-C095-DC9FD9A51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7069" y="2523082"/>
                <a:ext cx="171328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649CD87-6A59-C9B2-CECA-25B0F09A5A77}"/>
                  </a:ext>
                </a:extLst>
              </p:cNvPr>
              <p:cNvSpPr txBox="1"/>
              <p:nvPr/>
            </p:nvSpPr>
            <p:spPr>
              <a:xfrm rot="1260874">
                <a:off x="7805444" y="2705822"/>
                <a:ext cx="10933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kumimoji="1" lang="en-US" altLang="ja-JP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kumimoji="1" lang="en-US" altLang="ja-JP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𝒅𝒄</m:t>
                      </m:r>
                    </m:oMath>
                  </m:oMathPara>
                </a14:m>
                <a:endParaRPr kumimoji="1" lang="ja-JP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649CD87-6A59-C9B2-CECA-25B0F09A5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60874">
                <a:off x="7805444" y="2705822"/>
                <a:ext cx="109337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B39EDC0B-34B9-9387-4447-ED3BDA66D03E}"/>
                  </a:ext>
                </a:extLst>
              </p:cNvPr>
              <p:cNvSpPr txBox="1"/>
              <p:nvPr/>
            </p:nvSpPr>
            <p:spPr>
              <a:xfrm>
                <a:off x="7586659" y="4557064"/>
                <a:ext cx="114467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kumimoji="1" lang="en-US" altLang="ja-JP" sz="20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kumimoji="1" lang="en-US" altLang="ja-JP" sz="20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𝒅𝒄</m:t>
                      </m:r>
                    </m:oMath>
                  </m:oMathPara>
                </a14:m>
                <a:endParaRPr kumimoji="1" lang="ja-JP" altLang="en-US" sz="20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B39EDC0B-34B9-9387-4447-ED3BDA66D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659" y="4557064"/>
                <a:ext cx="114467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図 20">
            <a:extLst>
              <a:ext uri="{FF2B5EF4-FFF2-40B4-BE49-F238E27FC236}">
                <a16:creationId xmlns:a16="http://schemas.microsoft.com/office/drawing/2014/main" id="{0F3527B6-A4F6-6623-9235-219DF12805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2693" y="5022034"/>
            <a:ext cx="1855191" cy="1226366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96514737-222B-FAD9-AD09-58AEABE8FB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0531" y="1335763"/>
            <a:ext cx="1858319" cy="1223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5E5E64D-F2FA-1684-C2D7-33ABBB5AB1BC}"/>
                  </a:ext>
                </a:extLst>
              </p:cNvPr>
              <p:cNvSpPr txBox="1"/>
              <p:nvPr/>
            </p:nvSpPr>
            <p:spPr>
              <a:xfrm>
                <a:off x="0" y="27914"/>
                <a:ext cx="12191999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b="1" u="sng" dirty="0"/>
                  <a:t>“</a:t>
                </a:r>
                <a:r>
                  <a:rPr kumimoji="1" lang="en-US" altLang="ja-JP" sz="2800" i="1" u="sng" dirty="0"/>
                  <a:t>C</a:t>
                </a:r>
                <a:r>
                  <a:rPr kumimoji="1" lang="en-US" altLang="ja-JP" sz="2800" b="1" u="sng" dirty="0"/>
                  <a:t>” from the </a:t>
                </a:r>
                <a:r>
                  <a:rPr kumimoji="1" lang="en-US" altLang="ja-JP" sz="2800" b="1" u="sng" dirty="0" err="1"/>
                  <a:t>Keldysh</a:t>
                </a:r>
                <a:r>
                  <a:rPr kumimoji="1" lang="en-US" altLang="ja-JP" sz="2800" b="1" u="sng" dirty="0"/>
                  <a:t>-Eilenberger theory</a:t>
                </a:r>
                <a:r>
                  <a:rPr kumimoji="1" lang="en-US" altLang="ja-JP" sz="2800" dirty="0"/>
                  <a:t>, </a:t>
                </a:r>
                <a:r>
                  <a:rPr kumimoji="1" lang="en-US" altLang="ja-JP" sz="2000" dirty="0"/>
                  <a:t>which is a microscopic theory of </a:t>
                </a:r>
                <a:r>
                  <a:rPr kumimoji="1" lang="en-US" altLang="ja-JP" sz="2000" b="1" dirty="0"/>
                  <a:t>nonequilibrium</a:t>
                </a:r>
                <a:r>
                  <a:rPr kumimoji="1" lang="en-US" altLang="ja-JP" sz="2000" dirty="0"/>
                  <a:t> superconductivity and is applicable at any temperature (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-US" altLang="ja-JP" sz="2000" dirty="0"/>
                  <a:t>) and for arbitrary mean free path. </a:t>
                </a: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5E5E64D-F2FA-1684-C2D7-33ABBB5AB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914"/>
                <a:ext cx="12191999" cy="1138773"/>
              </a:xfrm>
              <a:prstGeom prst="rect">
                <a:avLst/>
              </a:prstGeom>
              <a:blipFill>
                <a:blip r:embed="rId10"/>
                <a:stretch>
                  <a:fillRect l="-1000" t="-6452" r="-200" b="-914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203A7389-A95E-D47B-D0F7-FA8A145FB631}"/>
              </a:ext>
            </a:extLst>
          </p:cNvPr>
          <p:cNvCxnSpPr>
            <a:cxnSpLocks/>
          </p:cNvCxnSpPr>
          <p:nvPr/>
        </p:nvCxnSpPr>
        <p:spPr>
          <a:xfrm flipH="1">
            <a:off x="3803098" y="4878161"/>
            <a:ext cx="3805323" cy="0"/>
          </a:xfrm>
          <a:prstGeom prst="straightConnector1">
            <a:avLst/>
          </a:prstGeom>
          <a:ln w="5080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77A842D-0AEC-EF97-C9A8-C909874CD303}"/>
              </a:ext>
            </a:extLst>
          </p:cNvPr>
          <p:cNvSpPr txBox="1"/>
          <p:nvPr/>
        </p:nvSpPr>
        <p:spPr>
          <a:xfrm>
            <a:off x="750123" y="3550822"/>
            <a:ext cx="50883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000" b="1" dirty="0"/>
              <a:t>Consistent with the dirty limit result </a:t>
            </a:r>
          </a:p>
          <a:p>
            <a:r>
              <a:rPr kumimoji="1" lang="en-US" altLang="ja-JP" sz="2000" b="1" dirty="0"/>
              <a:t>obtained from the </a:t>
            </a:r>
            <a:r>
              <a:rPr kumimoji="1" lang="en-US" altLang="ja-JP" sz="2000" b="1" dirty="0" err="1"/>
              <a:t>Keldysh-Usadel</a:t>
            </a:r>
            <a:endParaRPr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957ED9-BD20-CDF2-656A-57DA1B063D8E}"/>
              </a:ext>
            </a:extLst>
          </p:cNvPr>
          <p:cNvSpPr txBox="1"/>
          <p:nvPr/>
        </p:nvSpPr>
        <p:spPr>
          <a:xfrm>
            <a:off x="29774" y="6285144"/>
            <a:ext cx="5123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Kubo, Phys. Rev. Applied 22, 044042 (2024)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 DOI: </a:t>
            </a:r>
            <a:r>
              <a:rPr lang="en-US" altLang="ja-JP" sz="1400" dirty="0">
                <a:solidFill>
                  <a:schemeClr val="tx2"/>
                </a:solidFill>
                <a:hlinkClick r:id="rId11"/>
              </a:rPr>
              <a:t>https://doi.org/10.1103/PhysRevApplied.22.044042</a:t>
            </a:r>
            <a:endParaRPr lang="en-US" altLang="ja-JP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83568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F9B6-F745-7B43-2162-DE729B51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FD64015-A7CA-F206-E737-7FB3DB8B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4DA5E-C26F-4550-A01A-8DBB4B86492C}" type="slidenum">
              <a:rPr kumimoji="1" lang="ja-JP" altLang="en-US" smtClean="0"/>
              <a:t>144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F414F5C-2AEF-1F2A-86F2-FD6EC1076B67}"/>
                  </a:ext>
                </a:extLst>
              </p:cNvPr>
              <p:cNvSpPr txBox="1"/>
              <p:nvPr/>
            </p:nvSpPr>
            <p:spPr>
              <a:xfrm>
                <a:off x="1" y="29679"/>
                <a:ext cx="12192000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/>
                  <a:t>We have finally come to understand the </a:t>
                </a:r>
                <a:r>
                  <a:rPr kumimoji="1" lang="en-US" altLang="ja-JP" sz="3600" b="1" i="1" u="sng" dirty="0"/>
                  <a:t>true meaning </a:t>
                </a:r>
                <a:r>
                  <a:rPr kumimoji="1" lang="en-US" altLang="ja-JP" sz="3200" dirty="0"/>
                  <a:t>of the semi-phenomenological approach: frozen and oscillating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1" lang="en-US" altLang="ja-JP" sz="3200" dirty="0"/>
                  <a:t> </a:t>
                </a:r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F414F5C-2AEF-1F2A-86F2-FD6EC1076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9679"/>
                <a:ext cx="12192000" cy="1138773"/>
              </a:xfrm>
              <a:prstGeom prst="rect">
                <a:avLst/>
              </a:prstGeom>
              <a:blipFill>
                <a:blip r:embed="rId2"/>
                <a:stretch>
                  <a:fillRect l="-1250" t="-9091" b="-16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37005A57-B360-FADA-DBA4-8E15CD5A47B2}"/>
                  </a:ext>
                </a:extLst>
              </p:cNvPr>
              <p:cNvSpPr txBox="1"/>
              <p:nvPr/>
            </p:nvSpPr>
            <p:spPr>
              <a:xfrm>
                <a:off x="0" y="4101117"/>
                <a:ext cx="2621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chemeClr val="tx1"/>
                    </a:solidFill>
                  </a:rPr>
                  <a:t>Frozen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kumimoji="1" lang="en-US" altLang="ja-JP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37005A57-B360-FADA-DBA4-8E15CD5A4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01117"/>
                <a:ext cx="2621280" cy="523220"/>
              </a:xfrm>
              <a:prstGeom prst="rect">
                <a:avLst/>
              </a:prstGeom>
              <a:blipFill>
                <a:blip r:embed="rId3"/>
                <a:stretch>
                  <a:fillRect t="-13953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9FBC4D-3529-951A-A9B1-45135309A6BE}"/>
              </a:ext>
            </a:extLst>
          </p:cNvPr>
          <p:cNvSpPr txBox="1"/>
          <p:nvPr/>
        </p:nvSpPr>
        <p:spPr>
          <a:xfrm>
            <a:off x="2621280" y="3842711"/>
            <a:ext cx="5575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The ac frequency is so </a:t>
            </a:r>
            <a:r>
              <a:rPr kumimoji="1" lang="en-US" altLang="ja-JP" sz="2400" b="1" u="sng" dirty="0"/>
              <a:t>fast</a:t>
            </a:r>
            <a:r>
              <a:rPr kumimoji="1" lang="en-US" altLang="ja-JP" sz="2400" dirty="0"/>
              <a:t> that </a:t>
            </a:r>
          </a:p>
          <a:p>
            <a:r>
              <a:rPr kumimoji="1" lang="en-US" altLang="ja-JP" sz="2400" dirty="0"/>
              <a:t>the superfluid density cannot follow it.</a:t>
            </a:r>
          </a:p>
          <a:p>
            <a:pPr algn="ctr"/>
            <a:r>
              <a:rPr kumimoji="1" lang="en-US" altLang="ja-JP" sz="2400" dirty="0"/>
              <a:t>(Fast experiment)</a:t>
            </a:r>
            <a:endParaRPr kumimoji="1" lang="ja-JP" altLang="en-US" sz="24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28D32A4-F83A-229B-0FDB-8FEE034A64B2}"/>
              </a:ext>
            </a:extLst>
          </p:cNvPr>
          <p:cNvCxnSpPr>
            <a:cxnSpLocks/>
          </p:cNvCxnSpPr>
          <p:nvPr/>
        </p:nvCxnSpPr>
        <p:spPr>
          <a:xfrm flipV="1">
            <a:off x="2523612" y="1523307"/>
            <a:ext cx="0" cy="5220749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B1BA1B3-AFCF-8A93-6E2D-6DD32C697AC8}"/>
              </a:ext>
            </a:extLst>
          </p:cNvPr>
          <p:cNvCxnSpPr/>
          <p:nvPr/>
        </p:nvCxnSpPr>
        <p:spPr>
          <a:xfrm>
            <a:off x="0" y="3719632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2D4A3A6-A8E5-4A94-57CA-3B86E6AB1D25}"/>
              </a:ext>
            </a:extLst>
          </p:cNvPr>
          <p:cNvCxnSpPr/>
          <p:nvPr/>
        </p:nvCxnSpPr>
        <p:spPr>
          <a:xfrm>
            <a:off x="20320" y="5253792"/>
            <a:ext cx="12155951" cy="0"/>
          </a:xfrm>
          <a:prstGeom prst="line">
            <a:avLst/>
          </a:prstGeom>
          <a:ln w="698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02DB334-E3F4-6A58-5CBD-687CA50AB6F0}"/>
              </a:ext>
            </a:extLst>
          </p:cNvPr>
          <p:cNvSpPr txBox="1"/>
          <p:nvPr/>
        </p:nvSpPr>
        <p:spPr>
          <a:xfrm>
            <a:off x="2859429" y="2591046"/>
            <a:ext cx="4324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What has long been believed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EE825B-C374-9F3D-D1FD-8AD25FFD8395}"/>
              </a:ext>
            </a:extLst>
          </p:cNvPr>
          <p:cNvSpPr txBox="1"/>
          <p:nvPr/>
        </p:nvSpPr>
        <p:spPr>
          <a:xfrm>
            <a:off x="2935923" y="2025763"/>
            <a:ext cx="4171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[When Does it happen?]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8772282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C613638-3A72-3EBB-EEBC-015FFF1E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4DA5E-C26F-4550-A01A-8DBB4B86492C}" type="slidenum">
              <a:rPr kumimoji="1" lang="ja-JP" altLang="en-US" smtClean="0"/>
              <a:t>145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8578E83D-7E7A-8BBD-0CDC-AC2AFE2A816E}"/>
                  </a:ext>
                </a:extLst>
              </p:cNvPr>
              <p:cNvSpPr txBox="1"/>
              <p:nvPr/>
            </p:nvSpPr>
            <p:spPr>
              <a:xfrm>
                <a:off x="0" y="4101117"/>
                <a:ext cx="2621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chemeClr val="tx1"/>
                    </a:solidFill>
                  </a:rPr>
                  <a:t>Frozen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kumimoji="1" lang="en-US" altLang="ja-JP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8578E83D-7E7A-8BBD-0CDC-AC2AFE2A8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01117"/>
                <a:ext cx="2621280" cy="523220"/>
              </a:xfrm>
              <a:prstGeom prst="rect">
                <a:avLst/>
              </a:prstGeom>
              <a:blipFill>
                <a:blip r:embed="rId2"/>
                <a:stretch>
                  <a:fillRect t="-13953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C19364D-A9CF-3259-FD37-5090D2735848}"/>
              </a:ext>
            </a:extLst>
          </p:cNvPr>
          <p:cNvSpPr txBox="1"/>
          <p:nvPr/>
        </p:nvSpPr>
        <p:spPr>
          <a:xfrm>
            <a:off x="2621280" y="3842711"/>
            <a:ext cx="5575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The ac frequency is so </a:t>
            </a:r>
            <a:r>
              <a:rPr kumimoji="1" lang="en-US" altLang="ja-JP" sz="2400" b="1" u="sng" dirty="0"/>
              <a:t>fast</a:t>
            </a:r>
            <a:r>
              <a:rPr kumimoji="1" lang="en-US" altLang="ja-JP" sz="2400" dirty="0"/>
              <a:t> that </a:t>
            </a:r>
          </a:p>
          <a:p>
            <a:r>
              <a:rPr kumimoji="1" lang="en-US" altLang="ja-JP" sz="2400" dirty="0"/>
              <a:t>the superfluid density cannot follow it.</a:t>
            </a:r>
          </a:p>
          <a:p>
            <a:pPr algn="ctr"/>
            <a:r>
              <a:rPr kumimoji="1" lang="en-US" altLang="ja-JP" sz="2400" dirty="0"/>
              <a:t>(Fast experiment)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B0E01BF-6161-9900-E9C6-B26C706BB954}"/>
                  </a:ext>
                </a:extLst>
              </p:cNvPr>
              <p:cNvSpPr txBox="1"/>
              <p:nvPr/>
            </p:nvSpPr>
            <p:spPr>
              <a:xfrm>
                <a:off x="8271" y="5582920"/>
                <a:ext cx="25945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chemeClr val="tx1"/>
                    </a:solidFill>
                  </a:rPr>
                  <a:t>Oscillating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kumimoji="1" lang="en-US" altLang="ja-JP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B0E01BF-6161-9900-E9C6-B26C706BB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" y="5582920"/>
                <a:ext cx="2594578" cy="523220"/>
              </a:xfrm>
              <a:prstGeom prst="rect">
                <a:avLst/>
              </a:prstGeom>
              <a:blipFill>
                <a:blip r:embed="rId3"/>
                <a:stretch>
                  <a:fillRect l="-1408" t="-13953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A55628-A7D3-6582-7447-5F76EF90C3F3}"/>
              </a:ext>
            </a:extLst>
          </p:cNvPr>
          <p:cNvSpPr txBox="1"/>
          <p:nvPr/>
        </p:nvSpPr>
        <p:spPr>
          <a:xfrm>
            <a:off x="2665302" y="549937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dirty="0"/>
              <a:t>The ac frequency is so </a:t>
            </a:r>
            <a:r>
              <a:rPr kumimoji="1" lang="en-US" altLang="ja-JP" sz="2400" b="1" u="sng" dirty="0"/>
              <a:t>slow</a:t>
            </a:r>
            <a:r>
              <a:rPr kumimoji="1" lang="en-US" altLang="ja-JP" sz="2400" dirty="0"/>
              <a:t> that the superfluid density can follow it.</a:t>
            </a:r>
          </a:p>
          <a:p>
            <a:pPr algn="ctr"/>
            <a:r>
              <a:rPr kumimoji="1" lang="en-US" altLang="ja-JP" sz="2400" dirty="0"/>
              <a:t>(Slow experiment)</a:t>
            </a:r>
            <a:endParaRPr kumimoji="1" lang="ja-JP" altLang="en-US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89FA23-A6F9-F09B-7B6F-E2613AF4E1EA}"/>
              </a:ext>
            </a:extLst>
          </p:cNvPr>
          <p:cNvSpPr txBox="1"/>
          <p:nvPr/>
        </p:nvSpPr>
        <p:spPr>
          <a:xfrm>
            <a:off x="2935923" y="2025763"/>
            <a:ext cx="4171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[When Does it happen?]</a:t>
            </a:r>
            <a:endParaRPr kumimoji="1" lang="ja-JP" altLang="en-US" sz="28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3AF86A0-8CD9-F620-0947-0ADF40BF249E}"/>
              </a:ext>
            </a:extLst>
          </p:cNvPr>
          <p:cNvCxnSpPr>
            <a:cxnSpLocks/>
          </p:cNvCxnSpPr>
          <p:nvPr/>
        </p:nvCxnSpPr>
        <p:spPr>
          <a:xfrm flipV="1">
            <a:off x="2523612" y="1523307"/>
            <a:ext cx="0" cy="5220749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9B95663-5E11-3140-34F1-EF44718D496C}"/>
              </a:ext>
            </a:extLst>
          </p:cNvPr>
          <p:cNvCxnSpPr/>
          <p:nvPr/>
        </p:nvCxnSpPr>
        <p:spPr>
          <a:xfrm>
            <a:off x="0" y="3719632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78D022E-8F95-B122-6903-140691F3AEE1}"/>
              </a:ext>
            </a:extLst>
          </p:cNvPr>
          <p:cNvCxnSpPr/>
          <p:nvPr/>
        </p:nvCxnSpPr>
        <p:spPr>
          <a:xfrm>
            <a:off x="20320" y="5253792"/>
            <a:ext cx="12155951" cy="0"/>
          </a:xfrm>
          <a:prstGeom prst="line">
            <a:avLst/>
          </a:prstGeom>
          <a:ln w="698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8CAF010-1EFD-8D67-7D10-C9F59340BDA0}"/>
              </a:ext>
            </a:extLst>
          </p:cNvPr>
          <p:cNvSpPr txBox="1"/>
          <p:nvPr/>
        </p:nvSpPr>
        <p:spPr>
          <a:xfrm>
            <a:off x="2859429" y="2591046"/>
            <a:ext cx="4324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What has long been believed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0CB0A2F-E652-16EA-F436-3D4069188643}"/>
                  </a:ext>
                </a:extLst>
              </p:cNvPr>
              <p:cNvSpPr txBox="1"/>
              <p:nvPr/>
            </p:nvSpPr>
            <p:spPr>
              <a:xfrm>
                <a:off x="1" y="29679"/>
                <a:ext cx="12192000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/>
                  <a:t>We have finally come to understand the </a:t>
                </a:r>
                <a:r>
                  <a:rPr kumimoji="1" lang="en-US" altLang="ja-JP" sz="3600" b="1" i="1" u="sng" dirty="0"/>
                  <a:t>true meaning </a:t>
                </a:r>
                <a:r>
                  <a:rPr kumimoji="1" lang="en-US" altLang="ja-JP" sz="3200" dirty="0"/>
                  <a:t>of the semi-phenomenological approach: frozen and oscillating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1" lang="en-US" altLang="ja-JP" sz="3200" dirty="0"/>
                  <a:t> </a:t>
                </a:r>
                <a:endParaRPr kumimoji="1" lang="ja-JP" altLang="en-US" sz="3200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0CB0A2F-E652-16EA-F436-3D4069188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9679"/>
                <a:ext cx="12192000" cy="1138773"/>
              </a:xfrm>
              <a:prstGeom prst="rect">
                <a:avLst/>
              </a:prstGeom>
              <a:blipFill>
                <a:blip r:embed="rId4"/>
                <a:stretch>
                  <a:fillRect l="-1250" t="-9091" b="-16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66196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86DB0-6E16-C28E-96F0-03E2DE60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9978B87-BB1A-2DFA-5588-AB99E2271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4DA5E-C26F-4550-A01A-8DBB4B86492C}" type="slidenum">
              <a:rPr kumimoji="1" lang="ja-JP" altLang="en-US" smtClean="0"/>
              <a:t>146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2F1DFE9A-6903-5784-4922-EFACADE728E6}"/>
                  </a:ext>
                </a:extLst>
              </p:cNvPr>
              <p:cNvSpPr txBox="1"/>
              <p:nvPr/>
            </p:nvSpPr>
            <p:spPr>
              <a:xfrm>
                <a:off x="0" y="4101117"/>
                <a:ext cx="2621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chemeClr val="tx1"/>
                    </a:solidFill>
                  </a:rPr>
                  <a:t>Frozen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kumimoji="1" lang="en-US" altLang="ja-JP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2F1DFE9A-6903-5784-4922-EFACADE72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01117"/>
                <a:ext cx="2621280" cy="523220"/>
              </a:xfrm>
              <a:prstGeom prst="rect">
                <a:avLst/>
              </a:prstGeom>
              <a:blipFill>
                <a:blip r:embed="rId2"/>
                <a:stretch>
                  <a:fillRect t="-13953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1FAF00-124F-4033-3E1D-636585BDC712}"/>
              </a:ext>
            </a:extLst>
          </p:cNvPr>
          <p:cNvSpPr txBox="1"/>
          <p:nvPr/>
        </p:nvSpPr>
        <p:spPr>
          <a:xfrm>
            <a:off x="2621280" y="3842711"/>
            <a:ext cx="5575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The ac frequency is so </a:t>
            </a:r>
            <a:r>
              <a:rPr kumimoji="1" lang="en-US" altLang="ja-JP" sz="2400" b="1" u="sng" dirty="0"/>
              <a:t>fast</a:t>
            </a:r>
            <a:r>
              <a:rPr kumimoji="1" lang="en-US" altLang="ja-JP" sz="2400" dirty="0"/>
              <a:t> that </a:t>
            </a:r>
          </a:p>
          <a:p>
            <a:r>
              <a:rPr kumimoji="1" lang="en-US" altLang="ja-JP" sz="2400" dirty="0"/>
              <a:t>the superfluid density cannot follow it.</a:t>
            </a:r>
          </a:p>
          <a:p>
            <a:pPr algn="ctr"/>
            <a:r>
              <a:rPr kumimoji="1" lang="en-US" altLang="ja-JP" sz="2400" dirty="0"/>
              <a:t>(Fast experiment)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88570AE-71CD-29CD-572E-4B04926CF104}"/>
                  </a:ext>
                </a:extLst>
              </p:cNvPr>
              <p:cNvSpPr txBox="1"/>
              <p:nvPr/>
            </p:nvSpPr>
            <p:spPr>
              <a:xfrm>
                <a:off x="8271" y="5582920"/>
                <a:ext cx="25945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chemeClr val="tx1"/>
                    </a:solidFill>
                  </a:rPr>
                  <a:t>Oscillating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kumimoji="1" lang="en-US" altLang="ja-JP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88570AE-71CD-29CD-572E-4B04926CF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" y="5582920"/>
                <a:ext cx="2594578" cy="523220"/>
              </a:xfrm>
              <a:prstGeom prst="rect">
                <a:avLst/>
              </a:prstGeom>
              <a:blipFill>
                <a:blip r:embed="rId3"/>
                <a:stretch>
                  <a:fillRect l="-1408" t="-13953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4403578-DB37-7265-0468-C55320CD5B25}"/>
              </a:ext>
            </a:extLst>
          </p:cNvPr>
          <p:cNvSpPr txBox="1"/>
          <p:nvPr/>
        </p:nvSpPr>
        <p:spPr>
          <a:xfrm>
            <a:off x="2665302" y="549937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dirty="0"/>
              <a:t>The ac frequency is so </a:t>
            </a:r>
            <a:r>
              <a:rPr kumimoji="1" lang="en-US" altLang="ja-JP" sz="2400" b="1" u="sng" dirty="0"/>
              <a:t>slow</a:t>
            </a:r>
            <a:r>
              <a:rPr kumimoji="1" lang="en-US" altLang="ja-JP" sz="2400" dirty="0"/>
              <a:t> that the superfluid density can follow it.</a:t>
            </a:r>
          </a:p>
          <a:p>
            <a:pPr algn="ctr"/>
            <a:r>
              <a:rPr kumimoji="1" lang="en-US" altLang="ja-JP" sz="2400" dirty="0"/>
              <a:t>(Slow experiment)</a:t>
            </a:r>
            <a:endParaRPr kumimoji="1" lang="ja-JP" altLang="en-US" sz="24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1052C0A-973C-7E3B-F735-505CA3386179}"/>
              </a:ext>
            </a:extLst>
          </p:cNvPr>
          <p:cNvCxnSpPr>
            <a:cxnSpLocks/>
          </p:cNvCxnSpPr>
          <p:nvPr/>
        </p:nvCxnSpPr>
        <p:spPr>
          <a:xfrm flipV="1">
            <a:off x="2523612" y="1523307"/>
            <a:ext cx="0" cy="5220749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E049833-DED4-574F-27D3-26849B85591A}"/>
              </a:ext>
            </a:extLst>
          </p:cNvPr>
          <p:cNvCxnSpPr/>
          <p:nvPr/>
        </p:nvCxnSpPr>
        <p:spPr>
          <a:xfrm>
            <a:off x="0" y="3719632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51BD1A-3D4D-CFEB-26D5-1FDC23911B5F}"/>
              </a:ext>
            </a:extLst>
          </p:cNvPr>
          <p:cNvCxnSpPr/>
          <p:nvPr/>
        </p:nvCxnSpPr>
        <p:spPr>
          <a:xfrm>
            <a:off x="20320" y="5253792"/>
            <a:ext cx="12155951" cy="0"/>
          </a:xfrm>
          <a:prstGeom prst="line">
            <a:avLst/>
          </a:prstGeom>
          <a:ln w="698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1818C89-0698-0C28-2EA6-B57E33290780}"/>
              </a:ext>
            </a:extLst>
          </p:cNvPr>
          <p:cNvSpPr txBox="1"/>
          <p:nvPr/>
        </p:nvSpPr>
        <p:spPr>
          <a:xfrm>
            <a:off x="2859429" y="2591046"/>
            <a:ext cx="4324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What has long been believed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FCC1A73-161B-3F55-5B70-98BC73392E76}"/>
                  </a:ext>
                </a:extLst>
              </p:cNvPr>
              <p:cNvSpPr txBox="1"/>
              <p:nvPr/>
            </p:nvSpPr>
            <p:spPr>
              <a:xfrm>
                <a:off x="1" y="29679"/>
                <a:ext cx="12192000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/>
                  <a:t>We have finally come to understand the </a:t>
                </a:r>
                <a:r>
                  <a:rPr kumimoji="1" lang="en-US" altLang="ja-JP" sz="3600" b="1" i="1" u="sng" dirty="0"/>
                  <a:t>true meaning </a:t>
                </a:r>
                <a:r>
                  <a:rPr kumimoji="1" lang="en-US" altLang="ja-JP" sz="3200" dirty="0"/>
                  <a:t>of the semi-phenomenological approach: frozen and oscillating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1" lang="en-US" altLang="ja-JP" sz="3200" dirty="0"/>
                  <a:t> </a:t>
                </a:r>
                <a:endParaRPr kumimoji="1" lang="ja-JP" altLang="en-US" sz="3200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FCC1A73-161B-3F55-5B70-98BC73392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9679"/>
                <a:ext cx="12192000" cy="1138773"/>
              </a:xfrm>
              <a:prstGeom prst="rect">
                <a:avLst/>
              </a:prstGeom>
              <a:blipFill>
                <a:blip r:embed="rId4"/>
                <a:stretch>
                  <a:fillRect l="-1250" t="-9091" b="-16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90B803-784C-2E44-BA5A-28C43027259E}"/>
              </a:ext>
            </a:extLst>
          </p:cNvPr>
          <p:cNvSpPr txBox="1"/>
          <p:nvPr/>
        </p:nvSpPr>
        <p:spPr>
          <a:xfrm>
            <a:off x="7502670" y="2118271"/>
            <a:ext cx="46634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What has been revealed </a:t>
            </a:r>
          </a:p>
          <a:p>
            <a:pPr algn="ctr"/>
            <a:r>
              <a:rPr kumimoji="1" lang="en-US" altLang="ja-JP" sz="2400" dirty="0"/>
              <a:t>by the microscopic theory of </a:t>
            </a:r>
            <a:r>
              <a:rPr kumimoji="1" lang="en-US" altLang="ja-JP" sz="2400" dirty="0" err="1"/>
              <a:t>nonequilibrum</a:t>
            </a:r>
            <a:r>
              <a:rPr kumimoji="1" lang="en-US" altLang="ja-JP" sz="2400" dirty="0"/>
              <a:t> superconductivity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30F4CC-45C1-1171-7114-B50CB661722A}"/>
              </a:ext>
            </a:extLst>
          </p:cNvPr>
          <p:cNvSpPr txBox="1"/>
          <p:nvPr/>
        </p:nvSpPr>
        <p:spPr>
          <a:xfrm>
            <a:off x="2935923" y="2025763"/>
            <a:ext cx="4171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[When Does it happen?]</a:t>
            </a:r>
            <a:endParaRPr kumimoji="1" lang="ja-JP" altLang="en-US" sz="28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CB23D2A-FD97-FD82-00F3-BE1F3FDBCF70}"/>
              </a:ext>
            </a:extLst>
          </p:cNvPr>
          <p:cNvSpPr txBox="1"/>
          <p:nvPr/>
        </p:nvSpPr>
        <p:spPr>
          <a:xfrm>
            <a:off x="7748722" y="1573763"/>
            <a:ext cx="4171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[When Does it happen?]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0426431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7FF-FF43-0FD1-4782-43F8E921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4A3933F-486C-F74D-79EC-4DAAF4E4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4DA5E-C26F-4550-A01A-8DBB4B86492C}" type="slidenum">
              <a:rPr kumimoji="1" lang="ja-JP" altLang="en-US" smtClean="0"/>
              <a:t>147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1B28713-D959-0DBE-F79D-AABFC8584EF1}"/>
                  </a:ext>
                </a:extLst>
              </p:cNvPr>
              <p:cNvSpPr txBox="1"/>
              <p:nvPr/>
            </p:nvSpPr>
            <p:spPr>
              <a:xfrm>
                <a:off x="0" y="4101117"/>
                <a:ext cx="2621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chemeClr val="tx1"/>
                    </a:solidFill>
                  </a:rPr>
                  <a:t>Frozen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kumimoji="1" lang="en-US" altLang="ja-JP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1B28713-D959-0DBE-F79D-AABFC8584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01117"/>
                <a:ext cx="2621280" cy="523220"/>
              </a:xfrm>
              <a:prstGeom prst="rect">
                <a:avLst/>
              </a:prstGeom>
              <a:blipFill>
                <a:blip r:embed="rId2"/>
                <a:stretch>
                  <a:fillRect t="-13953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0404FC-48F7-5E02-7678-4752FCB3E923}"/>
              </a:ext>
            </a:extLst>
          </p:cNvPr>
          <p:cNvSpPr txBox="1"/>
          <p:nvPr/>
        </p:nvSpPr>
        <p:spPr>
          <a:xfrm>
            <a:off x="2621280" y="3842711"/>
            <a:ext cx="5575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The ac frequency is so </a:t>
            </a:r>
            <a:r>
              <a:rPr kumimoji="1" lang="en-US" altLang="ja-JP" sz="2400" b="1" u="sng" dirty="0"/>
              <a:t>fast</a:t>
            </a:r>
            <a:r>
              <a:rPr kumimoji="1" lang="en-US" altLang="ja-JP" sz="2400" dirty="0"/>
              <a:t> that </a:t>
            </a:r>
          </a:p>
          <a:p>
            <a:r>
              <a:rPr kumimoji="1" lang="en-US" altLang="ja-JP" sz="2400" dirty="0"/>
              <a:t>the superfluid density cannot follow it.</a:t>
            </a:r>
          </a:p>
          <a:p>
            <a:pPr algn="ctr"/>
            <a:r>
              <a:rPr kumimoji="1" lang="en-US" altLang="ja-JP" sz="2400" dirty="0"/>
              <a:t>(Fast experiment)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7A753C36-3F94-92A4-0EC9-F3B579364310}"/>
                  </a:ext>
                </a:extLst>
              </p:cNvPr>
              <p:cNvSpPr txBox="1"/>
              <p:nvPr/>
            </p:nvSpPr>
            <p:spPr>
              <a:xfrm>
                <a:off x="8271" y="5582920"/>
                <a:ext cx="25945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chemeClr val="tx1"/>
                    </a:solidFill>
                  </a:rPr>
                  <a:t>Oscillating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kumimoji="1" lang="en-US" altLang="ja-JP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7A753C36-3F94-92A4-0EC9-F3B579364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" y="5582920"/>
                <a:ext cx="2594578" cy="523220"/>
              </a:xfrm>
              <a:prstGeom prst="rect">
                <a:avLst/>
              </a:prstGeom>
              <a:blipFill>
                <a:blip r:embed="rId3"/>
                <a:stretch>
                  <a:fillRect l="-1408" t="-13953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29B91E6-948C-CE5B-2049-85D02BC99053}"/>
              </a:ext>
            </a:extLst>
          </p:cNvPr>
          <p:cNvSpPr txBox="1"/>
          <p:nvPr/>
        </p:nvSpPr>
        <p:spPr>
          <a:xfrm>
            <a:off x="2665302" y="549937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dirty="0"/>
              <a:t>The ac frequency is so </a:t>
            </a:r>
            <a:r>
              <a:rPr kumimoji="1" lang="en-US" altLang="ja-JP" sz="2400" b="1" u="sng" dirty="0"/>
              <a:t>slow</a:t>
            </a:r>
            <a:r>
              <a:rPr kumimoji="1" lang="en-US" altLang="ja-JP" sz="2400" dirty="0"/>
              <a:t> that the superfluid density can follow it.</a:t>
            </a:r>
          </a:p>
          <a:p>
            <a:pPr algn="ctr"/>
            <a:r>
              <a:rPr kumimoji="1" lang="en-US" altLang="ja-JP" sz="2400" dirty="0"/>
              <a:t>(Slow experiment)</a:t>
            </a:r>
            <a:endParaRPr kumimoji="1" lang="ja-JP" altLang="en-US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2520E1-6D86-9D26-164B-75F4D2ECDE6E}"/>
              </a:ext>
            </a:extLst>
          </p:cNvPr>
          <p:cNvSpPr txBox="1"/>
          <p:nvPr/>
        </p:nvSpPr>
        <p:spPr>
          <a:xfrm>
            <a:off x="2859429" y="2591046"/>
            <a:ext cx="4324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What has long been believed</a:t>
            </a:r>
            <a:endParaRPr kumimoji="1" lang="ja-JP" altLang="en-US" sz="24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B269B49-9FD3-713A-8B7A-32DF2EF2064E}"/>
              </a:ext>
            </a:extLst>
          </p:cNvPr>
          <p:cNvCxnSpPr>
            <a:cxnSpLocks/>
          </p:cNvCxnSpPr>
          <p:nvPr/>
        </p:nvCxnSpPr>
        <p:spPr>
          <a:xfrm flipV="1">
            <a:off x="2523612" y="1523307"/>
            <a:ext cx="0" cy="5220749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E9794D3-B331-97D5-E76B-E7F89EB087E3}"/>
              </a:ext>
            </a:extLst>
          </p:cNvPr>
          <p:cNvCxnSpPr/>
          <p:nvPr/>
        </p:nvCxnSpPr>
        <p:spPr>
          <a:xfrm>
            <a:off x="0" y="3719632"/>
            <a:ext cx="12155951" cy="0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41F289F-EDC0-0787-32C3-967378D7ECF4}"/>
              </a:ext>
            </a:extLst>
          </p:cNvPr>
          <p:cNvSpPr txBox="1"/>
          <p:nvPr/>
        </p:nvSpPr>
        <p:spPr>
          <a:xfrm>
            <a:off x="7502670" y="2118271"/>
            <a:ext cx="46634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What has been revealed </a:t>
            </a:r>
          </a:p>
          <a:p>
            <a:pPr algn="ctr"/>
            <a:r>
              <a:rPr kumimoji="1" lang="en-US" altLang="ja-JP" sz="2400" dirty="0"/>
              <a:t>by the microscopic theory of </a:t>
            </a:r>
            <a:r>
              <a:rPr kumimoji="1" lang="en-US" altLang="ja-JP" sz="2400" dirty="0" err="1"/>
              <a:t>nonequilibrum</a:t>
            </a:r>
            <a:r>
              <a:rPr kumimoji="1" lang="en-US" altLang="ja-JP" sz="2400" dirty="0"/>
              <a:t> superconductivity</a:t>
            </a:r>
            <a:endParaRPr kumimoji="1" lang="ja-JP" altLang="en-US" sz="2400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B600DCA-A80D-622E-B9DB-479DFCB56A48}"/>
              </a:ext>
            </a:extLst>
          </p:cNvPr>
          <p:cNvCxnSpPr/>
          <p:nvPr/>
        </p:nvCxnSpPr>
        <p:spPr>
          <a:xfrm>
            <a:off x="20320" y="5253792"/>
            <a:ext cx="12155951" cy="0"/>
          </a:xfrm>
          <a:prstGeom prst="line">
            <a:avLst/>
          </a:prstGeom>
          <a:ln w="698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3E95D739-45B2-5D9E-13A8-5304CBEF2203}"/>
                  </a:ext>
                </a:extLst>
              </p:cNvPr>
              <p:cNvSpPr txBox="1"/>
              <p:nvPr/>
            </p:nvSpPr>
            <p:spPr>
              <a:xfrm>
                <a:off x="7892174" y="5692412"/>
                <a:ext cx="3858044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kumimoji="1" lang="en-US" altLang="ja-JP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kumimoji="1" lang="en-US" altLang="ja-JP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𝒅𝒄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tx1"/>
                  </a:solidFill>
                </a:endParaRPr>
              </a:p>
              <a:p>
                <a:r>
                  <a:rPr kumimoji="1" lang="en-US" altLang="ja-JP" sz="2000" b="1" dirty="0">
                    <a:solidFill>
                      <a:schemeClr val="tx1"/>
                    </a:solidFill>
                  </a:rPr>
                  <a:t>(AAA and </a:t>
                </a:r>
                <a:r>
                  <a:rPr kumimoji="1" lang="en-US" altLang="ja-JP" sz="2000" b="1" dirty="0">
                    <a:solidFill>
                      <a:srgbClr val="FEB6AA"/>
                    </a:solidFill>
                  </a:rPr>
                  <a:t>Higgs</a:t>
                </a:r>
                <a:r>
                  <a:rPr kumimoji="1" lang="en-US" altLang="ja-JP" sz="2000" b="1" dirty="0">
                    <a:solidFill>
                      <a:schemeClr val="tx1"/>
                    </a:solidFill>
                  </a:rPr>
                  <a:t> contribution)</a:t>
                </a:r>
                <a:endParaRPr kumimoji="1" lang="ja-JP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3E95D739-45B2-5D9E-13A8-5304CBEF2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174" y="5692412"/>
                <a:ext cx="3858044" cy="954107"/>
              </a:xfrm>
              <a:prstGeom prst="rect">
                <a:avLst/>
              </a:prstGeom>
              <a:blipFill>
                <a:blip r:embed="rId4"/>
                <a:stretch>
                  <a:fillRect l="-1738" r="-948" b="-10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4B6B3C6E-A7DB-C429-0D86-6269EA3D0B62}"/>
                  </a:ext>
                </a:extLst>
              </p:cNvPr>
              <p:cNvSpPr txBox="1"/>
              <p:nvPr/>
            </p:nvSpPr>
            <p:spPr>
              <a:xfrm>
                <a:off x="8887854" y="4070339"/>
                <a:ext cx="191110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kumimoji="1" lang="en-US" altLang="ja-JP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kumimoji="1" lang="en-US" altLang="ja-JP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𝒅𝒄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4B6B3C6E-A7DB-C429-0D86-6269EA3D0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854" y="4070339"/>
                <a:ext cx="1911101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CEE8C457-D709-47CD-6D75-7CA563546F57}"/>
              </a:ext>
            </a:extLst>
          </p:cNvPr>
          <p:cNvSpPr/>
          <p:nvPr/>
        </p:nvSpPr>
        <p:spPr>
          <a:xfrm>
            <a:off x="2861187" y="3452170"/>
            <a:ext cx="4647052" cy="3706402"/>
          </a:xfrm>
          <a:custGeom>
            <a:avLst/>
            <a:gdLst>
              <a:gd name="connsiteX0" fmla="*/ 187687 w 3428727"/>
              <a:gd name="connsiteY0" fmla="*/ 82982 h 1854246"/>
              <a:gd name="connsiteX1" fmla="*/ 55607 w 3428727"/>
              <a:gd name="connsiteY1" fmla="*/ 1332662 h 1854246"/>
              <a:gd name="connsiteX2" fmla="*/ 990327 w 3428727"/>
              <a:gd name="connsiteY2" fmla="*/ 113462 h 1854246"/>
              <a:gd name="connsiteX3" fmla="*/ 1081767 w 3428727"/>
              <a:gd name="connsiteY3" fmla="*/ 1403782 h 1854246"/>
              <a:gd name="connsiteX4" fmla="*/ 1599927 w 3428727"/>
              <a:gd name="connsiteY4" fmla="*/ 438582 h 1854246"/>
              <a:gd name="connsiteX5" fmla="*/ 1376407 w 3428727"/>
              <a:gd name="connsiteY5" fmla="*/ 1546022 h 1854246"/>
              <a:gd name="connsiteX6" fmla="*/ 2097767 w 3428727"/>
              <a:gd name="connsiteY6" fmla="*/ 489382 h 1854246"/>
              <a:gd name="connsiteX7" fmla="*/ 2067287 w 3428727"/>
              <a:gd name="connsiteY7" fmla="*/ 1850822 h 1854246"/>
              <a:gd name="connsiteX8" fmla="*/ 3164567 w 3428727"/>
              <a:gd name="connsiteY8" fmla="*/ 1702 h 1854246"/>
              <a:gd name="connsiteX9" fmla="*/ 3022327 w 3428727"/>
              <a:gd name="connsiteY9" fmla="*/ 1505382 h 1854246"/>
              <a:gd name="connsiteX10" fmla="*/ 3428727 w 3428727"/>
              <a:gd name="connsiteY10" fmla="*/ 844982 h 1854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28727" h="1854246">
                <a:moveTo>
                  <a:pt x="187687" y="82982"/>
                </a:moveTo>
                <a:cubicBezTo>
                  <a:pt x="54760" y="705282"/>
                  <a:pt x="-78166" y="1327582"/>
                  <a:pt x="55607" y="1332662"/>
                </a:cubicBezTo>
                <a:cubicBezTo>
                  <a:pt x="189380" y="1337742"/>
                  <a:pt x="819300" y="101609"/>
                  <a:pt x="990327" y="113462"/>
                </a:cubicBezTo>
                <a:cubicBezTo>
                  <a:pt x="1161354" y="125315"/>
                  <a:pt x="980167" y="1349595"/>
                  <a:pt x="1081767" y="1403782"/>
                </a:cubicBezTo>
                <a:cubicBezTo>
                  <a:pt x="1183367" y="1457969"/>
                  <a:pt x="1550820" y="414875"/>
                  <a:pt x="1599927" y="438582"/>
                </a:cubicBezTo>
                <a:cubicBezTo>
                  <a:pt x="1649034" y="462289"/>
                  <a:pt x="1293434" y="1537555"/>
                  <a:pt x="1376407" y="1546022"/>
                </a:cubicBezTo>
                <a:cubicBezTo>
                  <a:pt x="1459380" y="1554489"/>
                  <a:pt x="1982620" y="438582"/>
                  <a:pt x="2097767" y="489382"/>
                </a:cubicBezTo>
                <a:cubicBezTo>
                  <a:pt x="2212914" y="540182"/>
                  <a:pt x="1889487" y="1932102"/>
                  <a:pt x="2067287" y="1850822"/>
                </a:cubicBezTo>
                <a:cubicBezTo>
                  <a:pt x="2245087" y="1769542"/>
                  <a:pt x="3005394" y="59275"/>
                  <a:pt x="3164567" y="1702"/>
                </a:cubicBezTo>
                <a:cubicBezTo>
                  <a:pt x="3323740" y="-55871"/>
                  <a:pt x="2978300" y="1364835"/>
                  <a:pt x="3022327" y="1505382"/>
                </a:cubicBezTo>
                <a:cubicBezTo>
                  <a:pt x="3066354" y="1645929"/>
                  <a:pt x="3247540" y="1245455"/>
                  <a:pt x="3428727" y="844982"/>
                </a:cubicBezTo>
              </a:path>
            </a:pathLst>
          </a:custGeom>
          <a:noFill/>
          <a:ln w="73025">
            <a:solidFill>
              <a:srgbClr val="FEB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BB2B325-8F0C-AAA3-34D9-BA0BFA2F80CC}"/>
              </a:ext>
            </a:extLst>
          </p:cNvPr>
          <p:cNvSpPr txBox="1"/>
          <p:nvPr/>
        </p:nvSpPr>
        <p:spPr>
          <a:xfrm>
            <a:off x="2553542" y="6125648"/>
            <a:ext cx="1824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b="1" dirty="0">
                <a:solidFill>
                  <a:srgbClr val="FEB6AA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wrong</a:t>
            </a:r>
            <a:endParaRPr kumimoji="1" lang="ja-JP" altLang="en-US" sz="4800" b="1" dirty="0">
              <a:solidFill>
                <a:srgbClr val="FEB6AA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4E44346-C754-844C-11E7-145D043BBE9D}"/>
                  </a:ext>
                </a:extLst>
              </p:cNvPr>
              <p:cNvSpPr txBox="1"/>
              <p:nvPr/>
            </p:nvSpPr>
            <p:spPr>
              <a:xfrm>
                <a:off x="1" y="29679"/>
                <a:ext cx="12192000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/>
                  <a:t>We have finally come to understand the </a:t>
                </a:r>
                <a:r>
                  <a:rPr kumimoji="1" lang="en-US" altLang="ja-JP" sz="3600" b="1" i="1" u="sng" dirty="0"/>
                  <a:t>true meaning </a:t>
                </a:r>
                <a:r>
                  <a:rPr kumimoji="1" lang="en-US" altLang="ja-JP" sz="3200" dirty="0"/>
                  <a:t>of the semi-phenomenological approach: frozen and oscillating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kumimoji="1" lang="en-US" altLang="ja-JP" sz="3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1" lang="en-US" altLang="ja-JP" sz="3200" dirty="0"/>
                  <a:t> </a:t>
                </a:r>
                <a:endParaRPr kumimoji="1" lang="ja-JP" altLang="en-US" sz="32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4E44346-C754-844C-11E7-145D043BB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9679"/>
                <a:ext cx="12192000" cy="1138773"/>
              </a:xfrm>
              <a:prstGeom prst="rect">
                <a:avLst/>
              </a:prstGeom>
              <a:blipFill>
                <a:blip r:embed="rId6"/>
                <a:stretch>
                  <a:fillRect l="-1250" t="-9091" b="-16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図 13">
            <a:extLst>
              <a:ext uri="{FF2B5EF4-FFF2-40B4-BE49-F238E27FC236}">
                <a16:creationId xmlns:a16="http://schemas.microsoft.com/office/drawing/2014/main" id="{022AD68B-7A38-723B-0852-BCF9D6C3F1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4925" y="3927002"/>
            <a:ext cx="1393832" cy="92138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140BEDFD-13E9-4CB4-8255-F78117E5E3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4925" y="5385012"/>
            <a:ext cx="1396183" cy="919035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BB446FC-6969-01A1-9600-E265449E8C5F}"/>
              </a:ext>
            </a:extLst>
          </p:cNvPr>
          <p:cNvSpPr txBox="1"/>
          <p:nvPr/>
        </p:nvSpPr>
        <p:spPr>
          <a:xfrm>
            <a:off x="7748722" y="1573763"/>
            <a:ext cx="4171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[When Does it happen?]</a:t>
            </a:r>
            <a:endParaRPr kumimoji="1" lang="ja-JP" altLang="en-US" sz="28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C651422-B7DE-10D7-10B4-D0C5A716ED97}"/>
              </a:ext>
            </a:extLst>
          </p:cNvPr>
          <p:cNvSpPr txBox="1"/>
          <p:nvPr/>
        </p:nvSpPr>
        <p:spPr>
          <a:xfrm>
            <a:off x="2935923" y="2025763"/>
            <a:ext cx="4171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[When Does it happen?]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9674394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3BF2312-FEA9-2D85-7F8F-6F05F1C9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4DA5E-C26F-4550-A01A-8DBB4B86492C}" type="slidenum">
              <a:rPr kumimoji="1" lang="ja-JP" altLang="en-US" smtClean="0"/>
              <a:t>148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E8F577-23F4-1017-4884-6C9F227297E9}"/>
              </a:ext>
            </a:extLst>
          </p:cNvPr>
          <p:cNvSpPr txBox="1"/>
          <p:nvPr/>
        </p:nvSpPr>
        <p:spPr>
          <a:xfrm>
            <a:off x="0" y="18588"/>
            <a:ext cx="1219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/>
              <a:t>The microscopic theory of current dependent </a:t>
            </a:r>
          </a:p>
          <a:p>
            <a:pPr algn="ctr"/>
            <a:r>
              <a:rPr kumimoji="1" lang="en-US" altLang="ja-JP" sz="3200" dirty="0"/>
              <a:t>kinetic inductance is established. 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A857BCB-19E8-FF11-074E-67D2DFA64D78}"/>
                  </a:ext>
                </a:extLst>
              </p:cNvPr>
              <p:cNvSpPr txBox="1"/>
              <p:nvPr/>
            </p:nvSpPr>
            <p:spPr>
              <a:xfrm>
                <a:off x="2519568" y="1000828"/>
                <a:ext cx="6707826" cy="11287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ja-JP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𝑑𝑝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A857BCB-19E8-FF11-074E-67D2DFA64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568" y="1000828"/>
                <a:ext cx="6707826" cy="11287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6BB39FA-7446-F5BC-92AA-8DB0D34CFEEB}"/>
                  </a:ext>
                </a:extLst>
              </p:cNvPr>
              <p:cNvSpPr txBox="1"/>
              <p:nvPr/>
            </p:nvSpPr>
            <p:spPr>
              <a:xfrm>
                <a:off x="5360103" y="3995556"/>
                <a:ext cx="5535426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409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6BB39FA-7446-F5BC-92AA-8DB0D34CF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103" y="3995556"/>
                <a:ext cx="5535426" cy="512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235D4E20-B1A4-321E-D6B4-DDA7FDDF1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992" y="4106092"/>
            <a:ext cx="2252352" cy="14839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74F0B94-4E56-3AA8-82A0-8E301B8BF8A5}"/>
                  </a:ext>
                </a:extLst>
              </p:cNvPr>
              <p:cNvSpPr txBox="1"/>
              <p:nvPr/>
            </p:nvSpPr>
            <p:spPr>
              <a:xfrm>
                <a:off x="3942598" y="3946385"/>
                <a:ext cx="1041631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74F0B94-4E56-3AA8-82A0-8E301B8B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98" y="3946385"/>
                <a:ext cx="1041631" cy="738664"/>
              </a:xfrm>
              <a:prstGeom prst="rect">
                <a:avLst/>
              </a:prstGeom>
              <a:blipFill>
                <a:blip r:embed="rId5"/>
                <a:stretch>
                  <a:fillRect l="-6358" r="-1156" b="-217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ABB8527-4D51-E0E9-5395-06A90587268A}"/>
                  </a:ext>
                </a:extLst>
              </p:cNvPr>
              <p:cNvSpPr txBox="1"/>
              <p:nvPr/>
            </p:nvSpPr>
            <p:spPr>
              <a:xfrm rot="2932768">
                <a:off x="6218759" y="4723023"/>
                <a:ext cx="11359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ABB8527-4D51-E0E9-5395-06A905872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6218759" y="4723023"/>
                <a:ext cx="11359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43D1877-DF66-BB7D-4B8E-0471C06FFB73}"/>
                  </a:ext>
                </a:extLst>
              </p:cNvPr>
              <p:cNvSpPr txBox="1"/>
              <p:nvPr/>
            </p:nvSpPr>
            <p:spPr>
              <a:xfrm rot="2932768">
                <a:off x="7358975" y="4789664"/>
                <a:ext cx="16118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𝟎𝟗𝟓𝟔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43D1877-DF66-BB7D-4B8E-0471C06FF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7358975" y="4789664"/>
                <a:ext cx="161185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A2D547E-2D66-5883-03CC-36D74CA4C2B5}"/>
                  </a:ext>
                </a:extLst>
              </p:cNvPr>
              <p:cNvSpPr txBox="1"/>
              <p:nvPr/>
            </p:nvSpPr>
            <p:spPr>
              <a:xfrm rot="2932768">
                <a:off x="8553889" y="4720228"/>
                <a:ext cx="14275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𝟏𝟕𝟕</m:t>
                      </m:r>
                    </m:oMath>
                  </m:oMathPara>
                </a14:m>
                <a:endParaRPr kumimoji="1" lang="ja-JP" altLang="en-US" sz="2400" b="1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A2D547E-2D66-5883-03CC-36D74CA4C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32768">
                <a:off x="8553889" y="4720228"/>
                <a:ext cx="142750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1E7A953-B900-D4E2-65D7-1F20B4D53B36}"/>
              </a:ext>
            </a:extLst>
          </p:cNvPr>
          <p:cNvSpPr txBox="1"/>
          <p:nvPr/>
        </p:nvSpPr>
        <p:spPr>
          <a:xfrm rot="2836733">
            <a:off x="9114997" y="4662332"/>
            <a:ext cx="101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92D050"/>
                </a:solidFill>
              </a:rPr>
              <a:t>Higgs</a:t>
            </a:r>
            <a:endParaRPr kumimoji="1" lang="ja-JP" altLang="en-US" sz="2400" dirty="0">
              <a:solidFill>
                <a:srgbClr val="92D05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FEB2C2A-C74B-F445-3C4D-F14330FBCE47}"/>
              </a:ext>
            </a:extLst>
          </p:cNvPr>
          <p:cNvSpPr txBox="1"/>
          <p:nvPr/>
        </p:nvSpPr>
        <p:spPr>
          <a:xfrm rot="2866687">
            <a:off x="7881949" y="4538538"/>
            <a:ext cx="82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FFC000"/>
                </a:solidFill>
              </a:rPr>
              <a:t>AAA</a:t>
            </a:r>
            <a:endParaRPr kumimoji="1" lang="ja-JP" altLang="en-US" sz="2400" dirty="0">
              <a:solidFill>
                <a:srgbClr val="FFC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CA4DDCC-0B3F-C7FA-A089-0D3BDA7B3D95}"/>
              </a:ext>
            </a:extLst>
          </p:cNvPr>
          <p:cNvSpPr txBox="1"/>
          <p:nvPr/>
        </p:nvSpPr>
        <p:spPr>
          <a:xfrm rot="2842825">
            <a:off x="7342633" y="5016800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(23%)</a:t>
            </a:r>
            <a:endParaRPr kumimoji="1" lang="ja-JP" altLang="en-US" sz="28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BBC5936-C11B-C312-DEBA-4A41D5E8824D}"/>
              </a:ext>
            </a:extLst>
          </p:cNvPr>
          <p:cNvSpPr txBox="1"/>
          <p:nvPr/>
        </p:nvSpPr>
        <p:spPr>
          <a:xfrm rot="2842825">
            <a:off x="8552940" y="4989329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(43%)</a:t>
            </a:r>
            <a:endParaRPr kumimoji="1" lang="ja-JP" altLang="en-US" sz="2800" b="1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B08149A3-705A-D78D-A061-86456BFB55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810" y="2362941"/>
            <a:ext cx="2244781" cy="14839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95F711EA-17E1-AD88-D770-86196C12C67E}"/>
                  </a:ext>
                </a:extLst>
              </p:cNvPr>
              <p:cNvSpPr txBox="1"/>
              <p:nvPr/>
            </p:nvSpPr>
            <p:spPr>
              <a:xfrm>
                <a:off x="3942598" y="2580984"/>
                <a:ext cx="110254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𝑑𝑐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 algn="ctr"/>
                <a:r>
                  <a:rPr kumimoji="1" lang="en-US" altLang="ja-JP" sz="2400" dirty="0"/>
                  <a:t>case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95F711EA-17E1-AD88-D770-86196C12C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98" y="2580984"/>
                <a:ext cx="1102545" cy="738664"/>
              </a:xfrm>
              <a:prstGeom prst="rect">
                <a:avLst/>
              </a:prstGeom>
              <a:blipFill>
                <a:blip r:embed="rId10"/>
                <a:stretch>
                  <a:fillRect l="-6011" r="-1093" b="-217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8B7E409-4805-A891-1CD2-B9A2EA49C4DB}"/>
                  </a:ext>
                </a:extLst>
              </p:cNvPr>
              <p:cNvSpPr txBox="1"/>
              <p:nvPr/>
            </p:nvSpPr>
            <p:spPr>
              <a:xfrm>
                <a:off x="5651257" y="2709365"/>
                <a:ext cx="3139257" cy="51296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136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8B7E409-4805-A891-1CD2-B9A2EA49C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257" y="2709365"/>
                <a:ext cx="3139257" cy="5129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1A07A32-60F0-18A1-4A46-A1610F553715}"/>
              </a:ext>
            </a:extLst>
          </p:cNvPr>
          <p:cNvSpPr txBox="1"/>
          <p:nvPr/>
        </p:nvSpPr>
        <p:spPr>
          <a:xfrm>
            <a:off x="20233" y="6010111"/>
            <a:ext cx="12183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The Higgs mode is ubiquitous in superconducting devices. </a:t>
            </a:r>
          </a:p>
          <a:p>
            <a:r>
              <a:rPr kumimoji="1" lang="en-US" altLang="ja-JP" sz="2400" dirty="0"/>
              <a:t>The current dependence of the kinetic inductance is a representative example.</a:t>
            </a:r>
            <a:endParaRPr kumimoji="1" lang="ja-JP" altLang="en-US" sz="2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3BAC07-0ADC-94C6-4DCF-D51B4DB29B20}"/>
              </a:ext>
            </a:extLst>
          </p:cNvPr>
          <p:cNvSpPr txBox="1"/>
          <p:nvPr/>
        </p:nvSpPr>
        <p:spPr>
          <a:xfrm>
            <a:off x="8799719" y="996801"/>
            <a:ext cx="3428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22</a:t>
            </a:r>
            <a:r>
              <a:rPr lang="en-US" altLang="ja-JP" sz="1200" dirty="0">
                <a:solidFill>
                  <a:schemeClr val="tx2"/>
                </a:solidFill>
              </a:rPr>
              <a:t>, 044042 (2024) </a:t>
            </a:r>
          </a:p>
          <a:p>
            <a:r>
              <a:rPr lang="en-US" altLang="ja-JP" sz="1200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sz="1200" b="1" dirty="0">
                <a:solidFill>
                  <a:schemeClr val="tx2"/>
                </a:solidFill>
              </a:rPr>
              <a:t>23</a:t>
            </a:r>
            <a:r>
              <a:rPr lang="en-US" altLang="ja-JP" sz="1200" dirty="0">
                <a:solidFill>
                  <a:schemeClr val="tx2"/>
                </a:solidFill>
              </a:rPr>
              <a:t>, 054091 (2025)</a:t>
            </a:r>
            <a:endParaRPr lang="ja-JP" alt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86565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3251EC82-7AE0-C2A0-0C66-E7D085E649C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918"/>
          <a:stretch>
            <a:fillRect/>
          </a:stretch>
        </p:blipFill>
        <p:spPr>
          <a:xfrm>
            <a:off x="8791768" y="2262495"/>
            <a:ext cx="3386973" cy="4595505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8DE73468-4150-A196-8799-815C4DA82C8D}"/>
              </a:ext>
            </a:extLst>
          </p:cNvPr>
          <p:cNvSpPr/>
          <p:nvPr/>
        </p:nvSpPr>
        <p:spPr>
          <a:xfrm>
            <a:off x="3022057" y="3810000"/>
            <a:ext cx="3356043" cy="2762655"/>
          </a:xfrm>
          <a:prstGeom prst="ellipse">
            <a:avLst/>
          </a:prstGeom>
          <a:solidFill>
            <a:srgbClr val="FF0000">
              <a:alpha val="4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/>
              <a:t>Condensed matter physics</a:t>
            </a:r>
            <a:endParaRPr kumimoji="1" lang="ja-JP" altLang="en-US" sz="32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5ED52E3-2966-1B82-81C4-83305748248E}"/>
              </a:ext>
            </a:extLst>
          </p:cNvPr>
          <p:cNvSpPr/>
          <p:nvPr/>
        </p:nvSpPr>
        <p:spPr>
          <a:xfrm>
            <a:off x="5469373" y="2769141"/>
            <a:ext cx="3356043" cy="2762655"/>
          </a:xfrm>
          <a:prstGeom prst="ellipse">
            <a:avLst/>
          </a:prstGeom>
          <a:solidFill>
            <a:srgbClr val="00B0F0">
              <a:alpha val="4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Astrophysics detectors</a:t>
            </a:r>
            <a:endParaRPr kumimoji="1" lang="ja-JP" altLang="en-US" sz="28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50AA982A-BECA-1FC5-6FEA-4FB3D8EAA519}"/>
              </a:ext>
            </a:extLst>
          </p:cNvPr>
          <p:cNvSpPr/>
          <p:nvPr/>
        </p:nvSpPr>
        <p:spPr>
          <a:xfrm>
            <a:off x="4944891" y="3810000"/>
            <a:ext cx="3356043" cy="2762655"/>
          </a:xfrm>
          <a:prstGeom prst="ellipse">
            <a:avLst/>
          </a:prstGeom>
          <a:solidFill>
            <a:srgbClr val="FFC000">
              <a:alpha val="4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/>
              <a:t>Quantum computing</a:t>
            </a:r>
            <a:endParaRPr kumimoji="1" lang="ja-JP" altLang="en-US" sz="32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84BDA1AF-CB4F-3470-FD48-3272198CB500}"/>
              </a:ext>
            </a:extLst>
          </p:cNvPr>
          <p:cNvSpPr/>
          <p:nvPr/>
        </p:nvSpPr>
        <p:spPr>
          <a:xfrm>
            <a:off x="3674620" y="2024974"/>
            <a:ext cx="3356043" cy="2762655"/>
          </a:xfrm>
          <a:prstGeom prst="ellipse">
            <a:avLst/>
          </a:prstGeom>
          <a:solidFill>
            <a:schemeClr val="accent4">
              <a:lumMod val="40000"/>
              <a:lumOff val="60000"/>
              <a:alpha val="5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/>
              <a:t>Particle accelerator cavity</a:t>
            </a:r>
            <a:endParaRPr kumimoji="1" lang="ja-JP" altLang="en-US" sz="3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153422-BB0B-AFD0-49B1-DBC1DBAC362B}"/>
              </a:ext>
            </a:extLst>
          </p:cNvPr>
          <p:cNvSpPr txBox="1"/>
          <p:nvPr/>
        </p:nvSpPr>
        <p:spPr>
          <a:xfrm>
            <a:off x="1" y="778213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Research and development of superconducting resonators, which lie at the intersection of various fields, represent one of the most important efforts to pioneer 21st-century physics.</a:t>
            </a:r>
            <a:endParaRPr kumimoji="1" lang="ja-JP" altLang="en-US" sz="28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18D06E-E649-3CC7-D256-7EC933443B3C}"/>
              </a:ext>
            </a:extLst>
          </p:cNvPr>
          <p:cNvSpPr txBox="1"/>
          <p:nvPr/>
        </p:nvSpPr>
        <p:spPr>
          <a:xfrm>
            <a:off x="0" y="18588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5400" dirty="0"/>
              <a:t>Summary</a:t>
            </a:r>
            <a:endParaRPr kumimoji="1" lang="ja-JP" altLang="en-US" sz="5400" dirty="0"/>
          </a:p>
        </p:txBody>
      </p:sp>
      <p:pic>
        <p:nvPicPr>
          <p:cNvPr id="11" name="Picture 3" descr="C:\Users\kubotaka\Desktop\Kenkyu\LG_and_seamless\131213\DSC04896.JPG">
            <a:extLst>
              <a:ext uri="{FF2B5EF4-FFF2-40B4-BE49-F238E27FC236}">
                <a16:creationId xmlns:a16="http://schemas.microsoft.com/office/drawing/2014/main" id="{D3539A64-51EA-7115-B582-0678E1D5FF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3259" y="2161759"/>
            <a:ext cx="2636154" cy="469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931524E-69FE-201E-6582-7940F9784482}"/>
              </a:ext>
            </a:extLst>
          </p:cNvPr>
          <p:cNvSpPr txBox="1"/>
          <p:nvPr/>
        </p:nvSpPr>
        <p:spPr>
          <a:xfrm>
            <a:off x="10106327" y="6501709"/>
            <a:ext cx="1648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/>
              <a:t>T. Kubo (2024)</a:t>
            </a:r>
            <a:endParaRPr kumimoji="1" lang="ja-JP" altLang="en-US" sz="16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5423093-25E0-B0F8-BB4A-1A7219F6ECE7}"/>
              </a:ext>
            </a:extLst>
          </p:cNvPr>
          <p:cNvSpPr txBox="1"/>
          <p:nvPr/>
        </p:nvSpPr>
        <p:spPr>
          <a:xfrm>
            <a:off x="71146" y="6505023"/>
            <a:ext cx="1648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/>
              <a:t>T. Kubo (2013)</a:t>
            </a:r>
            <a:endParaRPr kumimoji="1" lang="ja-JP" altLang="en-US" sz="16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9D84549-9F69-633D-B4AB-75A00EF09D03}"/>
              </a:ext>
            </a:extLst>
          </p:cNvPr>
          <p:cNvSpPr txBox="1"/>
          <p:nvPr/>
        </p:nvSpPr>
        <p:spPr>
          <a:xfrm>
            <a:off x="9377752" y="4157385"/>
            <a:ext cx="599844" cy="707886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b="1" dirty="0"/>
              <a:t>Me</a:t>
            </a:r>
          </a:p>
          <a:p>
            <a:pPr algn="ctr"/>
            <a:r>
              <a:rPr kumimoji="1" lang="ja-JP" altLang="en-US" sz="2000" b="1" dirty="0"/>
              <a:t>↓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5C2F659-298D-6DA3-6D93-5138E180C50E}"/>
              </a:ext>
            </a:extLst>
          </p:cNvPr>
          <p:cNvSpPr txBox="1"/>
          <p:nvPr/>
        </p:nvSpPr>
        <p:spPr>
          <a:xfrm>
            <a:off x="8798863" y="2631126"/>
            <a:ext cx="1268240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cavity</a:t>
            </a:r>
            <a:r>
              <a:rPr kumimoji="1" lang="ja-JP" altLang="en-US" b="1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052988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96354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AB35CE-4751-B628-9806-D54912E184A1}"/>
              </a:ext>
            </a:extLst>
          </p:cNvPr>
          <p:cNvSpPr txBox="1"/>
          <p:nvPr/>
        </p:nvSpPr>
        <p:spPr>
          <a:xfrm>
            <a:off x="2333028" y="2338866"/>
            <a:ext cx="7699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dirty="0"/>
              <a:t>Appendix (1)</a:t>
            </a:r>
            <a:endParaRPr kumimoji="1" lang="ja-JP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91426515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F2A434E-A0D8-8792-A1AD-0591C666F5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17" t="14493" r="28342" b="10145"/>
          <a:stretch/>
        </p:blipFill>
        <p:spPr>
          <a:xfrm>
            <a:off x="5625179" y="66645"/>
            <a:ext cx="6482202" cy="6253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6CE0632-673B-1A04-0DE8-714FE580B290}"/>
                  </a:ext>
                </a:extLst>
              </p:cNvPr>
              <p:cNvSpPr txBox="1"/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ja-JP" altLang="en-US" sz="2400" dirty="0">
                  <a:solidFill>
                    <a:srgbClr val="22FF22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6CE0632-673B-1A04-0DE8-714FE580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3385815-186F-FAC2-9D4F-4E1969758CC6}"/>
                  </a:ext>
                </a:extLst>
              </p:cNvPr>
              <p:cNvSpPr txBox="1"/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ja-JP" altLang="en-US" sz="2400" dirty="0">
                  <a:solidFill>
                    <a:srgbClr val="1313FF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3385815-186F-FAC2-9D4F-4E1969758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971AB11-DB5B-0501-4BA7-567BD95589CD}"/>
                  </a:ext>
                </a:extLst>
              </p:cNvPr>
              <p:cNvSpPr txBox="1"/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</m:oMath>
                  </m:oMathPara>
                </a14:m>
                <a:endParaRPr lang="ja-JP" altLang="en-US" sz="24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971AB11-DB5B-0501-4BA7-567BD9558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blipFill>
                <a:blip r:embed="rId5"/>
                <a:stretch>
                  <a:fillRect l="-37981" r="-49519" b="-59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66DE858-9F1F-7C3F-D45F-A1345AD397A9}"/>
                  </a:ext>
                </a:extLst>
              </p:cNvPr>
              <p:cNvSpPr txBox="1"/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sSub>
                          <m:sSubPr>
                            <m:ctrlP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lang="en-US" altLang="ja-JP" sz="2000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ja-JP" sz="2000" dirty="0">
                    <a:solidFill>
                      <a:schemeClr val="bg1"/>
                    </a:solidFill>
                  </a:rPr>
                  <a:t>(dirty)</a:t>
                </a:r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66DE858-9F1F-7C3F-D45F-A1345AD3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blipFill>
                <a:blip r:embed="rId6"/>
                <a:stretch>
                  <a:fillRect t="-162745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7DB9920-B8E5-D091-A9FB-EA28F89E3D53}"/>
                  </a:ext>
                </a:extLst>
              </p:cNvPr>
              <p:cNvSpPr txBox="1"/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217</m:t>
                      </m:r>
                    </m:oMath>
                  </m:oMathPara>
                </a14:m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7DB9920-B8E5-D091-A9FB-EA28F89E3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blipFill>
                <a:blip r:embed="rId7"/>
                <a:stretch>
                  <a:fillRect l="-16929" t="-162745" r="-3150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9855E52-137A-1FDF-A237-834B446A9889}"/>
              </a:ext>
            </a:extLst>
          </p:cNvPr>
          <p:cNvSpPr txBox="1"/>
          <p:nvPr/>
        </p:nvSpPr>
        <p:spPr>
          <a:xfrm>
            <a:off x="6446828" y="6419856"/>
            <a:ext cx="554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b="1" dirty="0">
                <a:solidFill>
                  <a:schemeClr val="tx2"/>
                </a:solidFill>
              </a:rPr>
              <a:t>22</a:t>
            </a:r>
            <a:r>
              <a:rPr lang="en-US" altLang="ja-JP" dirty="0">
                <a:solidFill>
                  <a:schemeClr val="tx2"/>
                </a:solidFill>
              </a:rPr>
              <a:t>, 044042 (2024) </a:t>
            </a:r>
            <a:endParaRPr lang="ja-JP" altLang="en-US" dirty="0"/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F35989F7-AAA8-4AB4-7D2E-8C8D1C240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086" y="1747644"/>
            <a:ext cx="4389198" cy="2891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49D061BA-8393-6D12-281E-515F699C0738}"/>
                  </a:ext>
                </a:extLst>
              </p:cNvPr>
              <p:cNvSpPr txBox="1"/>
              <p:nvPr/>
            </p:nvSpPr>
            <p:spPr>
              <a:xfrm>
                <a:off x="627187" y="-643"/>
                <a:ext cx="427552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3600" b="0" dirty="0"/>
                  <a:t>Current dependent</a:t>
                </a:r>
              </a:p>
              <a:p>
                <a:pPr algn="ctr"/>
                <a:r>
                  <a:rPr kumimoji="1" lang="en-US" altLang="ja-JP" sz="36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3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kumimoji="1" lang="en-US" altLang="ja-JP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3600" i="1" dirty="0"/>
                  <a:t> curve </a:t>
                </a:r>
              </a:p>
              <a:p>
                <a:pPr algn="ctr"/>
                <a:r>
                  <a:rPr kumimoji="1" lang="en-US" altLang="ja-JP" sz="3600" dirty="0"/>
                  <a:t>in </a:t>
                </a:r>
                <a:r>
                  <a:rPr kumimoji="1" lang="en-US" altLang="ja-JP" sz="3600" dirty="0" err="1"/>
                  <a:t>ac+dc</a:t>
                </a:r>
                <a:r>
                  <a:rPr kumimoji="1" lang="en-US" altLang="ja-JP" sz="3600" dirty="0"/>
                  <a:t> system</a:t>
                </a:r>
                <a:endParaRPr kumimoji="1" lang="ja-JP" altLang="en-US" sz="3600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49D061BA-8393-6D12-281E-515F699C0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87" y="-643"/>
                <a:ext cx="4275529" cy="1754326"/>
              </a:xfrm>
              <a:prstGeom prst="rect">
                <a:avLst/>
              </a:prstGeom>
              <a:blipFill>
                <a:blip r:embed="rId9"/>
                <a:stretch>
                  <a:fillRect l="-3994" t="-5903" r="-3852" b="-118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E680F06-09A8-E483-CD7F-65D696E4A477}"/>
              </a:ext>
            </a:extLst>
          </p:cNvPr>
          <p:cNvSpPr txBox="1"/>
          <p:nvPr/>
        </p:nvSpPr>
        <p:spPr>
          <a:xfrm>
            <a:off x="412784" y="4975096"/>
            <a:ext cx="41813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dc: arbitrary strength</a:t>
            </a:r>
          </a:p>
          <a:p>
            <a:r>
              <a:rPr kumimoji="1" lang="en-US" altLang="ja-JP" sz="3200" dirty="0"/>
              <a:t>ac: perturbation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3368988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00D7D-DB45-EF5A-BC87-39284B2F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E2703A9-8D0A-7FAD-6D6B-F3A945D575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17" t="14493" r="28342" b="10145"/>
          <a:stretch/>
        </p:blipFill>
        <p:spPr>
          <a:xfrm>
            <a:off x="5625179" y="66645"/>
            <a:ext cx="6482202" cy="6253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2DA515C1-6F9B-F03F-0BE7-AA9F71EB5561}"/>
                  </a:ext>
                </a:extLst>
              </p:cNvPr>
              <p:cNvSpPr txBox="1"/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0.04</m:t>
                      </m:r>
                    </m:oMath>
                  </m:oMathPara>
                </a14:m>
                <a:endParaRPr lang="ja-JP" altLang="en-US" sz="2400" dirty="0">
                  <a:solidFill>
                    <a:srgbClr val="22FF22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6CE0632-673B-1A04-0DE8-714FE580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40410FD-2DA8-BE5A-FECD-4A48B6150474}"/>
                  </a:ext>
                </a:extLst>
              </p:cNvPr>
              <p:cNvSpPr txBox="1"/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ja-JP" altLang="en-US" sz="2400" dirty="0">
                  <a:solidFill>
                    <a:srgbClr val="1313FF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3385815-186F-FAC2-9D4F-4E1969758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965CE44-09E7-EB51-E22A-81338EC42396}"/>
                  </a:ext>
                </a:extLst>
              </p:cNvPr>
              <p:cNvSpPr txBox="1"/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ja-JP" altLang="en-US" sz="24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971AB11-DB5B-0501-4BA7-567BD9558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blipFill>
                <a:blip r:embed="rId5"/>
                <a:stretch>
                  <a:fillRect l="-37981" r="-49519" b="-59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958DB86-EBA8-7115-60FB-51B827B2B576}"/>
                  </a:ext>
                </a:extLst>
              </p:cNvPr>
              <p:cNvSpPr txBox="1"/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sSub>
                          <m:sSubPr>
                            <m:ctrlP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=0.31</m:t>
                    </m:r>
                  </m:oMath>
                </a14:m>
                <a:r>
                  <a:rPr lang="en-US" altLang="ja-JP" sz="2000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ja-JP" sz="2000" dirty="0">
                    <a:solidFill>
                      <a:schemeClr val="bg1"/>
                    </a:solidFill>
                  </a:rPr>
                  <a:t>(dirty)</a:t>
                </a:r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66DE858-9F1F-7C3F-D45F-A1345AD3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blipFill>
                <a:blip r:embed="rId6"/>
                <a:stretch>
                  <a:fillRect t="-162745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63FCCBDF-E4D6-6236-435D-927BF0858B7D}"/>
                  </a:ext>
                </a:extLst>
              </p:cNvPr>
              <p:cNvSpPr txBox="1"/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=0.217</m:t>
                      </m:r>
                    </m:oMath>
                  </m:oMathPara>
                </a14:m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7DB9920-B8E5-D091-A9FB-EA28F89E3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blipFill>
                <a:blip r:embed="rId7"/>
                <a:stretch>
                  <a:fillRect l="-16929" t="-162745" r="-3150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ECDF5A-0207-AFF9-ACFB-3A14EFBF2D71}"/>
              </a:ext>
            </a:extLst>
          </p:cNvPr>
          <p:cNvSpPr txBox="1"/>
          <p:nvPr/>
        </p:nvSpPr>
        <p:spPr>
          <a:xfrm>
            <a:off x="6446828" y="6419856"/>
            <a:ext cx="554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b="1" dirty="0">
                <a:solidFill>
                  <a:schemeClr val="tx2"/>
                </a:solidFill>
              </a:rPr>
              <a:t>22</a:t>
            </a:r>
            <a:r>
              <a:rPr lang="en-US" altLang="ja-JP" dirty="0">
                <a:solidFill>
                  <a:schemeClr val="tx2"/>
                </a:solidFill>
              </a:rPr>
              <a:t>, 044042 (2024) 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4695113-158C-01A4-16A7-4EB8155C7800}"/>
                  </a:ext>
                </a:extLst>
              </p:cNvPr>
              <p:cNvSpPr txBox="1"/>
              <p:nvPr/>
            </p:nvSpPr>
            <p:spPr>
              <a:xfrm>
                <a:off x="0" y="1329"/>
                <a:ext cx="5540829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ja-JP" sz="2800" b="0" dirty="0">
                    <a:solidFill>
                      <a:srgbClr val="FF8C1B"/>
                    </a:solidFill>
                    <a:latin typeface="Cambria Math" panose="02040503050406030204" pitchFamily="18" charset="0"/>
                  </a:rPr>
                  <a:t>Let’s see the orange curves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800" b="0" i="1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0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  <m:t>ℏ</m:t>
                        </m:r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2800" b="0" i="1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800" b="0" i="0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ja-JP" sz="2800" b="0" i="0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r>
                  <a:rPr lang="en-US" altLang="ja-JP" sz="2800" dirty="0">
                    <a:solidFill>
                      <a:srgbClr val="FF8C1B"/>
                    </a:solidFill>
                  </a:rPr>
                  <a:t>),which correspond to 7GHz for Nb.</a:t>
                </a:r>
                <a:endParaRPr lang="ja-JP" altLang="en-US" sz="28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F2CDD3B-9B7C-F9B0-3A17-EFF29BAD1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29"/>
                <a:ext cx="5540829" cy="1384995"/>
              </a:xfrm>
              <a:prstGeom prst="rect">
                <a:avLst/>
              </a:prstGeom>
              <a:blipFill>
                <a:blip r:embed="rId8"/>
                <a:stretch>
                  <a:fillRect t="-4405" b="-11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図 31">
            <a:extLst>
              <a:ext uri="{FF2B5EF4-FFF2-40B4-BE49-F238E27FC236}">
                <a16:creationId xmlns:a16="http://schemas.microsoft.com/office/drawing/2014/main" id="{58B2BF55-82BE-8837-6110-5331F94789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8773" y="3781167"/>
            <a:ext cx="1692225" cy="1114878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C544240-732E-8FC8-F211-E146C366458A}"/>
              </a:ext>
            </a:extLst>
          </p:cNvPr>
          <p:cNvSpPr/>
          <p:nvPr/>
        </p:nvSpPr>
        <p:spPr>
          <a:xfrm>
            <a:off x="6817360" y="203200"/>
            <a:ext cx="3169920" cy="3302000"/>
          </a:xfrm>
          <a:prstGeom prst="rect">
            <a:avLst/>
          </a:prstGeom>
          <a:noFill/>
          <a:ln w="1111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8533B9-D24E-DE57-40EC-341090CB648A}"/>
              </a:ext>
            </a:extLst>
          </p:cNvPr>
          <p:cNvSpPr txBox="1"/>
          <p:nvPr/>
        </p:nvSpPr>
        <p:spPr>
          <a:xfrm rot="17452361">
            <a:off x="7056960" y="918576"/>
            <a:ext cx="2462115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FF8C1B"/>
                </a:solidFill>
              </a:rPr>
              <a:t>7GHz for Nb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6995305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D88A-366F-BAEB-F827-47D75E81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2664323-227E-8C3E-1932-41970E3618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17" t="14493" r="28342" b="10145"/>
          <a:stretch/>
        </p:blipFill>
        <p:spPr>
          <a:xfrm>
            <a:off x="5625179" y="66645"/>
            <a:ext cx="6482202" cy="6253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34825EF-8D32-614F-2C91-E7E3A35E136C}"/>
                  </a:ext>
                </a:extLst>
              </p:cNvPr>
              <p:cNvSpPr txBox="1"/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ja-JP" altLang="en-US" sz="2400" dirty="0">
                  <a:solidFill>
                    <a:srgbClr val="22FF22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6CE0632-673B-1A04-0DE8-714FE580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415C130-D3B5-F71C-3BDC-2CF62FA7C8C3}"/>
                  </a:ext>
                </a:extLst>
              </p:cNvPr>
              <p:cNvSpPr txBox="1"/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ja-JP" altLang="en-US" sz="2400" dirty="0">
                  <a:solidFill>
                    <a:srgbClr val="1313FF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3385815-186F-FAC2-9D4F-4E1969758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6A315A3-325F-11AD-A925-B810948F6AF5}"/>
                  </a:ext>
                </a:extLst>
              </p:cNvPr>
              <p:cNvSpPr txBox="1"/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</m:oMath>
                  </m:oMathPara>
                </a14:m>
                <a:endParaRPr lang="ja-JP" altLang="en-US" sz="24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971AB11-DB5B-0501-4BA7-567BD9558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blipFill>
                <a:blip r:embed="rId5"/>
                <a:stretch>
                  <a:fillRect l="-37981" r="-49519" b="-59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28D321B-1270-EAAF-367C-B857F74BEE86}"/>
                  </a:ext>
                </a:extLst>
              </p:cNvPr>
              <p:cNvSpPr txBox="1"/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sSub>
                          <m:sSubPr>
                            <m:ctrlP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lang="en-US" altLang="ja-JP" sz="2000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ja-JP" sz="2000" dirty="0">
                    <a:solidFill>
                      <a:schemeClr val="bg1"/>
                    </a:solidFill>
                  </a:rPr>
                  <a:t>(dirty)</a:t>
                </a:r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66DE858-9F1F-7C3F-D45F-A1345AD3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blipFill>
                <a:blip r:embed="rId6"/>
                <a:stretch>
                  <a:fillRect t="-162745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7F61C59-7743-97D3-35E8-0C932914C6AD}"/>
                  </a:ext>
                </a:extLst>
              </p:cNvPr>
              <p:cNvSpPr txBox="1"/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217</m:t>
                      </m:r>
                    </m:oMath>
                  </m:oMathPara>
                </a14:m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7DB9920-B8E5-D091-A9FB-EA28F89E3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blipFill>
                <a:blip r:embed="rId7"/>
                <a:stretch>
                  <a:fillRect l="-16929" t="-162745" r="-3150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08F5E9E-562D-9589-5D8E-F3552633C260}"/>
              </a:ext>
            </a:extLst>
          </p:cNvPr>
          <p:cNvSpPr txBox="1"/>
          <p:nvPr/>
        </p:nvSpPr>
        <p:spPr>
          <a:xfrm>
            <a:off x="6446828" y="6419856"/>
            <a:ext cx="554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b="1" dirty="0">
                <a:solidFill>
                  <a:schemeClr val="tx2"/>
                </a:solidFill>
              </a:rPr>
              <a:t>22</a:t>
            </a:r>
            <a:r>
              <a:rPr lang="en-US" altLang="ja-JP" dirty="0">
                <a:solidFill>
                  <a:schemeClr val="tx2"/>
                </a:solidFill>
              </a:rPr>
              <a:t>, 044042 (2024) 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8F9634B9-A38F-866A-EEFD-79C01EF624F4}"/>
                  </a:ext>
                </a:extLst>
              </p:cNvPr>
              <p:cNvSpPr txBox="1"/>
              <p:nvPr/>
            </p:nvSpPr>
            <p:spPr>
              <a:xfrm>
                <a:off x="0" y="1329"/>
                <a:ext cx="5540829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ja-JP" sz="2800" b="0" dirty="0">
                    <a:solidFill>
                      <a:srgbClr val="FF8C1B"/>
                    </a:solidFill>
                    <a:latin typeface="Cambria Math" panose="02040503050406030204" pitchFamily="18" charset="0"/>
                  </a:rPr>
                  <a:t>Let’s see the orange curves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800" b="0" i="1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0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  <m:t>ℏ</m:t>
                        </m:r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2800" b="0" i="1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800" b="0" i="0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ja-JP" sz="2800" b="0" i="0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r>
                  <a:rPr lang="en-US" altLang="ja-JP" sz="2800" dirty="0">
                    <a:solidFill>
                      <a:srgbClr val="FF8C1B"/>
                    </a:solidFill>
                  </a:rPr>
                  <a:t>),which correspond to 7GHz for Nb.</a:t>
                </a:r>
                <a:endParaRPr lang="ja-JP" altLang="en-US" sz="28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F2CDD3B-9B7C-F9B0-3A17-EFF29BAD1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29"/>
                <a:ext cx="5540829" cy="1384995"/>
              </a:xfrm>
              <a:prstGeom prst="rect">
                <a:avLst/>
              </a:prstGeom>
              <a:blipFill>
                <a:blip r:embed="rId8"/>
                <a:stretch>
                  <a:fillRect t="-4405" b="-11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47CCE40C-0050-DB7A-BFD2-98E073CF6359}"/>
                  </a:ext>
                </a:extLst>
              </p:cNvPr>
              <p:cNvSpPr txBox="1"/>
              <p:nvPr/>
            </p:nvSpPr>
            <p:spPr>
              <a:xfrm>
                <a:off x="886212" y="1537242"/>
                <a:ext cx="3431004" cy="123854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Dotted curve: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kumimoji="1" lang="en-US" altLang="ja-JP" sz="36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kumimoji="1" lang="en-US" altLang="ja-JP" sz="3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ja-JP" sz="3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kumimoji="1" lang="en-US" altLang="ja-JP" sz="3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ja-JP" altLang="en-US" sz="3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BEF2B51-EA26-DE9A-FE69-12DF74032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12" y="1537242"/>
                <a:ext cx="3431004" cy="1238544"/>
              </a:xfrm>
              <a:prstGeom prst="rect">
                <a:avLst/>
              </a:prstGeom>
              <a:blipFill>
                <a:blip r:embed="rId9"/>
                <a:stretch>
                  <a:fillRect l="-5124" t="-728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6C6E8E1-3BAE-E195-257F-C77D8344100B}"/>
              </a:ext>
            </a:extLst>
          </p:cNvPr>
          <p:cNvCxnSpPr>
            <a:cxnSpLocks/>
          </p:cNvCxnSpPr>
          <p:nvPr/>
        </p:nvCxnSpPr>
        <p:spPr>
          <a:xfrm>
            <a:off x="4317216" y="1722359"/>
            <a:ext cx="2959092" cy="723417"/>
          </a:xfrm>
          <a:prstGeom prst="straightConnector1">
            <a:avLst/>
          </a:prstGeom>
          <a:ln w="539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図 31">
            <a:extLst>
              <a:ext uri="{FF2B5EF4-FFF2-40B4-BE49-F238E27FC236}">
                <a16:creationId xmlns:a16="http://schemas.microsoft.com/office/drawing/2014/main" id="{BE2404CB-34BB-1B1E-791A-2E7FA7A3B1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8773" y="3781167"/>
            <a:ext cx="1692225" cy="1114878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3335B5AE-2569-9FDB-D64C-D1EA5D48D4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76" y="1870208"/>
            <a:ext cx="672235" cy="5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7528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3553-6B3C-B27D-CDE8-86783448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6BA7125-42E1-7312-559F-F0AF77C2C7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17" t="14493" r="28342" b="10145"/>
          <a:stretch/>
        </p:blipFill>
        <p:spPr>
          <a:xfrm>
            <a:off x="5625179" y="66645"/>
            <a:ext cx="6482202" cy="6253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1136CB3-9C7B-A8C8-3EEE-61B5AC0E9CEA}"/>
                  </a:ext>
                </a:extLst>
              </p:cNvPr>
              <p:cNvSpPr txBox="1"/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0.04</m:t>
                      </m:r>
                    </m:oMath>
                  </m:oMathPara>
                </a14:m>
                <a:endParaRPr lang="ja-JP" altLang="en-US" sz="2400" dirty="0">
                  <a:solidFill>
                    <a:srgbClr val="22FF22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6CE0632-673B-1A04-0DE8-714FE580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AC6F7A7-18ED-5044-5239-8F2D9A759883}"/>
                  </a:ext>
                </a:extLst>
              </p:cNvPr>
              <p:cNvSpPr txBox="1"/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ja-JP" altLang="en-US" sz="2400" dirty="0">
                  <a:solidFill>
                    <a:srgbClr val="1313FF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3385815-186F-FAC2-9D4F-4E1969758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401919C-6ED4-49A8-168D-469123C4CC63}"/>
                  </a:ext>
                </a:extLst>
              </p:cNvPr>
              <p:cNvSpPr txBox="1"/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ja-JP" altLang="en-US" sz="24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971AB11-DB5B-0501-4BA7-567BD9558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blipFill>
                <a:blip r:embed="rId5"/>
                <a:stretch>
                  <a:fillRect l="-37981" r="-49519" b="-59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52A77339-45E2-2F3B-A179-F8CFE76F1C3F}"/>
                  </a:ext>
                </a:extLst>
              </p:cNvPr>
              <p:cNvSpPr txBox="1"/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sSub>
                          <m:sSubPr>
                            <m:ctrlP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=0.31</m:t>
                    </m:r>
                  </m:oMath>
                </a14:m>
                <a:r>
                  <a:rPr lang="en-US" altLang="ja-JP" sz="2000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ja-JP" sz="2000" dirty="0">
                    <a:solidFill>
                      <a:schemeClr val="bg1"/>
                    </a:solidFill>
                  </a:rPr>
                  <a:t>(dirty)</a:t>
                </a:r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66DE858-9F1F-7C3F-D45F-A1345AD3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blipFill>
                <a:blip r:embed="rId6"/>
                <a:stretch>
                  <a:fillRect t="-162745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20BD6A3-8E77-AF66-828D-EFEB9FA599F2}"/>
                  </a:ext>
                </a:extLst>
              </p:cNvPr>
              <p:cNvSpPr txBox="1"/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=0.217</m:t>
                      </m:r>
                    </m:oMath>
                  </m:oMathPara>
                </a14:m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7DB9920-B8E5-D091-A9FB-EA28F89E3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blipFill>
                <a:blip r:embed="rId7"/>
                <a:stretch>
                  <a:fillRect l="-16929" t="-162745" r="-3150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09319D6-FD8F-6763-1F9D-43C0243581FC}"/>
              </a:ext>
            </a:extLst>
          </p:cNvPr>
          <p:cNvSpPr txBox="1"/>
          <p:nvPr/>
        </p:nvSpPr>
        <p:spPr>
          <a:xfrm>
            <a:off x="6446828" y="6419856"/>
            <a:ext cx="554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b="1" dirty="0">
                <a:solidFill>
                  <a:schemeClr val="tx2"/>
                </a:solidFill>
              </a:rPr>
              <a:t>22</a:t>
            </a:r>
            <a:r>
              <a:rPr lang="en-US" altLang="ja-JP" dirty="0">
                <a:solidFill>
                  <a:schemeClr val="tx2"/>
                </a:solidFill>
              </a:rPr>
              <a:t>, 044042 (2024) 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81CED81-14AD-C405-8F23-57E448F09673}"/>
                  </a:ext>
                </a:extLst>
              </p:cNvPr>
              <p:cNvSpPr txBox="1"/>
              <p:nvPr/>
            </p:nvSpPr>
            <p:spPr>
              <a:xfrm>
                <a:off x="0" y="1329"/>
                <a:ext cx="5540829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ja-JP" sz="2800" b="0" dirty="0">
                    <a:solidFill>
                      <a:srgbClr val="FF8C1B"/>
                    </a:solidFill>
                    <a:latin typeface="Cambria Math" panose="02040503050406030204" pitchFamily="18" charset="0"/>
                  </a:rPr>
                  <a:t>Let’s see the orange curves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800" b="0" i="1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0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  <m:t>ℏ</m:t>
                        </m:r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2800" b="0" i="1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800" b="0" i="0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ja-JP" sz="2800" b="0" i="0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r>
                  <a:rPr lang="en-US" altLang="ja-JP" sz="2800" dirty="0">
                    <a:solidFill>
                      <a:srgbClr val="FF8C1B"/>
                    </a:solidFill>
                  </a:rPr>
                  <a:t>),which correspond to 7GHz for Nb.</a:t>
                </a:r>
                <a:endParaRPr lang="ja-JP" altLang="en-US" sz="28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F2CDD3B-9B7C-F9B0-3A17-EFF29BAD1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29"/>
                <a:ext cx="5540829" cy="1384995"/>
              </a:xfrm>
              <a:prstGeom prst="rect">
                <a:avLst/>
              </a:prstGeom>
              <a:blipFill>
                <a:blip r:embed="rId8"/>
                <a:stretch>
                  <a:fillRect t="-4405" b="-11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C5D085B-80A0-91FB-6FF1-A8F05072D8CD}"/>
                  </a:ext>
                </a:extLst>
              </p:cNvPr>
              <p:cNvSpPr txBox="1"/>
              <p:nvPr/>
            </p:nvSpPr>
            <p:spPr>
              <a:xfrm>
                <a:off x="886212" y="1537242"/>
                <a:ext cx="3431004" cy="123854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Dotted curve: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kumimoji="1" lang="en-US" altLang="ja-JP" sz="36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kumimoji="1" lang="en-US" altLang="ja-JP" sz="3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ja-JP" sz="3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kumimoji="1" lang="en-US" altLang="ja-JP" sz="3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ja-JP" altLang="en-US" sz="3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BEF2B51-EA26-DE9A-FE69-12DF74032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12" y="1537242"/>
                <a:ext cx="3431004" cy="1238544"/>
              </a:xfrm>
              <a:prstGeom prst="rect">
                <a:avLst/>
              </a:prstGeom>
              <a:blipFill>
                <a:blip r:embed="rId9"/>
                <a:stretch>
                  <a:fillRect l="-5124" t="-728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F40AA80B-05B6-8840-8413-53259BA82428}"/>
              </a:ext>
            </a:extLst>
          </p:cNvPr>
          <p:cNvCxnSpPr>
            <a:cxnSpLocks/>
          </p:cNvCxnSpPr>
          <p:nvPr/>
        </p:nvCxnSpPr>
        <p:spPr>
          <a:xfrm>
            <a:off x="4317216" y="1722359"/>
            <a:ext cx="2959092" cy="723417"/>
          </a:xfrm>
          <a:prstGeom prst="straightConnector1">
            <a:avLst/>
          </a:prstGeom>
          <a:ln w="539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76F8D3B-5EB2-C6D6-DB56-4A694435E642}"/>
                  </a:ext>
                </a:extLst>
              </p:cNvPr>
              <p:cNvSpPr txBox="1"/>
              <p:nvPr/>
            </p:nvSpPr>
            <p:spPr>
              <a:xfrm>
                <a:off x="820732" y="3098550"/>
                <a:ext cx="3326745" cy="122405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Dashed curve: </a:t>
                </a:r>
              </a:p>
              <a:p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Re[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kumimoji="1" lang="en-US" altLang="ja-JP" sz="36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kumimoji="1" lang="en-US" altLang="ja-JP" sz="36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ja-JP" altLang="en-US" sz="3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76F8D3B-5EB2-C6D6-DB56-4A694435E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32" y="3098550"/>
                <a:ext cx="3326745" cy="1224053"/>
              </a:xfrm>
              <a:prstGeom prst="rect">
                <a:avLst/>
              </a:prstGeom>
              <a:blipFill>
                <a:blip r:embed="rId10"/>
                <a:stretch>
                  <a:fillRect l="-5474" t="-7353" r="-4197" b="-1617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278CB16B-851C-2564-0908-9AC71300920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147477" y="3420990"/>
            <a:ext cx="3694592" cy="289587"/>
          </a:xfrm>
          <a:prstGeom prst="straightConnector1">
            <a:avLst/>
          </a:prstGeom>
          <a:ln w="539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BB61B790-0387-8B08-E7F9-C2508455CFD3}"/>
                  </a:ext>
                </a:extLst>
              </p:cNvPr>
              <p:cNvSpPr txBox="1"/>
              <p:nvPr/>
            </p:nvSpPr>
            <p:spPr>
              <a:xfrm>
                <a:off x="116266" y="5900694"/>
                <a:ext cx="5346720" cy="971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/>
                  <a:t>Significant contribution from </a:t>
                </a:r>
              </a:p>
              <a:p>
                <a:r>
                  <a:rPr kumimoji="1" lang="en-US" altLang="ja-JP" sz="2800" dirty="0"/>
                  <a:t>the direct AAA action term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C987F646-1379-D649-C17D-424D02C46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6" y="5900694"/>
                <a:ext cx="5346720" cy="971997"/>
              </a:xfrm>
              <a:prstGeom prst="rect">
                <a:avLst/>
              </a:prstGeom>
              <a:blipFill>
                <a:blip r:embed="rId12"/>
                <a:stretch>
                  <a:fillRect l="-2281" t="-7547" b="-163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図 31">
            <a:extLst>
              <a:ext uri="{FF2B5EF4-FFF2-40B4-BE49-F238E27FC236}">
                <a16:creationId xmlns:a16="http://schemas.microsoft.com/office/drawing/2014/main" id="{F461630B-90DB-78EE-26A1-55AA0EFBDD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8773" y="3781167"/>
            <a:ext cx="1692225" cy="1114878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F5BEBFFC-8F9E-9B71-38F5-026861CA38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76" y="1870208"/>
            <a:ext cx="672235" cy="51240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4880062-B46D-6E1F-F99F-8CAE763F59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14" y="3715421"/>
            <a:ext cx="637785" cy="45243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DAD6AF8-C7BD-686B-4A3C-FB05F3AB23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25" y="3157981"/>
            <a:ext cx="672235" cy="5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695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52E63-0D29-F665-89FC-E11EA653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0865809-2E23-0F86-FC24-2506CE30D5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17" t="14493" r="28342" b="10145"/>
          <a:stretch/>
        </p:blipFill>
        <p:spPr>
          <a:xfrm>
            <a:off x="5625179" y="66645"/>
            <a:ext cx="6482202" cy="6253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DD05095-2CAC-5577-4923-DDB8D29DC114}"/>
                  </a:ext>
                </a:extLst>
              </p:cNvPr>
              <p:cNvSpPr txBox="1"/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ja-JP" altLang="en-US" sz="2400" dirty="0">
                  <a:solidFill>
                    <a:srgbClr val="22FF22"/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6CE0632-673B-1A04-0DE8-714FE580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71563">
                <a:off x="9888237" y="1631310"/>
                <a:ext cx="12945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A4A0E4-DBF3-90BC-2F0A-88B5DA81B07B}"/>
                  </a:ext>
                </a:extLst>
              </p:cNvPr>
              <p:cNvSpPr txBox="1"/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ja-JP" altLang="en-US" sz="2400" dirty="0">
                  <a:solidFill>
                    <a:srgbClr val="1313FF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3385815-186F-FAC2-9D4F-4E1969758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444565">
                <a:off x="10527335" y="1958161"/>
                <a:ext cx="129457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A0958DE-43DF-93D9-2FA8-6091D91FDA66}"/>
                  </a:ext>
                </a:extLst>
              </p:cNvPr>
              <p:cNvSpPr txBox="1"/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kumimoji="1" lang="en-US" altLang="ja-JP" sz="2400" b="0" i="1" smtClean="0">
                              <a:solidFill>
                                <a:srgbClr val="FF8C1B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8C1B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</m:oMath>
                  </m:oMathPara>
                </a14:m>
                <a:endParaRPr lang="ja-JP" altLang="en-US" sz="24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971AB11-DB5B-0501-4BA7-567BD9558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80067">
                <a:off x="7489757" y="1071987"/>
                <a:ext cx="2455912" cy="461665"/>
              </a:xfrm>
              <a:prstGeom prst="rect">
                <a:avLst/>
              </a:prstGeom>
              <a:blipFill>
                <a:blip r:embed="rId5"/>
                <a:stretch>
                  <a:fillRect l="-37981" r="-49519" b="-59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DDCD9D7-289F-931F-5915-56AD473DF2C6}"/>
                  </a:ext>
                </a:extLst>
              </p:cNvPr>
              <p:cNvSpPr txBox="1"/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sSub>
                          <m:sSubPr>
                            <m:ctrlP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ja-JP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lang="en-US" altLang="ja-JP" sz="2000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ja-JP" sz="2000" dirty="0">
                    <a:solidFill>
                      <a:schemeClr val="bg1"/>
                    </a:solidFill>
                  </a:rPr>
                  <a:t>(dirty)</a:t>
                </a:r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66DE858-9F1F-7C3F-D45F-A1345AD3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14" y="4986759"/>
                <a:ext cx="3250217" cy="307777"/>
              </a:xfrm>
              <a:prstGeom prst="rect">
                <a:avLst/>
              </a:prstGeom>
              <a:blipFill>
                <a:blip r:embed="rId6"/>
                <a:stretch>
                  <a:fillRect t="-162745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92718A3-415D-D635-47E0-413AA9BD80A2}"/>
                  </a:ext>
                </a:extLst>
              </p:cNvPr>
              <p:cNvSpPr txBox="1"/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217</m:t>
                      </m:r>
                    </m:oMath>
                  </m:oMathPara>
                </a14:m>
                <a:endParaRPr kumimoji="1" lang="ja-JP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7DB9920-B8E5-D091-A9FB-EA28F89E3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365" y="4975096"/>
                <a:ext cx="1550874" cy="307777"/>
              </a:xfrm>
              <a:prstGeom prst="rect">
                <a:avLst/>
              </a:prstGeom>
              <a:blipFill>
                <a:blip r:embed="rId7"/>
                <a:stretch>
                  <a:fillRect l="-16929" t="-162745" r="-3150" b="-2470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4684EEE-B951-1B8B-4878-6BB0A3978271}"/>
              </a:ext>
            </a:extLst>
          </p:cNvPr>
          <p:cNvSpPr txBox="1"/>
          <p:nvPr/>
        </p:nvSpPr>
        <p:spPr>
          <a:xfrm>
            <a:off x="6446828" y="6419856"/>
            <a:ext cx="554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b="1" dirty="0">
                <a:solidFill>
                  <a:schemeClr val="tx2"/>
                </a:solidFill>
              </a:rPr>
              <a:t>22</a:t>
            </a:r>
            <a:r>
              <a:rPr lang="en-US" altLang="ja-JP" dirty="0">
                <a:solidFill>
                  <a:schemeClr val="tx2"/>
                </a:solidFill>
              </a:rPr>
              <a:t>, 044042 (2024) 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830CE60C-B901-B566-A382-5C06010506C4}"/>
                  </a:ext>
                </a:extLst>
              </p:cNvPr>
              <p:cNvSpPr txBox="1"/>
              <p:nvPr/>
            </p:nvSpPr>
            <p:spPr>
              <a:xfrm>
                <a:off x="0" y="1329"/>
                <a:ext cx="5540829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ja-JP" sz="2800" b="0" dirty="0">
                    <a:solidFill>
                      <a:srgbClr val="FF8C1B"/>
                    </a:solidFill>
                    <a:latin typeface="Cambria Math" panose="02040503050406030204" pitchFamily="18" charset="0"/>
                  </a:rPr>
                  <a:t>Let’s see the orange curves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sz="2800" b="0" i="1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0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  <m:t>ℏ</m:t>
                        </m:r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solidFill>
                              <a:srgbClr val="FF8C1B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2800" b="0" i="1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800" b="0" i="0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kumimoji="1" lang="en-US" altLang="ja-JP" sz="2800" b="0" i="0" smtClean="0">
                                <a:solidFill>
                                  <a:srgbClr val="FF8C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sz="2800" b="0" i="0" smtClean="0">
                        <a:solidFill>
                          <a:srgbClr val="FF8C1B"/>
                        </a:solidFill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r>
                  <a:rPr lang="en-US" altLang="ja-JP" sz="2800" dirty="0">
                    <a:solidFill>
                      <a:srgbClr val="FF8C1B"/>
                    </a:solidFill>
                  </a:rPr>
                  <a:t>),which correspond to 7GHz for Nb.</a:t>
                </a:r>
                <a:endParaRPr lang="ja-JP" altLang="en-US" sz="2800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F2CDD3B-9B7C-F9B0-3A17-EFF29BAD1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29"/>
                <a:ext cx="5540829" cy="1384995"/>
              </a:xfrm>
              <a:prstGeom prst="rect">
                <a:avLst/>
              </a:prstGeom>
              <a:blipFill>
                <a:blip r:embed="rId8"/>
                <a:stretch>
                  <a:fillRect t="-4405" b="-11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DB934987-C9C8-2CFB-B778-738C0256C4B2}"/>
                  </a:ext>
                </a:extLst>
              </p:cNvPr>
              <p:cNvSpPr txBox="1"/>
              <p:nvPr/>
            </p:nvSpPr>
            <p:spPr>
              <a:xfrm>
                <a:off x="886212" y="1537242"/>
                <a:ext cx="3431004" cy="123854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Dotted curve: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6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kumimoji="1" lang="en-US" altLang="ja-JP" sz="36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kumimoji="1" lang="en-US" altLang="ja-JP" sz="3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ja-JP" sz="3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kumimoji="1" lang="en-US" altLang="ja-JP" sz="3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ja-JP" altLang="en-US" sz="3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BEF2B51-EA26-DE9A-FE69-12DF74032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12" y="1537242"/>
                <a:ext cx="3431004" cy="1238544"/>
              </a:xfrm>
              <a:prstGeom prst="rect">
                <a:avLst/>
              </a:prstGeom>
              <a:blipFill>
                <a:blip r:embed="rId9"/>
                <a:stretch>
                  <a:fillRect l="-5124" t="-728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D6F1A3C-3F3C-12A0-B1F3-F9207E3456AA}"/>
              </a:ext>
            </a:extLst>
          </p:cNvPr>
          <p:cNvCxnSpPr>
            <a:cxnSpLocks/>
          </p:cNvCxnSpPr>
          <p:nvPr/>
        </p:nvCxnSpPr>
        <p:spPr>
          <a:xfrm>
            <a:off x="4317216" y="1722359"/>
            <a:ext cx="2959092" cy="723417"/>
          </a:xfrm>
          <a:prstGeom prst="straightConnector1">
            <a:avLst/>
          </a:prstGeom>
          <a:ln w="539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52ACB16-18F7-8448-036A-84E6C866EF9A}"/>
                  </a:ext>
                </a:extLst>
              </p:cNvPr>
              <p:cNvSpPr txBox="1"/>
              <p:nvPr/>
            </p:nvSpPr>
            <p:spPr>
              <a:xfrm>
                <a:off x="820732" y="3098550"/>
                <a:ext cx="3326745" cy="122405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Dashed curve: </a:t>
                </a:r>
              </a:p>
              <a:p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Re[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ja-JP" sz="36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ja-JP" sz="36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ja-JP" altLang="en-US" sz="3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52ACB16-18F7-8448-036A-84E6C866E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32" y="3098550"/>
                <a:ext cx="3326745" cy="1224053"/>
              </a:xfrm>
              <a:prstGeom prst="rect">
                <a:avLst/>
              </a:prstGeom>
              <a:blipFill>
                <a:blip r:embed="rId10"/>
                <a:stretch>
                  <a:fillRect l="-5474" t="-7353" r="-4197" b="-1617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6C31DC9-03C2-42E1-3E5E-9A8C50EC1C2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147477" y="3420990"/>
            <a:ext cx="3694592" cy="289587"/>
          </a:xfrm>
          <a:prstGeom prst="straightConnector1">
            <a:avLst/>
          </a:prstGeom>
          <a:ln w="539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701F592-ACA7-056C-D319-39CFE1FE4634}"/>
                  </a:ext>
                </a:extLst>
              </p:cNvPr>
              <p:cNvSpPr txBox="1"/>
              <p:nvPr/>
            </p:nvSpPr>
            <p:spPr>
              <a:xfrm>
                <a:off x="707522" y="4589895"/>
                <a:ext cx="4532844" cy="122405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rgbClr val="FFC000"/>
                    </a:solidFill>
                  </a:rPr>
                  <a:t>Solid</a:t>
                </a:r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 curve: </a:t>
                </a:r>
              </a:p>
              <a:p>
                <a:r>
                  <a:rPr kumimoji="1" lang="en-US" altLang="ja-JP" sz="3600" b="0" dirty="0">
                    <a:solidFill>
                      <a:srgbClr val="FFC000"/>
                    </a:solidFill>
                  </a:rPr>
                  <a:t>Re[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ja-JP" sz="36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ja-JP" sz="36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ja-JP" sz="3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3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3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ja-JP" sz="36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ja-JP" altLang="en-US" sz="3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047C565-F340-4B6B-97D2-D79B84975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22" y="4589895"/>
                <a:ext cx="4532844" cy="1224053"/>
              </a:xfrm>
              <a:prstGeom prst="rect">
                <a:avLst/>
              </a:prstGeom>
              <a:blipFill>
                <a:blip r:embed="rId11"/>
                <a:stretch>
                  <a:fillRect l="-3882" t="-7843" b="-1617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1F24389-A493-9BF2-88D1-CB5CD6FA7FF0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5240366" y="3016048"/>
            <a:ext cx="2035942" cy="2185874"/>
          </a:xfrm>
          <a:prstGeom prst="straightConnector1">
            <a:avLst/>
          </a:prstGeom>
          <a:ln w="539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1FB932D9-5ADC-B015-B1FA-6F0741DEF137}"/>
                  </a:ext>
                </a:extLst>
              </p:cNvPr>
              <p:cNvSpPr txBox="1"/>
              <p:nvPr/>
            </p:nvSpPr>
            <p:spPr>
              <a:xfrm>
                <a:off x="116266" y="5900694"/>
                <a:ext cx="5346720" cy="971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/>
                  <a:t>Significant contribution from </a:t>
                </a:r>
              </a:p>
              <a:p>
                <a:r>
                  <a:rPr kumimoji="1" lang="en-US" altLang="ja-JP" sz="2800" dirty="0"/>
                  <a:t>the direct AAA action term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ja-JP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C987F646-1379-D649-C17D-424D02C46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6" y="5900694"/>
                <a:ext cx="5346720" cy="971997"/>
              </a:xfrm>
              <a:prstGeom prst="rect">
                <a:avLst/>
              </a:prstGeom>
              <a:blipFill>
                <a:blip r:embed="rId12"/>
                <a:stretch>
                  <a:fillRect l="-2281" t="-7547" b="-163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図 31">
            <a:extLst>
              <a:ext uri="{FF2B5EF4-FFF2-40B4-BE49-F238E27FC236}">
                <a16:creationId xmlns:a16="http://schemas.microsoft.com/office/drawing/2014/main" id="{B45A6413-E05B-E0FE-4AAA-48C8C22BC24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8773" y="3781167"/>
            <a:ext cx="1692225" cy="1114878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28B183D8-FF65-57C7-DD28-107A2CE6C2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76" y="1870208"/>
            <a:ext cx="672235" cy="51240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739B8DB-5A71-05CD-1819-F87B4BCE2D6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14" y="3715421"/>
            <a:ext cx="637785" cy="45243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02EA3FF-497C-D4B2-DF7D-1F3A8A0DE01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704" y="5514418"/>
            <a:ext cx="646143" cy="41262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090D97A1-AD04-840E-88AB-E340303D5AA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25" y="3157981"/>
            <a:ext cx="672235" cy="51240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EC0E2346-0286-40FA-24B8-99056FDC128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253" y="5026061"/>
            <a:ext cx="637786" cy="45243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BED9C4BD-8EF4-5D1F-EA44-2D8187433E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681" y="4502072"/>
            <a:ext cx="611123" cy="46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0281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78CF-AC39-87DF-0C05-75DCF276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E3F4B08B-B200-922F-8D5D-1101751C9B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88" t="14619" r="28994" b="10019"/>
          <a:stretch/>
        </p:blipFill>
        <p:spPr>
          <a:xfrm>
            <a:off x="5712287" y="106678"/>
            <a:ext cx="6301808" cy="6253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2BDA9C8-BD82-E89C-57CB-A4818E700561}"/>
                  </a:ext>
                </a:extLst>
              </p:cNvPr>
              <p:cNvSpPr txBox="1"/>
              <p:nvPr/>
            </p:nvSpPr>
            <p:spPr>
              <a:xfrm rot="16751836">
                <a:off x="6261071" y="1128849"/>
                <a:ext cx="16091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005</m:t>
                      </m:r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2BDA9C8-BD82-E89C-57CB-A4818E700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751836">
                <a:off x="6261071" y="1128849"/>
                <a:ext cx="1609158" cy="276999"/>
              </a:xfrm>
              <a:prstGeom prst="rect">
                <a:avLst/>
              </a:prstGeom>
              <a:blipFill>
                <a:blip r:embed="rId3"/>
                <a:stretch>
                  <a:fillRect l="-88636" t="-2602" r="-117045" b="-11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3A36597-8936-2168-B717-3BDD51FE04F9}"/>
                  </a:ext>
                </a:extLst>
              </p:cNvPr>
              <p:cNvSpPr txBox="1"/>
              <p:nvPr/>
            </p:nvSpPr>
            <p:spPr>
              <a:xfrm rot="16970620">
                <a:off x="7190416" y="1382465"/>
                <a:ext cx="1294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FFB3B3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b="0" i="1" smtClean="0">
                          <a:solidFill>
                            <a:srgbClr val="FFB3B3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b="0" i="1" smtClean="0">
                          <a:solidFill>
                            <a:srgbClr val="FFB3B3"/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ja-JP" altLang="en-US" dirty="0">
                  <a:solidFill>
                    <a:srgbClr val="FFB3B3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3A36597-8936-2168-B717-3BDD51FE0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970620">
                <a:off x="7190416" y="1382465"/>
                <a:ext cx="12945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0AF0E15-6F2A-9041-3D43-25E438EEBB71}"/>
                  </a:ext>
                </a:extLst>
              </p:cNvPr>
              <p:cNvSpPr txBox="1"/>
              <p:nvPr/>
            </p:nvSpPr>
            <p:spPr>
              <a:xfrm rot="17200365">
                <a:off x="8451980" y="1744359"/>
                <a:ext cx="1294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b="0" i="1" smtClean="0">
                          <a:solidFill>
                            <a:srgbClr val="FF8C1B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</m:oMath>
                  </m:oMathPara>
                </a14:m>
                <a:endParaRPr lang="ja-JP" altLang="en-US" dirty="0">
                  <a:solidFill>
                    <a:srgbClr val="FF8C1B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0AF0E15-6F2A-9041-3D43-25E438EEB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00365">
                <a:off x="8451980" y="1744359"/>
                <a:ext cx="12945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89EBDB7-5975-4507-BF7A-E6230835B257}"/>
                  </a:ext>
                </a:extLst>
              </p:cNvPr>
              <p:cNvSpPr txBox="1"/>
              <p:nvPr/>
            </p:nvSpPr>
            <p:spPr>
              <a:xfrm rot="17268982">
                <a:off x="9845757" y="1864153"/>
                <a:ext cx="1294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b="0" i="1" smtClean="0">
                          <a:solidFill>
                            <a:srgbClr val="22FF22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ja-JP" altLang="en-US" dirty="0">
                  <a:solidFill>
                    <a:srgbClr val="22FF22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89EBDB7-5975-4507-BF7A-E6230835B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68982">
                <a:off x="9845757" y="1864153"/>
                <a:ext cx="12945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CEBA9FE-7021-29E2-42C7-D322B43873F4}"/>
                  </a:ext>
                </a:extLst>
              </p:cNvPr>
              <p:cNvSpPr txBox="1"/>
              <p:nvPr/>
            </p:nvSpPr>
            <p:spPr>
              <a:xfrm rot="20097851">
                <a:off x="9450878" y="4131135"/>
                <a:ext cx="1294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b="0" i="1" smtClean="0">
                          <a:solidFill>
                            <a:srgbClr val="1313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ja-JP" altLang="en-US" dirty="0">
                  <a:solidFill>
                    <a:srgbClr val="1313FF"/>
                  </a:solidFill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CEBA9FE-7021-29E2-42C7-D322B4387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97851">
                <a:off x="9450878" y="4131135"/>
                <a:ext cx="12945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51B16690-2967-5606-7271-01561B6B2393}"/>
                  </a:ext>
                </a:extLst>
              </p:cNvPr>
              <p:cNvSpPr txBox="1"/>
              <p:nvPr/>
            </p:nvSpPr>
            <p:spPr>
              <a:xfrm rot="18477885">
                <a:off x="11000930" y="1216994"/>
                <a:ext cx="12945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A244A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b="0" i="1" smtClean="0">
                          <a:solidFill>
                            <a:srgbClr val="A244A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b="0" i="1" smtClean="0">
                          <a:solidFill>
                            <a:srgbClr val="A244A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ja-JP" altLang="en-US" dirty="0">
                  <a:solidFill>
                    <a:srgbClr val="A244A2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51B16690-2967-5606-7271-01561B6B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477885">
                <a:off x="11000930" y="1216994"/>
                <a:ext cx="12945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6267D58-7076-E37E-6F50-EB9002E4A406}"/>
                  </a:ext>
                </a:extLst>
              </p:cNvPr>
              <p:cNvSpPr txBox="1"/>
              <p:nvPr/>
            </p:nvSpPr>
            <p:spPr>
              <a:xfrm>
                <a:off x="6416837" y="5094035"/>
                <a:ext cx="268613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ja-JP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lang="en-US" altLang="ja-JP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ja-JP" dirty="0">
                    <a:solidFill>
                      <a:schemeClr val="bg1"/>
                    </a:solidFill>
                  </a:rPr>
                  <a:t>(dirty)</a:t>
                </a:r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6267D58-7076-E37E-6F50-EB9002E4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837" y="5094035"/>
                <a:ext cx="2686130" cy="276999"/>
              </a:xfrm>
              <a:prstGeom prst="rect">
                <a:avLst/>
              </a:prstGeom>
              <a:blipFill>
                <a:blip r:embed="rId9"/>
                <a:stretch>
                  <a:fillRect t="-173333" b="-25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15C3B595-159E-8120-AB10-AFF999B83C43}"/>
                  </a:ext>
                </a:extLst>
              </p:cNvPr>
              <p:cNvSpPr txBox="1"/>
              <p:nvPr/>
            </p:nvSpPr>
            <p:spPr>
              <a:xfrm>
                <a:off x="9784252" y="5008657"/>
                <a:ext cx="14050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ja-JP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217</m:t>
                      </m:r>
                    </m:oMath>
                  </m:oMathPara>
                </a14:m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15C3B595-159E-8120-AB10-AFF999B83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252" y="5008657"/>
                <a:ext cx="1405000" cy="276999"/>
              </a:xfrm>
              <a:prstGeom prst="rect">
                <a:avLst/>
              </a:prstGeom>
              <a:blipFill>
                <a:blip r:embed="rId10"/>
                <a:stretch>
                  <a:fillRect l="-16883" t="-173333" r="-3463" b="-25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2E39BF4-D19A-02C3-CE2E-DFE73EEEBBFE}"/>
              </a:ext>
            </a:extLst>
          </p:cNvPr>
          <p:cNvSpPr txBox="1"/>
          <p:nvPr/>
        </p:nvSpPr>
        <p:spPr>
          <a:xfrm>
            <a:off x="6446828" y="6419856"/>
            <a:ext cx="554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tx2"/>
                </a:solidFill>
              </a:rPr>
              <a:t>T. Kubo, Phys. Rev. Applied </a:t>
            </a:r>
            <a:r>
              <a:rPr lang="en-US" altLang="ja-JP" b="1" dirty="0">
                <a:solidFill>
                  <a:schemeClr val="tx2"/>
                </a:solidFill>
              </a:rPr>
              <a:t>22</a:t>
            </a:r>
            <a:r>
              <a:rPr lang="en-US" altLang="ja-JP" dirty="0">
                <a:solidFill>
                  <a:schemeClr val="tx2"/>
                </a:solidFill>
              </a:rPr>
              <a:t>, 044042 (2024) 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D0C74C3-1C4F-D018-96BB-23CC3C003E9F}"/>
                  </a:ext>
                </a:extLst>
              </p:cNvPr>
              <p:cNvSpPr txBox="1"/>
              <p:nvPr/>
            </p:nvSpPr>
            <p:spPr>
              <a:xfrm>
                <a:off x="217714" y="315686"/>
                <a:ext cx="5301343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dirty="0"/>
                  <a:t>The current-induced reduction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2800" dirty="0"/>
                  <a:t> is pronounced as the frequency increases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D0C74C3-1C4F-D018-96BB-23CC3C003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14" y="315686"/>
                <a:ext cx="5301343" cy="1384995"/>
              </a:xfrm>
              <a:prstGeom prst="rect">
                <a:avLst/>
              </a:prstGeom>
              <a:blipFill>
                <a:blip r:embed="rId11"/>
                <a:stretch>
                  <a:fillRect l="-2417" t="-5286" r="-1841" b="-11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9C956C4-0F30-C422-44B4-32B136F531AF}"/>
              </a:ext>
            </a:extLst>
          </p:cNvPr>
          <p:cNvSpPr txBox="1"/>
          <p:nvPr/>
        </p:nvSpPr>
        <p:spPr>
          <a:xfrm>
            <a:off x="251340" y="2427681"/>
            <a:ext cx="5402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The key player is the direct AAA photon action</a:t>
            </a:r>
            <a:endParaRPr kumimoji="1" lang="ja-JP" altLang="en-US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D55410A-2783-3439-A6F7-ED7E03CA3E3A}"/>
              </a:ext>
            </a:extLst>
          </p:cNvPr>
          <p:cNvSpPr txBox="1"/>
          <p:nvPr/>
        </p:nvSpPr>
        <p:spPr>
          <a:xfrm>
            <a:off x="-21772" y="5826980"/>
            <a:ext cx="5932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Big clue to understand the pronounced anti Q-slope with increasing frequency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480E23A8-3CC6-3AF3-A0DE-128F4C3C5B0D}"/>
                  </a:ext>
                </a:extLst>
              </p:cNvPr>
              <p:cNvSpPr txBox="1"/>
              <p:nvPr/>
            </p:nvSpPr>
            <p:spPr>
              <a:xfrm>
                <a:off x="579330" y="4976053"/>
                <a:ext cx="3978525" cy="512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32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3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sz="3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480E23A8-3CC6-3AF3-A0DE-128F4C3C5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30" y="4976053"/>
                <a:ext cx="3978525" cy="51296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A5302B6-8E11-FF57-1CD5-68F3EC523C14}"/>
              </a:ext>
            </a:extLst>
          </p:cNvPr>
          <p:cNvSpPr/>
          <p:nvPr/>
        </p:nvSpPr>
        <p:spPr>
          <a:xfrm>
            <a:off x="2495090" y="4910802"/>
            <a:ext cx="898552" cy="717047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BABFDA92-5958-5AC7-B4B4-BDFB7FD5D2A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08773" y="3824711"/>
            <a:ext cx="1692225" cy="111487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5E0EB88-2E77-2D65-9BE5-F90CC1FA96A1}"/>
              </a:ext>
            </a:extLst>
          </p:cNvPr>
          <p:cNvSpPr txBox="1"/>
          <p:nvPr/>
        </p:nvSpPr>
        <p:spPr>
          <a:xfrm rot="16970620">
            <a:off x="6983006" y="1094712"/>
            <a:ext cx="25539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FFB3B3"/>
                </a:solidFill>
              </a:rPr>
              <a:t>3.6 GHz for Nb</a:t>
            </a:r>
            <a:endParaRPr lang="ja-JP" altLang="en-US" sz="2400" dirty="0">
              <a:solidFill>
                <a:srgbClr val="FFB3B3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931F3C-ABA8-B366-F521-65ED9164F845}"/>
              </a:ext>
            </a:extLst>
          </p:cNvPr>
          <p:cNvSpPr txBox="1"/>
          <p:nvPr/>
        </p:nvSpPr>
        <p:spPr>
          <a:xfrm rot="17066028">
            <a:off x="8274765" y="1368831"/>
            <a:ext cx="25539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FF7B00"/>
                </a:solidFill>
              </a:rPr>
              <a:t>7 GHz for Nb</a:t>
            </a:r>
            <a:endParaRPr lang="ja-JP" altLang="en-US" sz="2400" dirty="0">
              <a:solidFill>
                <a:srgbClr val="FF7B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3631B7-1EF8-E9E9-9BAA-A376AFC8B856}"/>
              </a:ext>
            </a:extLst>
          </p:cNvPr>
          <p:cNvSpPr txBox="1"/>
          <p:nvPr/>
        </p:nvSpPr>
        <p:spPr>
          <a:xfrm rot="17066028">
            <a:off x="9728480" y="1094712"/>
            <a:ext cx="25539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92D050"/>
                </a:solidFill>
              </a:rPr>
              <a:t>14 GHz for Nb</a:t>
            </a:r>
            <a:endParaRPr lang="ja-JP" altLang="en-US" sz="2400" dirty="0">
              <a:solidFill>
                <a:srgbClr val="92D05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EA8F5D-FE9E-46AE-FF1E-CB41C04657A7}"/>
              </a:ext>
            </a:extLst>
          </p:cNvPr>
          <p:cNvSpPr txBox="1"/>
          <p:nvPr/>
        </p:nvSpPr>
        <p:spPr>
          <a:xfrm rot="18006163">
            <a:off x="9930127" y="2790872"/>
            <a:ext cx="25539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0000FF"/>
                </a:solidFill>
              </a:rPr>
              <a:t>36 GHz for Nb</a:t>
            </a:r>
            <a:endParaRPr lang="ja-JP" altLang="en-US" sz="2400" dirty="0">
              <a:solidFill>
                <a:srgbClr val="0000FF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24E5BB4-C088-1D00-3441-607ECA6B0FAD}"/>
              </a:ext>
            </a:extLst>
          </p:cNvPr>
          <p:cNvSpPr txBox="1"/>
          <p:nvPr/>
        </p:nvSpPr>
        <p:spPr>
          <a:xfrm rot="16705975">
            <a:off x="6141491" y="1058271"/>
            <a:ext cx="25539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1.8 GHz for Nb</a:t>
            </a:r>
            <a:endParaRPr lang="ja-JP" altLang="en-US" sz="2400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F0FD35C-FF37-6B40-E2C0-ADEAAFA5CB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4601" y="2815683"/>
            <a:ext cx="2670279" cy="191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7469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3C23-6AFF-5DE4-FDB2-3E63FE9B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6E3086-7ABE-64BC-904A-BD88E9D8A5A1}"/>
              </a:ext>
            </a:extLst>
          </p:cNvPr>
          <p:cNvSpPr txBox="1"/>
          <p:nvPr/>
        </p:nvSpPr>
        <p:spPr>
          <a:xfrm>
            <a:off x="2333028" y="2338866"/>
            <a:ext cx="7699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dirty="0"/>
              <a:t>Appendix (2)</a:t>
            </a:r>
            <a:endParaRPr kumimoji="1" lang="ja-JP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69837089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F6D2C-B317-EC7B-4179-A6A57A56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B682069-3C03-DB2E-6C3E-E6D25C736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9280" y="6356350"/>
            <a:ext cx="60452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6C9BD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mtClean="0"/>
              <a:pPr algn="r"/>
              <a:t>159</a:t>
            </a:fld>
            <a:endParaRPr lang="en-US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797BD7E-C365-E5CD-E114-6F4B90A938FB}"/>
              </a:ext>
            </a:extLst>
          </p:cNvPr>
          <p:cNvCxnSpPr>
            <a:cxnSpLocks/>
          </p:cNvCxnSpPr>
          <p:nvPr/>
        </p:nvCxnSpPr>
        <p:spPr>
          <a:xfrm>
            <a:off x="3026733" y="3144198"/>
            <a:ext cx="916003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7BA69F3-EB00-40D2-8E4D-7B8CD2034F7B}"/>
              </a:ext>
            </a:extLst>
          </p:cNvPr>
          <p:cNvCxnSpPr>
            <a:cxnSpLocks/>
          </p:cNvCxnSpPr>
          <p:nvPr/>
        </p:nvCxnSpPr>
        <p:spPr>
          <a:xfrm>
            <a:off x="0" y="1676930"/>
            <a:ext cx="12192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6C5DDA2-D38B-E6FE-FFCD-431DA6E9094F}"/>
              </a:ext>
            </a:extLst>
          </p:cNvPr>
          <p:cNvCxnSpPr>
            <a:cxnSpLocks/>
          </p:cNvCxnSpPr>
          <p:nvPr/>
        </p:nvCxnSpPr>
        <p:spPr>
          <a:xfrm>
            <a:off x="5066843" y="659646"/>
            <a:ext cx="0" cy="6178576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BF5C8936-CAE6-F54A-BCC5-85410F354655}"/>
                  </a:ext>
                </a:extLst>
              </p:cNvPr>
              <p:cNvSpPr txBox="1"/>
              <p:nvPr/>
            </p:nvSpPr>
            <p:spPr>
              <a:xfrm>
                <a:off x="540814" y="5323415"/>
                <a:ext cx="1728030" cy="983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≲</m:t>
                      </m:r>
                      <m:r>
                        <a:rPr kumimoji="1" lang="en-US" altLang="ja-JP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82C4FA60-9ACF-91E7-580B-5C2589C9F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14" y="5323415"/>
                <a:ext cx="1728030" cy="9837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8FC21AB8-6703-E690-F21B-F842B17B4F04}"/>
              </a:ext>
            </a:extLst>
          </p:cNvPr>
          <p:cNvCxnSpPr>
            <a:cxnSpLocks/>
          </p:cNvCxnSpPr>
          <p:nvPr/>
        </p:nvCxnSpPr>
        <p:spPr>
          <a:xfrm flipV="1">
            <a:off x="3030048" y="4330269"/>
            <a:ext cx="9185145" cy="503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434925F7-F91D-E37D-CA3D-91552569101C}"/>
                  </a:ext>
                </a:extLst>
              </p:cNvPr>
              <p:cNvSpPr txBox="1"/>
              <p:nvPr/>
            </p:nvSpPr>
            <p:spPr>
              <a:xfrm>
                <a:off x="3338048" y="717396"/>
                <a:ext cx="136928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800" dirty="0"/>
                  <a:t>Purity</a:t>
                </a:r>
              </a:p>
              <a:p>
                <a:pPr algn="ctr"/>
                <a:r>
                  <a:rPr kumimoji="1" lang="en-US" altLang="ja-JP" sz="2800" dirty="0"/>
                  <a:t>(</a:t>
                </a:r>
                <a:r>
                  <a:rPr kumimoji="1" lang="en-US" altLang="ja-JP" sz="2800" dirty="0" err="1"/>
                  <a:t>mfp</a:t>
                </a:r>
                <a:r>
                  <a:rPr kumimoji="1" lang="en-US" altLang="ja-JP" sz="28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kumimoji="1" lang="en-US" altLang="ja-JP" sz="2800" dirty="0"/>
                  <a:t>)</a:t>
                </a:r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5BB1ECA5-F380-448F-FCEC-6F2EDF95D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048" y="717396"/>
                <a:ext cx="1369286" cy="954107"/>
              </a:xfrm>
              <a:prstGeom prst="rect">
                <a:avLst/>
              </a:prstGeom>
              <a:blipFill>
                <a:blip r:embed="rId8"/>
                <a:stretch>
                  <a:fillRect l="-8929" t="-7692" r="-8482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C5FE8C9-DB98-F7B7-33B9-D22FF0A4E904}"/>
              </a:ext>
            </a:extLst>
          </p:cNvPr>
          <p:cNvSpPr txBox="1"/>
          <p:nvPr/>
        </p:nvSpPr>
        <p:spPr>
          <a:xfrm>
            <a:off x="2638957" y="7978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0CFF8D06-AB05-A4B2-9624-6876B160B915}"/>
                  </a:ext>
                </a:extLst>
              </p:cNvPr>
              <p:cNvSpPr txBox="1"/>
              <p:nvPr/>
            </p:nvSpPr>
            <p:spPr>
              <a:xfrm>
                <a:off x="491503" y="756944"/>
                <a:ext cx="1813317" cy="882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2800" b="0" dirty="0"/>
                  <a:t>Intrinsic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ja-JP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ja-JP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FEB26606-BBC3-39FA-DC01-1E444A47F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03" y="756944"/>
                <a:ext cx="1813317" cy="882999"/>
              </a:xfrm>
              <a:prstGeom prst="rect">
                <a:avLst/>
              </a:prstGeom>
              <a:blipFill>
                <a:blip r:embed="rId9"/>
                <a:stretch>
                  <a:fillRect l="-121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DB1784BC-2BF9-A8AE-AB40-CF893F6F2935}"/>
                  </a:ext>
                </a:extLst>
              </p:cNvPr>
              <p:cNvSpPr txBox="1"/>
              <p:nvPr/>
            </p:nvSpPr>
            <p:spPr>
              <a:xfrm>
                <a:off x="3318170" y="1959091"/>
                <a:ext cx="146638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28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kumimoji="1" lang="en-US" altLang="ja-JP" sz="2800" dirty="0">
                    <a:solidFill>
                      <a:schemeClr val="tx1"/>
                    </a:solidFill>
                  </a:rPr>
                  <a:t>(clean)</a:t>
                </a:r>
                <a:endParaRPr lang="ja-JP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1BCB12F8-F58A-97CD-2380-8CECAA9D7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170" y="1959091"/>
                <a:ext cx="1466388" cy="954107"/>
              </a:xfrm>
              <a:prstGeom prst="rect">
                <a:avLst/>
              </a:prstGeom>
              <a:blipFill>
                <a:blip r:embed="rId10"/>
                <a:stretch>
                  <a:fillRect l="-3734" r="-3734" b="-15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0B92DCB3-894F-ECAF-46A3-58E969251071}"/>
                  </a:ext>
                </a:extLst>
              </p:cNvPr>
              <p:cNvSpPr txBox="1"/>
              <p:nvPr/>
            </p:nvSpPr>
            <p:spPr>
              <a:xfrm>
                <a:off x="729487" y="2094579"/>
                <a:ext cx="1357310" cy="877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kumimoji="1" lang="en-US" altLang="ja-JP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1" lang="en-US" altLang="ja-JP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kumimoji="1" lang="en-US" altLang="ja-JP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ja-JP" altLang="en-US" sz="3200" dirty="0">
                    <a:solidFill>
                      <a:schemeClr val="tx1"/>
                    </a:solidFill>
                  </a:rPr>
                  <a:t> </a:t>
                </a:r>
                <a:endParaRPr lang="ja-JP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18FA1E0C-D871-A314-87BA-77F7AEAAD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87" y="2094579"/>
                <a:ext cx="1357310" cy="8771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3DB479E6-77CA-7F77-C13B-086F400FE759}"/>
                  </a:ext>
                </a:extLst>
              </p:cNvPr>
              <p:cNvSpPr txBox="1"/>
              <p:nvPr/>
            </p:nvSpPr>
            <p:spPr>
              <a:xfrm>
                <a:off x="3030048" y="3243315"/>
                <a:ext cx="199553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ja-JP" sz="2400" dirty="0">
                    <a:solidFill>
                      <a:schemeClr val="tx1"/>
                    </a:solidFill>
                  </a:rPr>
                  <a:t>any</a:t>
                </a:r>
                <a:r>
                  <a:rPr kumimoji="1" lang="en-US" altLang="ja-JP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ja-JP" sz="1400" dirty="0">
                    <a:solidFill>
                      <a:schemeClr val="tx1"/>
                    </a:solidFill>
                  </a:rPr>
                  <a:t>(from clean limit </a:t>
                </a:r>
              </a:p>
              <a:p>
                <a:pPr algn="ctr"/>
                <a:r>
                  <a:rPr lang="en-US" altLang="ja-JP" sz="1400" dirty="0">
                    <a:solidFill>
                      <a:schemeClr val="tx1"/>
                    </a:solidFill>
                  </a:rPr>
                  <a:t>to dirty limit)</a:t>
                </a:r>
                <a:endParaRPr lang="ja-JP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46E56181-27E9-EE78-28A7-C3B856B62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048" y="3243315"/>
                <a:ext cx="1995535" cy="954107"/>
              </a:xfrm>
              <a:prstGeom prst="rect">
                <a:avLst/>
              </a:prstGeom>
              <a:blipFill>
                <a:blip r:embed="rId12"/>
                <a:stretch>
                  <a:fillRect t="-637" b="-57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834099B9-3BE6-59C5-A6B7-782EB3EE673A}"/>
              </a:ext>
            </a:extLst>
          </p:cNvPr>
          <p:cNvCxnSpPr>
            <a:cxnSpLocks/>
          </p:cNvCxnSpPr>
          <p:nvPr/>
        </p:nvCxnSpPr>
        <p:spPr>
          <a:xfrm>
            <a:off x="3022697" y="653024"/>
            <a:ext cx="0" cy="6178576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D33546A-5C12-B598-CC42-9AC3CC149713}"/>
              </a:ext>
            </a:extLst>
          </p:cNvPr>
          <p:cNvSpPr txBox="1"/>
          <p:nvPr/>
        </p:nvSpPr>
        <p:spPr>
          <a:xfrm>
            <a:off x="534354" y="2950241"/>
            <a:ext cx="2252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dirty="0"/>
              <a:t>(e.g., Nb</a:t>
            </a:r>
            <a:r>
              <a:rPr kumimoji="1" lang="en-US" altLang="ja-JP" sz="1800" baseline="-25000" dirty="0"/>
              <a:t>3</a:t>
            </a:r>
            <a:r>
              <a:rPr kumimoji="1" lang="en-US" altLang="ja-JP" sz="1800" dirty="0"/>
              <a:t>Sn, </a:t>
            </a:r>
          </a:p>
          <a:p>
            <a:r>
              <a:rPr kumimoji="1" lang="en-US" altLang="ja-JP" sz="1800" dirty="0" err="1"/>
              <a:t>NbN</a:t>
            </a:r>
            <a:r>
              <a:rPr kumimoji="1" lang="en-US" altLang="ja-JP" sz="1800" dirty="0"/>
              <a:t>, </a:t>
            </a:r>
            <a:r>
              <a:rPr kumimoji="1" lang="en-US" altLang="ja-JP" sz="1800" dirty="0" err="1"/>
              <a:t>NbTiN</a:t>
            </a:r>
            <a:r>
              <a:rPr kumimoji="1" lang="en-US" altLang="ja-JP" sz="1800" dirty="0"/>
              <a:t> etc.) </a:t>
            </a:r>
            <a:endParaRPr kumimoji="1" lang="ja-JP" altLang="en-US" sz="18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A8DC570-800A-66FB-ACA2-1665190EA6DC}"/>
              </a:ext>
            </a:extLst>
          </p:cNvPr>
          <p:cNvSpPr txBox="1"/>
          <p:nvPr/>
        </p:nvSpPr>
        <p:spPr>
          <a:xfrm>
            <a:off x="756800" y="6293070"/>
            <a:ext cx="1645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000" dirty="0"/>
              <a:t>(e.g.,  </a:t>
            </a:r>
            <a:r>
              <a:rPr kumimoji="1" lang="en-US" altLang="ja-JP" sz="2400" dirty="0"/>
              <a:t>Nb</a:t>
            </a:r>
            <a:r>
              <a:rPr kumimoji="1" lang="en-US" altLang="ja-JP" sz="2000" dirty="0"/>
              <a:t>) </a:t>
            </a:r>
            <a:endParaRPr kumimoji="1" lang="ja-JP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90D89E44-99D8-D059-D4D0-EB732D41494F}"/>
                  </a:ext>
                </a:extLst>
              </p:cNvPr>
              <p:cNvSpPr txBox="1"/>
              <p:nvPr/>
            </p:nvSpPr>
            <p:spPr>
              <a:xfrm>
                <a:off x="3300795" y="4734123"/>
                <a:ext cx="146638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sz="28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kumimoji="1" lang="en-US" altLang="ja-JP" sz="2800" dirty="0">
                    <a:solidFill>
                      <a:schemeClr val="tx1"/>
                    </a:solidFill>
                  </a:rPr>
                  <a:t>(dirty)</a:t>
                </a:r>
                <a:endParaRPr lang="ja-JP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CB88A855-64D0-E231-BBA3-0BFCCA2EE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795" y="4734123"/>
                <a:ext cx="1466388" cy="954107"/>
              </a:xfrm>
              <a:prstGeom prst="rect">
                <a:avLst/>
              </a:prstGeom>
              <a:blipFill>
                <a:blip r:embed="rId14"/>
                <a:stretch>
                  <a:fillRect l="-830" r="-415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999C721-9F26-AAD9-1B80-7190A82BD7B0}"/>
              </a:ext>
            </a:extLst>
          </p:cNvPr>
          <p:cNvCxnSpPr>
            <a:cxnSpLocks/>
          </p:cNvCxnSpPr>
          <p:nvPr/>
        </p:nvCxnSpPr>
        <p:spPr>
          <a:xfrm>
            <a:off x="3030048" y="6029854"/>
            <a:ext cx="916003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8BDA6E97-DC9C-1C8D-6482-137CA57747CB}"/>
                  </a:ext>
                </a:extLst>
              </p:cNvPr>
              <p:cNvSpPr txBox="1"/>
              <p:nvPr/>
            </p:nvSpPr>
            <p:spPr>
              <a:xfrm>
                <a:off x="3063180" y="5924394"/>
                <a:ext cx="199553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ja-JP" sz="2400" dirty="0">
                    <a:solidFill>
                      <a:schemeClr val="tx1"/>
                    </a:solidFill>
                  </a:rPr>
                  <a:t>any</a:t>
                </a:r>
                <a:r>
                  <a:rPr kumimoji="1" lang="en-US" altLang="ja-JP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ja-JP" sz="1400" dirty="0">
                    <a:solidFill>
                      <a:schemeClr val="tx1"/>
                    </a:solidFill>
                  </a:rPr>
                  <a:t>(from clean limit </a:t>
                </a:r>
              </a:p>
              <a:p>
                <a:pPr algn="ctr"/>
                <a:r>
                  <a:rPr lang="en-US" altLang="ja-JP" sz="1400" dirty="0">
                    <a:solidFill>
                      <a:schemeClr val="tx1"/>
                    </a:solidFill>
                  </a:rPr>
                  <a:t>to dirty limit)</a:t>
                </a:r>
                <a:endParaRPr lang="ja-JP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92687FC6-4581-3A72-A8DF-45C6C4677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180" y="5924394"/>
                <a:ext cx="1995535" cy="954107"/>
              </a:xfrm>
              <a:prstGeom prst="rect">
                <a:avLst/>
              </a:prstGeom>
              <a:blipFill>
                <a:blip r:embed="rId18"/>
                <a:stretch>
                  <a:fillRect t="-641" b="-5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9D9897E1-F23D-A058-969F-ECEE29EC549B}"/>
              </a:ext>
            </a:extLst>
          </p:cNvPr>
          <p:cNvSpPr txBox="1"/>
          <p:nvPr/>
        </p:nvSpPr>
        <p:spPr>
          <a:xfrm>
            <a:off x="5473001" y="6202018"/>
            <a:ext cx="849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N/A</a:t>
            </a:r>
            <a:endParaRPr kumimoji="1" lang="ja-JP" altLang="en-US" sz="2800" dirty="0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199A71EE-28F6-D9F6-B9CE-FCC731D3C854}"/>
              </a:ext>
            </a:extLst>
          </p:cNvPr>
          <p:cNvCxnSpPr>
            <a:cxnSpLocks/>
          </p:cNvCxnSpPr>
          <p:nvPr/>
        </p:nvCxnSpPr>
        <p:spPr>
          <a:xfrm>
            <a:off x="33132" y="666453"/>
            <a:ext cx="12192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91A27AEB-108C-A42F-DA1A-1955E8DF6A31}"/>
              </a:ext>
            </a:extLst>
          </p:cNvPr>
          <p:cNvSpPr txBox="1"/>
          <p:nvPr/>
        </p:nvSpPr>
        <p:spPr>
          <a:xfrm>
            <a:off x="-9939" y="-2163"/>
            <a:ext cx="1221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>
                <a:solidFill>
                  <a:schemeClr val="tx2"/>
                </a:solidFill>
              </a:rPr>
              <a:t>Summary of the superheating field</a:t>
            </a:r>
            <a:endParaRPr kumimoji="1" lang="ja-JP" altLang="en-US" sz="3600" b="1" dirty="0">
              <a:solidFill>
                <a:schemeClr val="tx2"/>
              </a:solidFill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1E75A77-1B6E-1FDA-462F-A95B856FDCC3}"/>
              </a:ext>
            </a:extLst>
          </p:cNvPr>
          <p:cNvCxnSpPr>
            <a:cxnSpLocks/>
          </p:cNvCxnSpPr>
          <p:nvPr/>
        </p:nvCxnSpPr>
        <p:spPr>
          <a:xfrm>
            <a:off x="0" y="5191097"/>
            <a:ext cx="3031514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807CA53-27A5-015B-EB9B-565B905C1A8C}"/>
                  </a:ext>
                </a:extLst>
              </p:cNvPr>
              <p:cNvSpPr txBox="1"/>
              <p:nvPr/>
            </p:nvSpPr>
            <p:spPr>
              <a:xfrm>
                <a:off x="6845782" y="768075"/>
                <a:ext cx="32578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400" dirty="0"/>
                  <a:t>Theory </a:t>
                </a:r>
              </a:p>
              <a:p>
                <a:pPr algn="ctr"/>
                <a:r>
                  <a:rPr kumimoji="1" lang="en-US" altLang="ja-JP" sz="2400" dirty="0"/>
                  <a:t>(applicable to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)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058BBC4-8ABF-A1C4-622A-6DBF03D5B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782" y="768075"/>
                <a:ext cx="3257879" cy="830997"/>
              </a:xfrm>
              <a:prstGeom prst="rect">
                <a:avLst/>
              </a:prstGeom>
              <a:blipFill>
                <a:blip r:embed="rId19"/>
                <a:stretch>
                  <a:fillRect l="-2622" t="-6618" r="-2434" b="-154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48A266C-885C-9DB7-CF3F-D60DFC9EE59C}"/>
                  </a:ext>
                </a:extLst>
              </p:cNvPr>
              <p:cNvSpPr txBox="1"/>
              <p:nvPr/>
            </p:nvSpPr>
            <p:spPr>
              <a:xfrm>
                <a:off x="5368207" y="1850155"/>
                <a:ext cx="27156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84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CA8D085-1B26-616F-123A-7FB027388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207" y="1850155"/>
                <a:ext cx="2715615" cy="369332"/>
              </a:xfrm>
              <a:prstGeom prst="rect">
                <a:avLst/>
              </a:prstGeom>
              <a:blipFill>
                <a:blip r:embed="rId21"/>
                <a:stretch>
                  <a:fillRect l="-2247" r="-3596" b="-3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2344560-5E83-DA92-9F7A-EC437D49CEC4}"/>
              </a:ext>
            </a:extLst>
          </p:cNvPr>
          <p:cNvSpPr txBox="1"/>
          <p:nvPr/>
        </p:nvSpPr>
        <p:spPr>
          <a:xfrm>
            <a:off x="8405454" y="3506401"/>
            <a:ext cx="2615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rgbClr val="92D050"/>
                </a:solidFill>
              </a:rPr>
              <a:t>F. Pei-Jen Lin</a:t>
            </a:r>
            <a:r>
              <a:rPr lang="ja-JP" altLang="en-US" sz="1200" dirty="0">
                <a:solidFill>
                  <a:srgbClr val="92D050"/>
                </a:solidFill>
              </a:rPr>
              <a:t> and </a:t>
            </a:r>
            <a:r>
              <a:rPr lang="en-US" altLang="ja-JP" sz="1200" dirty="0">
                <a:solidFill>
                  <a:srgbClr val="92D050"/>
                </a:solidFill>
              </a:rPr>
              <a:t>A. Gurevich,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endParaRPr lang="en-US" altLang="ja-JP" sz="1200" dirty="0">
              <a:solidFill>
                <a:srgbClr val="92D050"/>
              </a:solidFill>
            </a:endParaRPr>
          </a:p>
          <a:p>
            <a:r>
              <a:rPr lang="ja-JP" altLang="en-US" sz="1200" dirty="0">
                <a:solidFill>
                  <a:srgbClr val="92D050"/>
                </a:solidFill>
              </a:rPr>
              <a:t>Phys. Rev. B </a:t>
            </a:r>
            <a:r>
              <a:rPr lang="ja-JP" altLang="en-US" sz="1200" b="1" dirty="0">
                <a:solidFill>
                  <a:srgbClr val="92D050"/>
                </a:solidFill>
              </a:rPr>
              <a:t>8</a:t>
            </a:r>
            <a:r>
              <a:rPr lang="en-US" altLang="ja-JP" sz="1200" b="1" dirty="0">
                <a:solidFill>
                  <a:srgbClr val="92D050"/>
                </a:solidFill>
              </a:rPr>
              <a:t>5</a:t>
            </a:r>
            <a:r>
              <a:rPr lang="en-US" altLang="ja-JP" sz="1200" dirty="0">
                <a:solidFill>
                  <a:srgbClr val="92D050"/>
                </a:solidFill>
              </a:rPr>
              <a:t>,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r>
              <a:rPr lang="en-US" altLang="ja-JP" sz="1200" dirty="0">
                <a:solidFill>
                  <a:srgbClr val="92D050"/>
                </a:solidFill>
              </a:rPr>
              <a:t>054513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r>
              <a:rPr lang="en-US" altLang="ja-JP" sz="1200" dirty="0">
                <a:solidFill>
                  <a:srgbClr val="92D050"/>
                </a:solidFill>
              </a:rPr>
              <a:t>(2012)</a:t>
            </a:r>
            <a:endParaRPr lang="ja-JP" altLang="en-US" sz="1200" dirty="0">
              <a:solidFill>
                <a:srgbClr val="92D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0180284-CF83-0530-DDD3-E84D3EA455D0}"/>
                  </a:ext>
                </a:extLst>
              </p:cNvPr>
              <p:cNvSpPr txBox="1"/>
              <p:nvPr/>
            </p:nvSpPr>
            <p:spPr>
              <a:xfrm>
                <a:off x="5346653" y="4594540"/>
                <a:ext cx="27510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kumimoji="1" lang="ja-JP" altLang="en-US" sz="2800" dirty="0"/>
                  <a:t> </a:t>
                </a:r>
                <a:r>
                  <a:rPr kumimoji="1" lang="en-US" altLang="ja-JP" sz="2000" dirty="0"/>
                  <a:t>for </a:t>
                </a:r>
                <a14:m>
                  <m:oMath xmlns:m="http://schemas.openxmlformats.org/officeDocument/2006/math"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B0545CE-AAC6-D83A-FA37-6F6BAB382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53" y="4594540"/>
                <a:ext cx="2751074" cy="430887"/>
              </a:xfrm>
              <a:prstGeom prst="rect">
                <a:avLst/>
              </a:prstGeom>
              <a:blipFill>
                <a:blip r:embed="rId22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08B53F7C-0402-1F81-5224-80E8D2DCE62F}"/>
                  </a:ext>
                </a:extLst>
              </p:cNvPr>
              <p:cNvSpPr txBox="1"/>
              <p:nvPr/>
            </p:nvSpPr>
            <p:spPr>
              <a:xfrm>
                <a:off x="5279423" y="5470507"/>
                <a:ext cx="28855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795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9649031-B34A-AF7A-5B02-504B31A5F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423" y="5470507"/>
                <a:ext cx="2885534" cy="369332"/>
              </a:xfrm>
              <a:prstGeom prst="rect">
                <a:avLst/>
              </a:prstGeom>
              <a:blipFill>
                <a:blip r:embed="rId23"/>
                <a:stretch>
                  <a:fillRect l="-1903" r="-3594" b="-360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AF6868F-AE3C-3F80-7C17-074B1466C93A}"/>
              </a:ext>
            </a:extLst>
          </p:cNvPr>
          <p:cNvSpPr txBox="1"/>
          <p:nvPr/>
        </p:nvSpPr>
        <p:spPr>
          <a:xfrm>
            <a:off x="8273976" y="2329201"/>
            <a:ext cx="3161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G. </a:t>
            </a:r>
            <a:r>
              <a:rPr lang="ja-JP" altLang="en-US" sz="1200" dirty="0">
                <a:solidFill>
                  <a:schemeClr val="tx2"/>
                </a:solidFill>
              </a:rPr>
              <a:t>Catelani and </a:t>
            </a:r>
            <a:r>
              <a:rPr lang="en-US" altLang="ja-JP" sz="1200" dirty="0">
                <a:solidFill>
                  <a:schemeClr val="tx2"/>
                </a:solidFill>
              </a:rPr>
              <a:t>J. P. </a:t>
            </a:r>
            <a:r>
              <a:rPr lang="ja-JP" altLang="en-US" sz="1200" dirty="0">
                <a:solidFill>
                  <a:schemeClr val="tx2"/>
                </a:solidFill>
              </a:rPr>
              <a:t>Sethna</a:t>
            </a:r>
            <a:r>
              <a:rPr lang="en-US" altLang="ja-JP" sz="1200" dirty="0">
                <a:solidFill>
                  <a:schemeClr val="tx2"/>
                </a:solidFill>
              </a:rPr>
              <a:t>,</a:t>
            </a:r>
            <a:r>
              <a:rPr lang="ja-JP" altLang="en-US" sz="1200" dirty="0">
                <a:solidFill>
                  <a:schemeClr val="tx2"/>
                </a:solidFill>
              </a:rPr>
              <a:t> </a:t>
            </a:r>
            <a:endParaRPr lang="en-US" altLang="ja-JP" sz="1200" dirty="0">
              <a:solidFill>
                <a:schemeClr val="tx2"/>
              </a:solidFill>
            </a:endParaRPr>
          </a:p>
          <a:p>
            <a:r>
              <a:rPr lang="ja-JP" altLang="en-US" sz="1200" dirty="0">
                <a:solidFill>
                  <a:schemeClr val="tx2"/>
                </a:solidFill>
              </a:rPr>
              <a:t>    Phys. Rev. B </a:t>
            </a:r>
            <a:r>
              <a:rPr lang="ja-JP" altLang="en-US" sz="1200" b="1" dirty="0">
                <a:solidFill>
                  <a:schemeClr val="tx2"/>
                </a:solidFill>
              </a:rPr>
              <a:t>78</a:t>
            </a:r>
            <a:r>
              <a:rPr lang="en-US" altLang="ja-JP" sz="1200" dirty="0">
                <a:solidFill>
                  <a:schemeClr val="tx2"/>
                </a:solidFill>
              </a:rPr>
              <a:t>,</a:t>
            </a:r>
            <a:r>
              <a:rPr lang="ja-JP" altLang="en-US" sz="1200" dirty="0">
                <a:solidFill>
                  <a:schemeClr val="tx2"/>
                </a:solidFill>
              </a:rPr>
              <a:t> 224509 </a:t>
            </a:r>
            <a:r>
              <a:rPr lang="en-US" altLang="ja-JP" sz="1200" dirty="0">
                <a:solidFill>
                  <a:schemeClr val="tx2"/>
                </a:solidFill>
              </a:rPr>
              <a:t>(2008)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rgbClr val="92D050"/>
                </a:solidFill>
              </a:rPr>
              <a:t>F. Pei-Jen Lin</a:t>
            </a:r>
            <a:r>
              <a:rPr lang="ja-JP" altLang="en-US" sz="1200" dirty="0">
                <a:solidFill>
                  <a:srgbClr val="92D050"/>
                </a:solidFill>
              </a:rPr>
              <a:t> and </a:t>
            </a:r>
            <a:r>
              <a:rPr lang="en-US" altLang="ja-JP" sz="1200" dirty="0">
                <a:solidFill>
                  <a:srgbClr val="92D050"/>
                </a:solidFill>
              </a:rPr>
              <a:t>A. Gurevich,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endParaRPr lang="en-US" altLang="ja-JP" sz="1200" dirty="0">
              <a:solidFill>
                <a:srgbClr val="92D050"/>
              </a:solidFill>
            </a:endParaRPr>
          </a:p>
          <a:p>
            <a:r>
              <a:rPr lang="ja-JP" altLang="en-US" sz="1200" dirty="0">
                <a:solidFill>
                  <a:srgbClr val="92D050"/>
                </a:solidFill>
              </a:rPr>
              <a:t>     Phys. Rev. B </a:t>
            </a:r>
            <a:r>
              <a:rPr lang="ja-JP" altLang="en-US" sz="1200" b="1" dirty="0">
                <a:solidFill>
                  <a:srgbClr val="92D050"/>
                </a:solidFill>
              </a:rPr>
              <a:t>8</a:t>
            </a:r>
            <a:r>
              <a:rPr lang="en-US" altLang="ja-JP" sz="1200" b="1" dirty="0">
                <a:solidFill>
                  <a:srgbClr val="92D050"/>
                </a:solidFill>
              </a:rPr>
              <a:t>5</a:t>
            </a:r>
            <a:r>
              <a:rPr lang="en-US" altLang="ja-JP" sz="1200" dirty="0">
                <a:solidFill>
                  <a:srgbClr val="92D050"/>
                </a:solidFill>
              </a:rPr>
              <a:t>,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r>
              <a:rPr lang="en-US" altLang="ja-JP" sz="1200" dirty="0">
                <a:solidFill>
                  <a:srgbClr val="92D050"/>
                </a:solidFill>
              </a:rPr>
              <a:t>054513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r>
              <a:rPr lang="en-US" altLang="ja-JP" sz="1200" dirty="0">
                <a:solidFill>
                  <a:srgbClr val="92D050"/>
                </a:solidFill>
              </a:rPr>
              <a:t>(2012)</a:t>
            </a:r>
            <a:endParaRPr lang="ja-JP" altLang="en-US" sz="1200" dirty="0">
              <a:solidFill>
                <a:srgbClr val="92D050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380110B-45FE-1C67-CE3E-C8E7610827AA}"/>
              </a:ext>
            </a:extLst>
          </p:cNvPr>
          <p:cNvSpPr txBox="1"/>
          <p:nvPr/>
        </p:nvSpPr>
        <p:spPr>
          <a:xfrm>
            <a:off x="8274325" y="4437527"/>
            <a:ext cx="3759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rgbClr val="92D050"/>
                </a:solidFill>
              </a:rPr>
              <a:t>F. Pei-Jen Lin</a:t>
            </a:r>
            <a:r>
              <a:rPr lang="ja-JP" altLang="en-US" sz="1200" dirty="0">
                <a:solidFill>
                  <a:srgbClr val="92D050"/>
                </a:solidFill>
              </a:rPr>
              <a:t> and </a:t>
            </a:r>
            <a:r>
              <a:rPr lang="en-US" altLang="ja-JP" sz="1200" dirty="0">
                <a:solidFill>
                  <a:srgbClr val="92D050"/>
                </a:solidFill>
              </a:rPr>
              <a:t>A. Gurevich,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endParaRPr lang="en-US" altLang="ja-JP" sz="1200" dirty="0">
              <a:solidFill>
                <a:srgbClr val="92D050"/>
              </a:solidFill>
            </a:endParaRPr>
          </a:p>
          <a:p>
            <a:r>
              <a:rPr lang="en-US" altLang="ja-JP" sz="1200" dirty="0">
                <a:solidFill>
                  <a:srgbClr val="92D050"/>
                </a:solidFill>
              </a:rPr>
              <a:t>       </a:t>
            </a:r>
            <a:r>
              <a:rPr lang="ja-JP" altLang="en-US" sz="1200" dirty="0">
                <a:solidFill>
                  <a:srgbClr val="92D050"/>
                </a:solidFill>
              </a:rPr>
              <a:t>Phys. Rev. B </a:t>
            </a:r>
            <a:r>
              <a:rPr lang="ja-JP" altLang="en-US" sz="1200" b="1" dirty="0">
                <a:solidFill>
                  <a:srgbClr val="92D050"/>
                </a:solidFill>
              </a:rPr>
              <a:t>8</a:t>
            </a:r>
            <a:r>
              <a:rPr lang="en-US" altLang="ja-JP" sz="1200" b="1" dirty="0">
                <a:solidFill>
                  <a:srgbClr val="92D050"/>
                </a:solidFill>
              </a:rPr>
              <a:t>5</a:t>
            </a:r>
            <a:r>
              <a:rPr lang="en-US" altLang="ja-JP" sz="1200" dirty="0">
                <a:solidFill>
                  <a:srgbClr val="92D050"/>
                </a:solidFill>
              </a:rPr>
              <a:t>,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r>
              <a:rPr lang="en-US" altLang="ja-JP" sz="1200" dirty="0">
                <a:solidFill>
                  <a:srgbClr val="92D050"/>
                </a:solidFill>
              </a:rPr>
              <a:t>054513</a:t>
            </a:r>
            <a:r>
              <a:rPr lang="ja-JP" altLang="en-US" sz="1200" dirty="0">
                <a:solidFill>
                  <a:srgbClr val="92D050"/>
                </a:solidFill>
              </a:rPr>
              <a:t> </a:t>
            </a:r>
            <a:r>
              <a:rPr lang="en-US" altLang="ja-JP" sz="1200" dirty="0">
                <a:solidFill>
                  <a:srgbClr val="92D050"/>
                </a:solidFill>
              </a:rPr>
              <a:t>(2012)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T. Kubo, Phys. Rev. Research </a:t>
            </a:r>
            <a:r>
              <a:rPr lang="en-US" altLang="ja-JP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033203 (2020) </a:t>
            </a:r>
            <a:endParaRPr lang="ja-JP" alt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2B4A3F3-9AC0-8F59-8AAC-795D8227E59E}"/>
              </a:ext>
            </a:extLst>
          </p:cNvPr>
          <p:cNvSpPr txBox="1"/>
          <p:nvPr/>
        </p:nvSpPr>
        <p:spPr>
          <a:xfrm>
            <a:off x="8192485" y="1762290"/>
            <a:ext cx="3161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Analytical result for T=0.</a:t>
            </a:r>
          </a:p>
          <a:p>
            <a:r>
              <a:rPr lang="en-US" altLang="ja-JP" sz="1200" dirty="0"/>
              <a:t>V. P. </a:t>
            </a:r>
            <a:r>
              <a:rPr lang="ja-JP" altLang="en-US" sz="1200" dirty="0"/>
              <a:t>Galaiko</a:t>
            </a:r>
            <a:r>
              <a:rPr lang="en-US" altLang="ja-JP" sz="1200" dirty="0"/>
              <a:t>,</a:t>
            </a:r>
            <a:r>
              <a:rPr lang="ja-JP" altLang="en-US" sz="1200" dirty="0"/>
              <a:t> Sov. Phys. JETP </a:t>
            </a:r>
            <a:r>
              <a:rPr lang="ja-JP" altLang="en-US" sz="1200" b="1" dirty="0"/>
              <a:t>23</a:t>
            </a:r>
            <a:r>
              <a:rPr lang="en-US" altLang="ja-JP" sz="1200" dirty="0"/>
              <a:t>,</a:t>
            </a:r>
            <a:r>
              <a:rPr lang="ja-JP" altLang="en-US" sz="1200" dirty="0"/>
              <a:t> 475 </a:t>
            </a:r>
            <a:r>
              <a:rPr lang="en-US" altLang="ja-JP" sz="1200" dirty="0"/>
              <a:t>(1966)</a:t>
            </a:r>
            <a:endParaRPr lang="ja-JP" altLang="en-US" sz="12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F2A45A8-4268-5A82-898A-46E71158AF7D}"/>
              </a:ext>
            </a:extLst>
          </p:cNvPr>
          <p:cNvSpPr txBox="1"/>
          <p:nvPr/>
        </p:nvSpPr>
        <p:spPr>
          <a:xfrm>
            <a:off x="8244792" y="5324920"/>
            <a:ext cx="3838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Analytical result for T=0.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T. Kubo, Phys. Rev. Research </a:t>
            </a:r>
            <a:r>
              <a:rPr lang="en-US" altLang="ja-JP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033203 (2020)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T. Kubo, </a:t>
            </a:r>
            <a:r>
              <a:rPr lang="en-US" altLang="ja-JP" sz="12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Supercond.Sci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ja-JP" sz="12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Tecnol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ja-JP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34</a:t>
            </a:r>
            <a:r>
              <a:rPr lang="en-US" altLang="ja-JP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045006 (2021) </a:t>
            </a:r>
            <a:endParaRPr lang="ja-JP" alt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FBB1C3B6-F642-B1CC-BE70-F81EFC448AA3}"/>
                  </a:ext>
                </a:extLst>
              </p:cNvPr>
              <p:cNvSpPr txBox="1"/>
              <p:nvPr/>
            </p:nvSpPr>
            <p:spPr>
              <a:xfrm>
                <a:off x="5362866" y="3482344"/>
                <a:ext cx="27510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kumimoji="1" lang="ja-JP" altLang="en-US" sz="2800" dirty="0"/>
                  <a:t> </a:t>
                </a:r>
                <a:r>
                  <a:rPr kumimoji="1" lang="en-US" altLang="ja-JP" sz="2000" dirty="0"/>
                  <a:t>for </a:t>
                </a:r>
                <a14:m>
                  <m:oMath xmlns:m="http://schemas.openxmlformats.org/officeDocument/2006/math"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94465BC7-DB89-8445-A2B7-ED2769CAA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866" y="3482344"/>
                <a:ext cx="2751074" cy="430887"/>
              </a:xfrm>
              <a:prstGeom prst="rect">
                <a:avLst/>
              </a:prstGeom>
              <a:blipFill>
                <a:blip r:embed="rId24"/>
                <a:stretch>
                  <a:fillRect b="-295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0B9E2EE5-4741-0B4C-C7E0-28A7B6D0F75C}"/>
                  </a:ext>
                </a:extLst>
              </p:cNvPr>
              <p:cNvSpPr txBox="1"/>
              <p:nvPr/>
            </p:nvSpPr>
            <p:spPr>
              <a:xfrm>
                <a:off x="5392051" y="2431752"/>
                <a:ext cx="27510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ja-JP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kumimoji="1" lang="ja-JP" altLang="en-US" sz="2800" dirty="0"/>
                  <a:t> </a:t>
                </a:r>
                <a:r>
                  <a:rPr kumimoji="1" lang="en-US" altLang="ja-JP" sz="2000" dirty="0"/>
                  <a:t>for </a:t>
                </a:r>
                <a14:m>
                  <m:oMath xmlns:m="http://schemas.openxmlformats.org/officeDocument/2006/math"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7F13DE72-C761-AFD8-D7E3-4F1E5C4EB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051" y="2431752"/>
                <a:ext cx="2751074" cy="430887"/>
              </a:xfrm>
              <a:prstGeom prst="rect">
                <a:avLst/>
              </a:prstGeom>
              <a:blipFill>
                <a:blip r:embed="rId25"/>
                <a:stretch>
                  <a:fillRect b="-281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79768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C98BB-A5D9-8EC7-E61B-431BE577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3476C0-D623-8FEB-80D1-49812FB3DEEE}"/>
              </a:ext>
            </a:extLst>
          </p:cNvPr>
          <p:cNvSpPr txBox="1"/>
          <p:nvPr/>
        </p:nvSpPr>
        <p:spPr>
          <a:xfrm>
            <a:off x="2333028" y="2338866"/>
            <a:ext cx="7699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dirty="0"/>
              <a:t>Appendix (3)</a:t>
            </a:r>
            <a:endParaRPr kumimoji="1" lang="ja-JP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45031143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7BDA-F977-666A-5023-E9FBCC28A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1. Refer to the following caption and surrounding text.">
            <a:extLst>
              <a:ext uri="{FF2B5EF4-FFF2-40B4-BE49-F238E27FC236}">
                <a16:creationId xmlns:a16="http://schemas.microsoft.com/office/drawing/2014/main" id="{B7C81DEB-28C5-D98E-9442-CF6BBFFDA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5" y="965992"/>
            <a:ext cx="7570273" cy="379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F019F2A-A749-45C3-9007-F9CA1E302D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517" y="4827708"/>
            <a:ext cx="7354957" cy="133726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1CD5B3-C821-AA5D-9EE6-F84D26E399C0}"/>
              </a:ext>
            </a:extLst>
          </p:cNvPr>
          <p:cNvSpPr txBox="1"/>
          <p:nvPr/>
        </p:nvSpPr>
        <p:spPr>
          <a:xfrm>
            <a:off x="680751" y="1037758"/>
            <a:ext cx="3786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1E3CFF"/>
                </a:solidFill>
              </a:rPr>
              <a:t>T. Kubo, </a:t>
            </a:r>
            <a:r>
              <a:rPr lang="ja-JP" altLang="en-US" sz="1400" dirty="0">
                <a:solidFill>
                  <a:srgbClr val="1E3CFF"/>
                </a:solidFill>
              </a:rPr>
              <a:t>Jpn. J. Appl. Phys. </a:t>
            </a:r>
            <a:r>
              <a:rPr lang="ja-JP" altLang="en-US" sz="1400" b="1" dirty="0">
                <a:solidFill>
                  <a:srgbClr val="1E3CFF"/>
                </a:solidFill>
              </a:rPr>
              <a:t>64</a:t>
            </a:r>
            <a:r>
              <a:rPr lang="ja-JP" altLang="en-US" sz="1400" dirty="0">
                <a:solidFill>
                  <a:srgbClr val="1E3CFF"/>
                </a:solidFill>
              </a:rPr>
              <a:t>, 018002 (2025)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FFCC34-3309-BCF0-0A41-99EE355C1DC0}"/>
              </a:ext>
            </a:extLst>
          </p:cNvPr>
          <p:cNvSpPr txBox="1"/>
          <p:nvPr/>
        </p:nvSpPr>
        <p:spPr>
          <a:xfrm>
            <a:off x="-9939" y="-2163"/>
            <a:ext cx="12215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chemeClr val="tx2"/>
                </a:solidFill>
              </a:rPr>
              <a:t>Maximum field achieved so far </a:t>
            </a:r>
            <a:endParaRPr kumimoji="1" lang="ja-JP" altLang="en-US" sz="3200" b="1" dirty="0">
              <a:solidFill>
                <a:schemeClr val="tx2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0F9FA1-6D4C-CAAB-58FA-82E2CBB9EEF8}"/>
              </a:ext>
            </a:extLst>
          </p:cNvPr>
          <p:cNvSpPr txBox="1"/>
          <p:nvPr/>
        </p:nvSpPr>
        <p:spPr>
          <a:xfrm>
            <a:off x="3303116" y="501144"/>
            <a:ext cx="542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Already close to the theoretical limit?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95BF8C7-EDCB-FA10-3B27-0573060F7A61}"/>
                  </a:ext>
                </a:extLst>
              </p:cNvPr>
              <p:cNvSpPr txBox="1"/>
              <p:nvPr/>
            </p:nvSpPr>
            <p:spPr>
              <a:xfrm>
                <a:off x="7605088" y="883537"/>
                <a:ext cx="4586912" cy="1342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00" b="1" dirty="0"/>
                  <a:t>The answer:</a:t>
                </a:r>
                <a:r>
                  <a:rPr lang="en-US" altLang="ja-JP" sz="2000" dirty="0"/>
                  <a:t> </a:t>
                </a:r>
                <a:r>
                  <a:rPr lang="en-US" altLang="ja-JP" sz="2000" b="1" dirty="0">
                    <a:solidFill>
                      <a:srgbClr val="FF0066"/>
                    </a:solidFill>
                  </a:rPr>
                  <a:t>we currently have no reliable estimate</a:t>
                </a:r>
                <a:r>
                  <a:rPr lang="en-US" altLang="ja-JP" sz="2000" dirty="0"/>
                  <a:t>, because there is </a:t>
                </a:r>
                <a:r>
                  <a:rPr lang="en-US" altLang="ja-JP" sz="2000" b="1" dirty="0"/>
                  <a:t>no theory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altLang="ja-JP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2000" dirty="0"/>
                  <a:t> applicable to </a:t>
                </a:r>
                <a:r>
                  <a:rPr lang="en-US" altLang="ja-JP" sz="2000" b="1" dirty="0"/>
                  <a:t>clean Nb at </a:t>
                </a:r>
                <a14:m>
                  <m:oMath xmlns:m="http://schemas.openxmlformats.org/officeDocument/2006/math">
                    <m:r>
                      <a:rPr lang="ja-JP" alt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00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altLang="ja-JP" sz="2000" dirty="0"/>
                  <a:t>.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95BF8C7-EDCB-FA10-3B27-0573060F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088" y="883537"/>
                <a:ext cx="4586912" cy="1342740"/>
              </a:xfrm>
              <a:prstGeom prst="rect">
                <a:avLst/>
              </a:prstGeom>
              <a:blipFill>
                <a:blip r:embed="rId4"/>
                <a:stretch>
                  <a:fillRect l="-1463" t="-2727" b="-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35618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D48AE-3A3F-E264-23AD-FA5637D97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1. Refer to the following caption and surrounding text.">
            <a:extLst>
              <a:ext uri="{FF2B5EF4-FFF2-40B4-BE49-F238E27FC236}">
                <a16:creationId xmlns:a16="http://schemas.microsoft.com/office/drawing/2014/main" id="{38322AF2-A827-65E1-26E5-B09AC28CF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5" y="965992"/>
            <a:ext cx="7570273" cy="379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847ED46-4873-9EFE-AE1E-4210E28A27F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517" y="4827708"/>
            <a:ext cx="7354957" cy="133726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32CC49-985D-A37C-A860-ED3F471F7223}"/>
              </a:ext>
            </a:extLst>
          </p:cNvPr>
          <p:cNvSpPr txBox="1"/>
          <p:nvPr/>
        </p:nvSpPr>
        <p:spPr>
          <a:xfrm>
            <a:off x="680751" y="1037758"/>
            <a:ext cx="3786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1E3CFF"/>
                </a:solidFill>
              </a:rPr>
              <a:t>T. Kubo, </a:t>
            </a:r>
            <a:r>
              <a:rPr lang="ja-JP" altLang="en-US" sz="1400" dirty="0">
                <a:solidFill>
                  <a:srgbClr val="1E3CFF"/>
                </a:solidFill>
              </a:rPr>
              <a:t>Jpn. J. Appl. Phys. </a:t>
            </a:r>
            <a:r>
              <a:rPr lang="ja-JP" altLang="en-US" sz="1400" b="1" dirty="0">
                <a:solidFill>
                  <a:srgbClr val="1E3CFF"/>
                </a:solidFill>
              </a:rPr>
              <a:t>64</a:t>
            </a:r>
            <a:r>
              <a:rPr lang="ja-JP" altLang="en-US" sz="1400" dirty="0">
                <a:solidFill>
                  <a:srgbClr val="1E3CFF"/>
                </a:solidFill>
              </a:rPr>
              <a:t>, 018002 (2025)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CA1D69-0D20-2B6A-19D7-B377F52009FF}"/>
              </a:ext>
            </a:extLst>
          </p:cNvPr>
          <p:cNvSpPr txBox="1"/>
          <p:nvPr/>
        </p:nvSpPr>
        <p:spPr>
          <a:xfrm>
            <a:off x="-9939" y="-2163"/>
            <a:ext cx="12215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chemeClr val="tx2"/>
                </a:solidFill>
              </a:rPr>
              <a:t>Maximum field achieved so far </a:t>
            </a:r>
            <a:endParaRPr kumimoji="1" lang="ja-JP" altLang="en-US" sz="3200" b="1" dirty="0">
              <a:solidFill>
                <a:schemeClr val="tx2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46CE7E-3A61-93DF-2560-2C24F523B43B}"/>
              </a:ext>
            </a:extLst>
          </p:cNvPr>
          <p:cNvSpPr txBox="1"/>
          <p:nvPr/>
        </p:nvSpPr>
        <p:spPr>
          <a:xfrm>
            <a:off x="3303116" y="501144"/>
            <a:ext cx="542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Already close to the theoretical limit?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5DA252-631D-CEE2-03BD-D58908122615}"/>
                  </a:ext>
                </a:extLst>
              </p:cNvPr>
              <p:cNvSpPr txBox="1"/>
              <p:nvPr/>
            </p:nvSpPr>
            <p:spPr>
              <a:xfrm>
                <a:off x="7605088" y="883537"/>
                <a:ext cx="4586912" cy="4419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00" b="1" dirty="0"/>
                  <a:t>The answer:</a:t>
                </a:r>
                <a:r>
                  <a:rPr lang="en-US" altLang="ja-JP" sz="2000" dirty="0"/>
                  <a:t> </a:t>
                </a:r>
                <a:r>
                  <a:rPr lang="en-US" altLang="ja-JP" sz="2000" b="1" dirty="0">
                    <a:solidFill>
                      <a:srgbClr val="FF0066"/>
                    </a:solidFill>
                  </a:rPr>
                  <a:t>we currently have no reliable estimate</a:t>
                </a:r>
                <a:r>
                  <a:rPr lang="en-US" altLang="ja-JP" sz="2000" dirty="0"/>
                  <a:t>, because there is </a:t>
                </a:r>
                <a:r>
                  <a:rPr lang="en-US" altLang="ja-JP" sz="2000" b="1" dirty="0"/>
                  <a:t>no theory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altLang="ja-JP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2000" dirty="0"/>
                  <a:t> applicable to </a:t>
                </a:r>
                <a:r>
                  <a:rPr lang="en-US" altLang="ja-JP" sz="2000" b="1" dirty="0"/>
                  <a:t>clean Nb at </a:t>
                </a:r>
                <a14:m>
                  <m:oMath xmlns:m="http://schemas.openxmlformats.org/officeDocument/2006/math">
                    <m:r>
                      <a:rPr lang="ja-JP" alt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00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altLang="ja-JP" sz="2000" dirty="0"/>
                  <a:t>.</a:t>
                </a:r>
                <a:endParaRPr lang="en-US" altLang="ja-JP" sz="2000" dirty="0"/>
              </a:p>
              <a:p>
                <a:br>
                  <a:rPr lang="ar-AE" altLang="ja-JP" sz="2000" dirty="0"/>
                </a:br>
                <a:r>
                  <a:rPr lang="en-US" altLang="ja-JP" sz="2000" b="1" dirty="0"/>
                  <a:t>Ginzburg–Landau (GL) theory</a:t>
                </a:r>
                <a:r>
                  <a:rPr lang="en-US" altLang="ja-JP" sz="2000" dirty="0"/>
                  <a:t>, valid near </a:t>
                </a:r>
                <a14:m>
                  <m:oMath xmlns:m="http://schemas.openxmlformats.org/officeDocument/2006/math">
                    <m:r>
                      <a:rPr lang="ja-JP" alt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00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altLang="ja-JP" sz="2000" dirty="0"/>
                  <a:t>, </a:t>
                </a:r>
                <a:r>
                  <a:rPr lang="en-US" altLang="ja-JP" sz="2000" dirty="0"/>
                  <a:t>gives</a:t>
                </a:r>
              </a:p>
              <a:p>
                <a:endParaRPr lang="en-US" altLang="ja-JP" sz="2000" dirty="0"/>
              </a:p>
              <a:p>
                <a:endParaRPr lang="en-US" altLang="ja-JP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sz="14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≃</m:t>
                          </m:r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  <m:r>
                        <a:rPr kumimoji="1" lang="en-US" altLang="ja-JP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i="1">
                          <a:latin typeface="Cambria Math" panose="02040503050406030204" pitchFamily="18" charset="0"/>
                        </a:rPr>
                        <m:t>26</m:t>
                      </m:r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sz="20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≃</m:t>
                              </m:r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en-US" altLang="ja-JP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den>
                          </m:f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kumimoji="1" lang="en-US" altLang="ja-JP" sz="2000" dirty="0"/>
              </a:p>
              <a:p>
                <a:endParaRPr kumimoji="1" lang="ja-JP" altLang="en-US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5DA252-631D-CEE2-03BD-D58908122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088" y="883537"/>
                <a:ext cx="4586912" cy="4419158"/>
              </a:xfrm>
              <a:prstGeom prst="rect">
                <a:avLst/>
              </a:prstGeom>
              <a:blipFill>
                <a:blip r:embed="rId4"/>
                <a:stretch>
                  <a:fillRect l="-1463" t="-8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CE85B76-31F6-3FAA-4DFF-F547759B998D}"/>
              </a:ext>
            </a:extLst>
          </p:cNvPr>
          <p:cNvSpPr txBox="1"/>
          <p:nvPr/>
        </p:nvSpPr>
        <p:spPr>
          <a:xfrm>
            <a:off x="7961250" y="3176470"/>
            <a:ext cx="42241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A. J. </a:t>
            </a:r>
            <a:r>
              <a:rPr lang="en-US" altLang="ja-JP" sz="1200" dirty="0" err="1">
                <a:solidFill>
                  <a:schemeClr val="tx2"/>
                </a:solidFill>
              </a:rPr>
              <a:t>Dolgert</a:t>
            </a:r>
            <a:r>
              <a:rPr lang="en-US" altLang="ja-JP" sz="1200" dirty="0">
                <a:solidFill>
                  <a:schemeClr val="tx2"/>
                </a:solidFill>
              </a:rPr>
              <a:t> et al., Phys. Rev. B </a:t>
            </a:r>
            <a:r>
              <a:rPr lang="en-US" altLang="ja-JP" sz="1200" b="1" dirty="0">
                <a:solidFill>
                  <a:schemeClr val="tx2"/>
                </a:solidFill>
              </a:rPr>
              <a:t>53</a:t>
            </a:r>
            <a:r>
              <a:rPr lang="en-US" altLang="ja-JP" sz="1200" dirty="0">
                <a:solidFill>
                  <a:schemeClr val="tx2"/>
                </a:solidFill>
              </a:rPr>
              <a:t>, 5650 (1996)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M. K. Transtrum et al., </a:t>
            </a:r>
            <a:r>
              <a:rPr lang="ja-JP" altLang="en-US" sz="1200" dirty="0">
                <a:solidFill>
                  <a:schemeClr val="tx2"/>
                </a:solidFill>
              </a:rPr>
              <a:t>Phys. Rev. </a:t>
            </a:r>
            <a:r>
              <a:rPr lang="en-US" altLang="ja-JP" sz="1200" dirty="0">
                <a:solidFill>
                  <a:schemeClr val="tx2"/>
                </a:solidFill>
              </a:rPr>
              <a:t>B</a:t>
            </a:r>
            <a:r>
              <a:rPr lang="ja-JP" altLang="en-US" sz="1200" dirty="0">
                <a:solidFill>
                  <a:schemeClr val="tx2"/>
                </a:solidFill>
              </a:rPr>
              <a:t> </a:t>
            </a:r>
            <a:r>
              <a:rPr lang="en-US" altLang="ja-JP" sz="1200" b="1" dirty="0">
                <a:solidFill>
                  <a:schemeClr val="tx2"/>
                </a:solidFill>
              </a:rPr>
              <a:t>83</a:t>
            </a:r>
            <a:r>
              <a:rPr lang="en-US" altLang="ja-JP" sz="1200" dirty="0">
                <a:solidFill>
                  <a:schemeClr val="tx2"/>
                </a:solidFill>
              </a:rPr>
              <a:t>,</a:t>
            </a:r>
            <a:r>
              <a:rPr lang="ja-JP" altLang="en-US" sz="1200" dirty="0">
                <a:solidFill>
                  <a:schemeClr val="tx2"/>
                </a:solidFill>
              </a:rPr>
              <a:t> </a:t>
            </a:r>
            <a:r>
              <a:rPr lang="en-US" altLang="ja-JP" sz="1200" dirty="0">
                <a:solidFill>
                  <a:schemeClr val="tx2"/>
                </a:solidFill>
              </a:rPr>
              <a:t>094505</a:t>
            </a:r>
            <a:r>
              <a:rPr lang="ja-JP" altLang="en-US" sz="1200" dirty="0">
                <a:solidFill>
                  <a:schemeClr val="tx2"/>
                </a:solidFill>
              </a:rPr>
              <a:t> </a:t>
            </a:r>
            <a:r>
              <a:rPr lang="en-US" altLang="ja-JP" sz="1200" dirty="0">
                <a:solidFill>
                  <a:schemeClr val="tx2"/>
                </a:solidFill>
              </a:rPr>
              <a:t>(2011)</a:t>
            </a:r>
            <a:endParaRPr lang="ja-JP" altLang="en-US" sz="1200" dirty="0">
              <a:solidFill>
                <a:schemeClr val="tx2"/>
              </a:solidFill>
            </a:endParaRPr>
          </a:p>
          <a:p>
            <a:endParaRPr lang="ja-JP" alt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07861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F5434-6F16-DDDF-2126-95F86626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1. Refer to the following caption and surrounding text.">
            <a:extLst>
              <a:ext uri="{FF2B5EF4-FFF2-40B4-BE49-F238E27FC236}">
                <a16:creationId xmlns:a16="http://schemas.microsoft.com/office/drawing/2014/main" id="{CBBF88B9-5899-7A36-6662-A7317D0A4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5" y="965992"/>
            <a:ext cx="7570273" cy="379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EEF7B7AB-A983-C664-AC20-D6CE179853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517" y="4827708"/>
            <a:ext cx="7354957" cy="133726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9F8D08-58D1-A226-77C8-47542A9BF797}"/>
              </a:ext>
            </a:extLst>
          </p:cNvPr>
          <p:cNvSpPr txBox="1"/>
          <p:nvPr/>
        </p:nvSpPr>
        <p:spPr>
          <a:xfrm>
            <a:off x="680751" y="1037758"/>
            <a:ext cx="3786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1E3CFF"/>
                </a:solidFill>
              </a:rPr>
              <a:t>T. Kubo, </a:t>
            </a:r>
            <a:r>
              <a:rPr lang="ja-JP" altLang="en-US" sz="1400" dirty="0">
                <a:solidFill>
                  <a:srgbClr val="1E3CFF"/>
                </a:solidFill>
              </a:rPr>
              <a:t>Jpn. J. Appl. Phys. </a:t>
            </a:r>
            <a:r>
              <a:rPr lang="ja-JP" altLang="en-US" sz="1400" b="1" dirty="0">
                <a:solidFill>
                  <a:srgbClr val="1E3CFF"/>
                </a:solidFill>
              </a:rPr>
              <a:t>64</a:t>
            </a:r>
            <a:r>
              <a:rPr lang="ja-JP" altLang="en-US" sz="1400" dirty="0">
                <a:solidFill>
                  <a:srgbClr val="1E3CFF"/>
                </a:solidFill>
              </a:rPr>
              <a:t>, 018002 (2025)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011AC4-B6DB-F35E-FCAD-02792EAE263F}"/>
              </a:ext>
            </a:extLst>
          </p:cNvPr>
          <p:cNvSpPr txBox="1"/>
          <p:nvPr/>
        </p:nvSpPr>
        <p:spPr>
          <a:xfrm>
            <a:off x="-9939" y="-2163"/>
            <a:ext cx="12215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chemeClr val="tx2"/>
                </a:solidFill>
              </a:rPr>
              <a:t>Maximum field achieved so far </a:t>
            </a:r>
            <a:endParaRPr kumimoji="1" lang="ja-JP" altLang="en-US" sz="3200" b="1" dirty="0">
              <a:solidFill>
                <a:schemeClr val="tx2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2B5BFB-4540-9837-EF54-838D4AD1A0D1}"/>
              </a:ext>
            </a:extLst>
          </p:cNvPr>
          <p:cNvSpPr txBox="1"/>
          <p:nvPr/>
        </p:nvSpPr>
        <p:spPr>
          <a:xfrm>
            <a:off x="3303116" y="501144"/>
            <a:ext cx="542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Already close to the theoretical limit?</a:t>
            </a:r>
            <a:endParaRPr kumimoji="1" lang="ja-JP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6F85AE5-0FF5-0BE9-41B1-F2F396ECD922}"/>
                  </a:ext>
                </a:extLst>
              </p:cNvPr>
              <p:cNvSpPr txBox="1"/>
              <p:nvPr/>
            </p:nvSpPr>
            <p:spPr>
              <a:xfrm>
                <a:off x="7605088" y="883537"/>
                <a:ext cx="4586912" cy="6081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00" b="1" dirty="0"/>
                  <a:t>The answer:</a:t>
                </a:r>
                <a:r>
                  <a:rPr lang="en-US" altLang="ja-JP" sz="2000" dirty="0"/>
                  <a:t> </a:t>
                </a:r>
                <a:r>
                  <a:rPr lang="en-US" altLang="ja-JP" sz="2000" b="1" dirty="0">
                    <a:solidFill>
                      <a:srgbClr val="FF0066"/>
                    </a:solidFill>
                  </a:rPr>
                  <a:t>we currently have no reliable estimate</a:t>
                </a:r>
                <a:r>
                  <a:rPr lang="en-US" altLang="ja-JP" sz="2000" dirty="0"/>
                  <a:t>, because there is </a:t>
                </a:r>
                <a:r>
                  <a:rPr lang="en-US" altLang="ja-JP" sz="2000" b="1" dirty="0"/>
                  <a:t>no theory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altLang="ja-JP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2000" dirty="0"/>
                  <a:t> applicable to </a:t>
                </a:r>
                <a:r>
                  <a:rPr lang="en-US" altLang="ja-JP" sz="2000" b="1" dirty="0"/>
                  <a:t>clean Nb at </a:t>
                </a:r>
                <a14:m>
                  <m:oMath xmlns:m="http://schemas.openxmlformats.org/officeDocument/2006/math">
                    <m:r>
                      <a:rPr lang="ja-JP" alt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00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altLang="ja-JP" sz="2000" dirty="0"/>
                  <a:t>.</a:t>
                </a:r>
                <a:endParaRPr lang="en-US" altLang="ja-JP" sz="2000" dirty="0"/>
              </a:p>
              <a:p>
                <a:br>
                  <a:rPr lang="ar-AE" altLang="ja-JP" sz="2000" dirty="0"/>
                </a:br>
                <a:r>
                  <a:rPr lang="en-US" altLang="ja-JP" sz="2000" b="1" dirty="0"/>
                  <a:t>Ginzburg–Landau (GL) theory</a:t>
                </a:r>
                <a:r>
                  <a:rPr lang="en-US" altLang="ja-JP" sz="2000" dirty="0"/>
                  <a:t>, valid near </a:t>
                </a:r>
                <a14:m>
                  <m:oMath xmlns:m="http://schemas.openxmlformats.org/officeDocument/2006/math">
                    <m:r>
                      <a:rPr lang="ja-JP" alt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00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altLang="ja-JP" sz="2000" dirty="0"/>
                  <a:t>, </a:t>
                </a:r>
                <a:r>
                  <a:rPr lang="en-US" altLang="ja-JP" sz="2000" dirty="0"/>
                  <a:t>gives</a:t>
                </a:r>
              </a:p>
              <a:p>
                <a:endParaRPr lang="en-US" altLang="ja-JP" sz="2000" dirty="0"/>
              </a:p>
              <a:p>
                <a:endParaRPr lang="en-US" altLang="ja-JP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sz="14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≃</m:t>
                          </m:r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  <m:r>
                        <a:rPr kumimoji="1" lang="en-US" altLang="ja-JP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ja-JP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000" i="1">
                          <a:latin typeface="Cambria Math" panose="02040503050406030204" pitchFamily="18" charset="0"/>
                        </a:rPr>
                        <m:t>26</m:t>
                      </m:r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sSub>
                        <m:sSubPr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sz="20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≃</m:t>
                              </m:r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en-US" altLang="ja-JP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den>
                          </m:f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kumimoji="1" lang="en-US" altLang="ja-JP" sz="2000" dirty="0"/>
              </a:p>
              <a:p>
                <a:r>
                  <a:rPr kumimoji="1" lang="en-US" altLang="ja-JP" sz="2000" dirty="0"/>
                  <a:t>If we naively extrapolate this to low temperatures — not theoretically justified — we obtain the rough estimate</a:t>
                </a:r>
              </a:p>
              <a:p>
                <a:r>
                  <a:rPr kumimoji="1" lang="en-US" altLang="ja-JP" sz="2000" dirty="0"/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26</m:t>
                    </m:r>
                    <m:sSub>
                      <m:sSub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kumimoji="1"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kumimoji="1" lang="en-US" altLang="ja-JP" sz="2000" b="1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ja-JP" sz="2400" b="1" dirty="0">
                    <a:solidFill>
                      <a:srgbClr val="FF0066"/>
                    </a:solidFill>
                  </a:rPr>
                  <a:t>?</a:t>
                </a:r>
              </a:p>
              <a:p>
                <a:r>
                  <a:rPr kumimoji="1" lang="en-US" altLang="ja-JP" sz="2000" dirty="0"/>
                  <a:t>                              </a:t>
                </a:r>
                <a14:m>
                  <m:oMath xmlns:m="http://schemas.openxmlformats.org/officeDocument/2006/math"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i="1"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kumimoji="1" lang="en-US" altLang="ja-JP" sz="2000" dirty="0"/>
                  <a:t> mT </a:t>
                </a:r>
                <a:r>
                  <a:rPr kumimoji="1" lang="en-US" altLang="ja-JP" sz="2400" b="1" dirty="0">
                    <a:solidFill>
                      <a:srgbClr val="FF0066"/>
                    </a:solidFill>
                  </a:rPr>
                  <a:t>?</a:t>
                </a:r>
                <a:endParaRPr kumimoji="1" lang="ja-JP" altLang="en-US" sz="2000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6F85AE5-0FF5-0BE9-41B1-F2F396ECD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088" y="883537"/>
                <a:ext cx="4586912" cy="6081152"/>
              </a:xfrm>
              <a:prstGeom prst="rect">
                <a:avLst/>
              </a:prstGeom>
              <a:blipFill>
                <a:blip r:embed="rId4"/>
                <a:stretch>
                  <a:fillRect l="-1463" t="-601" b="-12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AEFA4B5-DA2D-599C-53B3-DDE815C7FD92}"/>
              </a:ext>
            </a:extLst>
          </p:cNvPr>
          <p:cNvSpPr txBox="1"/>
          <p:nvPr/>
        </p:nvSpPr>
        <p:spPr>
          <a:xfrm>
            <a:off x="7961250" y="3176470"/>
            <a:ext cx="42241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A. J. </a:t>
            </a:r>
            <a:r>
              <a:rPr lang="en-US" altLang="ja-JP" sz="1200" dirty="0" err="1">
                <a:solidFill>
                  <a:schemeClr val="tx2"/>
                </a:solidFill>
              </a:rPr>
              <a:t>Dolgert</a:t>
            </a:r>
            <a:r>
              <a:rPr lang="en-US" altLang="ja-JP" sz="1200" dirty="0">
                <a:solidFill>
                  <a:schemeClr val="tx2"/>
                </a:solidFill>
              </a:rPr>
              <a:t> et al., Phys. Rev. B </a:t>
            </a:r>
            <a:r>
              <a:rPr lang="en-US" altLang="ja-JP" sz="1200" b="1" dirty="0">
                <a:solidFill>
                  <a:schemeClr val="tx2"/>
                </a:solidFill>
              </a:rPr>
              <a:t>53</a:t>
            </a:r>
            <a:r>
              <a:rPr lang="en-US" altLang="ja-JP" sz="1200" dirty="0">
                <a:solidFill>
                  <a:schemeClr val="tx2"/>
                </a:solidFill>
              </a:rPr>
              <a:t>, 5650 (1996)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1200" dirty="0">
                <a:solidFill>
                  <a:schemeClr val="tx2"/>
                </a:solidFill>
              </a:rPr>
              <a:t>M. K. Transtrum et al., </a:t>
            </a:r>
            <a:r>
              <a:rPr lang="ja-JP" altLang="en-US" sz="1200" dirty="0">
                <a:solidFill>
                  <a:schemeClr val="tx2"/>
                </a:solidFill>
              </a:rPr>
              <a:t>Phys. Rev. </a:t>
            </a:r>
            <a:r>
              <a:rPr lang="en-US" altLang="ja-JP" sz="1200" dirty="0">
                <a:solidFill>
                  <a:schemeClr val="tx2"/>
                </a:solidFill>
              </a:rPr>
              <a:t>B</a:t>
            </a:r>
            <a:r>
              <a:rPr lang="ja-JP" altLang="en-US" sz="1200" dirty="0">
                <a:solidFill>
                  <a:schemeClr val="tx2"/>
                </a:solidFill>
              </a:rPr>
              <a:t> </a:t>
            </a:r>
            <a:r>
              <a:rPr lang="en-US" altLang="ja-JP" sz="1200" b="1" dirty="0">
                <a:solidFill>
                  <a:schemeClr val="tx2"/>
                </a:solidFill>
              </a:rPr>
              <a:t>83</a:t>
            </a:r>
            <a:r>
              <a:rPr lang="en-US" altLang="ja-JP" sz="1200" dirty="0">
                <a:solidFill>
                  <a:schemeClr val="tx2"/>
                </a:solidFill>
              </a:rPr>
              <a:t>,</a:t>
            </a:r>
            <a:r>
              <a:rPr lang="ja-JP" altLang="en-US" sz="1200" dirty="0">
                <a:solidFill>
                  <a:schemeClr val="tx2"/>
                </a:solidFill>
              </a:rPr>
              <a:t> </a:t>
            </a:r>
            <a:r>
              <a:rPr lang="en-US" altLang="ja-JP" sz="1200" dirty="0">
                <a:solidFill>
                  <a:schemeClr val="tx2"/>
                </a:solidFill>
              </a:rPr>
              <a:t>094505</a:t>
            </a:r>
            <a:r>
              <a:rPr lang="ja-JP" altLang="en-US" sz="1200" dirty="0">
                <a:solidFill>
                  <a:schemeClr val="tx2"/>
                </a:solidFill>
              </a:rPr>
              <a:t> </a:t>
            </a:r>
            <a:r>
              <a:rPr lang="en-US" altLang="ja-JP" sz="1200" dirty="0">
                <a:solidFill>
                  <a:schemeClr val="tx2"/>
                </a:solidFill>
              </a:rPr>
              <a:t>(2011)</a:t>
            </a:r>
            <a:endParaRPr lang="ja-JP" altLang="en-US" sz="1200" dirty="0">
              <a:solidFill>
                <a:schemeClr val="tx2"/>
              </a:solidFill>
            </a:endParaRPr>
          </a:p>
          <a:p>
            <a:endParaRPr lang="ja-JP" alt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32276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ig. 1. Refer to the following caption and surrounding text.">
            <a:extLst>
              <a:ext uri="{FF2B5EF4-FFF2-40B4-BE49-F238E27FC236}">
                <a16:creationId xmlns:a16="http://schemas.microsoft.com/office/drawing/2014/main" id="{61B2CF65-8587-6B6B-9E98-9BC7C6A3A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65"/>
          <a:stretch>
            <a:fillRect/>
          </a:stretch>
        </p:blipFill>
        <p:spPr bwMode="auto">
          <a:xfrm>
            <a:off x="34815" y="965992"/>
            <a:ext cx="5975617" cy="379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5BE345-D415-9944-257F-1FF04BE73208}"/>
              </a:ext>
            </a:extLst>
          </p:cNvPr>
          <p:cNvSpPr txBox="1"/>
          <p:nvPr/>
        </p:nvSpPr>
        <p:spPr>
          <a:xfrm>
            <a:off x="680751" y="1037758"/>
            <a:ext cx="3786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1E3CFF"/>
                </a:solidFill>
              </a:rPr>
              <a:t>T. Kubo, </a:t>
            </a:r>
            <a:r>
              <a:rPr lang="ja-JP" altLang="en-US" sz="1400" dirty="0">
                <a:solidFill>
                  <a:srgbClr val="1E3CFF"/>
                </a:solidFill>
              </a:rPr>
              <a:t>Jpn. J. Appl. Phys. </a:t>
            </a:r>
            <a:r>
              <a:rPr lang="ja-JP" altLang="en-US" sz="1400" b="1" dirty="0">
                <a:solidFill>
                  <a:srgbClr val="1E3CFF"/>
                </a:solidFill>
              </a:rPr>
              <a:t>64</a:t>
            </a:r>
            <a:r>
              <a:rPr lang="ja-JP" altLang="en-US" sz="1400" dirty="0">
                <a:solidFill>
                  <a:srgbClr val="1E3CFF"/>
                </a:solidFill>
              </a:rPr>
              <a:t>, 018002 (2025)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EBEAAFA-58B0-95F6-84D7-B04DE6E80F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79613" y="398834"/>
            <a:ext cx="5544766" cy="45360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6308A1A-8F1E-EFDD-2FC7-76739E058CEF}"/>
                  </a:ext>
                </a:extLst>
              </p:cNvPr>
              <p:cNvSpPr txBox="1"/>
              <p:nvPr/>
            </p:nvSpPr>
            <p:spPr>
              <a:xfrm>
                <a:off x="14044" y="9253"/>
                <a:ext cx="6128024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/>
                  <a:t>If we believe this rough </a:t>
                </a:r>
              </a:p>
              <a:p>
                <a:r>
                  <a:rPr kumimoji="1" lang="en-US" altLang="ja-JP" sz="2800" dirty="0"/>
                  <a:t>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ja-JP" altLang="en-US" sz="2800" dirty="0"/>
                  <a:t> </a:t>
                </a:r>
                <a:r>
                  <a:rPr kumimoji="1" lang="en-US" altLang="ja-JP" sz="2800" dirty="0"/>
                  <a:t>based on GL, we get 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6308A1A-8F1E-EFDD-2FC7-76739E058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4" y="9253"/>
                <a:ext cx="6128024" cy="954107"/>
              </a:xfrm>
              <a:prstGeom prst="rect">
                <a:avLst/>
              </a:prstGeom>
              <a:blipFill>
                <a:blip r:embed="rId4"/>
                <a:stretch>
                  <a:fillRect l="-1988" t="-7692" r="-994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0F9D36-5D73-A96E-F2D6-FC2EEA2820C7}"/>
              </a:ext>
            </a:extLst>
          </p:cNvPr>
          <p:cNvSpPr txBox="1"/>
          <p:nvPr/>
        </p:nvSpPr>
        <p:spPr>
          <a:xfrm>
            <a:off x="8558332" y="122314"/>
            <a:ext cx="34419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tx2"/>
                </a:solidFill>
              </a:rPr>
              <a:t>T. Kubo, </a:t>
            </a:r>
            <a:r>
              <a:rPr lang="ja-JP" altLang="en-US" sz="1200" dirty="0">
                <a:solidFill>
                  <a:schemeClr val="tx2"/>
                </a:solidFill>
              </a:rPr>
              <a:t>Jpn. J. Appl. Phys. </a:t>
            </a:r>
            <a:r>
              <a:rPr lang="ja-JP" altLang="en-US" sz="1200" b="1" dirty="0">
                <a:solidFill>
                  <a:schemeClr val="tx2"/>
                </a:solidFill>
              </a:rPr>
              <a:t>64</a:t>
            </a:r>
            <a:r>
              <a:rPr lang="ja-JP" altLang="en-US" sz="1200" dirty="0">
                <a:solidFill>
                  <a:schemeClr val="tx2"/>
                </a:solidFill>
              </a:rPr>
              <a:t>, 018002 (2025)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48A7E2B-016E-339E-EFBD-54167583831B}"/>
                  </a:ext>
                </a:extLst>
              </p:cNvPr>
              <p:cNvSpPr txBox="1"/>
              <p:nvPr/>
            </p:nvSpPr>
            <p:spPr>
              <a:xfrm>
                <a:off x="17785" y="5399649"/>
                <a:ext cx="1217421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b="1" dirty="0">
                    <a:solidFill>
                      <a:srgbClr val="FFFF00"/>
                    </a:solidFill>
                  </a:rPr>
                  <a:t>Note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: To achieve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, it is necessary to eliminate all surface defects. </a:t>
                </a:r>
                <a:r>
                  <a:rPr lang="en-US" altLang="ja-JP" sz="2000" b="1" dirty="0">
                    <a:solidFill>
                      <a:srgbClr val="FF0066"/>
                    </a:solidFill>
                  </a:rPr>
                  <a:t>However, this alone is not sufficient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to 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; it is also essential to ensure that the thermal runaway field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𝑟𝑢𝑛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exceeds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altLang="ja-JP" sz="2000" dirty="0">
                    <a:solidFill>
                      <a:schemeClr val="tx1"/>
                    </a:solidFill>
                  </a:rPr>
                  <a:t>This condition is not always satisfied, particularly at 2 K. </a:t>
                </a:r>
                <a:r>
                  <a:rPr lang="en-US" altLang="ja-JP" sz="2000" dirty="0"/>
                  <a:t>It is better to test the cavity at lower temperatures (e.g., 1.8K or 1.6K) to ensure that the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run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sh</m:t>
                        </m:r>
                      </m:sub>
                    </m:sSub>
                  </m:oMath>
                </a14:m>
                <a:r>
                  <a:rPr lang="en-US" altLang="ja-JP" sz="2000" dirty="0"/>
                  <a:t> is satisfied.</a:t>
                </a:r>
                <a:endParaRPr lang="ja-JP" altLang="en-US" sz="2000" dirty="0">
                  <a:solidFill>
                    <a:schemeClr val="tx1"/>
                  </a:solidFill>
                </a:endParaRPr>
              </a:p>
              <a:p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48A7E2B-016E-339E-EFBD-541675838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5" y="5399649"/>
                <a:ext cx="12174215" cy="1631216"/>
              </a:xfrm>
              <a:prstGeom prst="rect">
                <a:avLst/>
              </a:prstGeom>
              <a:blipFill>
                <a:blip r:embed="rId5"/>
                <a:stretch>
                  <a:fillRect l="-551" t="-22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1F65380-0F92-A801-2163-0361336F586B}"/>
              </a:ext>
            </a:extLst>
          </p:cNvPr>
          <p:cNvSpPr/>
          <p:nvPr/>
        </p:nvSpPr>
        <p:spPr>
          <a:xfrm>
            <a:off x="8939719" y="544749"/>
            <a:ext cx="564204" cy="493009"/>
          </a:xfrm>
          <a:prstGeom prst="rect">
            <a:avLst/>
          </a:prstGeom>
          <a:noFill/>
          <a:ln w="762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E5CD7E39-7B45-AA87-1047-6E8A0E7DB91B}"/>
              </a:ext>
            </a:extLst>
          </p:cNvPr>
          <p:cNvSpPr/>
          <p:nvPr/>
        </p:nvSpPr>
        <p:spPr>
          <a:xfrm>
            <a:off x="6011694" y="719847"/>
            <a:ext cx="2898842" cy="382271"/>
          </a:xfrm>
          <a:custGeom>
            <a:avLst/>
            <a:gdLst>
              <a:gd name="connsiteX0" fmla="*/ 0 w 2898842"/>
              <a:gd name="connsiteY0" fmla="*/ 0 h 382271"/>
              <a:gd name="connsiteX1" fmla="*/ 1634246 w 2898842"/>
              <a:gd name="connsiteY1" fmla="*/ 379379 h 382271"/>
              <a:gd name="connsiteX2" fmla="*/ 2898842 w 2898842"/>
              <a:gd name="connsiteY2" fmla="*/ 184825 h 382271"/>
              <a:gd name="connsiteX3" fmla="*/ 2898842 w 2898842"/>
              <a:gd name="connsiteY3" fmla="*/ 184825 h 382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8842" h="382271">
                <a:moveTo>
                  <a:pt x="0" y="0"/>
                </a:moveTo>
                <a:cubicBezTo>
                  <a:pt x="575553" y="174287"/>
                  <a:pt x="1151106" y="348575"/>
                  <a:pt x="1634246" y="379379"/>
                </a:cubicBezTo>
                <a:cubicBezTo>
                  <a:pt x="2117386" y="410183"/>
                  <a:pt x="2898842" y="184825"/>
                  <a:pt x="2898842" y="184825"/>
                </a:cubicBezTo>
                <a:lnTo>
                  <a:pt x="2898842" y="184825"/>
                </a:lnTo>
              </a:path>
            </a:pathLst>
          </a:custGeom>
          <a:noFill/>
          <a:ln w="63500">
            <a:solidFill>
              <a:srgbClr val="FF0066"/>
            </a:solidFill>
            <a:headEnd type="none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9420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5F95-3675-CE95-A3F0-9DFA0873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D4AC7D-12D3-D206-07A5-4ABCAB6E4B4C}"/>
              </a:ext>
            </a:extLst>
          </p:cNvPr>
          <p:cNvSpPr txBox="1"/>
          <p:nvPr/>
        </p:nvSpPr>
        <p:spPr>
          <a:xfrm>
            <a:off x="2333028" y="2338866"/>
            <a:ext cx="7699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dirty="0"/>
              <a:t>Appendix (4)</a:t>
            </a:r>
            <a:endParaRPr kumimoji="1" lang="ja-JP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84863677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814D-11C4-0525-E9EB-21714C89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A0D107CB-3C98-5AAE-DE7C-550C47A8D4B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10822" y="3623326"/>
            <a:ext cx="3395384" cy="278161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A06B477-DF47-7AA1-F61D-91328CA723D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231"/>
          <a:stretch>
            <a:fillRect/>
          </a:stretch>
        </p:blipFill>
        <p:spPr>
          <a:xfrm>
            <a:off x="4140153" y="3600283"/>
            <a:ext cx="3792980" cy="2977097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88EF915-73F8-9347-5D20-A83F121750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94" t="7161" r="12200" b="1281"/>
          <a:stretch/>
        </p:blipFill>
        <p:spPr>
          <a:xfrm>
            <a:off x="8659011" y="326153"/>
            <a:ext cx="3467652" cy="277818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052F989-129F-C80B-CA29-8D2FAB6FBE80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latin typeface="Arial Black" panose="020B0A04020102020204" pitchFamily="34" charset="0"/>
              </a:rPr>
              <a:t>The biggest differences </a:t>
            </a:r>
            <a:r>
              <a:rPr lang="en-US" altLang="ja-JP" sz="2000" dirty="0">
                <a:latin typeface="+mn-ea"/>
              </a:rPr>
              <a:t>between cavities for accelerators and those for quantum applications</a:t>
            </a:r>
            <a:endParaRPr kumimoji="1" lang="ja-JP" altLang="en-US" sz="2000" dirty="0">
              <a:latin typeface="+mn-ea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A500502-EBAB-AAC7-2E84-209819025A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3328" r="3003" b="4497"/>
          <a:stretch/>
        </p:blipFill>
        <p:spPr bwMode="auto">
          <a:xfrm>
            <a:off x="3992579" y="442384"/>
            <a:ext cx="4569038" cy="2706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4691D26-22AE-242C-32FE-223249E3D51A}"/>
                  </a:ext>
                </a:extLst>
              </p:cNvPr>
              <p:cNvSpPr txBox="1"/>
              <p:nvPr/>
            </p:nvSpPr>
            <p:spPr>
              <a:xfrm>
                <a:off x="4695761" y="3051913"/>
                <a:ext cx="4477705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00" dirty="0">
                    <a:solidFill>
                      <a:srgbClr val="FF0000"/>
                    </a:solidFill>
                  </a:rPr>
                  <a:t>photon number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kumimoji="1" lang="en-US" altLang="ja-JP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ja-JP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kumimoji="1" lang="en-US" altLang="ja-JP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endParaRPr kumimoji="1" lang="ja-JP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13E737-755F-0EDF-BFB0-88C76E51E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761" y="3051913"/>
                <a:ext cx="4477705" cy="590418"/>
              </a:xfrm>
              <a:prstGeom prst="rect">
                <a:avLst/>
              </a:prstGeom>
              <a:blipFill>
                <a:blip r:embed="rId6"/>
                <a:stretch>
                  <a:fillRect l="-1361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>
            <a:extLst>
              <a:ext uri="{FF2B5EF4-FFF2-40B4-BE49-F238E27FC236}">
                <a16:creationId xmlns:a16="http://schemas.microsoft.com/office/drawing/2014/main" id="{142F6C9B-EB89-2F17-B55A-4293ACACB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49114" y="1001528"/>
            <a:ext cx="3436432" cy="2353902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E72623-68DD-39E7-FC58-C0ECC52F03CE}"/>
              </a:ext>
            </a:extLst>
          </p:cNvPr>
          <p:cNvSpPr txBox="1"/>
          <p:nvPr/>
        </p:nvSpPr>
        <p:spPr>
          <a:xfrm>
            <a:off x="471554" y="2809566"/>
            <a:ext cx="1444626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chemeClr val="bg1"/>
                </a:solidFill>
              </a:rPr>
              <a:t>Electric field</a:t>
            </a:r>
          </a:p>
          <a:p>
            <a:r>
              <a:rPr lang="en-US" altLang="ja-JP" sz="1600" b="1" dirty="0">
                <a:solidFill>
                  <a:schemeClr val="bg1"/>
                </a:solidFill>
              </a:rPr>
              <a:t>distribution</a:t>
            </a:r>
            <a:endParaRPr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A153976-A5E9-65D2-A866-C7AEAC821708}"/>
              </a:ext>
            </a:extLst>
          </p:cNvPr>
          <p:cNvSpPr txBox="1"/>
          <p:nvPr/>
        </p:nvSpPr>
        <p:spPr>
          <a:xfrm>
            <a:off x="87549" y="480353"/>
            <a:ext cx="2607360" cy="461665"/>
          </a:xfrm>
          <a:prstGeom prst="rect">
            <a:avLst/>
          </a:prstGeom>
          <a:solidFill>
            <a:schemeClr val="bg1"/>
          </a:solidFill>
          <a:ln w="793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 Black" panose="020B0A04020102020204" pitchFamily="34" charset="0"/>
              </a:rPr>
              <a:t>Accelerators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1FB98D9-9582-98B2-12E1-AE0711F53BE8}"/>
              </a:ext>
            </a:extLst>
          </p:cNvPr>
          <p:cNvCxnSpPr/>
          <p:nvPr/>
        </p:nvCxnSpPr>
        <p:spPr>
          <a:xfrm>
            <a:off x="87549" y="3537700"/>
            <a:ext cx="11955294" cy="0"/>
          </a:xfrm>
          <a:prstGeom prst="line">
            <a:avLst/>
          </a:prstGeom>
          <a:ln w="635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DAC62A6-91AA-2758-8669-56377E5CDE71}"/>
              </a:ext>
            </a:extLst>
          </p:cNvPr>
          <p:cNvSpPr/>
          <p:nvPr/>
        </p:nvSpPr>
        <p:spPr>
          <a:xfrm>
            <a:off x="5273667" y="2280315"/>
            <a:ext cx="2645924" cy="872283"/>
          </a:xfrm>
          <a:prstGeom prst="round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27CF91B-F968-C9D2-6289-3AC09E8CE0F5}"/>
              </a:ext>
            </a:extLst>
          </p:cNvPr>
          <p:cNvSpPr txBox="1"/>
          <p:nvPr/>
        </p:nvSpPr>
        <p:spPr>
          <a:xfrm>
            <a:off x="78144" y="3651653"/>
            <a:ext cx="3586239" cy="461665"/>
          </a:xfrm>
          <a:prstGeom prst="rect">
            <a:avLst/>
          </a:prstGeom>
          <a:solidFill>
            <a:schemeClr val="bg1"/>
          </a:solidFill>
          <a:ln w="635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latin typeface="Arial Black" panose="020B0A04020102020204" pitchFamily="34" charset="0"/>
              </a:rPr>
              <a:t>Quantum computing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654CE635-8C7D-9C81-1A24-1BD409E16416}"/>
                  </a:ext>
                </a:extLst>
              </p:cNvPr>
              <p:cNvSpPr txBox="1"/>
              <p:nvPr/>
            </p:nvSpPr>
            <p:spPr>
              <a:xfrm>
                <a:off x="4666875" y="6338315"/>
                <a:ext cx="43787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00" dirty="0">
                    <a:solidFill>
                      <a:srgbClr val="FF0000"/>
                    </a:solidFill>
                  </a:rPr>
                  <a:t>photon number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kumimoji="1" lang="en-US" altLang="ja-JP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ja-JP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kumimoji="1" lang="en-US" altLang="ja-JP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ja-JP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942210B-13D1-58BF-D106-DC870D1B4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875" y="6338315"/>
                <a:ext cx="4378764" cy="584775"/>
              </a:xfrm>
              <a:prstGeom prst="rect">
                <a:avLst/>
              </a:prstGeom>
              <a:blipFill>
                <a:blip r:embed="rId8"/>
                <a:stretch>
                  <a:fillRect l="-1532" b="-114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330D1A6-3E1D-7939-CF48-8AF762B100FC}"/>
                  </a:ext>
                </a:extLst>
              </p:cNvPr>
              <p:cNvSpPr txBox="1"/>
              <p:nvPr/>
            </p:nvSpPr>
            <p:spPr>
              <a:xfrm>
                <a:off x="9950650" y="3074520"/>
                <a:ext cx="19266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kumimoji="1" lang="en-US" altLang="ja-JP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ja-JP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ja-JP" altLang="en-US" sz="3200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ja-JP" sz="3200" dirty="0">
                    <a:solidFill>
                      <a:srgbClr val="FF0000"/>
                    </a:solidFill>
                  </a:rPr>
                  <a:t>K</a:t>
                </a:r>
                <a:endParaRPr kumimoji="1" lang="ja-JP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959B4C3-4709-C1A2-B393-08AEF3F8E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650" y="3074520"/>
                <a:ext cx="1926611" cy="584775"/>
              </a:xfrm>
              <a:prstGeom prst="rect">
                <a:avLst/>
              </a:prstGeom>
              <a:blipFill>
                <a:blip r:embed="rId9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7BB04DC-0840-3A8D-1CD0-BD247674B12A}"/>
              </a:ext>
            </a:extLst>
          </p:cNvPr>
          <p:cNvSpPr/>
          <p:nvPr/>
        </p:nvSpPr>
        <p:spPr>
          <a:xfrm>
            <a:off x="10246661" y="551713"/>
            <a:ext cx="1234343" cy="2620984"/>
          </a:xfrm>
          <a:prstGeom prst="round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EAB3727-BC33-82A1-480F-D0CAD51EBD7C}"/>
                  </a:ext>
                </a:extLst>
              </p:cNvPr>
              <p:cNvSpPr txBox="1"/>
              <p:nvPr/>
            </p:nvSpPr>
            <p:spPr>
              <a:xfrm>
                <a:off x="9053370" y="6372267"/>
                <a:ext cx="235198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kumimoji="1" lang="en-US" altLang="ja-JP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ja-JP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kumimoji="1" lang="ja-JP" altLang="en-US" sz="2800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ja-JP" sz="2800" dirty="0">
                    <a:solidFill>
                      <a:srgbClr val="FF0000"/>
                    </a:solidFill>
                  </a:rPr>
                  <a:t>mK</a:t>
                </a:r>
                <a:endParaRPr kumimoji="1" lang="ja-JP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6EA61B9-91E2-A274-1D9D-77698B4EE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370" y="6372267"/>
                <a:ext cx="2351989" cy="523220"/>
              </a:xfrm>
              <a:prstGeom prst="rect">
                <a:avLst/>
              </a:prstGeom>
              <a:blipFill>
                <a:blip r:embed="rId10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873BD01-E160-D746-5BFE-7481BBC1E882}"/>
              </a:ext>
            </a:extLst>
          </p:cNvPr>
          <p:cNvSpPr/>
          <p:nvPr/>
        </p:nvSpPr>
        <p:spPr>
          <a:xfrm>
            <a:off x="4312546" y="6133383"/>
            <a:ext cx="766430" cy="416020"/>
          </a:xfrm>
          <a:prstGeom prst="round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CF8BEAA8-768A-E729-A4C7-862CF76DD9ED}"/>
              </a:ext>
            </a:extLst>
          </p:cNvPr>
          <p:cNvSpPr/>
          <p:nvPr/>
        </p:nvSpPr>
        <p:spPr>
          <a:xfrm>
            <a:off x="9193674" y="4292427"/>
            <a:ext cx="325042" cy="1790168"/>
          </a:xfrm>
          <a:prstGeom prst="round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7F4DFC15-AAF2-296C-67E4-959637732249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70812" y="4389389"/>
            <a:ext cx="1911312" cy="2400576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59428CC-9B06-2988-E165-81B4C0B0B878}"/>
              </a:ext>
            </a:extLst>
          </p:cNvPr>
          <p:cNvSpPr txBox="1"/>
          <p:nvPr/>
        </p:nvSpPr>
        <p:spPr>
          <a:xfrm>
            <a:off x="-26574" y="4107601"/>
            <a:ext cx="3357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tx2"/>
                </a:solidFill>
              </a:rPr>
              <a:t>T. Takenaka, T. Kubo et al., </a:t>
            </a:r>
          </a:p>
          <a:p>
            <a:r>
              <a:rPr lang="en-US" altLang="ja-JP" sz="1400" dirty="0">
                <a:solidFill>
                  <a:schemeClr val="tx2"/>
                </a:solidFill>
              </a:rPr>
              <a:t>arXiv:2510.01819. 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0FEE49B-8AC3-437A-0054-058BCF3E2154}"/>
              </a:ext>
            </a:extLst>
          </p:cNvPr>
          <p:cNvSpPr txBox="1"/>
          <p:nvPr/>
        </p:nvSpPr>
        <p:spPr>
          <a:xfrm>
            <a:off x="5564866" y="1526977"/>
            <a:ext cx="29578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1E3CFF"/>
                </a:solidFill>
              </a:rPr>
              <a:t>T. Kubo et al., </a:t>
            </a:r>
          </a:p>
          <a:p>
            <a:r>
              <a:rPr lang="en-US" altLang="ja-JP" sz="1400" dirty="0">
                <a:solidFill>
                  <a:srgbClr val="1E3CFF"/>
                </a:solidFill>
              </a:rPr>
              <a:t>IPAC2014, Dresden, Germany, </a:t>
            </a:r>
          </a:p>
          <a:p>
            <a:r>
              <a:rPr lang="en-US" altLang="ja-JP" sz="1400" dirty="0">
                <a:solidFill>
                  <a:srgbClr val="1E3CFF"/>
                </a:solidFill>
              </a:rPr>
              <a:t>WEPRI022, p.2519</a:t>
            </a:r>
            <a:endParaRPr lang="ja-JP" altLang="en-US" sz="1400" dirty="0">
              <a:solidFill>
                <a:srgbClr val="1E3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949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ダマスク</Template>
  <TotalTime>14661</TotalTime>
  <Words>11051</Words>
  <Application>Microsoft Office PowerPoint</Application>
  <PresentationFormat>ワイド画面</PresentationFormat>
  <Paragraphs>1777</Paragraphs>
  <Slides>166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166</vt:i4>
      </vt:variant>
    </vt:vector>
  </HeadingPairs>
  <TitlesOfParts>
    <vt:vector size="177" baseType="lpstr">
      <vt:lpstr>Arial Unicode MS</vt:lpstr>
      <vt:lpstr>ＭＳ 明朝</vt:lpstr>
      <vt:lpstr>游ゴシック</vt:lpstr>
      <vt:lpstr>Arial</vt:lpstr>
      <vt:lpstr>Arial Black</vt:lpstr>
      <vt:lpstr>Bookman Old Style</vt:lpstr>
      <vt:lpstr>Cambria Math</vt:lpstr>
      <vt:lpstr>MV Boli</vt:lpstr>
      <vt:lpstr>Rockwell</vt:lpstr>
      <vt:lpstr>Wingdings</vt:lpstr>
      <vt:lpstr>Damask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Takayuki KUBO</dc:creator>
  <cp:lastModifiedBy>Takayuki KUBO</cp:lastModifiedBy>
  <cp:revision>200</cp:revision>
  <dcterms:created xsi:type="dcterms:W3CDTF">2025-03-26T02:23:14Z</dcterms:created>
  <dcterms:modified xsi:type="dcterms:W3CDTF">2025-12-08T04:08:34Z</dcterms:modified>
</cp:coreProperties>
</file>